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23"/>
  </p:notesMasterIdLst>
  <p:sldIdLst>
    <p:sldId id="260" r:id="rId4"/>
    <p:sldId id="304" r:id="rId5"/>
    <p:sldId id="306" r:id="rId6"/>
    <p:sldId id="263" r:id="rId7"/>
    <p:sldId id="302" r:id="rId8"/>
    <p:sldId id="301" r:id="rId9"/>
    <p:sldId id="307" r:id="rId10"/>
    <p:sldId id="308" r:id="rId11"/>
    <p:sldId id="268" r:id="rId12"/>
    <p:sldId id="310" r:id="rId13"/>
    <p:sldId id="271" r:id="rId14"/>
    <p:sldId id="270" r:id="rId15"/>
    <p:sldId id="312" r:id="rId16"/>
    <p:sldId id="272" r:id="rId17"/>
    <p:sldId id="314" r:id="rId18"/>
    <p:sldId id="313" r:id="rId19"/>
    <p:sldId id="274" r:id="rId20"/>
    <p:sldId id="280" r:id="rId21"/>
    <p:sldId id="2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8D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8"/>
    <p:restoredTop sz="92213"/>
  </p:normalViewPr>
  <p:slideViewPr>
    <p:cSldViewPr snapToGrid="0">
      <p:cViewPr varScale="1">
        <p:scale>
          <a:sx n="130" d="100"/>
          <a:sy n="130" d="100"/>
        </p:scale>
        <p:origin x="11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27440-4CC6-4F10-9B0A-6E50F775BA5D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1DE616-1C43-4C75-B448-45E6F9A11A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6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AE0-C605-3D3B-D138-33433625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ACC86-8191-13FC-6049-85BB715FB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01B8F-F276-B594-6F19-502A95253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BF1E9-DA31-D6FE-45A6-C643778FD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76F1A-E031-25D7-4895-03148ACC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6EA477-284B-0F1F-768A-535B55350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EF470-7A35-E943-359F-E404E9113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D8AE-C720-D11C-734C-3763103C6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38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32BE6-5329-D690-B881-98ED0240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5AF4B-46A2-F82F-5DBD-373D5418A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3AC2A-F15D-90DE-8D24-EE7A04ECC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04A5E-0EC2-2E48-E71D-2619F2478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16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C67B-398E-DEAE-2619-011C6638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438AC-7F3B-89A9-5CC0-797B5D515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2BDBD-C15E-4AD4-6E43-68F5F198D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18FFE-FD43-BD99-37C5-A1D4F7D39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39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6B25D-2F57-D98A-5443-042194E01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CC557-F74D-0192-69FB-852077489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74F3F-6738-D09A-45F3-094B89EBB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0F409-A227-B5E5-1643-D6D04200C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79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7B08E-F486-6AAF-F368-A21F2F43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5DA03-12E1-50E5-9617-73820F73D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1318E-DF82-DAC6-7E2C-DE7ADEDF5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FCBF7-DD55-7783-123A-8CAC1FED8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76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760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A69C-D07D-D8FA-B812-418B492C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6363A-05E1-C447-1A85-E71C4B58B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B5658-6CBC-1ED3-2B53-B34CA786B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65023-2B4D-773F-DDE4-7BE437DFA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78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21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3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4E00-F4CB-E02B-296C-A9B7B2CC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169B9-51CF-B32E-BCF4-040A75B11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EBB38-A954-719E-9F30-EAE77B753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0C540-C3C9-B583-4515-8AB690C37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01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78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0729-ABA6-83FC-0E0A-E4CD3408B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69BED-473E-E0A7-317C-64330C41F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6AF55-8129-2113-08F6-BAA6EDF11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6A555-71EC-9D87-320E-A3D68FABA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31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18247-EF92-C3A5-F22A-C3AD768AD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D4E5D-EAB1-623E-2744-2655AD529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DC5DE-EFF9-B85D-2722-C47C36B0E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DDCDC-057D-59FF-13A8-74E09E483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74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93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25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1DE616-1C43-4C75-B448-45E6F9A11A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77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268" y="5670949"/>
            <a:ext cx="2831372" cy="7247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719960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8" name="Rectangle 17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433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268" y="5670949"/>
            <a:ext cx="2831372" cy="724754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8" name="Rectangle 17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866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267" y="5680659"/>
            <a:ext cx="2770751" cy="7176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5167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083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4267" y="5680659"/>
            <a:ext cx="2770751" cy="717639"/>
          </a:xfrm>
          <a:prstGeom prst="rect">
            <a:avLst/>
          </a:prstGeom>
        </p:spPr>
      </p:pic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205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15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1/7/26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498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1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7413"/>
            <a:ext cx="8770620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7299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7" name="Rectangle 16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741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1/7/26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4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1/7/26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1/7/26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3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6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7F9787-DD3A-4646-BB48-620C816C001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E774CE-34EE-2A47-A6A9-4B48522F6F9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E01E9A-F832-2C47-AF13-96DA2A545D41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87FCA5-98BF-7C4F-A6A8-ABE67A0572DD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2F3CFE-9373-F940-8224-EC432E30E4E7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861B21-0880-4F42-9446-62738D693F11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170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1A6E2A-9139-B54F-B1FF-E0B2EAF2E0A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94BC15-3F11-B846-AE64-D1C8A8E867F5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B6EE1D-AED7-924E-8D18-B9F1399A910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1E2A49-C1E0-024C-876B-A61D2B440E03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E64F300-FB37-FE41-9129-DD2824002FB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FCAF651-5F7E-0248-8C8E-3A4B3D0F11BA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808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45819"/>
            <a:ext cx="5440648" cy="54072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7999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E96372-A208-F546-B7FD-C0747128C2DF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30D062-4D3C-FB49-BC12-289C4E63859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951BF5-3B10-4647-AE43-6C4FB2FD5AC6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7D11F8-300C-DC45-9476-8111932FAB3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A48535B-B3BB-5C4C-B115-599D8CDF7D8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DEF38F5-382A-BF49-BD63-C36DDD7A004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280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2CD653-AD35-5141-A8C6-BF79EBE4AA0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08B38EE-3C4F-0B4A-9115-527C9512182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646519-2BAF-9047-B121-BF7E7F71082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A4D2608-732A-4741-BC48-7812A87E4D8D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F9B098-4EE4-474A-8979-CFAB574D8621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8D87E91-D511-9145-BCBD-28DFC726F67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987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20DDFC3-6F0D-5E4C-8D30-C78126C00C6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6CF758B-0EB2-F34B-BE1F-5B7DBD0D91DF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2C1F90-E5C7-6D46-8B27-E98D1AD0BD1D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4A86E65-C9CD-3C43-9237-76ACBCE5AEA5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0010F3-1A9C-9049-8C1B-2C5FACE5795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E0527D8-16AA-B94D-A437-8734019F07E3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944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40DD73-AC1C-0641-8C33-791A62EF34B7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0B8DB0B-D7AD-E443-A9FA-6978FE21FA00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FEB15A-A8CF-CA4A-BCB9-2DEEC6268E6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02309BB-A9D7-E64D-8EF7-0E490151B952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B22BAE-45F8-9D49-A3CD-17513F34191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567BB1-0BFA-DE41-9739-5EC1F580B29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6789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title="University of Waterlo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865" y="1204402"/>
            <a:ext cx="6400271" cy="41571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1/7/26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646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title="University of Waterloo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5" t="13985" r="13985" b="13985"/>
          <a:stretch/>
        </p:blipFill>
        <p:spPr bwMode="gray">
          <a:xfrm>
            <a:off x="3781997" y="1779967"/>
            <a:ext cx="4628005" cy="3005998"/>
          </a:xfrm>
          <a:prstGeom prst="rect">
            <a:avLst/>
          </a:prstGeom>
          <a:effectLst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1/7/26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F1FAFC-408D-0840-BF87-C10DEF00AE57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1609E3-BEF5-DF4C-8E07-DA3B468D1EFE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6397E2-7B07-A34D-BAD4-108B31B92077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086606-36A8-EA42-A473-1353FDBE6400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ED482C-BC79-A14A-91C5-BEDF9D7DDF4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FBB297-7D6E-4447-9C11-F3CE63C4A406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979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8F653FE-3A86-E844-A53F-0361E59D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660" y="4585014"/>
            <a:ext cx="188468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ADE716-1136-A547-A8CE-EAC2B309A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0227"/>
            <a:ext cx="3854704" cy="25247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1/7/26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 title="University of Waterloo">
            <a:extLst>
              <a:ext uri="{FF2B5EF4-FFF2-40B4-BE49-F238E27FC236}">
                <a16:creationId xmlns:a16="http://schemas.microsoft.com/office/drawing/2014/main" id="{3A3088FF-BF54-E04E-8115-1F3BD77ADC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731" y="883196"/>
            <a:ext cx="5758536" cy="373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23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1/7/26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F1FAFC-408D-0840-BF87-C10DEF00AE57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1609E3-BEF5-DF4C-8E07-DA3B468D1EFE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6397E2-7B07-A34D-BAD4-108B31B92077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086606-36A8-EA42-A473-1353FDBE6400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ED482C-BC79-A14A-91C5-BEDF9D7DDF4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FBB297-7D6E-4447-9C11-F3CE63C4A406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61B2F895-74F6-5245-9741-0020E25D8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60" y="4592032"/>
            <a:ext cx="188468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46E8A0-B6BB-1D40-8410-044E5B2039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7245"/>
            <a:ext cx="3854704" cy="252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47904-A0FC-F14A-9236-E3A1ADBB8DEF}"/>
              </a:ext>
            </a:extLst>
          </p:cNvPr>
          <p:cNvSpPr txBox="1"/>
          <p:nvPr userDrawn="1"/>
        </p:nvSpPr>
        <p:spPr>
          <a:xfrm>
            <a:off x="4851400" y="724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24" name="Picture 23" title="University of Waterloo">
            <a:extLst>
              <a:ext uri="{FF2B5EF4-FFF2-40B4-BE49-F238E27FC236}">
                <a16:creationId xmlns:a16="http://schemas.microsoft.com/office/drawing/2014/main" id="{20257D9E-F7C4-F945-A5BF-B227315677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5" t="13985" r="13985" b="13985"/>
          <a:stretch/>
        </p:blipFill>
        <p:spPr bwMode="gray">
          <a:xfrm>
            <a:off x="4015977" y="1407095"/>
            <a:ext cx="4160045" cy="270204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7992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790545" y="6147742"/>
            <a:ext cx="2060466" cy="52742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6" name="Rectangle 15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FFF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FEA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FD5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4B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732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9.png"/><Relationship Id="rId21" Type="http://schemas.openxmlformats.org/officeDocument/2006/relationships/image" Target="../media/image35.png"/><Relationship Id="rId7" Type="http://schemas.openxmlformats.org/officeDocument/2006/relationships/image" Target="../media/image21.jpe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5" Type="http://schemas.openxmlformats.org/officeDocument/2006/relationships/image" Target="../media/image29.png"/><Relationship Id="rId23" Type="http://schemas.openxmlformats.org/officeDocument/2006/relationships/image" Target="../media/image1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20.sv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60.png"/><Relationship Id="rId7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5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11" Type="http://schemas.openxmlformats.org/officeDocument/2006/relationships/image" Target="../media/image71.png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4" Type="http://schemas.openxmlformats.org/officeDocument/2006/relationships/image" Target="../media/image42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44.png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1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11" Type="http://schemas.openxmlformats.org/officeDocument/2006/relationships/image" Target="../media/image79.png"/><Relationship Id="rId5" Type="http://schemas.openxmlformats.org/officeDocument/2006/relationships/image" Target="../media/image85.png"/><Relationship Id="rId10" Type="http://schemas.openxmlformats.org/officeDocument/2006/relationships/image" Target="../media/image78.png"/><Relationship Id="rId4" Type="http://schemas.openxmlformats.org/officeDocument/2006/relationships/image" Target="../media/image84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1.png"/><Relationship Id="rId5" Type="http://schemas.openxmlformats.org/officeDocument/2006/relationships/image" Target="../media/image49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2.png"/><Relationship Id="rId5" Type="http://schemas.openxmlformats.org/officeDocument/2006/relationships/image" Target="../media/image90.png"/><Relationship Id="rId4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5" Type="http://schemas.openxmlformats.org/officeDocument/2006/relationships/image" Target="../media/image92.png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en.wikipedia.org/wiki/Gerard_J._Milburn" TargetMode="External"/><Relationship Id="rId5" Type="http://schemas.openxmlformats.org/officeDocument/2006/relationships/hyperlink" Target="https://en.wikipedia.org/wiki/Raymond_Laflamme" TargetMode="External"/><Relationship Id="rId4" Type="http://schemas.openxmlformats.org/officeDocument/2006/relationships/hyperlink" Target="https://en.wikipedia.org/w/index.php?title=Emanuel_Knill&amp;action=edit&amp;redlink=1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529" y="435469"/>
            <a:ext cx="12006942" cy="2137066"/>
          </a:xfrm>
        </p:spPr>
        <p:txBody>
          <a:bodyPr/>
          <a:lstStyle/>
          <a:p>
            <a:r>
              <a:rPr lang="en-US" sz="4800" dirty="0"/>
              <a:t>Optimal entanglement-assisted quantum </a:t>
            </a:r>
            <a:r>
              <a:rPr lang="en-US" sz="4800" dirty="0" err="1"/>
              <a:t>telescopy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015" y="3569025"/>
            <a:ext cx="6596242" cy="943012"/>
          </a:xfrm>
        </p:spPr>
        <p:txBody>
          <a:bodyPr>
            <a:no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Yujie</a:t>
            </a:r>
            <a:r>
              <a:rPr lang="en-US" sz="2000" b="1" dirty="0">
                <a:solidFill>
                  <a:schemeClr val="tx1"/>
                </a:solidFill>
              </a:rPr>
              <a:t> Zhang</a:t>
            </a:r>
            <a:r>
              <a:rPr lang="en-CA" sz="2000" dirty="0">
                <a:solidFill>
                  <a:schemeClr val="tx1"/>
                </a:solidFill>
              </a:rPr>
              <a:t>,</a:t>
            </a: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CA" sz="2000" dirty="0">
                <a:solidFill>
                  <a:schemeClr val="tx1"/>
                </a:solidFill>
              </a:rPr>
              <a:t>Thomas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CA" sz="2000" dirty="0" err="1">
                <a:solidFill>
                  <a:schemeClr val="tx1"/>
                </a:solidFill>
              </a:rPr>
              <a:t>Jennewein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CA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arXiv:2501.16670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394661" y="2819663"/>
            <a:ext cx="1182916" cy="37796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</a:rPr>
              <a:t>08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/05/2025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F86C9AB6-C23C-539C-B1E9-DE5D215C6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444" y="2382791"/>
            <a:ext cx="4522183" cy="3496867"/>
          </a:xfrm>
          <a:prstGeom prst="rect">
            <a:avLst/>
          </a:prstGeom>
        </p:spPr>
      </p:pic>
      <p:pic>
        <p:nvPicPr>
          <p:cNvPr id="16386" name="Picture 2" descr="Institute for Quantum Computing - Wikipedia">
            <a:extLst>
              <a:ext uri="{FF2B5EF4-FFF2-40B4-BE49-F238E27FC236}">
                <a16:creationId xmlns:a16="http://schemas.microsoft.com/office/drawing/2014/main" id="{71AC25D2-3B5F-457A-2D90-BAB6D150C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5" y="5508527"/>
            <a:ext cx="2956005" cy="12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C7EBA-4691-A2AB-B89B-79DBE956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E5B4810-CA0A-0BC4-511B-C5606E99B4D8}"/>
              </a:ext>
            </a:extLst>
          </p:cNvPr>
          <p:cNvSpPr/>
          <p:nvPr/>
        </p:nvSpPr>
        <p:spPr>
          <a:xfrm>
            <a:off x="9680293" y="5914772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CC112C-8F29-77B0-10CA-9E5A25291EAB}"/>
              </a:ext>
            </a:extLst>
          </p:cNvPr>
          <p:cNvSpPr txBox="1"/>
          <p:nvPr/>
        </p:nvSpPr>
        <p:spPr>
          <a:xfrm>
            <a:off x="1184540" y="3526515"/>
            <a:ext cx="35548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effectLst/>
              </a:rPr>
              <a:t>Single telescope:   </a:t>
            </a:r>
          </a:p>
          <a:p>
            <a:r>
              <a:rPr lang="en-US" sz="1400" b="0" i="0" dirty="0">
                <a:effectLst/>
              </a:rPr>
              <a:t>Image NGC 3132 with the James Webb Space telescope (2022)</a:t>
            </a:r>
          </a:p>
        </p:txBody>
      </p:sp>
      <p:pic>
        <p:nvPicPr>
          <p:cNvPr id="45" name="Picture 12" descr="NASA韋伯望遠鏡拍下130億年前光芒| 星島日報">
            <a:extLst>
              <a:ext uri="{FF2B5EF4-FFF2-40B4-BE49-F238E27FC236}">
                <a16:creationId xmlns:a16="http://schemas.microsoft.com/office/drawing/2014/main" id="{294ABF8A-F8A8-EDEE-FE67-EC12C4155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20" y="1762574"/>
            <a:ext cx="1569783" cy="14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james webb space telescope Icon 4564794">
            <a:extLst>
              <a:ext uri="{FF2B5EF4-FFF2-40B4-BE49-F238E27FC236}">
                <a16:creationId xmlns:a16="http://schemas.microsoft.com/office/drawing/2014/main" id="{797D33CB-8F97-F39A-9621-02CA56AA8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30" y="1949007"/>
            <a:ext cx="1166873" cy="1166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5BEC3E-A8C2-525E-CDF0-8DE7603FD55E}"/>
              </a:ext>
            </a:extLst>
          </p:cNvPr>
          <p:cNvSpPr txBox="1"/>
          <p:nvPr/>
        </p:nvSpPr>
        <p:spPr>
          <a:xfrm>
            <a:off x="3027096" y="748726"/>
            <a:ext cx="67522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Different ways of astronomical imaging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225E89E-B68A-C2F6-6C63-348DF524C262}"/>
              </a:ext>
            </a:extLst>
          </p:cNvPr>
          <p:cNvGrpSpPr/>
          <p:nvPr/>
        </p:nvGrpSpPr>
        <p:grpSpPr>
          <a:xfrm>
            <a:off x="5026432" y="1488065"/>
            <a:ext cx="2606671" cy="2352912"/>
            <a:chOff x="4565793" y="806115"/>
            <a:chExt cx="2606671" cy="235291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961D023-AFE6-C481-C233-9F6F5B170256}"/>
                </a:ext>
              </a:extLst>
            </p:cNvPr>
            <p:cNvGrpSpPr/>
            <p:nvPr/>
          </p:nvGrpSpPr>
          <p:grpSpPr>
            <a:xfrm>
              <a:off x="4565793" y="806115"/>
              <a:ext cx="2606671" cy="2352912"/>
              <a:chOff x="8084303" y="1609113"/>
              <a:chExt cx="3940370" cy="3748586"/>
            </a:xfrm>
          </p:grpSpPr>
          <p:pic>
            <p:nvPicPr>
              <p:cNvPr id="71" name="Graphic 70" descr="Satellite dish outline">
                <a:extLst>
                  <a:ext uri="{FF2B5EF4-FFF2-40B4-BE49-F238E27FC236}">
                    <a16:creationId xmlns:a16="http://schemas.microsoft.com/office/drawing/2014/main" id="{DFA8FC2D-734D-AD67-20C3-852A81C32C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8084303" y="1609113"/>
                <a:ext cx="3486150" cy="3323320"/>
              </a:xfrm>
              <a:prstGeom prst="rect">
                <a:avLst/>
              </a:prstGeom>
            </p:spPr>
          </p:pic>
          <p:pic>
            <p:nvPicPr>
              <p:cNvPr id="72" name="Graphic 71" descr="Satellite dish with solid fill">
                <a:extLst>
                  <a:ext uri="{FF2B5EF4-FFF2-40B4-BE49-F238E27FC236}">
                    <a16:creationId xmlns:a16="http://schemas.microsoft.com/office/drawing/2014/main" id="{6D995358-30A6-71CD-8FCE-59F836B1B1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9468964" y="4641913"/>
                <a:ext cx="716828" cy="71578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72F7EF0-EFF7-84C2-27DB-334311699A57}"/>
                  </a:ext>
                </a:extLst>
              </p:cNvPr>
              <p:cNvCxnSpPr/>
              <p:nvPr/>
            </p:nvCxnSpPr>
            <p:spPr>
              <a:xfrm>
                <a:off x="8772525" y="3857625"/>
                <a:ext cx="714375" cy="733425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74" name="Graphic 73" descr="Satellite dish with solid fill">
                <a:extLst>
                  <a:ext uri="{FF2B5EF4-FFF2-40B4-BE49-F238E27FC236}">
                    <a16:creationId xmlns:a16="http://schemas.microsoft.com/office/drawing/2014/main" id="{7B7AAC27-F92C-B7FE-6FF3-A02C6512C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11307845" y="3141839"/>
                <a:ext cx="716828" cy="71578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C3C6164-A559-9553-8FD1-7403A3378312}"/>
                  </a:ext>
                </a:extLst>
              </p:cNvPr>
              <p:cNvCxnSpPr/>
              <p:nvPr/>
            </p:nvCxnSpPr>
            <p:spPr>
              <a:xfrm>
                <a:off x="10763249" y="2331012"/>
                <a:ext cx="714375" cy="733425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76" name="Graphic 75" descr="Satellite dish with solid fill">
                <a:extLst>
                  <a:ext uri="{FF2B5EF4-FFF2-40B4-BE49-F238E27FC236}">
                    <a16:creationId xmlns:a16="http://schemas.microsoft.com/office/drawing/2014/main" id="{2D97CA73-B568-DC4E-4DA8-5205D89EA8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11080735" y="4284020"/>
                <a:ext cx="716828" cy="715786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1D48EAB-FA14-C39F-2EF2-1E150FB5C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8874" y="3194839"/>
                <a:ext cx="1071562" cy="1054930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D4CBC86-D74E-084B-7129-74C1DBB2E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0717" y="1147509"/>
              <a:ext cx="1189202" cy="106720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88D405E-CBE9-D8CE-9FFF-07483FF8041D}"/>
                    </a:ext>
                  </a:extLst>
                </p:cNvPr>
                <p:cNvSpPr txBox="1"/>
                <p:nvPr/>
              </p:nvSpPr>
              <p:spPr>
                <a:xfrm>
                  <a:off x="5579821" y="1623486"/>
                  <a:ext cx="3808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i="1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788D405E-CBE9-D8CE-9FFF-07483FF80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9821" y="1623486"/>
                  <a:ext cx="38082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2F205200-69EC-BBCC-3A8C-37CACA75FEDC}"/>
              </a:ext>
            </a:extLst>
          </p:cNvPr>
          <p:cNvSpPr txBox="1"/>
          <p:nvPr/>
        </p:nvSpPr>
        <p:spPr>
          <a:xfrm>
            <a:off x="7757079" y="2363060"/>
            <a:ext cx="4316607" cy="84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Instead of measuring with one huge telescope (direct imaging), one can use an </a:t>
            </a:r>
            <a:r>
              <a:rPr lang="en-US" sz="1600" b="1" dirty="0"/>
              <a:t>array</a:t>
            </a:r>
            <a:r>
              <a:rPr lang="en-US" sz="1600" dirty="0"/>
              <a:t> of telescopes (interferometric imaging).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B44F632-38FE-256C-9476-DC5103138B64}"/>
              </a:ext>
            </a:extLst>
          </p:cNvPr>
          <p:cNvCxnSpPr>
            <a:cxnSpLocks/>
          </p:cNvCxnSpPr>
          <p:nvPr/>
        </p:nvCxnSpPr>
        <p:spPr>
          <a:xfrm>
            <a:off x="1771615" y="1847549"/>
            <a:ext cx="844976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D649B38-3DCF-6DE2-43BB-0299395A0C03}"/>
                  </a:ext>
                </a:extLst>
              </p:cNvPr>
              <p:cNvSpPr txBox="1"/>
              <p:nvPr/>
            </p:nvSpPr>
            <p:spPr>
              <a:xfrm>
                <a:off x="1889175" y="1460976"/>
                <a:ext cx="678782" cy="368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D649B38-3DCF-6DE2-43BB-0299395A0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175" y="1460976"/>
                <a:ext cx="678782" cy="3684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27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D02DE-4D80-7602-2455-CED09AEE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2ECB231A-737A-270C-A461-3491D778F581}"/>
              </a:ext>
            </a:extLst>
          </p:cNvPr>
          <p:cNvGrpSpPr/>
          <p:nvPr/>
        </p:nvGrpSpPr>
        <p:grpSpPr>
          <a:xfrm>
            <a:off x="-37664" y="193915"/>
            <a:ext cx="10572021" cy="5545703"/>
            <a:chOff x="-1062261" y="109509"/>
            <a:chExt cx="10572021" cy="554570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C138CAA-A4C8-42F5-63F5-59AADC172969}"/>
                </a:ext>
              </a:extLst>
            </p:cNvPr>
            <p:cNvSpPr/>
            <p:nvPr/>
          </p:nvSpPr>
          <p:spPr>
            <a:xfrm>
              <a:off x="-1062261" y="109509"/>
              <a:ext cx="10142806" cy="50362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193AE4D-7B04-F793-B053-08B7C3451D99}"/>
                </a:ext>
              </a:extLst>
            </p:cNvPr>
            <p:cNvGrpSpPr/>
            <p:nvPr/>
          </p:nvGrpSpPr>
          <p:grpSpPr>
            <a:xfrm>
              <a:off x="426653" y="1578720"/>
              <a:ext cx="9083107" cy="4076492"/>
              <a:chOff x="356315" y="748726"/>
              <a:chExt cx="11835685" cy="610927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8E20F9A-646B-75F0-8443-EEBE81CAA914}"/>
                  </a:ext>
                </a:extLst>
              </p:cNvPr>
              <p:cNvSpPr/>
              <p:nvPr/>
            </p:nvSpPr>
            <p:spPr>
              <a:xfrm>
                <a:off x="9680293" y="5914772"/>
                <a:ext cx="2511707" cy="943228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97B5EFD-1DBC-55CC-F519-5F936C9A218C}"/>
                  </a:ext>
                </a:extLst>
              </p:cNvPr>
              <p:cNvGrpSpPr/>
              <p:nvPr/>
            </p:nvGrpSpPr>
            <p:grpSpPr>
              <a:xfrm>
                <a:off x="4853249" y="1840338"/>
                <a:ext cx="1536986" cy="1184092"/>
                <a:chOff x="2389356" y="2668878"/>
                <a:chExt cx="2820818" cy="2056698"/>
              </a:xfrm>
            </p:grpSpPr>
            <p:pic>
              <p:nvPicPr>
                <p:cNvPr id="7" name="Graphic 6" descr="Solar system with solid fill">
                  <a:extLst>
                    <a:ext uri="{FF2B5EF4-FFF2-40B4-BE49-F238E27FC236}">
                      <a16:creationId xmlns:a16="http://schemas.microsoft.com/office/drawing/2014/main" id="{4DEB5040-456E-2688-638F-EC853DB448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949361">
                  <a:off x="3396457" y="2668878"/>
                  <a:ext cx="917821" cy="917821"/>
                </a:xfrm>
                <a:prstGeom prst="rect">
                  <a:avLst/>
                </a:prstGeo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4BED7401-6652-8330-8E12-C5B4D2B8C7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962726" y="3341745"/>
                  <a:ext cx="531834" cy="502022"/>
                </a:xfrm>
                <a:prstGeom prst="straightConnector1">
                  <a:avLst/>
                </a:prstGeom>
                <a:ln w="19050">
                  <a:solidFill>
                    <a:schemeClr val="dk1"/>
                  </a:solidFill>
                  <a:prstDash val="sysDash"/>
                  <a:tailEnd type="triangle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14C64ADD-98E0-9260-69DA-95D1AA14E9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5761" y="3333404"/>
                  <a:ext cx="423863" cy="539820"/>
                </a:xfrm>
                <a:prstGeom prst="straightConnector1">
                  <a:avLst/>
                </a:prstGeom>
                <a:ln w="19050">
                  <a:prstDash val="sysDash"/>
                  <a:tailEnd type="triangle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10" name="Graphic 9" descr="Satellite dish with solid fill">
                  <a:extLst>
                    <a:ext uri="{FF2B5EF4-FFF2-40B4-BE49-F238E27FC236}">
                      <a16:creationId xmlns:a16="http://schemas.microsoft.com/office/drawing/2014/main" id="{B6914EEA-7F76-DE39-2792-6491931D1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4295774" y="3811176"/>
                  <a:ext cx="914400" cy="914400"/>
                </a:xfrm>
                <a:prstGeom prst="rect">
                  <a:avLst/>
                </a:prstGeo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11" name="Graphic 10" descr="Satellite dish with solid fill">
                  <a:extLst>
                    <a:ext uri="{FF2B5EF4-FFF2-40B4-BE49-F238E27FC236}">
                      <a16:creationId xmlns:a16="http://schemas.microsoft.com/office/drawing/2014/main" id="{91D8A21A-07ED-C179-F1E0-069B49E64D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89356" y="3789854"/>
                  <a:ext cx="914400" cy="914400"/>
                </a:xfrm>
                <a:prstGeom prst="rect">
                  <a:avLst/>
                </a:prstGeo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6B26A64-55FE-9242-525E-29EB4E70F948}"/>
                  </a:ext>
                </a:extLst>
              </p:cNvPr>
              <p:cNvGrpSpPr/>
              <p:nvPr/>
            </p:nvGrpSpPr>
            <p:grpSpPr>
              <a:xfrm flipH="1">
                <a:off x="9480727" y="2090500"/>
                <a:ext cx="433674" cy="371083"/>
                <a:chOff x="2098274" y="1374606"/>
                <a:chExt cx="1690182" cy="1652414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6EE776BE-D430-9A37-CFFD-34D12598994E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31" name="Flowchart: Delay 24">
                    <a:extLst>
                      <a:ext uri="{FF2B5EF4-FFF2-40B4-BE49-F238E27FC236}">
                        <a16:creationId xmlns:a16="http://schemas.microsoft.com/office/drawing/2014/main" id="{5CA51399-95EC-0C0F-A067-8E111B2EEF91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1AC3CA6C-B11F-6230-7D8B-D9A46B8854CE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AA234EE-D7E8-938A-EDC3-472C34FBC1B8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4" name="Arc 33">
                    <a:extLst>
                      <a:ext uri="{FF2B5EF4-FFF2-40B4-BE49-F238E27FC236}">
                        <a16:creationId xmlns:a16="http://schemas.microsoft.com/office/drawing/2014/main" id="{08EF21DC-C5DE-38D3-0DB6-1B4B3B7D209C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3810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CBD2D31D-D514-C823-053F-55CC3F57E0BF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090276D2-73C8-0A64-B2D2-9B313918A882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4A6B4916-AD0D-FB27-0CFC-59582785CAB8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1A724858-B547-4D10-C6C1-C193A0EB2D0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</p:grp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5C6F2BC-9913-2C94-8758-8BF21A6AE762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/>
                </a:p>
              </p:txBody>
            </p:sp>
          </p:grpSp>
          <p:pic>
            <p:nvPicPr>
              <p:cNvPr id="14" name="Graphic 13" descr="Solar system with solid fill">
                <a:extLst>
                  <a:ext uri="{FF2B5EF4-FFF2-40B4-BE49-F238E27FC236}">
                    <a16:creationId xmlns:a16="http://schemas.microsoft.com/office/drawing/2014/main" id="{D4045A95-0D3E-DE06-3F8D-52D5F8488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201826">
                <a:off x="8931268" y="1434448"/>
                <a:ext cx="506614" cy="493250"/>
              </a:xfrm>
              <a:prstGeom prst="rect">
                <a:avLst/>
              </a:prstGeom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0F69766-C016-7499-F329-4F04DBA4F5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55383" y="1794245"/>
                <a:ext cx="286152" cy="262675"/>
              </a:xfrm>
              <a:prstGeom prst="straightConnector1">
                <a:avLst/>
              </a:prstGeom>
              <a:ln w="19050">
                <a:solidFill>
                  <a:schemeClr val="dk1"/>
                </a:solidFill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27E43E4-78F8-14BD-A79A-CBFFEF9D86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63354" y="1811787"/>
                <a:ext cx="243581" cy="261603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03F4F00-0373-2244-2EE1-9D0993515BFB}"/>
                  </a:ext>
                </a:extLst>
              </p:cNvPr>
              <p:cNvGrpSpPr/>
              <p:nvPr/>
            </p:nvGrpSpPr>
            <p:grpSpPr>
              <a:xfrm>
                <a:off x="8330934" y="2078987"/>
                <a:ext cx="426007" cy="371083"/>
                <a:chOff x="2098274" y="1374606"/>
                <a:chExt cx="1690182" cy="1652414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F22C93A2-1E87-413A-2140-AA0308392292}"/>
                    </a:ext>
                  </a:extLst>
                </p:cNvPr>
                <p:cNvGrpSpPr/>
                <p:nvPr/>
              </p:nvGrpSpPr>
              <p:grpSpPr>
                <a:xfrm>
                  <a:off x="2098274" y="1374606"/>
                  <a:ext cx="1690182" cy="1652414"/>
                  <a:chOff x="2098274" y="1374605"/>
                  <a:chExt cx="2309028" cy="2250056"/>
                </a:xfrm>
              </p:grpSpPr>
              <p:sp>
                <p:nvSpPr>
                  <p:cNvPr id="21" name="Flowchart: Delay 38">
                    <a:extLst>
                      <a:ext uri="{FF2B5EF4-FFF2-40B4-BE49-F238E27FC236}">
                        <a16:creationId xmlns:a16="http://schemas.microsoft.com/office/drawing/2014/main" id="{6B2D0EED-F47F-56DB-BF1E-BAA89E0C240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647824" y="1386889"/>
                    <a:ext cx="957943" cy="1590219"/>
                  </a:xfrm>
                  <a:prstGeom prst="flowChartDelay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5CAE20EF-1C9E-99B4-D252-7F4FC7206C65}"/>
                      </a:ext>
                    </a:extLst>
                  </p:cNvPr>
                  <p:cNvSpPr/>
                  <p:nvPr/>
                </p:nvSpPr>
                <p:spPr>
                  <a:xfrm rot="2686521">
                    <a:off x="3783188" y="1374605"/>
                    <a:ext cx="624114" cy="253888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6474522B-8B80-166D-B34D-6E795A564D53}"/>
                      </a:ext>
                    </a:extLst>
                  </p:cNvPr>
                  <p:cNvSpPr/>
                  <p:nvPr/>
                </p:nvSpPr>
                <p:spPr>
                  <a:xfrm rot="8017899">
                    <a:off x="3465985" y="1683306"/>
                    <a:ext cx="624114" cy="281508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4" name="Arc 23">
                    <a:extLst>
                      <a:ext uri="{FF2B5EF4-FFF2-40B4-BE49-F238E27FC236}">
                        <a16:creationId xmlns:a16="http://schemas.microsoft.com/office/drawing/2014/main" id="{992F8449-9174-27BA-7217-FABD57F66E8F}"/>
                      </a:ext>
                    </a:extLst>
                  </p:cNvPr>
                  <p:cNvSpPr/>
                  <p:nvPr/>
                </p:nvSpPr>
                <p:spPr>
                  <a:xfrm>
                    <a:off x="2706794" y="1892121"/>
                    <a:ext cx="972457" cy="994951"/>
                  </a:xfrm>
                  <a:prstGeom prst="arc">
                    <a:avLst/>
                  </a:prstGeom>
                  <a:ln w="38100"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9B78A2B0-16D6-6E6B-79A5-2D039C3C3DF8}"/>
                      </a:ext>
                    </a:extLst>
                  </p:cNvPr>
                  <p:cNvSpPr/>
                  <p:nvPr/>
                </p:nvSpPr>
                <p:spPr>
                  <a:xfrm>
                    <a:off x="2098274" y="2700268"/>
                    <a:ext cx="2085220" cy="255194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30C5B0F6-269B-5A3F-A7B7-8C0532F09BDC}"/>
                      </a:ext>
                    </a:extLst>
                  </p:cNvPr>
                  <p:cNvSpPr/>
                  <p:nvPr/>
                </p:nvSpPr>
                <p:spPr>
                  <a:xfrm>
                    <a:off x="2331687" y="2985725"/>
                    <a:ext cx="1590221" cy="638936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C6935F50-A122-F575-0E3B-E1143C1A0EB7}"/>
                      </a:ext>
                    </a:extLst>
                  </p:cNvPr>
                  <p:cNvSpPr/>
                  <p:nvPr/>
                </p:nvSpPr>
                <p:spPr>
                  <a:xfrm flipV="1">
                    <a:off x="2627780" y="3265694"/>
                    <a:ext cx="79015" cy="62255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D3030E7-D7B2-2026-80E1-A3B04EB73E7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286347" y="3227729"/>
                    <a:ext cx="354940" cy="430868"/>
                  </a:xfrm>
                  <a:prstGeom prst="rect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50" dirty="0"/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AA0EEC0-A88F-0A84-0D33-C044B057E759}"/>
                    </a:ext>
                  </a:extLst>
                </p:cNvPr>
                <p:cNvSpPr/>
                <p:nvPr/>
              </p:nvSpPr>
              <p:spPr>
                <a:xfrm flipV="1">
                  <a:off x="2683752" y="2763399"/>
                  <a:ext cx="57830" cy="45719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050" dirty="0"/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2A71114-70FF-EA44-101B-D572E1DE0207}"/>
                  </a:ext>
                </a:extLst>
              </p:cNvPr>
              <p:cNvSpPr txBox="1"/>
              <p:nvPr/>
            </p:nvSpPr>
            <p:spPr>
              <a:xfrm>
                <a:off x="4640581" y="3535794"/>
                <a:ext cx="3466785" cy="761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i="1" dirty="0"/>
                  <a:t>R</a:t>
                </a:r>
                <a:r>
                  <a:rPr lang="en-US" sz="900" b="1" i="1" dirty="0">
                    <a:effectLst/>
                  </a:rPr>
                  <a:t>adio </a:t>
                </a:r>
                <a:r>
                  <a:rPr lang="en-US" sz="900" b="1" i="1" dirty="0"/>
                  <a:t>Interferometry</a:t>
                </a:r>
                <a:r>
                  <a:rPr lang="en-US" sz="900" b="1" i="1" dirty="0">
                    <a:effectLst/>
                  </a:rPr>
                  <a:t>: </a:t>
                </a:r>
              </a:p>
              <a:p>
                <a:r>
                  <a:rPr lang="en-US" sz="900" b="0" i="0" dirty="0">
                    <a:effectLst/>
                  </a:rPr>
                  <a:t>Image of M87 blackhole </a:t>
                </a:r>
                <a:r>
                  <a:rPr lang="en-US" sz="900" dirty="0"/>
                  <a:t>with </a:t>
                </a:r>
                <a:r>
                  <a:rPr lang="en-US" sz="900" b="0" i="0" dirty="0">
                    <a:effectLst/>
                  </a:rPr>
                  <a:t>Event Horizon telescope arrays (2019)</a:t>
                </a:r>
                <a:endParaRPr lang="en-US" sz="90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4F762F-DAAB-262E-FC90-5E83C6C48593}"/>
                  </a:ext>
                </a:extLst>
              </p:cNvPr>
              <p:cNvSpPr txBox="1"/>
              <p:nvPr/>
            </p:nvSpPr>
            <p:spPr>
              <a:xfrm>
                <a:off x="8338114" y="3555405"/>
                <a:ext cx="3554859" cy="761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i="1" dirty="0"/>
                  <a:t>Optical</a:t>
                </a:r>
                <a:r>
                  <a:rPr lang="en-US" sz="900" b="1" i="1" dirty="0">
                    <a:effectLst/>
                  </a:rPr>
                  <a:t> </a:t>
                </a:r>
                <a:r>
                  <a:rPr lang="en-US" sz="900" b="1" i="1" dirty="0"/>
                  <a:t>I</a:t>
                </a:r>
                <a:r>
                  <a:rPr lang="en-US" sz="900" b="1" i="1" dirty="0">
                    <a:effectLst/>
                  </a:rPr>
                  <a:t>nterferometry:  </a:t>
                </a:r>
              </a:p>
              <a:p>
                <a:r>
                  <a:rPr lang="en-US" sz="900" b="0" i="0" dirty="0">
                    <a:effectLst/>
                  </a:rPr>
                  <a:t>Image of V1295 </a:t>
                </a:r>
                <a:r>
                  <a:rPr lang="en-US" sz="900" b="0" i="0" dirty="0" err="1">
                    <a:effectLst/>
                  </a:rPr>
                  <a:t>Aql</a:t>
                </a:r>
                <a:r>
                  <a:rPr lang="en-US" sz="900" b="0" i="0" dirty="0">
                    <a:effectLst/>
                  </a:rPr>
                  <a:t> </a:t>
                </a:r>
                <a:r>
                  <a:rPr lang="en-US" sz="900" dirty="0"/>
                  <a:t>with the CHARA telescope arrays  (2023) </a:t>
                </a:r>
                <a:r>
                  <a:rPr lang="en-US" sz="900" b="0" i="0" dirty="0">
                    <a:effectLst/>
                  </a:rPr>
                  <a:t> </a:t>
                </a:r>
                <a:endParaRPr lang="en-US" sz="900" dirty="0"/>
              </a:p>
            </p:txBody>
          </p:sp>
          <p:pic>
            <p:nvPicPr>
              <p:cNvPr id="41" name="Picture 10">
                <a:extLst>
                  <a:ext uri="{FF2B5EF4-FFF2-40B4-BE49-F238E27FC236}">
                    <a16:creationId xmlns:a16="http://schemas.microsoft.com/office/drawing/2014/main" id="{6C785C07-5834-0AFA-5E79-9E76EE83A9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0489" y="1779367"/>
                <a:ext cx="1365746" cy="13829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F17E88FC-22DD-219E-2891-00BA7B54A0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68521" y="2528622"/>
                <a:ext cx="373014" cy="372328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730AC4A-106E-A6FF-B237-0439FE9E48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77302" y="2547992"/>
                <a:ext cx="309120" cy="352958"/>
              </a:xfrm>
              <a:prstGeom prst="straightConnector1">
                <a:avLst/>
              </a:prstGeom>
              <a:ln w="19050">
                <a:solidFill>
                  <a:schemeClr val="dk1"/>
                </a:solidFill>
                <a:prstDash val="sysDash"/>
                <a:tailEnd type="triangle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4EA12E6-CADD-8101-1B65-4B27677EEE7B}"/>
                  </a:ext>
                </a:extLst>
              </p:cNvPr>
              <p:cNvSpPr/>
              <p:nvPr/>
            </p:nvSpPr>
            <p:spPr>
              <a:xfrm>
                <a:off x="9119681" y="2682172"/>
                <a:ext cx="45719" cy="37982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/>
              </a:p>
            </p:txBody>
          </p:sp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ABA0CA64-48A5-FB28-7BD4-922D6C4E23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70318" y="1949007"/>
                <a:ext cx="2033219" cy="971538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E3FA0C-A781-5A4B-9BA8-78BFCBD45015}"/>
                      </a:ext>
                    </a:extLst>
                  </p:cNvPr>
                  <p:cNvSpPr txBox="1"/>
                  <p:nvPr/>
                </p:nvSpPr>
                <p:spPr>
                  <a:xfrm>
                    <a:off x="4033090" y="6276997"/>
                    <a:ext cx="2845430" cy="49286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CA" sz="1050" dirty="0"/>
                      <a:t>Rayleigh limit:  </a:t>
                    </a:r>
                    <a14:m>
                      <m:oMath xmlns:m="http://schemas.openxmlformats.org/officeDocument/2006/math"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num>
                          <m:den>
                            <m:r>
                              <a:rPr lang="en-US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oMath>
                    </a14:m>
                    <a:endParaRPr lang="en-CA" sz="1050" dirty="0"/>
                  </a:p>
                </p:txBody>
              </p:sp>
            </mc:Choice>
            <mc:Fallback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F4E3FA0C-A781-5A4B-9BA8-78BFCBD450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33090" y="6276997"/>
                    <a:ext cx="2845430" cy="4928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95E4D5-0DEE-7692-327C-95EEEA1EA143}"/>
                  </a:ext>
                </a:extLst>
              </p:cNvPr>
              <p:cNvSpPr txBox="1"/>
              <p:nvPr/>
            </p:nvSpPr>
            <p:spPr>
              <a:xfrm>
                <a:off x="3027096" y="748726"/>
                <a:ext cx="6752224" cy="415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CA" sz="1200" dirty="0"/>
                  <a:t>Different ways of astronomical imaging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0A1C5A6E-58B9-19A4-39C7-D0A4E78D11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8048" y="6387076"/>
                <a:ext cx="40820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179D73B-E0A3-42D2-7FF4-F713635013F6}"/>
                  </a:ext>
                </a:extLst>
              </p:cNvPr>
              <p:cNvSpPr txBox="1"/>
              <p:nvPr/>
            </p:nvSpPr>
            <p:spPr>
              <a:xfrm>
                <a:off x="6845128" y="6249723"/>
                <a:ext cx="1602258" cy="322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sensing wavelength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47E89582-6E2B-9536-032E-D166EC129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9222" y="6664750"/>
                <a:ext cx="3970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C01824C-5980-F88C-3DE8-01E38A106343}"/>
                  </a:ext>
                </a:extLst>
              </p:cNvPr>
              <p:cNvSpPr txBox="1"/>
              <p:nvPr/>
            </p:nvSpPr>
            <p:spPr>
              <a:xfrm>
                <a:off x="6700822" y="6519427"/>
                <a:ext cx="2051578" cy="322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‘effective’ telescope size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2ADC871-9029-9BC8-C27F-552E422372A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6" y="4306459"/>
                    <a:ext cx="507099" cy="41512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CA" sz="1200" i="1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82ADC871-9029-9BC8-C27F-552E422372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6" y="4306459"/>
                    <a:ext cx="507099" cy="41512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F07DCAA-66E9-5088-4C47-C4B45B864100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5" y="5014443"/>
                    <a:ext cx="507099" cy="41512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CA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7F07DCAA-66E9-5088-4C47-C4B45B8641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5" y="5014443"/>
                    <a:ext cx="507099" cy="41512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2F5AE59-B83D-332E-540E-F3FBCA261AD2}"/>
                      </a:ext>
                    </a:extLst>
                  </p:cNvPr>
                  <p:cNvSpPr txBox="1"/>
                  <p:nvPr/>
                </p:nvSpPr>
                <p:spPr>
                  <a:xfrm>
                    <a:off x="2308121" y="4357771"/>
                    <a:ext cx="1110744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050" b="0" i="1" smtClean="0">
                            <a:latin typeface="Cambria Math" panose="02040503050406030204" pitchFamily="18" charset="0"/>
                          </a:rPr>
                          <m:t>～</m:t>
                        </m:r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r>
                      <a:rPr lang="en-US" sz="1050" dirty="0"/>
                      <a:t>um</a:t>
                    </a:r>
                  </a:p>
                </p:txBody>
              </p:sp>
            </mc:Choice>
            <mc:Fallback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2F5AE59-B83D-332E-540E-F3FBCA261A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8121" y="4357771"/>
                    <a:ext cx="1110744" cy="38053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99A4A6E1-3F7C-BC7A-1630-5AE8E321F1C8}"/>
                      </a:ext>
                    </a:extLst>
                  </p:cNvPr>
                  <p:cNvSpPr txBox="1"/>
                  <p:nvPr/>
                </p:nvSpPr>
                <p:spPr>
                  <a:xfrm>
                    <a:off x="2308121" y="5007561"/>
                    <a:ext cx="1110744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050" b="0" i="1" smtClean="0">
                            <a:latin typeface="Cambria Math" panose="02040503050406030204" pitchFamily="18" charset="0"/>
                          </a:rPr>
                          <m:t>～</m:t>
                        </m:r>
                        <m:r>
                          <a:rPr lang="en-CA" altLang="zh-CN" sz="1050" b="0" i="1" smtClean="0">
                            <a:latin typeface="Cambria Math" panose="02040503050406030204" pitchFamily="18" charset="0"/>
                          </a:rPr>
                          <m:t>6.5</m:t>
                        </m:r>
                      </m:oMath>
                    </a14:m>
                    <a:r>
                      <a:rPr lang="en-US" sz="1050" dirty="0"/>
                      <a:t>m</a:t>
                    </a:r>
                  </a:p>
                </p:txBody>
              </p:sp>
            </mc:Choice>
            <mc:Fallback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99A4A6E1-3F7C-BC7A-1630-5AE8E321F1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8121" y="5007561"/>
                    <a:ext cx="1110744" cy="38053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76E75CCB-561E-3FDA-8776-9B90DF8F9D61}"/>
                      </a:ext>
                    </a:extLst>
                  </p:cNvPr>
                  <p:cNvSpPr txBox="1"/>
                  <p:nvPr/>
                </p:nvSpPr>
                <p:spPr>
                  <a:xfrm>
                    <a:off x="5821248" y="4357771"/>
                    <a:ext cx="1110744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050" b="0" i="1" smtClean="0">
                            <a:latin typeface="Cambria Math" panose="02040503050406030204" pitchFamily="18" charset="0"/>
                          </a:rPr>
                          <m:t>～</m:t>
                        </m:r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r>
                      <a:rPr lang="en-US" sz="1050" dirty="0"/>
                      <a:t>mm</a:t>
                    </a:r>
                  </a:p>
                </p:txBody>
              </p:sp>
            </mc:Choice>
            <mc:Fallback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76E75CCB-561E-3FDA-8776-9B90DF8F9D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1248" y="4357771"/>
                    <a:ext cx="1110744" cy="38053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1EF1D08-19AF-66A2-0331-AEF9BCD3F951}"/>
                      </a:ext>
                    </a:extLst>
                  </p:cNvPr>
                  <p:cNvSpPr txBox="1"/>
                  <p:nvPr/>
                </p:nvSpPr>
                <p:spPr>
                  <a:xfrm>
                    <a:off x="5598939" y="5007561"/>
                    <a:ext cx="1474202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050" b="0" i="1" smtClean="0">
                            <a:latin typeface="Cambria Math" panose="02040503050406030204" pitchFamily="18" charset="0"/>
                          </a:rPr>
                          <m:t>～</m:t>
                        </m:r>
                        <m:r>
                          <a:rPr lang="en-CA" altLang="zh-CN" sz="1050" b="0" i="1" smtClean="0">
                            <a:latin typeface="Cambria Math" panose="02040503050406030204" pitchFamily="18" charset="0"/>
                          </a:rPr>
                          <m:t>10000</m:t>
                        </m:r>
                        <m:r>
                          <m:rPr>
                            <m:sty m:val="p"/>
                          </m:rPr>
                          <a:rPr lang="en-CA" altLang="zh-CN" sz="105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a14:m>
                    <a:r>
                      <a:rPr lang="en-US" sz="1050" dirty="0"/>
                      <a:t>m</a:t>
                    </a:r>
                  </a:p>
                </p:txBody>
              </p:sp>
            </mc:Choice>
            <mc:Fallback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31EF1D08-19AF-66A2-0331-AEF9BCD3F9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8939" y="5007561"/>
                    <a:ext cx="1474202" cy="38053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302B96F2-282A-1350-5338-4B52667F4789}"/>
                      </a:ext>
                    </a:extLst>
                  </p:cNvPr>
                  <p:cNvSpPr txBox="1"/>
                  <p:nvPr/>
                </p:nvSpPr>
                <p:spPr>
                  <a:xfrm>
                    <a:off x="9560172" y="4357771"/>
                    <a:ext cx="1110744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050" b="0" i="1" smtClean="0">
                            <a:latin typeface="Cambria Math" panose="02040503050406030204" pitchFamily="18" charset="0"/>
                          </a:rPr>
                          <m:t>～</m:t>
                        </m:r>
                        <m:r>
                          <a:rPr lang="en-US" altLang="zh-CN" sz="105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a14:m>
                    <a:r>
                      <a:rPr lang="en-US" sz="1050" dirty="0"/>
                      <a:t>um</a:t>
                    </a:r>
                  </a:p>
                </p:txBody>
              </p:sp>
            </mc:Choice>
            <mc:Fallback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302B96F2-282A-1350-5338-4B52667F47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0172" y="4357771"/>
                    <a:ext cx="1110744" cy="38053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F0281C16-5C31-D28A-944C-6E83A406B5D2}"/>
                      </a:ext>
                    </a:extLst>
                  </p:cNvPr>
                  <p:cNvSpPr txBox="1"/>
                  <p:nvPr/>
                </p:nvSpPr>
                <p:spPr>
                  <a:xfrm>
                    <a:off x="9528005" y="5007561"/>
                    <a:ext cx="1365813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zh-CN" altLang="en-US" sz="1050" b="0" i="1" smtClean="0">
                            <a:latin typeface="Cambria Math" panose="02040503050406030204" pitchFamily="18" charset="0"/>
                          </a:rPr>
                          <m:t>～</m:t>
                        </m:r>
                        <m:r>
                          <a:rPr lang="en-CA" altLang="zh-CN" sz="1050" b="0" i="1" smtClean="0">
                            <a:latin typeface="Cambria Math" panose="02040503050406030204" pitchFamily="18" charset="0"/>
                          </a:rPr>
                          <m:t>300</m:t>
                        </m:r>
                      </m:oMath>
                    </a14:m>
                    <a:r>
                      <a:rPr lang="en-US" sz="1050" dirty="0"/>
                      <a:t>m</a:t>
                    </a:r>
                  </a:p>
                </p:txBody>
              </p:sp>
            </mc:Choice>
            <mc:Fallback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F0281C16-5C31-D28A-944C-6E83A406B5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28005" y="5007561"/>
                    <a:ext cx="1365813" cy="38053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32B0B950-20AF-0460-4CC2-015A088290F4}"/>
                  </a:ext>
                </a:extLst>
              </p:cNvPr>
              <p:cNvSpPr/>
              <p:nvPr/>
            </p:nvSpPr>
            <p:spPr>
              <a:xfrm>
                <a:off x="3979829" y="6219592"/>
                <a:ext cx="4894872" cy="596204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39E0BA02-ED73-5D02-C19B-639D97C6C41E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5" y="5683940"/>
                    <a:ext cx="507099" cy="41512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CA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>
              <p:sp>
                <p:nvSpPr>
                  <p:cNvPr id="3" name="TextBox 2">
                    <a:extLst>
                      <a:ext uri="{FF2B5EF4-FFF2-40B4-BE49-F238E27FC236}">
                        <a16:creationId xmlns:a16="http://schemas.microsoft.com/office/drawing/2014/main" id="{39E0BA02-ED73-5D02-C19B-639D97C6C4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5" y="5683940"/>
                    <a:ext cx="507099" cy="41512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6CCFEA3-D0D0-9065-051C-BAE7D6A0767E}"/>
                      </a:ext>
                    </a:extLst>
                  </p:cNvPr>
                  <p:cNvSpPr txBox="1"/>
                  <p:nvPr/>
                </p:nvSpPr>
                <p:spPr>
                  <a:xfrm>
                    <a:off x="1865240" y="5667962"/>
                    <a:ext cx="1772294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050" b="0" i="1" smtClean="0">
                              <a:latin typeface="Cambria Math" panose="02040503050406030204" pitchFamily="18" charset="0"/>
                            </a:rPr>
                            <m:t>～</m:t>
                          </m:r>
                          <m:r>
                            <a:rPr lang="en-CA" altLang="zh-CN" sz="1050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arc</m:t>
                          </m:r>
                          <m: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seconds</m:t>
                          </m:r>
                        </m:oMath>
                      </m:oMathPara>
                    </a14:m>
                    <a:endParaRPr lang="en-US" sz="1050" dirty="0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6CCFEA3-D0D0-9065-051C-BAE7D6A076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5240" y="5667962"/>
                    <a:ext cx="1772294" cy="38053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3738B7A-C0DA-DF4A-87EC-0882088EB096}"/>
                      </a:ext>
                    </a:extLst>
                  </p:cNvPr>
                  <p:cNvSpPr txBox="1"/>
                  <p:nvPr/>
                </p:nvSpPr>
                <p:spPr>
                  <a:xfrm>
                    <a:off x="5102364" y="5667962"/>
                    <a:ext cx="1323782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050" b="0" i="1" smtClean="0">
                              <a:latin typeface="Cambria Math" panose="02040503050406030204" pitchFamily="18" charset="0"/>
                            </a:rPr>
                            <m:t>～</m:t>
                          </m:r>
                          <m:r>
                            <a:rPr lang="en-CA" altLang="zh-CN" sz="1050" b="0" i="1" smtClean="0">
                              <a:latin typeface="Cambria Math" panose="02040503050406030204" pitchFamily="18" charset="0"/>
                            </a:rPr>
                            <m:t>19 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micro</m:t>
                          </m:r>
                          <m: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arc</m:t>
                          </m:r>
                          <m: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seconds</m:t>
                          </m:r>
                        </m:oMath>
                      </m:oMathPara>
                    </a14:m>
                    <a:endParaRPr lang="en-US" sz="1050" dirty="0"/>
                  </a:p>
                </p:txBody>
              </p:sp>
            </mc:Choice>
            <mc:Fallback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3738B7A-C0DA-DF4A-87EC-0882088EB0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2364" y="5667962"/>
                    <a:ext cx="1323782" cy="38053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46250"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957944A-FF9B-F3BA-8E4A-2A1467F22BDD}"/>
                      </a:ext>
                    </a:extLst>
                  </p:cNvPr>
                  <p:cNvSpPr txBox="1"/>
                  <p:nvPr/>
                </p:nvSpPr>
                <p:spPr>
                  <a:xfrm>
                    <a:off x="8834092" y="5657353"/>
                    <a:ext cx="1323782" cy="38053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1050" b="0" i="1" smtClean="0">
                              <a:latin typeface="Cambria Math" panose="02040503050406030204" pitchFamily="18" charset="0"/>
                            </a:rPr>
                            <m:t>～</m:t>
                          </m:r>
                          <m:r>
                            <a:rPr lang="en-CA" altLang="zh-CN" sz="1050" b="0" i="1" smtClean="0">
                              <a:latin typeface="Cambria Math" panose="02040503050406030204" pitchFamily="18" charset="0"/>
                            </a:rPr>
                            <m:t>200 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micro</m:t>
                          </m:r>
                          <m: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arc</m:t>
                          </m:r>
                          <m: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altLang="zh-CN" sz="1050" b="0" i="0" smtClean="0">
                              <a:latin typeface="Cambria Math" panose="02040503050406030204" pitchFamily="18" charset="0"/>
                            </a:rPr>
                            <m:t>seconds</m:t>
                          </m:r>
                        </m:oMath>
                      </m:oMathPara>
                    </a14:m>
                    <a:endParaRPr lang="en-US" sz="1050" dirty="0"/>
                  </a:p>
                </p:txBody>
              </p:sp>
            </mc:Choice>
            <mc:Fallback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B957944A-FF9B-F3BA-8E4A-2A1467F22B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4092" y="5657353"/>
                    <a:ext cx="1323782" cy="38053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51852" b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4808A40-A9F5-845C-8C86-D24103A58CA2}"/>
                  </a:ext>
                </a:extLst>
              </p:cNvPr>
              <p:cNvSpPr txBox="1"/>
              <p:nvPr/>
            </p:nvSpPr>
            <p:spPr>
              <a:xfrm>
                <a:off x="1184540" y="3526516"/>
                <a:ext cx="3554858" cy="761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b="1" i="1" dirty="0">
                    <a:effectLst/>
                  </a:rPr>
                  <a:t>Single telescope:   </a:t>
                </a:r>
              </a:p>
              <a:p>
                <a:r>
                  <a:rPr lang="en-US" sz="900" b="0" i="0" dirty="0">
                    <a:effectLst/>
                  </a:rPr>
                  <a:t>Image NGC 3132 with the James Webb Space telescope (2022)</a:t>
                </a:r>
              </a:p>
            </p:txBody>
          </p:sp>
          <p:pic>
            <p:nvPicPr>
              <p:cNvPr id="66" name="Picture 12" descr="NASA韋伯望遠鏡拍下130億年前光芒| 星島日報">
                <a:extLst>
                  <a:ext uri="{FF2B5EF4-FFF2-40B4-BE49-F238E27FC236}">
                    <a16:creationId xmlns:a16="http://schemas.microsoft.com/office/drawing/2014/main" id="{44DA4952-0B90-B2F8-68BE-84F5E41628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51120" y="1762574"/>
                <a:ext cx="1569783" cy="14561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7" name="Picture 2" descr="james webb space telescope Icon 4564794">
                <a:extLst>
                  <a:ext uri="{FF2B5EF4-FFF2-40B4-BE49-F238E27FC236}">
                    <a16:creationId xmlns:a16="http://schemas.microsoft.com/office/drawing/2014/main" id="{9CFD8A29-6D09-9AFB-3F50-FDAF8EADC5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45130" y="1949007"/>
                <a:ext cx="1166873" cy="11668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0192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1C0206-9545-1A8A-8DD1-31D6855E8155}"/>
              </a:ext>
            </a:extLst>
          </p:cNvPr>
          <p:cNvSpPr/>
          <p:nvPr/>
        </p:nvSpPr>
        <p:spPr>
          <a:xfrm>
            <a:off x="9680293" y="5914772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D7811-DFF0-9CF3-5B1E-416213A6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0" y="2277939"/>
            <a:ext cx="2814428" cy="24870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D9681E-63D1-0D0D-1327-F2EAD5B1DDAE}"/>
                  </a:ext>
                </a:extLst>
              </p:cNvPr>
              <p:cNvSpPr txBox="1"/>
              <p:nvPr/>
            </p:nvSpPr>
            <p:spPr>
              <a:xfrm>
                <a:off x="3135533" y="2188071"/>
                <a:ext cx="4320343" cy="36897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800" b="0" dirty="0"/>
                  <a:t>State received (weak thermal state) </a:t>
                </a:r>
                <a:endParaRPr lang="en-US" dirty="0"/>
              </a:p>
              <a:p>
                <a:endParaRPr lang="en-US" sz="1800" b="0" dirty="0"/>
              </a:p>
              <a:p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r>
                  <a:rPr lang="en-US" sz="1800" b="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acc>
                                </m:e>
                              </m:d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:endParaRPr lang="en-US" sz="1800" dirty="0"/>
              </a:p>
              <a:p>
                <a:r>
                  <a:rPr lang="en-US" dirty="0"/>
                  <a:t>      (in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basis.)</a:t>
                </a:r>
              </a:p>
              <a:p>
                <a:endParaRPr lang="en-US" sz="18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Van </a:t>
                </a:r>
                <a:r>
                  <a:rPr lang="en-US" dirty="0" err="1"/>
                  <a:t>Cittert</a:t>
                </a:r>
                <a:r>
                  <a:rPr lang="en-US" dirty="0"/>
                  <a:t>-Zernike theorem:</a:t>
                </a:r>
              </a:p>
              <a:p>
                <a:r>
                  <a:rPr lang="en-US" dirty="0"/>
                  <a:t>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sSup>
                      <m:sSup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⃗"/>
                            <m:ctrlP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sz="1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sup>
                    </m:sSup>
                    <m:r>
                      <a:rPr lang="en-CA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1800" dirty="0"/>
                  <a:t>                  </a:t>
                </a:r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D9681E-63D1-0D0D-1327-F2EAD5B1D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533" y="2188071"/>
                <a:ext cx="4320343" cy="3689728"/>
              </a:xfrm>
              <a:prstGeom prst="rect">
                <a:avLst/>
              </a:prstGeom>
              <a:blipFill>
                <a:blip r:embed="rId3"/>
                <a:stretch>
                  <a:fillRect l="-877" t="-1031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loud 9">
            <a:extLst>
              <a:ext uri="{FF2B5EF4-FFF2-40B4-BE49-F238E27FC236}">
                <a16:creationId xmlns:a16="http://schemas.microsoft.com/office/drawing/2014/main" id="{C36D40B1-5697-0174-BD9B-50447B8F8A43}"/>
              </a:ext>
            </a:extLst>
          </p:cNvPr>
          <p:cNvSpPr/>
          <p:nvPr/>
        </p:nvSpPr>
        <p:spPr>
          <a:xfrm>
            <a:off x="2018111" y="2047070"/>
            <a:ext cx="1029253" cy="359734"/>
          </a:xfrm>
          <a:prstGeom prst="cloud">
            <a:avLst/>
          </a:prstGeom>
          <a:solidFill>
            <a:srgbClr val="FF0000">
              <a:alpha val="39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A08A96-0924-2DD4-88E8-4496766780F1}"/>
                  </a:ext>
                </a:extLst>
              </p:cNvPr>
              <p:cNvSpPr txBox="1"/>
              <p:nvPr/>
            </p:nvSpPr>
            <p:spPr>
              <a:xfrm>
                <a:off x="1313261" y="1581182"/>
                <a:ext cx="30533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en-CA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:</a:t>
                </a:r>
                <a:r>
                  <a:rPr lang="en-CA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CA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Intensity distribution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A08A96-0924-2DD4-88E8-449676678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261" y="1581182"/>
                <a:ext cx="3053394" cy="369332"/>
              </a:xfrm>
              <a:prstGeom prst="rect">
                <a:avLst/>
              </a:prstGeom>
              <a:blipFill>
                <a:blip r:embed="rId4"/>
                <a:stretch>
                  <a:fillRect t="-1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D3AED1-FB37-35E3-02B2-E253282ED64A}"/>
              </a:ext>
            </a:extLst>
          </p:cNvPr>
          <p:cNvCxnSpPr/>
          <p:nvPr/>
        </p:nvCxnSpPr>
        <p:spPr>
          <a:xfrm>
            <a:off x="937704" y="3728032"/>
            <a:ext cx="1208314" cy="0"/>
          </a:xfrm>
          <a:prstGeom prst="straightConnector1">
            <a:avLst/>
          </a:prstGeom>
          <a:ln w="25400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D2445F-96AF-0777-0923-854F7F4AF541}"/>
                  </a:ext>
                </a:extLst>
              </p:cNvPr>
              <p:cNvSpPr txBox="1"/>
              <p:nvPr/>
            </p:nvSpPr>
            <p:spPr>
              <a:xfrm>
                <a:off x="1313261" y="3728032"/>
                <a:ext cx="457200" cy="410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AD2445F-96AF-0777-0923-854F7F4AF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261" y="3728032"/>
                <a:ext cx="457200" cy="4103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9B172F7-1156-E9B7-8D3F-47D9FBB70439}"/>
              </a:ext>
            </a:extLst>
          </p:cNvPr>
          <p:cNvSpPr txBox="1"/>
          <p:nvPr/>
        </p:nvSpPr>
        <p:spPr>
          <a:xfrm>
            <a:off x="74734" y="970823"/>
            <a:ext cx="59452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Optical</a:t>
            </a:r>
            <a:r>
              <a:rPr lang="en-US" sz="2000" dirty="0">
                <a:effectLst/>
              </a:rPr>
              <a:t> </a:t>
            </a:r>
            <a:r>
              <a:rPr lang="en-US" sz="2000" dirty="0"/>
              <a:t>I</a:t>
            </a:r>
            <a:r>
              <a:rPr lang="en-US" sz="2000" dirty="0">
                <a:effectLst/>
              </a:rPr>
              <a:t>nterferometry  (</a:t>
            </a:r>
            <a:r>
              <a:rPr lang="en-US" sz="2000" dirty="0"/>
              <a:t>‘Classical’ </a:t>
            </a:r>
            <a:r>
              <a:rPr lang="en-US" sz="2000" dirty="0" err="1"/>
              <a:t>telescopy</a:t>
            </a:r>
            <a:r>
              <a:rPr lang="en-US" sz="20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06D21B-D773-0395-35DD-184BBDB20C33}"/>
                  </a:ext>
                </a:extLst>
              </p:cNvPr>
              <p:cNvSpPr txBox="1"/>
              <p:nvPr/>
            </p:nvSpPr>
            <p:spPr>
              <a:xfrm>
                <a:off x="403278" y="5501302"/>
                <a:ext cx="2734366" cy="443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a:rPr lang="en-CA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i="1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olidFill>
                      <a:srgbClr val="0070C0"/>
                    </a:solidFill>
                    <a:latin typeface="Cambria Math" panose="02040503050406030204" pitchFamily="18" charset="0"/>
                  </a:rPr>
                  <a:t>complex visibility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06D21B-D773-0395-35DD-184BBDB20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278" y="5501302"/>
                <a:ext cx="2734366" cy="443122"/>
              </a:xfrm>
              <a:prstGeom prst="rect">
                <a:avLst/>
              </a:prstGeom>
              <a:blipFill>
                <a:blip r:embed="rId7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pure sine wave inverter, amplitude voltage pure sine wave graph - sine graph 幅插畫檔、美工圖案、卡通及圖標">
            <a:extLst>
              <a:ext uri="{FF2B5EF4-FFF2-40B4-BE49-F238E27FC236}">
                <a16:creationId xmlns:a16="http://schemas.microsoft.com/office/drawing/2014/main" id="{5F4CAA95-A3D7-AD12-341B-E228A1233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61" y="4671395"/>
            <a:ext cx="1447800" cy="81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D799841-0558-48DB-C7EE-12786B91187E}"/>
              </a:ext>
            </a:extLst>
          </p:cNvPr>
          <p:cNvSpPr/>
          <p:nvPr/>
        </p:nvSpPr>
        <p:spPr>
          <a:xfrm>
            <a:off x="6693936" y="2840044"/>
            <a:ext cx="5176958" cy="1362823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i="1" dirty="0">
                <a:solidFill>
                  <a:schemeClr val="tx1"/>
                </a:solidFill>
              </a:rPr>
              <a:t>“Optical interferometers have limited baseline lengths due to the transmission loss of photons between the telescopes.”</a:t>
            </a:r>
            <a:endParaRPr lang="en-US" i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718789-EC0E-6C7C-EA69-2695830C9632}"/>
                  </a:ext>
                </a:extLst>
              </p:cNvPr>
              <p:cNvSpPr/>
              <p:nvPr/>
            </p:nvSpPr>
            <p:spPr>
              <a:xfrm>
                <a:off x="8026561" y="4742173"/>
                <a:ext cx="2511708" cy="672240"/>
              </a:xfrm>
              <a:prstGeom prst="rect">
                <a:avLst/>
              </a:prstGeom>
              <a:solidFill>
                <a:srgbClr val="FFC000">
                  <a:alpha val="0"/>
                </a:srgbClr>
              </a:solidFill>
              <a:ln w="2540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Goal: estimate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F718789-EC0E-6C7C-EA69-2695830C96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561" y="4742173"/>
                <a:ext cx="2511708" cy="6722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20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/>
      <p:bldP spid="16" grpId="0"/>
      <p:bldP spid="18" grpId="0"/>
      <p:bldP spid="8" grpId="0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858EA-EAFA-6DB1-2293-98862DB6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49">
            <a:extLst>
              <a:ext uri="{FF2B5EF4-FFF2-40B4-BE49-F238E27FC236}">
                <a16:creationId xmlns:a16="http://schemas.microsoft.com/office/drawing/2014/main" id="{142AE9E2-E1FB-7246-A962-5133559A8980}"/>
              </a:ext>
            </a:extLst>
          </p:cNvPr>
          <p:cNvSpPr/>
          <p:nvPr/>
        </p:nvSpPr>
        <p:spPr>
          <a:xfrm>
            <a:off x="144397" y="1261186"/>
            <a:ext cx="11723137" cy="5036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06DB64-24C6-27AD-E44B-B8489F7857F8}"/>
              </a:ext>
            </a:extLst>
          </p:cNvPr>
          <p:cNvSpPr/>
          <p:nvPr/>
        </p:nvSpPr>
        <p:spPr>
          <a:xfrm>
            <a:off x="9595413" y="5889387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8AB509-1B5E-4022-86BE-CCE3EB84A5FC}"/>
              </a:ext>
            </a:extLst>
          </p:cNvPr>
          <p:cNvSpPr txBox="1"/>
          <p:nvPr/>
        </p:nvSpPr>
        <p:spPr>
          <a:xfrm>
            <a:off x="0" y="500006"/>
            <a:ext cx="5745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Roadmap to quantum </a:t>
            </a:r>
            <a:r>
              <a:rPr lang="en-US" sz="2000" dirty="0" err="1"/>
              <a:t>telescopy</a:t>
            </a:r>
            <a:endParaRPr lang="en-US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334D83-508F-E01B-DE90-8CDF9A256A27}"/>
              </a:ext>
            </a:extLst>
          </p:cNvPr>
          <p:cNvGrpSpPr/>
          <p:nvPr/>
        </p:nvGrpSpPr>
        <p:grpSpPr>
          <a:xfrm>
            <a:off x="90255" y="1444065"/>
            <a:ext cx="6198003" cy="4445322"/>
            <a:chOff x="90255" y="1444065"/>
            <a:chExt cx="6198003" cy="444532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5FAEE9-853F-FF89-1AE1-7453CED47A1C}"/>
                </a:ext>
              </a:extLst>
            </p:cNvPr>
            <p:cNvSpPr txBox="1"/>
            <p:nvPr/>
          </p:nvSpPr>
          <p:spPr>
            <a:xfrm>
              <a:off x="90255" y="1444065"/>
              <a:ext cx="38715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q"/>
              </a:pPr>
              <a:r>
                <a:rPr lang="en-US" i="1" dirty="0"/>
                <a:t>2011-2012: The first protocol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CAC1282-6F20-E8A7-D7CD-FE7C405261C0}"/>
                </a:ext>
              </a:extLst>
            </p:cNvPr>
            <p:cNvSpPr txBox="1"/>
            <p:nvPr/>
          </p:nvSpPr>
          <p:spPr>
            <a:xfrm>
              <a:off x="427884" y="5366167"/>
              <a:ext cx="46840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Gottesman, </a:t>
              </a:r>
              <a:r>
                <a:rPr lang="en-US" sz="1400" b="1" dirty="0" err="1"/>
                <a:t>Jennewein</a:t>
              </a:r>
              <a:r>
                <a:rPr lang="en-US" sz="1400" dirty="0"/>
                <a:t>, Croke, PRL 109, 070503</a:t>
              </a:r>
              <a:r>
                <a:rPr lang="zh-CN" altLang="en-US" sz="1400" dirty="0"/>
                <a:t> </a:t>
              </a:r>
              <a:r>
                <a:rPr lang="en-CA" altLang="zh-CN" sz="1400" dirty="0"/>
                <a:t>(2012)</a:t>
              </a:r>
            </a:p>
            <a:p>
              <a:r>
                <a:rPr lang="en-US" sz="1400" dirty="0"/>
                <a:t>Tsang, PRL 107, 270402 (2011)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E3ABF24-CBC0-E8C1-0B4A-A3569F759790}"/>
                </a:ext>
              </a:extLst>
            </p:cNvPr>
            <p:cNvGrpSpPr/>
            <p:nvPr/>
          </p:nvGrpSpPr>
          <p:grpSpPr>
            <a:xfrm>
              <a:off x="148607" y="1834744"/>
              <a:ext cx="6139651" cy="2921706"/>
              <a:chOff x="1959576" y="684793"/>
              <a:chExt cx="7873286" cy="3745663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40C21E34-7598-38F2-E8BA-5093DB637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4931" y="3350939"/>
                <a:ext cx="1748530" cy="879581"/>
              </a:xfrm>
              <a:prstGeom prst="line">
                <a:avLst/>
              </a:prstGeom>
              <a:ln w="25400">
                <a:solidFill>
                  <a:srgbClr val="FF7171"/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135296E5-FE0D-639C-E572-2222B554FA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61847" y="3352583"/>
                <a:ext cx="1557838" cy="899851"/>
              </a:xfrm>
              <a:prstGeom prst="line">
                <a:avLst/>
              </a:prstGeom>
              <a:ln w="25400">
                <a:solidFill>
                  <a:srgbClr val="FF7171"/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A1F465A-B5F3-6C2B-0CB3-8D8903D583AC}"/>
                  </a:ext>
                </a:extLst>
              </p:cNvPr>
              <p:cNvCxnSpPr>
                <a:cxnSpLocks/>
                <a:stCxn id="66" idx="2"/>
              </p:cNvCxnSpPr>
              <p:nvPr/>
            </p:nvCxnSpPr>
            <p:spPr>
              <a:xfrm>
                <a:off x="4995340" y="2719402"/>
                <a:ext cx="0" cy="637417"/>
              </a:xfrm>
              <a:prstGeom prst="line">
                <a:avLst/>
              </a:prstGeom>
              <a:ln w="25400">
                <a:solidFill>
                  <a:srgbClr val="FF7171"/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0DB24FE-0B2C-EDF6-E366-B38C522829A7}"/>
                  </a:ext>
                </a:extLst>
              </p:cNvPr>
              <p:cNvCxnSpPr>
                <a:cxnSpLocks/>
                <a:stCxn id="53" idx="2"/>
                <a:endCxn id="78" idx="3"/>
              </p:cNvCxnSpPr>
              <p:nvPr/>
            </p:nvCxnSpPr>
            <p:spPr>
              <a:xfrm flipH="1">
                <a:off x="2565757" y="2709985"/>
                <a:ext cx="8059" cy="642214"/>
              </a:xfrm>
              <a:prstGeom prst="line">
                <a:avLst/>
              </a:prstGeom>
              <a:ln w="25400">
                <a:solidFill>
                  <a:srgbClr val="FF7171"/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C1A7A85-E87F-7A05-BDFE-8C7DD3599D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43038" y="2724416"/>
                <a:ext cx="0" cy="1325091"/>
              </a:xfrm>
              <a:prstGeom prst="line">
                <a:avLst/>
              </a:prstGeom>
              <a:ln w="25400">
                <a:solidFill>
                  <a:srgbClr val="FF7171"/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8C86525-929E-9F15-5DB7-68A7E3CE8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0790" y="3341067"/>
                <a:ext cx="3522072" cy="0"/>
              </a:xfrm>
              <a:prstGeom prst="line">
                <a:avLst/>
              </a:prstGeom>
              <a:ln w="25400">
                <a:solidFill>
                  <a:srgbClr val="FF7171"/>
                </a:solidFill>
                <a:headEnd type="triangle"/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933C059-1F2C-3F8B-C58F-DC9A37AC6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1758" y="2727895"/>
                <a:ext cx="11450" cy="1321612"/>
              </a:xfrm>
              <a:prstGeom prst="line">
                <a:avLst/>
              </a:prstGeom>
              <a:ln w="25400">
                <a:solidFill>
                  <a:srgbClr val="FF7171"/>
                </a:solidFill>
                <a:tailEnd type="triangl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Flowchart: Delay 13">
                <a:extLst>
                  <a:ext uri="{FF2B5EF4-FFF2-40B4-BE49-F238E27FC236}">
                    <a16:creationId xmlns:a16="http://schemas.microsoft.com/office/drawing/2014/main" id="{14CE082D-3690-C12B-DA66-69C5582A5C27}"/>
                  </a:ext>
                </a:extLst>
              </p:cNvPr>
              <p:cNvSpPr/>
              <p:nvPr/>
            </p:nvSpPr>
            <p:spPr>
              <a:xfrm rot="16200000">
                <a:off x="6636058" y="1673966"/>
                <a:ext cx="435142" cy="839294"/>
              </a:xfrm>
              <a:prstGeom prst="flowChartDelay">
                <a:avLst/>
              </a:prstGeom>
              <a:solidFill>
                <a:schemeClr val="bg1">
                  <a:lumMod val="8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4419CDE-C697-5013-A2FA-70798897EE89}"/>
                  </a:ext>
                </a:extLst>
              </p:cNvPr>
              <p:cNvSpPr/>
              <p:nvPr/>
            </p:nvSpPr>
            <p:spPr>
              <a:xfrm rot="7210911">
                <a:off x="7019930" y="1913800"/>
                <a:ext cx="201894" cy="1329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A9D64F75-11B0-40B5-322D-CAA220872C59}"/>
                  </a:ext>
                </a:extLst>
              </p:cNvPr>
              <p:cNvSpPr/>
              <p:nvPr/>
            </p:nvSpPr>
            <p:spPr>
              <a:xfrm rot="20969975">
                <a:off x="6662638" y="2033564"/>
                <a:ext cx="513248" cy="411738"/>
              </a:xfrm>
              <a:prstGeom prst="arc">
                <a:avLst/>
              </a:prstGeom>
              <a:ln w="317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7944E73-A57E-2D32-480A-9BACB0EAFCCE}"/>
                  </a:ext>
                </a:extLst>
              </p:cNvPr>
              <p:cNvSpPr/>
              <p:nvPr/>
            </p:nvSpPr>
            <p:spPr>
              <a:xfrm>
                <a:off x="6310790" y="2317286"/>
                <a:ext cx="1100548" cy="105606"/>
              </a:xfrm>
              <a:prstGeom prst="rect">
                <a:avLst/>
              </a:prstGeom>
              <a:solidFill>
                <a:srgbClr val="E0B598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9E25F69-B117-1E32-EB4D-8B442C8671BB}"/>
                  </a:ext>
                </a:extLst>
              </p:cNvPr>
              <p:cNvSpPr/>
              <p:nvPr/>
            </p:nvSpPr>
            <p:spPr>
              <a:xfrm>
                <a:off x="6433982" y="2445576"/>
                <a:ext cx="839295" cy="264409"/>
              </a:xfrm>
              <a:prstGeom prst="rect">
                <a:avLst/>
              </a:prstGeom>
              <a:solidFill>
                <a:srgbClr val="E1BE97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85F1189-5C17-929D-7592-D33B379A77A0}"/>
                  </a:ext>
                </a:extLst>
              </p:cNvPr>
              <p:cNvSpPr/>
              <p:nvPr/>
            </p:nvSpPr>
            <p:spPr>
              <a:xfrm flipV="1">
                <a:off x="6590255" y="2561435"/>
                <a:ext cx="41703" cy="25763"/>
              </a:xfrm>
              <a:prstGeom prst="rect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C974540-8560-6679-9AC3-837C3ACF5D1B}"/>
                  </a:ext>
                </a:extLst>
              </p:cNvPr>
              <p:cNvSpPr/>
              <p:nvPr/>
            </p:nvSpPr>
            <p:spPr>
              <a:xfrm rot="5400000">
                <a:off x="6958061" y="2521173"/>
                <a:ext cx="146884" cy="227406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35AB62-8CBD-6ED6-E347-DE795126CEFF}"/>
                  </a:ext>
                </a:extLst>
              </p:cNvPr>
              <p:cNvSpPr/>
              <p:nvPr/>
            </p:nvSpPr>
            <p:spPr>
              <a:xfrm flipV="1">
                <a:off x="6732936" y="2561435"/>
                <a:ext cx="41697" cy="2576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8D5BAFB-5294-43E2-D7F5-E128D61603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58558" y="2326675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A2F4E62-0F85-DCF3-34B5-99F68FF605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43038" y="2316515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0969B25-0E06-AB25-7F10-21C45AAF22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7198" y="2296195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CC90CA02-1D15-B07D-22A1-E4009C1EBE8D}"/>
                      </a:ext>
                    </a:extLst>
                  </p:cNvPr>
                  <p:cNvSpPr txBox="1"/>
                  <p:nvPr/>
                </p:nvSpPr>
                <p:spPr>
                  <a:xfrm>
                    <a:off x="6370232" y="1946681"/>
                    <a:ext cx="608896" cy="418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CC90CA02-1D15-B07D-22A1-E4009C1EBE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70232" y="1946681"/>
                    <a:ext cx="608896" cy="41802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E30763F-0F15-1E13-3596-A897BBA165C2}"/>
                  </a:ext>
                </a:extLst>
              </p:cNvPr>
              <p:cNvSpPr/>
              <p:nvPr/>
            </p:nvSpPr>
            <p:spPr>
              <a:xfrm rot="1819476">
                <a:off x="7044888" y="1801283"/>
                <a:ext cx="297674" cy="1056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29" name="Flowchart: Delay 133">
                <a:extLst>
                  <a:ext uri="{FF2B5EF4-FFF2-40B4-BE49-F238E27FC236}">
                    <a16:creationId xmlns:a16="http://schemas.microsoft.com/office/drawing/2014/main" id="{A08C0058-EE09-337F-8D57-2B99762C82B6}"/>
                  </a:ext>
                </a:extLst>
              </p:cNvPr>
              <p:cNvSpPr/>
              <p:nvPr/>
            </p:nvSpPr>
            <p:spPr>
              <a:xfrm rot="16200000">
                <a:off x="9057582" y="1683383"/>
                <a:ext cx="435142" cy="839294"/>
              </a:xfrm>
              <a:prstGeom prst="flowChartDelay">
                <a:avLst/>
              </a:prstGeom>
              <a:solidFill>
                <a:schemeClr val="bg1">
                  <a:lumMod val="8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5C98D94-EF21-6143-58CE-3914EC088147}"/>
                  </a:ext>
                </a:extLst>
              </p:cNvPr>
              <p:cNvSpPr/>
              <p:nvPr/>
            </p:nvSpPr>
            <p:spPr>
              <a:xfrm rot="7210911">
                <a:off x="9441454" y="1923217"/>
                <a:ext cx="201894" cy="1329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16E6CD92-1F61-E64B-91C0-05A621CE5059}"/>
                  </a:ext>
                </a:extLst>
              </p:cNvPr>
              <p:cNvSpPr/>
              <p:nvPr/>
            </p:nvSpPr>
            <p:spPr>
              <a:xfrm rot="20969975">
                <a:off x="9084162" y="2042981"/>
                <a:ext cx="513248" cy="411738"/>
              </a:xfrm>
              <a:prstGeom prst="arc">
                <a:avLst/>
              </a:prstGeom>
              <a:ln w="317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0CC1BE4-1C28-B0C3-2C5D-B04FAD10BC16}"/>
                  </a:ext>
                </a:extLst>
              </p:cNvPr>
              <p:cNvSpPr/>
              <p:nvPr/>
            </p:nvSpPr>
            <p:spPr>
              <a:xfrm>
                <a:off x="8732314" y="2326703"/>
                <a:ext cx="1100548" cy="105606"/>
              </a:xfrm>
              <a:prstGeom prst="rect">
                <a:avLst/>
              </a:prstGeom>
              <a:solidFill>
                <a:srgbClr val="E0B598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C637248-699C-7824-0029-3318584CC8F4}"/>
                  </a:ext>
                </a:extLst>
              </p:cNvPr>
              <p:cNvSpPr/>
              <p:nvPr/>
            </p:nvSpPr>
            <p:spPr>
              <a:xfrm>
                <a:off x="8855506" y="2454993"/>
                <a:ext cx="839295" cy="264409"/>
              </a:xfrm>
              <a:prstGeom prst="rect">
                <a:avLst/>
              </a:prstGeom>
              <a:solidFill>
                <a:srgbClr val="E1BE97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C0D60EA-58C2-3550-DCF6-A19447982833}"/>
                  </a:ext>
                </a:extLst>
              </p:cNvPr>
              <p:cNvSpPr/>
              <p:nvPr/>
            </p:nvSpPr>
            <p:spPr>
              <a:xfrm flipV="1">
                <a:off x="9011779" y="2570852"/>
                <a:ext cx="41703" cy="25763"/>
              </a:xfrm>
              <a:prstGeom prst="rect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1210417-4634-0236-C3B2-4B30836FFB0A}"/>
                  </a:ext>
                </a:extLst>
              </p:cNvPr>
              <p:cNvSpPr/>
              <p:nvPr/>
            </p:nvSpPr>
            <p:spPr>
              <a:xfrm rot="5400000">
                <a:off x="9379585" y="2530590"/>
                <a:ext cx="146884" cy="227406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ACE5641-4033-D0E4-8796-8DA74291E28D}"/>
                  </a:ext>
                </a:extLst>
              </p:cNvPr>
              <p:cNvSpPr/>
              <p:nvPr/>
            </p:nvSpPr>
            <p:spPr>
              <a:xfrm flipV="1">
                <a:off x="9154460" y="2570852"/>
                <a:ext cx="41697" cy="2576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E0A49B0-4BD3-6289-B200-81DF9DEA0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80082" y="2336092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CD7DDB2-6B1D-0AA9-5881-6FDB92BC7E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64562" y="2325932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0F8651A-2CAA-4AB4-B910-68281E51B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28722" y="2305612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8C18E42-B055-B382-2D48-A4185BD2B001}"/>
                      </a:ext>
                    </a:extLst>
                  </p:cNvPr>
                  <p:cNvSpPr txBox="1"/>
                  <p:nvPr/>
                </p:nvSpPr>
                <p:spPr>
                  <a:xfrm>
                    <a:off x="8791757" y="1956097"/>
                    <a:ext cx="608896" cy="418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38C18E42-B055-B382-2D48-A4185BD2B0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1757" y="1956097"/>
                    <a:ext cx="608896" cy="41802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AA315B0-2F9B-29E1-B149-2F32477714AD}"/>
                  </a:ext>
                </a:extLst>
              </p:cNvPr>
              <p:cNvSpPr/>
              <p:nvPr/>
            </p:nvSpPr>
            <p:spPr>
              <a:xfrm rot="1819476">
                <a:off x="9466412" y="1810700"/>
                <a:ext cx="297674" cy="1056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37BED976-B029-2537-E69C-86BF70F042D7}"/>
                  </a:ext>
                </a:extLst>
              </p:cNvPr>
              <p:cNvSpPr/>
              <p:nvPr/>
            </p:nvSpPr>
            <p:spPr>
              <a:xfrm rot="10130253">
                <a:off x="8460267" y="684793"/>
                <a:ext cx="1181346" cy="871200"/>
              </a:xfrm>
              <a:prstGeom prst="arc">
                <a:avLst/>
              </a:prstGeom>
              <a:ln w="25400">
                <a:solidFill>
                  <a:srgbClr val="FF717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7" name="Arc 46">
                <a:extLst>
                  <a:ext uri="{FF2B5EF4-FFF2-40B4-BE49-F238E27FC236}">
                    <a16:creationId xmlns:a16="http://schemas.microsoft.com/office/drawing/2014/main" id="{FA6ED6E3-FBF4-C270-6673-95494CBFB1DB}"/>
                  </a:ext>
                </a:extLst>
              </p:cNvPr>
              <p:cNvSpPr/>
              <p:nvPr/>
            </p:nvSpPr>
            <p:spPr>
              <a:xfrm rot="10172292">
                <a:off x="8945542" y="910653"/>
                <a:ext cx="735333" cy="397150"/>
              </a:xfrm>
              <a:prstGeom prst="arc">
                <a:avLst/>
              </a:prstGeom>
              <a:ln w="25400">
                <a:solidFill>
                  <a:srgbClr val="FF717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2B19D30-EF00-7CFF-86BF-F8D0BDA67468}"/>
                  </a:ext>
                </a:extLst>
              </p:cNvPr>
              <p:cNvSpPr/>
              <p:nvPr/>
            </p:nvSpPr>
            <p:spPr>
              <a:xfrm>
                <a:off x="7454061" y="3174166"/>
                <a:ext cx="1213284" cy="386441"/>
              </a:xfrm>
              <a:prstGeom prst="rect">
                <a:avLst/>
              </a:prstGeom>
              <a:solidFill>
                <a:srgbClr val="FC8B74"/>
              </a:solidFill>
              <a:ln w="44450">
                <a:solidFill>
                  <a:schemeClr val="tx1"/>
                </a:solidFill>
              </a:ln>
              <a:effectLst>
                <a:glow rad="63500">
                  <a:srgbClr val="FC8B74">
                    <a:alpha val="40000"/>
                  </a:srgbClr>
                </a:glow>
                <a:outerShdw blurRad="50800" dist="50800" dir="5400000" sx="5000" sy="5000" algn="ctr" rotWithShape="0">
                  <a:srgbClr val="000000">
                    <a:alpha val="43137"/>
                  </a:srgbClr>
                </a:outerShdw>
                <a:softEdge rad="38100"/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Source</a:t>
                </a:r>
              </a:p>
            </p:txBody>
          </p:sp>
          <p:sp>
            <p:nvSpPr>
              <p:cNvPr id="49" name="Flowchart: Delay 224">
                <a:extLst>
                  <a:ext uri="{FF2B5EF4-FFF2-40B4-BE49-F238E27FC236}">
                    <a16:creationId xmlns:a16="http://schemas.microsoft.com/office/drawing/2014/main" id="{12FA229E-5D55-A6C0-5F3D-C527588F665E}"/>
                  </a:ext>
                </a:extLst>
              </p:cNvPr>
              <p:cNvSpPr/>
              <p:nvPr/>
            </p:nvSpPr>
            <p:spPr>
              <a:xfrm rot="16200000">
                <a:off x="2356244" y="1673966"/>
                <a:ext cx="435142" cy="839294"/>
              </a:xfrm>
              <a:prstGeom prst="flowChartDelay">
                <a:avLst/>
              </a:prstGeom>
              <a:solidFill>
                <a:schemeClr val="bg1">
                  <a:lumMod val="8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98AF964-B527-B09E-71FD-D2208E05F2AD}"/>
                  </a:ext>
                </a:extLst>
              </p:cNvPr>
              <p:cNvSpPr/>
              <p:nvPr/>
            </p:nvSpPr>
            <p:spPr>
              <a:xfrm rot="7210911">
                <a:off x="2740116" y="1913800"/>
                <a:ext cx="201894" cy="1329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24F7F8F1-B5A0-BCFB-133F-4EBB3AC32487}"/>
                  </a:ext>
                </a:extLst>
              </p:cNvPr>
              <p:cNvSpPr/>
              <p:nvPr/>
            </p:nvSpPr>
            <p:spPr>
              <a:xfrm rot="20969975">
                <a:off x="2382824" y="2033564"/>
                <a:ext cx="513248" cy="411738"/>
              </a:xfrm>
              <a:prstGeom prst="arc">
                <a:avLst/>
              </a:prstGeom>
              <a:ln w="317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EFE7936-4978-B431-F454-DE45D5324651}"/>
                  </a:ext>
                </a:extLst>
              </p:cNvPr>
              <p:cNvSpPr/>
              <p:nvPr/>
            </p:nvSpPr>
            <p:spPr>
              <a:xfrm>
                <a:off x="2030976" y="2317286"/>
                <a:ext cx="1100548" cy="105606"/>
              </a:xfrm>
              <a:prstGeom prst="rect">
                <a:avLst/>
              </a:prstGeom>
              <a:solidFill>
                <a:srgbClr val="E0B598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EDA75E6-DB2C-7F68-3ABD-5BEBC851DD26}"/>
                  </a:ext>
                </a:extLst>
              </p:cNvPr>
              <p:cNvSpPr/>
              <p:nvPr/>
            </p:nvSpPr>
            <p:spPr>
              <a:xfrm>
                <a:off x="2154168" y="2445576"/>
                <a:ext cx="839295" cy="264409"/>
              </a:xfrm>
              <a:prstGeom prst="rect">
                <a:avLst/>
              </a:prstGeom>
              <a:solidFill>
                <a:srgbClr val="E1BE97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33F5542-BC87-EBD6-7E58-9DB950FD8E18}"/>
                  </a:ext>
                </a:extLst>
              </p:cNvPr>
              <p:cNvSpPr/>
              <p:nvPr/>
            </p:nvSpPr>
            <p:spPr>
              <a:xfrm flipV="1">
                <a:off x="2310441" y="2561435"/>
                <a:ext cx="41703" cy="25763"/>
              </a:xfrm>
              <a:prstGeom prst="rect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94BC295-3B0F-8D70-8AF3-6C82F549D9FC}"/>
                  </a:ext>
                </a:extLst>
              </p:cNvPr>
              <p:cNvSpPr/>
              <p:nvPr/>
            </p:nvSpPr>
            <p:spPr>
              <a:xfrm rot="5400000">
                <a:off x="2678247" y="2521173"/>
                <a:ext cx="146884" cy="227406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F9A6EA9-26CD-BE77-79A7-F1FC68A3BD73}"/>
                  </a:ext>
                </a:extLst>
              </p:cNvPr>
              <p:cNvSpPr/>
              <p:nvPr/>
            </p:nvSpPr>
            <p:spPr>
              <a:xfrm flipV="1">
                <a:off x="2453122" y="2561435"/>
                <a:ext cx="41697" cy="2576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B9CB686-C7B3-8474-AE68-1EC174790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78744" y="2326675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CCFB6DE-2F4E-45FC-0554-56F8430E0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63224" y="2316515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025A8C7-284B-B78D-CCE5-AC6EA258A8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7384" y="2296195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1DD79871-5FA9-2D49-A5A4-4CC5CAE370BB}"/>
                      </a:ext>
                    </a:extLst>
                  </p:cNvPr>
                  <p:cNvSpPr txBox="1"/>
                  <p:nvPr/>
                </p:nvSpPr>
                <p:spPr>
                  <a:xfrm>
                    <a:off x="2090418" y="1946681"/>
                    <a:ext cx="608896" cy="418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1DD79871-5FA9-2D49-A5A4-4CC5CAE370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90418" y="1946681"/>
                    <a:ext cx="608896" cy="41802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3AC12EB-33C4-5471-176C-E8DFBAD536BC}"/>
                  </a:ext>
                </a:extLst>
              </p:cNvPr>
              <p:cNvSpPr/>
              <p:nvPr/>
            </p:nvSpPr>
            <p:spPr>
              <a:xfrm rot="1819476">
                <a:off x="2765074" y="1801283"/>
                <a:ext cx="297674" cy="1056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2" name="Flowchart: Delay 237">
                <a:extLst>
                  <a:ext uri="{FF2B5EF4-FFF2-40B4-BE49-F238E27FC236}">
                    <a16:creationId xmlns:a16="http://schemas.microsoft.com/office/drawing/2014/main" id="{89F4119F-52BB-CF51-E450-44FEADDFDDB7}"/>
                  </a:ext>
                </a:extLst>
              </p:cNvPr>
              <p:cNvSpPr/>
              <p:nvPr/>
            </p:nvSpPr>
            <p:spPr>
              <a:xfrm rot="16200000">
                <a:off x="4777768" y="1683383"/>
                <a:ext cx="435142" cy="839294"/>
              </a:xfrm>
              <a:prstGeom prst="flowChartDelay">
                <a:avLst/>
              </a:prstGeom>
              <a:solidFill>
                <a:schemeClr val="bg1">
                  <a:lumMod val="8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CF70637-210B-1552-A943-5166F93F955F}"/>
                  </a:ext>
                </a:extLst>
              </p:cNvPr>
              <p:cNvSpPr/>
              <p:nvPr/>
            </p:nvSpPr>
            <p:spPr>
              <a:xfrm rot="7210911">
                <a:off x="5161640" y="1923217"/>
                <a:ext cx="201894" cy="1329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025E88A3-AB9A-EE42-A7D7-24BE91BEDDD2}"/>
                  </a:ext>
                </a:extLst>
              </p:cNvPr>
              <p:cNvSpPr/>
              <p:nvPr/>
            </p:nvSpPr>
            <p:spPr>
              <a:xfrm rot="20969975">
                <a:off x="4804348" y="2042981"/>
                <a:ext cx="513248" cy="411738"/>
              </a:xfrm>
              <a:prstGeom prst="arc">
                <a:avLst/>
              </a:prstGeom>
              <a:ln w="317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C9C47E9-E846-60E8-7D64-DD278D28281A}"/>
                  </a:ext>
                </a:extLst>
              </p:cNvPr>
              <p:cNvSpPr/>
              <p:nvPr/>
            </p:nvSpPr>
            <p:spPr>
              <a:xfrm>
                <a:off x="4452500" y="2326703"/>
                <a:ext cx="1100548" cy="105606"/>
              </a:xfrm>
              <a:prstGeom prst="rect">
                <a:avLst/>
              </a:prstGeom>
              <a:solidFill>
                <a:srgbClr val="E0B598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D5F5A9E-53A4-DFC1-22D7-C30B5BC70851}"/>
                  </a:ext>
                </a:extLst>
              </p:cNvPr>
              <p:cNvSpPr/>
              <p:nvPr/>
            </p:nvSpPr>
            <p:spPr>
              <a:xfrm>
                <a:off x="4575692" y="2454993"/>
                <a:ext cx="839295" cy="264409"/>
              </a:xfrm>
              <a:prstGeom prst="rect">
                <a:avLst/>
              </a:prstGeom>
              <a:solidFill>
                <a:srgbClr val="E1BE97"/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26F73F5-07A4-9535-0D0C-B2FFE135F30A}"/>
                  </a:ext>
                </a:extLst>
              </p:cNvPr>
              <p:cNvSpPr/>
              <p:nvPr/>
            </p:nvSpPr>
            <p:spPr>
              <a:xfrm flipV="1">
                <a:off x="4731965" y="2570852"/>
                <a:ext cx="41703" cy="25763"/>
              </a:xfrm>
              <a:prstGeom prst="rect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980CFEA-5D9E-3390-06C5-36B3D60BB03D}"/>
                  </a:ext>
                </a:extLst>
              </p:cNvPr>
              <p:cNvSpPr/>
              <p:nvPr/>
            </p:nvSpPr>
            <p:spPr>
              <a:xfrm rot="5400000">
                <a:off x="5099771" y="2530590"/>
                <a:ext cx="146884" cy="227406"/>
              </a:xfrm>
              <a:prstGeom prst="rect">
                <a:avLst/>
              </a:prstGeom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AD59F91-314F-B578-9BD8-043A63789372}"/>
                  </a:ext>
                </a:extLst>
              </p:cNvPr>
              <p:cNvSpPr/>
              <p:nvPr/>
            </p:nvSpPr>
            <p:spPr>
              <a:xfrm flipV="1">
                <a:off x="4874646" y="2570852"/>
                <a:ext cx="41697" cy="2576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DDBA517-7DA3-3D7E-E338-44C60F7EF3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0268" y="2336092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7B3E8F0E-0FE0-75D9-4D6C-F877CD8F1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4748" y="2325932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D2F1C07-B65D-6745-AE63-F715EE1271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8908" y="2305612"/>
                <a:ext cx="0" cy="11813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73F1C1E1-0E5A-8392-4384-0E26BB321088}"/>
                      </a:ext>
                    </a:extLst>
                  </p:cNvPr>
                  <p:cNvSpPr txBox="1"/>
                  <p:nvPr/>
                </p:nvSpPr>
                <p:spPr>
                  <a:xfrm>
                    <a:off x="4511942" y="1956097"/>
                    <a:ext cx="608896" cy="4180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1" i="1" dirty="0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73F1C1E1-0E5A-8392-4384-0E26BB3210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1942" y="1956097"/>
                    <a:ext cx="608896" cy="41802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F41F042-CEFE-CFB9-01A4-058640991DC5}"/>
                  </a:ext>
                </a:extLst>
              </p:cNvPr>
              <p:cNvSpPr/>
              <p:nvPr/>
            </p:nvSpPr>
            <p:spPr>
              <a:xfrm rot="1819476">
                <a:off x="5186598" y="1810700"/>
                <a:ext cx="297674" cy="1056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E181CA2B-D038-0ABF-8599-6B2406AA4150}"/>
                  </a:ext>
                </a:extLst>
              </p:cNvPr>
              <p:cNvSpPr/>
              <p:nvPr/>
            </p:nvSpPr>
            <p:spPr>
              <a:xfrm rot="10130253">
                <a:off x="4180453" y="684793"/>
                <a:ext cx="1181346" cy="871200"/>
              </a:xfrm>
              <a:prstGeom prst="arc">
                <a:avLst/>
              </a:prstGeom>
              <a:ln w="25400">
                <a:solidFill>
                  <a:srgbClr val="FF717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6" name="Arc 75">
                <a:extLst>
                  <a:ext uri="{FF2B5EF4-FFF2-40B4-BE49-F238E27FC236}">
                    <a16:creationId xmlns:a16="http://schemas.microsoft.com/office/drawing/2014/main" id="{5F4E3E1E-B4DA-B654-8C02-630368A82EC3}"/>
                  </a:ext>
                </a:extLst>
              </p:cNvPr>
              <p:cNvSpPr/>
              <p:nvPr/>
            </p:nvSpPr>
            <p:spPr>
              <a:xfrm rot="10172292">
                <a:off x="4665728" y="910653"/>
                <a:ext cx="735333" cy="397150"/>
              </a:xfrm>
              <a:prstGeom prst="arc">
                <a:avLst/>
              </a:prstGeom>
              <a:ln w="25400">
                <a:solidFill>
                  <a:srgbClr val="FF717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080866A-5A7D-FFB0-2360-7F17EEE28F91}"/>
                  </a:ext>
                </a:extLst>
              </p:cNvPr>
              <p:cNvSpPr/>
              <p:nvPr/>
            </p:nvSpPr>
            <p:spPr>
              <a:xfrm>
                <a:off x="3838644" y="3831097"/>
                <a:ext cx="68623" cy="34498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9195F22-E4AD-4947-926E-82035622A91B}"/>
                  </a:ext>
                </a:extLst>
              </p:cNvPr>
              <p:cNvSpPr/>
              <p:nvPr/>
            </p:nvSpPr>
            <p:spPr>
              <a:xfrm rot="19975982">
                <a:off x="2500892" y="3195321"/>
                <a:ext cx="68623" cy="34498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4829E64-6791-D272-C9FC-B4740720922E}"/>
                  </a:ext>
                </a:extLst>
              </p:cNvPr>
              <p:cNvSpPr/>
              <p:nvPr/>
            </p:nvSpPr>
            <p:spPr>
              <a:xfrm rot="1276279">
                <a:off x="5016343" y="3186703"/>
                <a:ext cx="68623" cy="34498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D5E0ED7-5E49-7BCD-9A83-AE48F530EC45}"/>
                  </a:ext>
                </a:extLst>
              </p:cNvPr>
              <p:cNvSpPr/>
              <p:nvPr/>
            </p:nvSpPr>
            <p:spPr>
              <a:xfrm>
                <a:off x="4399340" y="3458587"/>
                <a:ext cx="311340" cy="3296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94F8BE0A-CEB7-82A1-B38F-EA23B33C2D61}"/>
                      </a:ext>
                    </a:extLst>
                  </p:cNvPr>
                  <p:cNvSpPr txBox="1"/>
                  <p:nvPr/>
                </p:nvSpPr>
                <p:spPr>
                  <a:xfrm>
                    <a:off x="4399004" y="3449983"/>
                    <a:ext cx="321039" cy="380024"/>
                  </a:xfrm>
                  <a:prstGeom prst="rect">
                    <a:avLst/>
                  </a:prstGeom>
                  <a:noFill/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94F8BE0A-CEB7-82A1-B38F-EA23B33C2D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99004" y="3449983"/>
                    <a:ext cx="321039" cy="38002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effectLst>
                    <a:outerShdw blurRad="50800" dist="38100" dir="10800000" algn="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DB9AC362-2A45-03E2-926C-5162166B6EED}"/>
                      </a:ext>
                    </a:extLst>
                  </p:cNvPr>
                  <p:cNvSpPr txBox="1"/>
                  <p:nvPr/>
                </p:nvSpPr>
                <p:spPr>
                  <a:xfrm>
                    <a:off x="1959576" y="977269"/>
                    <a:ext cx="638336" cy="4560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DB9AC362-2A45-03E2-926C-5162166B6E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9576" y="977269"/>
                    <a:ext cx="638336" cy="45602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500" r="-7500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7346CE5C-2346-5404-4787-B96C7B5F31A0}"/>
                      </a:ext>
                    </a:extLst>
                  </p:cNvPr>
                  <p:cNvSpPr txBox="1"/>
                  <p:nvPr/>
                </p:nvSpPr>
                <p:spPr>
                  <a:xfrm>
                    <a:off x="6090260" y="1007757"/>
                    <a:ext cx="638336" cy="45602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3" name="TextBox 82">
                    <a:extLst>
                      <a:ext uri="{FF2B5EF4-FFF2-40B4-BE49-F238E27FC236}">
                        <a16:creationId xmlns:a16="http://schemas.microsoft.com/office/drawing/2014/main" id="{7346CE5C-2346-5404-4787-B96C7B5F31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0260" y="1007757"/>
                    <a:ext cx="638336" cy="45602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500" r="-5000" b="-172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CC5A88B-6C2C-B6A1-8305-3EE769302336}"/>
                      </a:ext>
                    </a:extLst>
                  </p:cNvPr>
                  <p:cNvSpPr txBox="1"/>
                  <p:nvPr/>
                </p:nvSpPr>
                <p:spPr>
                  <a:xfrm>
                    <a:off x="6849553" y="3997863"/>
                    <a:ext cx="1775105" cy="4325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DCC5A88B-6C2C-B6A1-8305-3EE7693023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9553" y="3997863"/>
                    <a:ext cx="1775105" cy="43259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220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15D71EC-7058-22ED-3E88-6BB204FFF9A6}"/>
                  </a:ext>
                </a:extLst>
              </p:cNvPr>
              <p:cNvSpPr/>
              <p:nvPr/>
            </p:nvSpPr>
            <p:spPr>
              <a:xfrm rot="18845335">
                <a:off x="9279679" y="3170926"/>
                <a:ext cx="68623" cy="34498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0D14E76-1B8A-FBC2-5F10-3893AF06B45D}"/>
                  </a:ext>
                </a:extLst>
              </p:cNvPr>
              <p:cNvSpPr/>
              <p:nvPr/>
            </p:nvSpPr>
            <p:spPr>
              <a:xfrm rot="2556368">
                <a:off x="6799751" y="3167110"/>
                <a:ext cx="68623" cy="34498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164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9FD15-D0C6-73D2-CD64-D39799E8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74E9702-F8B5-C1E1-E04E-42D89626A0F5}"/>
              </a:ext>
            </a:extLst>
          </p:cNvPr>
          <p:cNvSpPr/>
          <p:nvPr/>
        </p:nvSpPr>
        <p:spPr>
          <a:xfrm>
            <a:off x="9595413" y="5889387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D7241-2165-5E29-AE0B-2D00D29CEC44}"/>
              </a:ext>
            </a:extLst>
          </p:cNvPr>
          <p:cNvSpPr txBox="1"/>
          <p:nvPr/>
        </p:nvSpPr>
        <p:spPr>
          <a:xfrm>
            <a:off x="0" y="500006"/>
            <a:ext cx="574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Roadmap to quantum </a:t>
            </a:r>
            <a:r>
              <a:rPr lang="en-US" sz="2400" dirty="0" err="1"/>
              <a:t>telescopy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58D17-AE1D-5E24-60B1-0979E9962E27}"/>
              </a:ext>
            </a:extLst>
          </p:cNvPr>
          <p:cNvSpPr txBox="1"/>
          <p:nvPr/>
        </p:nvSpPr>
        <p:spPr>
          <a:xfrm>
            <a:off x="146666" y="2528762"/>
            <a:ext cx="378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i="1" dirty="0"/>
              <a:t>2011-2012: The first protocol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8882F-DC18-C688-1554-307B586639BA}"/>
              </a:ext>
            </a:extLst>
          </p:cNvPr>
          <p:cNvSpPr txBox="1"/>
          <p:nvPr/>
        </p:nvSpPr>
        <p:spPr>
          <a:xfrm>
            <a:off x="6133509" y="750653"/>
            <a:ext cx="5745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zh-CN" i="1" dirty="0"/>
              <a:t>Since 2019:</a:t>
            </a:r>
            <a:r>
              <a:rPr lang="zh-CN" altLang="en-US" i="1" dirty="0"/>
              <a:t>  </a:t>
            </a:r>
            <a:r>
              <a:rPr lang="en-US" altLang="zh-CN" i="1" dirty="0"/>
              <a:t>memory-based protocols</a:t>
            </a:r>
          </a:p>
          <a:p>
            <a:r>
              <a:rPr lang="en-CA" sz="1400" i="1" dirty="0">
                <a:solidFill>
                  <a:srgbClr val="FF0000"/>
                </a:solidFill>
              </a:rPr>
              <a:t>(promise to reduce the demand for entangled sources)</a:t>
            </a:r>
            <a:endParaRPr lang="en-US" sz="1400" i="1" dirty="0">
              <a:solidFill>
                <a:srgbClr val="FF0000"/>
              </a:solidFill>
            </a:endParaRPr>
          </a:p>
          <a:p>
            <a:r>
              <a:rPr lang="en-US" sz="1400" dirty="0"/>
              <a:t>PRL 123, 070504 (2019)</a:t>
            </a:r>
            <a:r>
              <a:rPr lang="en-CA" sz="1400" dirty="0"/>
              <a:t>,</a:t>
            </a:r>
            <a:r>
              <a:rPr lang="en-US" sz="1400" dirty="0"/>
              <a:t> PRA 100, 023316 (2019)</a:t>
            </a:r>
          </a:p>
          <a:p>
            <a:r>
              <a:rPr lang="en-US" sz="1400" dirty="0"/>
              <a:t>PRL 129, 21052(2022)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D0EACD-64D8-7E84-2218-BA18DF12EB3E}"/>
              </a:ext>
            </a:extLst>
          </p:cNvPr>
          <p:cNvSpPr txBox="1"/>
          <p:nvPr/>
        </p:nvSpPr>
        <p:spPr>
          <a:xfrm>
            <a:off x="6133508" y="2351089"/>
            <a:ext cx="57063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zh-CN" i="1" dirty="0"/>
              <a:t>Since 2022:</a:t>
            </a:r>
            <a:r>
              <a:rPr lang="zh-CN" altLang="en-US" i="1" dirty="0"/>
              <a:t>  </a:t>
            </a:r>
            <a:r>
              <a:rPr lang="en-US" altLang="zh-CN" i="1" dirty="0"/>
              <a:t>new entanglement-assisted protocols</a:t>
            </a:r>
          </a:p>
          <a:p>
            <a:r>
              <a:rPr lang="en-CA" sz="1400" i="1" dirty="0">
                <a:solidFill>
                  <a:srgbClr val="FF0000"/>
                </a:solidFill>
              </a:rPr>
              <a:t>(promise better estimation in ideal and even repeater-less regions)</a:t>
            </a:r>
            <a:endParaRPr lang="en-US" i="1" dirty="0"/>
          </a:p>
          <a:p>
            <a:r>
              <a:rPr lang="en-US" sz="1400" dirty="0"/>
              <a:t>PRA 106,032424(2022), PRL 130,160801(2023)</a:t>
            </a:r>
          </a:p>
          <a:p>
            <a:r>
              <a:rPr lang="en-US" sz="1400" dirty="0"/>
              <a:t>PRA 109, 052434(2024),  PRR 7, 023154(2025)</a:t>
            </a:r>
          </a:p>
          <a:p>
            <a:r>
              <a:rPr lang="en-CA" sz="1400" dirty="0"/>
              <a:t>Light: Science &amp; Applications 14:46 (2025) 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3CA5B5-4B0F-F9C2-795A-8FA2D2855199}"/>
              </a:ext>
            </a:extLst>
          </p:cNvPr>
          <p:cNvSpPr txBox="1"/>
          <p:nvPr/>
        </p:nvSpPr>
        <p:spPr>
          <a:xfrm>
            <a:off x="6133509" y="4073507"/>
            <a:ext cx="579119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zh-CN" i="1" dirty="0"/>
              <a:t>Since 2023:</a:t>
            </a:r>
            <a:r>
              <a:rPr lang="zh-CN" altLang="en-US" i="1" dirty="0"/>
              <a:t> </a:t>
            </a:r>
            <a:r>
              <a:rPr lang="en-US" altLang="zh-CN" i="1" dirty="0"/>
              <a:t>proof-of-concept experiments</a:t>
            </a:r>
          </a:p>
          <a:p>
            <a:endParaRPr lang="en-US" i="1" dirty="0"/>
          </a:p>
          <a:p>
            <a:r>
              <a:rPr lang="en-CA" sz="1400" dirty="0"/>
              <a:t>PRL 131, 210801(2023), Frontiers in Optics, FM5B. 2 (2023)</a:t>
            </a:r>
          </a:p>
          <a:p>
            <a:endParaRPr lang="en-CA" sz="1400" dirty="0"/>
          </a:p>
          <a:p>
            <a:endParaRPr lang="en-CA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i="1" dirty="0"/>
              <a:t>Since 2020: super-resolution in astronomical interferometry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i="1" dirty="0"/>
          </a:p>
          <a:p>
            <a:r>
              <a:rPr lang="en-US" sz="1400" dirty="0"/>
              <a:t> </a:t>
            </a:r>
            <a:r>
              <a:rPr lang="en-CA" sz="1400" dirty="0"/>
              <a:t>PRL 124, 080503(2020), PRA 104 (2), 022613 (2021)</a:t>
            </a:r>
          </a:p>
          <a:p>
            <a:r>
              <a:rPr lang="en-US" sz="1400" dirty="0"/>
              <a:t>PRA </a:t>
            </a:r>
            <a:r>
              <a:rPr lang="en-CA" sz="1400" dirty="0"/>
              <a:t>A 108 (1), 012602 (2023),   </a:t>
            </a:r>
            <a:r>
              <a:rPr lang="en-CA" sz="1400" dirty="0" err="1"/>
              <a:t>arXiv</a:t>
            </a:r>
            <a:r>
              <a:rPr lang="en-CA" sz="1400" dirty="0"/>
              <a:t> 2501.15685 (2025)</a:t>
            </a:r>
            <a:endParaRPr lang="en-US" sz="1400"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3EDB76D5-C99E-66F1-CB04-6A97162F99CF}"/>
              </a:ext>
            </a:extLst>
          </p:cNvPr>
          <p:cNvSpPr/>
          <p:nvPr/>
        </p:nvSpPr>
        <p:spPr>
          <a:xfrm>
            <a:off x="4269125" y="2898094"/>
            <a:ext cx="1131015" cy="3689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27324FF-DA5D-2DE1-79D6-1DBEAB33C1A8}"/>
              </a:ext>
            </a:extLst>
          </p:cNvPr>
          <p:cNvSpPr/>
          <p:nvPr/>
        </p:nvSpPr>
        <p:spPr>
          <a:xfrm>
            <a:off x="6096000" y="719942"/>
            <a:ext cx="5974074" cy="1473546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CB9CCF6-DD9B-B7E4-7ADA-B21A984EE085}"/>
              </a:ext>
            </a:extLst>
          </p:cNvPr>
          <p:cNvSpPr/>
          <p:nvPr/>
        </p:nvSpPr>
        <p:spPr>
          <a:xfrm>
            <a:off x="6016907" y="4062512"/>
            <a:ext cx="6175093" cy="273139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EFCD56E-4654-0389-642F-F14B8758E723}"/>
              </a:ext>
            </a:extLst>
          </p:cNvPr>
          <p:cNvSpPr txBox="1"/>
          <p:nvPr/>
        </p:nvSpPr>
        <p:spPr>
          <a:xfrm>
            <a:off x="146666" y="3436687"/>
            <a:ext cx="4684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Gottesman, </a:t>
            </a:r>
            <a:r>
              <a:rPr lang="en-US" sz="1400" b="1" dirty="0" err="1"/>
              <a:t>Jennewein</a:t>
            </a:r>
            <a:r>
              <a:rPr lang="en-US" sz="1400" dirty="0"/>
              <a:t>, Croke, PRL 109, 070503</a:t>
            </a:r>
            <a:r>
              <a:rPr lang="zh-CN" altLang="en-US" sz="1400" dirty="0"/>
              <a:t> </a:t>
            </a:r>
            <a:r>
              <a:rPr lang="en-CA" altLang="zh-CN" sz="1400" dirty="0"/>
              <a:t>(2012)</a:t>
            </a:r>
          </a:p>
          <a:p>
            <a:r>
              <a:rPr lang="en-US" sz="1400" dirty="0"/>
              <a:t>Tsang, PRL 107, 270402 (2011)</a:t>
            </a:r>
          </a:p>
        </p:txBody>
      </p:sp>
    </p:spTree>
    <p:extLst>
      <p:ext uri="{BB962C8B-B14F-4D97-AF65-F5344CB8AC3E}">
        <p14:creationId xmlns:p14="http://schemas.microsoft.com/office/powerpoint/2010/main" val="402007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/>
      <p:bldP spid="34" grpId="0"/>
      <p:bldP spid="93" grpId="0" animBg="1"/>
      <p:bldP spid="9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2E28-EC81-F860-AC4A-FEA7F034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749EB1C-3523-ADFD-85CB-640635BDF85F}"/>
              </a:ext>
            </a:extLst>
          </p:cNvPr>
          <p:cNvSpPr/>
          <p:nvPr/>
        </p:nvSpPr>
        <p:spPr>
          <a:xfrm>
            <a:off x="9595413" y="5889387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21FD65-AD73-24E0-E843-95B02F279C25}"/>
              </a:ext>
            </a:extLst>
          </p:cNvPr>
          <p:cNvSpPr txBox="1"/>
          <p:nvPr/>
        </p:nvSpPr>
        <p:spPr>
          <a:xfrm>
            <a:off x="0" y="500006"/>
            <a:ext cx="574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Roadmap to quantum </a:t>
            </a:r>
            <a:r>
              <a:rPr lang="en-US" sz="2400" dirty="0" err="1"/>
              <a:t>telescopy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104FF8-5227-5EEC-9F76-03943B84920A}"/>
              </a:ext>
            </a:extLst>
          </p:cNvPr>
          <p:cNvSpPr txBox="1"/>
          <p:nvPr/>
        </p:nvSpPr>
        <p:spPr>
          <a:xfrm>
            <a:off x="6133509" y="4073507"/>
            <a:ext cx="57911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zh-CN" i="1" dirty="0"/>
              <a:t>Since 2023:</a:t>
            </a:r>
            <a:r>
              <a:rPr lang="zh-CN" altLang="en-US" i="1" dirty="0"/>
              <a:t> </a:t>
            </a:r>
            <a:r>
              <a:rPr lang="en-US" altLang="zh-CN" i="1" dirty="0"/>
              <a:t>proof-of-concept experiments</a:t>
            </a:r>
          </a:p>
          <a:p>
            <a:endParaRPr lang="en-US" i="1" dirty="0"/>
          </a:p>
          <a:p>
            <a:r>
              <a:rPr lang="en-CA" sz="1400" dirty="0"/>
              <a:t>PRL 131, 210801(2023), Frontiers in Optics, FM5B. 2 (2023)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A9E653-9241-5CC8-6DC1-BC07CDA4EC5A}"/>
              </a:ext>
            </a:extLst>
          </p:cNvPr>
          <p:cNvSpPr txBox="1"/>
          <p:nvPr/>
        </p:nvSpPr>
        <p:spPr>
          <a:xfrm>
            <a:off x="6133508" y="5253005"/>
            <a:ext cx="593656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altLang="zh-CN" i="1" dirty="0"/>
              <a:t>Since 2020:</a:t>
            </a:r>
            <a:r>
              <a:rPr lang="en-CA" altLang="zh-CN" sz="1600" i="1" dirty="0"/>
              <a:t> interferometric imaging and super resolution</a:t>
            </a:r>
          </a:p>
          <a:p>
            <a:endParaRPr lang="en-CA" altLang="zh-CN" sz="1600" i="1" dirty="0"/>
          </a:p>
          <a:p>
            <a:r>
              <a:rPr lang="en-CA" altLang="zh-CN" sz="1400" dirty="0"/>
              <a:t>PRL 124(8), 080503 (2020),  PRA 104, 022613 (2021),  </a:t>
            </a:r>
          </a:p>
          <a:p>
            <a:r>
              <a:rPr lang="en-CA" altLang="zh-CN" sz="1400" dirty="0"/>
              <a:t>PRA 108(1), 012602 (2023), </a:t>
            </a:r>
            <a:r>
              <a:rPr lang="en-CA" altLang="zh-CN" sz="1400" dirty="0" err="1"/>
              <a:t>arXiv</a:t>
            </a:r>
            <a:r>
              <a:rPr lang="en-CA" altLang="zh-CN" sz="1400" dirty="0"/>
              <a:t>: 2501.15685(2025)</a:t>
            </a:r>
          </a:p>
          <a:p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91D2E-83C5-DB1E-B598-5ABB1FA8545A}"/>
              </a:ext>
            </a:extLst>
          </p:cNvPr>
          <p:cNvSpPr/>
          <p:nvPr/>
        </p:nvSpPr>
        <p:spPr>
          <a:xfrm>
            <a:off x="6016907" y="4062512"/>
            <a:ext cx="6175093" cy="27313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F103E3-7253-B895-0A41-BB353D466695}"/>
              </a:ext>
            </a:extLst>
          </p:cNvPr>
          <p:cNvGrpSpPr/>
          <p:nvPr/>
        </p:nvGrpSpPr>
        <p:grpSpPr>
          <a:xfrm>
            <a:off x="253766" y="1279395"/>
            <a:ext cx="7314652" cy="3680922"/>
            <a:chOff x="1959576" y="684793"/>
            <a:chExt cx="7880083" cy="357224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ECEC34A-B9B9-B151-5459-DF375F00DEB9}"/>
                </a:ext>
              </a:extLst>
            </p:cNvPr>
            <p:cNvCxnSpPr>
              <a:cxnSpLocks/>
            </p:cNvCxnSpPr>
            <p:nvPr/>
          </p:nvCxnSpPr>
          <p:spPr>
            <a:xfrm>
              <a:off x="2554931" y="3350939"/>
              <a:ext cx="1748530" cy="879581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45338C1-E006-268D-7171-F93C4A4BB0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61847" y="3352583"/>
              <a:ext cx="1557838" cy="899851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D0026C-F04D-83D1-70E3-C4F802F19568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>
              <a:off x="4995340" y="2719402"/>
              <a:ext cx="0" cy="637417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CB0B63-0E1B-AA1B-60D2-A58A8E7FC60C}"/>
                </a:ext>
              </a:extLst>
            </p:cNvPr>
            <p:cNvCxnSpPr>
              <a:cxnSpLocks/>
              <a:stCxn id="60" idx="2"/>
              <a:endCxn id="85" idx="3"/>
            </p:cNvCxnSpPr>
            <p:nvPr/>
          </p:nvCxnSpPr>
          <p:spPr>
            <a:xfrm flipH="1">
              <a:off x="2565757" y="2709985"/>
              <a:ext cx="8059" cy="642214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8DEF5C-96AD-95EA-6640-0267C8A22E57}"/>
                </a:ext>
              </a:extLst>
            </p:cNvPr>
            <p:cNvCxnSpPr>
              <a:cxnSpLocks/>
            </p:cNvCxnSpPr>
            <p:nvPr/>
          </p:nvCxnSpPr>
          <p:spPr>
            <a:xfrm>
              <a:off x="6843038" y="2724416"/>
              <a:ext cx="0" cy="1529145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8C22DB0-78C5-E893-C37C-0BEA21B1E683}"/>
                </a:ext>
              </a:extLst>
            </p:cNvPr>
            <p:cNvCxnSpPr>
              <a:cxnSpLocks/>
            </p:cNvCxnSpPr>
            <p:nvPr/>
          </p:nvCxnSpPr>
          <p:spPr>
            <a:xfrm>
              <a:off x="6310790" y="3732420"/>
              <a:ext cx="3522072" cy="0"/>
            </a:xfrm>
            <a:prstGeom prst="line">
              <a:avLst/>
            </a:prstGeom>
            <a:ln w="25400">
              <a:solidFill>
                <a:srgbClr val="FF7171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60F1DF8-7A40-CF5F-78A7-53BE9B2F7CEA}"/>
                </a:ext>
              </a:extLst>
            </p:cNvPr>
            <p:cNvCxnSpPr>
              <a:cxnSpLocks/>
            </p:cNvCxnSpPr>
            <p:nvPr/>
          </p:nvCxnSpPr>
          <p:spPr>
            <a:xfrm>
              <a:off x="6317587" y="3223982"/>
              <a:ext cx="3522072" cy="0"/>
            </a:xfrm>
            <a:prstGeom prst="line">
              <a:avLst/>
            </a:prstGeom>
            <a:ln w="25400">
              <a:solidFill>
                <a:srgbClr val="FF7171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591CD5-5131-B462-177B-94F1275AA933}"/>
                </a:ext>
              </a:extLst>
            </p:cNvPr>
            <p:cNvCxnSpPr>
              <a:cxnSpLocks/>
            </p:cNvCxnSpPr>
            <p:nvPr/>
          </p:nvCxnSpPr>
          <p:spPr>
            <a:xfrm>
              <a:off x="9301758" y="2727895"/>
              <a:ext cx="0" cy="1529145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: Rounded Corners 3">
                  <a:extLst>
                    <a:ext uri="{FF2B5EF4-FFF2-40B4-BE49-F238E27FC236}">
                      <a16:creationId xmlns:a16="http://schemas.microsoft.com/office/drawing/2014/main" id="{5C52DEF5-04E7-98E9-60A0-FB9CA2F6F564}"/>
                    </a:ext>
                  </a:extLst>
                </p:cNvPr>
                <p:cNvSpPr/>
                <p:nvPr/>
              </p:nvSpPr>
              <p:spPr>
                <a:xfrm>
                  <a:off x="6510990" y="2927685"/>
                  <a:ext cx="685278" cy="1115819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𝒰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8" name="Rectangle: Rounded Corners 3">
                  <a:extLst>
                    <a:ext uri="{FF2B5EF4-FFF2-40B4-BE49-F238E27FC236}">
                      <a16:creationId xmlns:a16="http://schemas.microsoft.com/office/drawing/2014/main" id="{5C52DEF5-04E7-98E9-60A0-FB9CA2F6F5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0990" y="2927685"/>
                  <a:ext cx="685278" cy="1115819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lowchart: Delay 13">
              <a:extLst>
                <a:ext uri="{FF2B5EF4-FFF2-40B4-BE49-F238E27FC236}">
                  <a16:creationId xmlns:a16="http://schemas.microsoft.com/office/drawing/2014/main" id="{59B4C5D8-9811-AB95-3A23-FD0D1DD19BEF}"/>
                </a:ext>
              </a:extLst>
            </p:cNvPr>
            <p:cNvSpPr/>
            <p:nvPr/>
          </p:nvSpPr>
          <p:spPr>
            <a:xfrm rot="16200000">
              <a:off x="6636058" y="1673966"/>
              <a:ext cx="435142" cy="839294"/>
            </a:xfrm>
            <a:prstGeom prst="flowChartDelay">
              <a:avLst/>
            </a:prstGeom>
            <a:solidFill>
              <a:schemeClr val="bg1">
                <a:lumMod val="8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58F021A-2FC0-8ECA-90DE-6939B2291178}"/>
                </a:ext>
              </a:extLst>
            </p:cNvPr>
            <p:cNvSpPr/>
            <p:nvPr/>
          </p:nvSpPr>
          <p:spPr>
            <a:xfrm rot="7210911">
              <a:off x="7019930" y="1913800"/>
              <a:ext cx="201894" cy="1329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B19368F-B216-13FA-FC14-8C17A7B25C1F}"/>
                </a:ext>
              </a:extLst>
            </p:cNvPr>
            <p:cNvSpPr/>
            <p:nvPr/>
          </p:nvSpPr>
          <p:spPr>
            <a:xfrm rot="20969975">
              <a:off x="6662638" y="2033564"/>
              <a:ext cx="513248" cy="411738"/>
            </a:xfrm>
            <a:prstGeom prst="arc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651F26-6A21-7381-FFAF-3849790508AB}"/>
                </a:ext>
              </a:extLst>
            </p:cNvPr>
            <p:cNvSpPr/>
            <p:nvPr/>
          </p:nvSpPr>
          <p:spPr>
            <a:xfrm>
              <a:off x="6310790" y="2317286"/>
              <a:ext cx="1100548" cy="105606"/>
            </a:xfrm>
            <a:prstGeom prst="rect">
              <a:avLst/>
            </a:prstGeom>
            <a:solidFill>
              <a:srgbClr val="E0B598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3F477B-A369-0622-BCA8-F23977FBAA93}"/>
                </a:ext>
              </a:extLst>
            </p:cNvPr>
            <p:cNvSpPr/>
            <p:nvPr/>
          </p:nvSpPr>
          <p:spPr>
            <a:xfrm>
              <a:off x="6433982" y="2445576"/>
              <a:ext cx="839295" cy="264409"/>
            </a:xfrm>
            <a:prstGeom prst="rect">
              <a:avLst/>
            </a:prstGeom>
            <a:solidFill>
              <a:srgbClr val="E1BE97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855225-BFC5-2641-0774-BF26263A5C32}"/>
                </a:ext>
              </a:extLst>
            </p:cNvPr>
            <p:cNvSpPr/>
            <p:nvPr/>
          </p:nvSpPr>
          <p:spPr>
            <a:xfrm flipV="1">
              <a:off x="6590255" y="2561435"/>
              <a:ext cx="41703" cy="25763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996BA5C-CEDA-ABC4-8FC3-4C7F632A5247}"/>
                </a:ext>
              </a:extLst>
            </p:cNvPr>
            <p:cNvSpPr/>
            <p:nvPr/>
          </p:nvSpPr>
          <p:spPr>
            <a:xfrm rot="5400000">
              <a:off x="6958061" y="2521173"/>
              <a:ext cx="146884" cy="227406"/>
            </a:xfrm>
            <a:prstGeom prst="rect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F24F048-4147-1631-DC7F-F3807FD38188}"/>
                </a:ext>
              </a:extLst>
            </p:cNvPr>
            <p:cNvSpPr/>
            <p:nvPr/>
          </p:nvSpPr>
          <p:spPr>
            <a:xfrm flipV="1">
              <a:off x="6732936" y="2561435"/>
              <a:ext cx="41697" cy="257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FD7AFCD-9178-C108-A9D9-897D0F5F6E59}"/>
                </a:ext>
              </a:extLst>
            </p:cNvPr>
            <p:cNvCxnSpPr>
              <a:cxnSpLocks/>
            </p:cNvCxnSpPr>
            <p:nvPr/>
          </p:nvCxnSpPr>
          <p:spPr>
            <a:xfrm>
              <a:off x="6558558" y="2326675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FDA4E89-DA78-EB04-59AA-1A438CCD84AD}"/>
                </a:ext>
              </a:extLst>
            </p:cNvPr>
            <p:cNvCxnSpPr>
              <a:cxnSpLocks/>
            </p:cNvCxnSpPr>
            <p:nvPr/>
          </p:nvCxnSpPr>
          <p:spPr>
            <a:xfrm>
              <a:off x="6843038" y="2316515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F7B503D-EA1E-55F2-D4B2-D695DE2A2523}"/>
                </a:ext>
              </a:extLst>
            </p:cNvPr>
            <p:cNvCxnSpPr>
              <a:cxnSpLocks/>
            </p:cNvCxnSpPr>
            <p:nvPr/>
          </p:nvCxnSpPr>
          <p:spPr>
            <a:xfrm>
              <a:off x="7107198" y="2296195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D0177EB-BB46-DCC6-67F8-B9E2C3BDC497}"/>
                    </a:ext>
                  </a:extLst>
                </p:cNvPr>
                <p:cNvSpPr txBox="1"/>
                <p:nvPr/>
              </p:nvSpPr>
              <p:spPr>
                <a:xfrm>
                  <a:off x="6370232" y="1946682"/>
                  <a:ext cx="608897" cy="328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D0177EB-BB46-DCC6-67F8-B9E2C3BDC4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232" y="1946682"/>
                  <a:ext cx="608897" cy="32855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694FBA-0C04-37C7-0B67-3BF6401FA0DF}"/>
                </a:ext>
              </a:extLst>
            </p:cNvPr>
            <p:cNvSpPr/>
            <p:nvPr/>
          </p:nvSpPr>
          <p:spPr>
            <a:xfrm rot="1819476">
              <a:off x="7044888" y="1801283"/>
              <a:ext cx="297674" cy="1056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3" name="Flowchart: Delay 133">
              <a:extLst>
                <a:ext uri="{FF2B5EF4-FFF2-40B4-BE49-F238E27FC236}">
                  <a16:creationId xmlns:a16="http://schemas.microsoft.com/office/drawing/2014/main" id="{58FA1301-E621-984E-5161-8357C9B7B57B}"/>
                </a:ext>
              </a:extLst>
            </p:cNvPr>
            <p:cNvSpPr/>
            <p:nvPr/>
          </p:nvSpPr>
          <p:spPr>
            <a:xfrm rot="16200000">
              <a:off x="9057582" y="1683383"/>
              <a:ext cx="435142" cy="839294"/>
            </a:xfrm>
            <a:prstGeom prst="flowChartDelay">
              <a:avLst/>
            </a:prstGeom>
            <a:solidFill>
              <a:schemeClr val="bg1">
                <a:lumMod val="8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79BF898-1675-3AD2-AD72-2A12D0CC8F0E}"/>
                </a:ext>
              </a:extLst>
            </p:cNvPr>
            <p:cNvSpPr/>
            <p:nvPr/>
          </p:nvSpPr>
          <p:spPr>
            <a:xfrm rot="7210911">
              <a:off x="9441454" y="1923217"/>
              <a:ext cx="201894" cy="1329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A0B66791-669E-A04B-B8B0-A8507C634338}"/>
                </a:ext>
              </a:extLst>
            </p:cNvPr>
            <p:cNvSpPr/>
            <p:nvPr/>
          </p:nvSpPr>
          <p:spPr>
            <a:xfrm rot="20969975">
              <a:off x="9084162" y="2042981"/>
              <a:ext cx="513248" cy="411738"/>
            </a:xfrm>
            <a:prstGeom prst="arc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A85C524-C3F1-B072-A601-42537FCA8D9C}"/>
                </a:ext>
              </a:extLst>
            </p:cNvPr>
            <p:cNvSpPr/>
            <p:nvPr/>
          </p:nvSpPr>
          <p:spPr>
            <a:xfrm>
              <a:off x="8732314" y="2326703"/>
              <a:ext cx="1100548" cy="105606"/>
            </a:xfrm>
            <a:prstGeom prst="rect">
              <a:avLst/>
            </a:prstGeom>
            <a:solidFill>
              <a:srgbClr val="E0B598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80AF9F8-CADB-62A1-12BE-80842B0F6A37}"/>
                </a:ext>
              </a:extLst>
            </p:cNvPr>
            <p:cNvSpPr/>
            <p:nvPr/>
          </p:nvSpPr>
          <p:spPr>
            <a:xfrm>
              <a:off x="8855506" y="2454993"/>
              <a:ext cx="839295" cy="264409"/>
            </a:xfrm>
            <a:prstGeom prst="rect">
              <a:avLst/>
            </a:prstGeom>
            <a:solidFill>
              <a:srgbClr val="E1BE97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E9B48C-AAB0-39B5-8A77-2A9D4054A147}"/>
                </a:ext>
              </a:extLst>
            </p:cNvPr>
            <p:cNvSpPr/>
            <p:nvPr/>
          </p:nvSpPr>
          <p:spPr>
            <a:xfrm flipV="1">
              <a:off x="9011779" y="2570852"/>
              <a:ext cx="41703" cy="25763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9435F3-594F-B303-CDD7-3783E4EE5CE4}"/>
                </a:ext>
              </a:extLst>
            </p:cNvPr>
            <p:cNvSpPr/>
            <p:nvPr/>
          </p:nvSpPr>
          <p:spPr>
            <a:xfrm rot="5400000">
              <a:off x="9379585" y="2530590"/>
              <a:ext cx="146884" cy="227406"/>
            </a:xfrm>
            <a:prstGeom prst="rect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5FB182B-F505-5530-FF20-0B447FD9DBF8}"/>
                </a:ext>
              </a:extLst>
            </p:cNvPr>
            <p:cNvSpPr/>
            <p:nvPr/>
          </p:nvSpPr>
          <p:spPr>
            <a:xfrm flipV="1">
              <a:off x="9154460" y="2570852"/>
              <a:ext cx="41697" cy="257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FF80EF0-3567-55A5-7BB1-5E19866BF04F}"/>
                </a:ext>
              </a:extLst>
            </p:cNvPr>
            <p:cNvCxnSpPr>
              <a:cxnSpLocks/>
            </p:cNvCxnSpPr>
            <p:nvPr/>
          </p:nvCxnSpPr>
          <p:spPr>
            <a:xfrm>
              <a:off x="8980082" y="2336092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20EA759-230C-DD62-1D3D-7C32418760CF}"/>
                </a:ext>
              </a:extLst>
            </p:cNvPr>
            <p:cNvCxnSpPr>
              <a:cxnSpLocks/>
            </p:cNvCxnSpPr>
            <p:nvPr/>
          </p:nvCxnSpPr>
          <p:spPr>
            <a:xfrm>
              <a:off x="9264562" y="2325932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C653B3-4C95-4456-05A6-D5DCC1314CD6}"/>
                </a:ext>
              </a:extLst>
            </p:cNvPr>
            <p:cNvCxnSpPr>
              <a:cxnSpLocks/>
            </p:cNvCxnSpPr>
            <p:nvPr/>
          </p:nvCxnSpPr>
          <p:spPr>
            <a:xfrm>
              <a:off x="9528722" y="2305612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6EC923C-39C3-02BC-3BDE-4F13C02553B4}"/>
                    </a:ext>
                  </a:extLst>
                </p:cNvPr>
                <p:cNvSpPr txBox="1"/>
                <p:nvPr/>
              </p:nvSpPr>
              <p:spPr>
                <a:xfrm>
                  <a:off x="8791756" y="1956099"/>
                  <a:ext cx="608897" cy="328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6EC923C-39C3-02BC-3BDE-4F13C0255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1756" y="1956099"/>
                  <a:ext cx="608897" cy="3285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DDF4CA-72A5-D5B6-2801-926F89201936}"/>
                </a:ext>
              </a:extLst>
            </p:cNvPr>
            <p:cNvSpPr/>
            <p:nvPr/>
          </p:nvSpPr>
          <p:spPr>
            <a:xfrm rot="1819476">
              <a:off x="9466412" y="1810700"/>
              <a:ext cx="297674" cy="1056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8BB40031-5821-B7E4-4274-609375A5FB06}"/>
                </a:ext>
              </a:extLst>
            </p:cNvPr>
            <p:cNvSpPr/>
            <p:nvPr/>
          </p:nvSpPr>
          <p:spPr>
            <a:xfrm rot="10130253">
              <a:off x="8460267" y="684793"/>
              <a:ext cx="1181346" cy="871200"/>
            </a:xfrm>
            <a:prstGeom prst="arc">
              <a:avLst/>
            </a:prstGeom>
            <a:ln w="25400">
              <a:solidFill>
                <a:srgbClr val="FF717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66454003-05B6-5049-E28A-2C1E866C57EF}"/>
                </a:ext>
              </a:extLst>
            </p:cNvPr>
            <p:cNvSpPr/>
            <p:nvPr/>
          </p:nvSpPr>
          <p:spPr>
            <a:xfrm rot="10172292">
              <a:off x="8945542" y="910653"/>
              <a:ext cx="735333" cy="397150"/>
            </a:xfrm>
            <a:prstGeom prst="arc">
              <a:avLst/>
            </a:prstGeom>
            <a:ln w="25400">
              <a:solidFill>
                <a:srgbClr val="FF717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: Rounded Corners 160">
                  <a:extLst>
                    <a:ext uri="{FF2B5EF4-FFF2-40B4-BE49-F238E27FC236}">
                      <a16:creationId xmlns:a16="http://schemas.microsoft.com/office/drawing/2014/main" id="{47A0C22C-BA22-40C7-810E-1B9C0D5BA8D6}"/>
                    </a:ext>
                  </a:extLst>
                </p:cNvPr>
                <p:cNvSpPr/>
                <p:nvPr/>
              </p:nvSpPr>
              <p:spPr>
                <a:xfrm>
                  <a:off x="8965340" y="2937430"/>
                  <a:ext cx="685278" cy="1115819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𝒰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52" name="Rectangle: Rounded Corners 160">
                  <a:extLst>
                    <a:ext uri="{FF2B5EF4-FFF2-40B4-BE49-F238E27FC236}">
                      <a16:creationId xmlns:a16="http://schemas.microsoft.com/office/drawing/2014/main" id="{47A0C22C-BA22-40C7-810E-1B9C0D5BA8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5340" y="2937430"/>
                  <a:ext cx="685278" cy="1115819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475ED16-D263-A960-D1F4-13B4093B895A}"/>
                </a:ext>
              </a:extLst>
            </p:cNvPr>
            <p:cNvSpPr/>
            <p:nvPr/>
          </p:nvSpPr>
          <p:spPr>
            <a:xfrm>
              <a:off x="7608488" y="3155839"/>
              <a:ext cx="940270" cy="659509"/>
            </a:xfrm>
            <a:prstGeom prst="rect">
              <a:avLst/>
            </a:prstGeom>
            <a:solidFill>
              <a:srgbClr val="FC8B74"/>
            </a:solidFill>
            <a:ln w="44450">
              <a:solidFill>
                <a:schemeClr val="tx1"/>
              </a:solidFill>
            </a:ln>
            <a:effectLst>
              <a:glow rad="63500">
                <a:srgbClr val="FC8B74">
                  <a:alpha val="40000"/>
                </a:srgbClr>
              </a:glow>
              <a:outerShdw blurRad="50800" dist="50800" dir="5400000" sx="5000" sy="5000" algn="ctr" rotWithShape="0">
                <a:srgbClr val="000000">
                  <a:alpha val="43137"/>
                </a:srgbClr>
              </a:outerShdw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Source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BF5C29-F7F7-E10A-0F30-46A8425E8434}"/>
                    </a:ext>
                  </a:extLst>
                </p:cNvPr>
                <p:cNvSpPr txBox="1"/>
                <p:nvPr/>
              </p:nvSpPr>
              <p:spPr>
                <a:xfrm rot="10800000">
                  <a:off x="7164370" y="3195316"/>
                  <a:ext cx="464195" cy="594304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eaVert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BBF5C29-F7F7-E10A-0F30-46A8425E8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7164370" y="3195316"/>
                  <a:ext cx="464195" cy="59430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B044B93-0E6D-9967-BC44-BB3B9F37C9E8}"/>
                    </a:ext>
                  </a:extLst>
                </p:cNvPr>
                <p:cNvSpPr txBox="1"/>
                <p:nvPr/>
              </p:nvSpPr>
              <p:spPr>
                <a:xfrm rot="10800000">
                  <a:off x="8508872" y="3208892"/>
                  <a:ext cx="464195" cy="594304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eaVert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B044B93-0E6D-9967-BC44-BB3B9F37C9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8508872" y="3208892"/>
                  <a:ext cx="464195" cy="5943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Flowchart: Delay 224">
              <a:extLst>
                <a:ext uri="{FF2B5EF4-FFF2-40B4-BE49-F238E27FC236}">
                  <a16:creationId xmlns:a16="http://schemas.microsoft.com/office/drawing/2014/main" id="{1CFBBD7D-BC2D-FBDD-8996-7055B6C7841A}"/>
                </a:ext>
              </a:extLst>
            </p:cNvPr>
            <p:cNvSpPr/>
            <p:nvPr/>
          </p:nvSpPr>
          <p:spPr>
            <a:xfrm rot="16200000">
              <a:off x="2356244" y="1673966"/>
              <a:ext cx="435142" cy="839294"/>
            </a:xfrm>
            <a:prstGeom prst="flowChartDelay">
              <a:avLst/>
            </a:prstGeom>
            <a:solidFill>
              <a:schemeClr val="bg1">
                <a:lumMod val="8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262029C-AD33-BFA0-3EBB-212263FB1DD8}"/>
                </a:ext>
              </a:extLst>
            </p:cNvPr>
            <p:cNvSpPr/>
            <p:nvPr/>
          </p:nvSpPr>
          <p:spPr>
            <a:xfrm rot="7210911">
              <a:off x="2740116" y="1913800"/>
              <a:ext cx="201894" cy="1329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319E5F7E-FDC2-67A0-8996-A4BE84D463CD}"/>
                </a:ext>
              </a:extLst>
            </p:cNvPr>
            <p:cNvSpPr/>
            <p:nvPr/>
          </p:nvSpPr>
          <p:spPr>
            <a:xfrm rot="20969975">
              <a:off x="2382824" y="2033564"/>
              <a:ext cx="513248" cy="411738"/>
            </a:xfrm>
            <a:prstGeom prst="arc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2BD870E-6C74-2EBF-EB28-4D2DD38A6A2B}"/>
                </a:ext>
              </a:extLst>
            </p:cNvPr>
            <p:cNvSpPr/>
            <p:nvPr/>
          </p:nvSpPr>
          <p:spPr>
            <a:xfrm>
              <a:off x="2030976" y="2317286"/>
              <a:ext cx="1100548" cy="105606"/>
            </a:xfrm>
            <a:prstGeom prst="rect">
              <a:avLst/>
            </a:prstGeom>
            <a:solidFill>
              <a:srgbClr val="E0B598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DCE3748-3A28-A9CE-A68C-9E54DA05D893}"/>
                </a:ext>
              </a:extLst>
            </p:cNvPr>
            <p:cNvSpPr/>
            <p:nvPr/>
          </p:nvSpPr>
          <p:spPr>
            <a:xfrm>
              <a:off x="2154168" y="2445576"/>
              <a:ext cx="839295" cy="264409"/>
            </a:xfrm>
            <a:prstGeom prst="rect">
              <a:avLst/>
            </a:prstGeom>
            <a:solidFill>
              <a:srgbClr val="E1BE97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9B17A99-EB9F-0DD7-FD2F-E2DCB711999D}"/>
                </a:ext>
              </a:extLst>
            </p:cNvPr>
            <p:cNvSpPr/>
            <p:nvPr/>
          </p:nvSpPr>
          <p:spPr>
            <a:xfrm flipV="1">
              <a:off x="2310441" y="2561435"/>
              <a:ext cx="41703" cy="25763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015C8F1-3F4F-6079-C990-68ECD43162B2}"/>
                </a:ext>
              </a:extLst>
            </p:cNvPr>
            <p:cNvSpPr/>
            <p:nvPr/>
          </p:nvSpPr>
          <p:spPr>
            <a:xfrm rot="5400000">
              <a:off x="2678247" y="2521173"/>
              <a:ext cx="146884" cy="227406"/>
            </a:xfrm>
            <a:prstGeom prst="rect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DDAAD8D-0C7E-22BC-DDFA-0BD24410F296}"/>
                </a:ext>
              </a:extLst>
            </p:cNvPr>
            <p:cNvSpPr/>
            <p:nvPr/>
          </p:nvSpPr>
          <p:spPr>
            <a:xfrm flipV="1">
              <a:off x="2453122" y="2561435"/>
              <a:ext cx="41697" cy="257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51E103C-C0BD-0598-DB01-E56667D66D14}"/>
                </a:ext>
              </a:extLst>
            </p:cNvPr>
            <p:cNvCxnSpPr>
              <a:cxnSpLocks/>
            </p:cNvCxnSpPr>
            <p:nvPr/>
          </p:nvCxnSpPr>
          <p:spPr>
            <a:xfrm>
              <a:off x="2278744" y="2326675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7B3B876-DD1F-05A2-BEFE-A43A87A133D5}"/>
                </a:ext>
              </a:extLst>
            </p:cNvPr>
            <p:cNvCxnSpPr>
              <a:cxnSpLocks/>
            </p:cNvCxnSpPr>
            <p:nvPr/>
          </p:nvCxnSpPr>
          <p:spPr>
            <a:xfrm>
              <a:off x="2563224" y="2316515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E7B4382-3371-C183-ACCC-BDA088B86672}"/>
                </a:ext>
              </a:extLst>
            </p:cNvPr>
            <p:cNvCxnSpPr>
              <a:cxnSpLocks/>
            </p:cNvCxnSpPr>
            <p:nvPr/>
          </p:nvCxnSpPr>
          <p:spPr>
            <a:xfrm>
              <a:off x="2827384" y="2296195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F8B333D-88B9-4AA3-B8F1-D413150D7648}"/>
                    </a:ext>
                  </a:extLst>
                </p:cNvPr>
                <p:cNvSpPr txBox="1"/>
                <p:nvPr/>
              </p:nvSpPr>
              <p:spPr>
                <a:xfrm>
                  <a:off x="2090419" y="1946682"/>
                  <a:ext cx="608897" cy="328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F8B333D-88B9-4AA3-B8F1-D413150D76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419" y="1946682"/>
                  <a:ext cx="608897" cy="32855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959D9F0-1689-F12E-B480-8F4EF8DC595E}"/>
                </a:ext>
              </a:extLst>
            </p:cNvPr>
            <p:cNvSpPr/>
            <p:nvPr/>
          </p:nvSpPr>
          <p:spPr>
            <a:xfrm rot="1819476">
              <a:off x="2765074" y="1801283"/>
              <a:ext cx="297674" cy="1056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9" name="Flowchart: Delay 237">
              <a:extLst>
                <a:ext uri="{FF2B5EF4-FFF2-40B4-BE49-F238E27FC236}">
                  <a16:creationId xmlns:a16="http://schemas.microsoft.com/office/drawing/2014/main" id="{AD3B29C3-3786-94A8-F58F-4DFEF8E65F8A}"/>
                </a:ext>
              </a:extLst>
            </p:cNvPr>
            <p:cNvSpPr/>
            <p:nvPr/>
          </p:nvSpPr>
          <p:spPr>
            <a:xfrm rot="16200000">
              <a:off x="4777768" y="1683383"/>
              <a:ext cx="435142" cy="839294"/>
            </a:xfrm>
            <a:prstGeom prst="flowChartDelay">
              <a:avLst/>
            </a:prstGeom>
            <a:solidFill>
              <a:schemeClr val="bg1">
                <a:lumMod val="8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234EFF0-4603-ABEE-2B9D-F7C5BB075D83}"/>
                </a:ext>
              </a:extLst>
            </p:cNvPr>
            <p:cNvSpPr/>
            <p:nvPr/>
          </p:nvSpPr>
          <p:spPr>
            <a:xfrm rot="7210911">
              <a:off x="5161640" y="1923217"/>
              <a:ext cx="201894" cy="13295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1" name="Arc 70">
              <a:extLst>
                <a:ext uri="{FF2B5EF4-FFF2-40B4-BE49-F238E27FC236}">
                  <a16:creationId xmlns:a16="http://schemas.microsoft.com/office/drawing/2014/main" id="{63B8C6D7-809B-D9B1-6E2F-EA3FF4B1545F}"/>
                </a:ext>
              </a:extLst>
            </p:cNvPr>
            <p:cNvSpPr/>
            <p:nvPr/>
          </p:nvSpPr>
          <p:spPr>
            <a:xfrm rot="20969975">
              <a:off x="4804348" y="2042981"/>
              <a:ext cx="513248" cy="411738"/>
            </a:xfrm>
            <a:prstGeom prst="arc">
              <a:avLst/>
            </a:prstGeom>
            <a:ln w="317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CA0E71A-3275-EFEA-6D2F-97B84C5883F3}"/>
                </a:ext>
              </a:extLst>
            </p:cNvPr>
            <p:cNvSpPr/>
            <p:nvPr/>
          </p:nvSpPr>
          <p:spPr>
            <a:xfrm>
              <a:off x="4452500" y="2326703"/>
              <a:ext cx="1100548" cy="105606"/>
            </a:xfrm>
            <a:prstGeom prst="rect">
              <a:avLst/>
            </a:prstGeom>
            <a:solidFill>
              <a:srgbClr val="E0B598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71D6A2B-2031-F457-F64A-BD74FA6C961D}"/>
                </a:ext>
              </a:extLst>
            </p:cNvPr>
            <p:cNvSpPr/>
            <p:nvPr/>
          </p:nvSpPr>
          <p:spPr>
            <a:xfrm>
              <a:off x="4575692" y="2454993"/>
              <a:ext cx="839295" cy="264409"/>
            </a:xfrm>
            <a:prstGeom prst="rect">
              <a:avLst/>
            </a:prstGeom>
            <a:solidFill>
              <a:srgbClr val="E1BE97"/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AA09328-EAE7-C4C6-2048-676D68F35C28}"/>
                </a:ext>
              </a:extLst>
            </p:cNvPr>
            <p:cNvSpPr/>
            <p:nvPr/>
          </p:nvSpPr>
          <p:spPr>
            <a:xfrm flipV="1">
              <a:off x="4731965" y="2570852"/>
              <a:ext cx="41703" cy="25763"/>
            </a:xfrm>
            <a:prstGeom prst="rect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D443371-245E-E1C2-419D-26091F462CAE}"/>
                </a:ext>
              </a:extLst>
            </p:cNvPr>
            <p:cNvSpPr/>
            <p:nvPr/>
          </p:nvSpPr>
          <p:spPr>
            <a:xfrm rot="5400000">
              <a:off x="5099771" y="2530590"/>
              <a:ext cx="146884" cy="227406"/>
            </a:xfrm>
            <a:prstGeom prst="rect">
              <a:avLst/>
            </a:prstGeom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3350690-3B50-72DE-F6BC-70926F1A922C}"/>
                </a:ext>
              </a:extLst>
            </p:cNvPr>
            <p:cNvSpPr/>
            <p:nvPr/>
          </p:nvSpPr>
          <p:spPr>
            <a:xfrm flipV="1">
              <a:off x="4874646" y="2570852"/>
              <a:ext cx="41697" cy="2576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5C61AD3-9CB7-F866-77C4-D4C0CDF5343B}"/>
                </a:ext>
              </a:extLst>
            </p:cNvPr>
            <p:cNvCxnSpPr>
              <a:cxnSpLocks/>
            </p:cNvCxnSpPr>
            <p:nvPr/>
          </p:nvCxnSpPr>
          <p:spPr>
            <a:xfrm>
              <a:off x="4700268" y="2336092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0A2B2E6-56C5-2E7F-8763-ADA9CF4D7C75}"/>
                </a:ext>
              </a:extLst>
            </p:cNvPr>
            <p:cNvCxnSpPr>
              <a:cxnSpLocks/>
            </p:cNvCxnSpPr>
            <p:nvPr/>
          </p:nvCxnSpPr>
          <p:spPr>
            <a:xfrm>
              <a:off x="4984748" y="2325932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EBA91D8-C20A-0F02-FA90-17ED205EB255}"/>
                </a:ext>
              </a:extLst>
            </p:cNvPr>
            <p:cNvCxnSpPr>
              <a:cxnSpLocks/>
            </p:cNvCxnSpPr>
            <p:nvPr/>
          </p:nvCxnSpPr>
          <p:spPr>
            <a:xfrm>
              <a:off x="5248908" y="2305612"/>
              <a:ext cx="0" cy="11813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A0122EA-C7B1-5F23-F243-9B0D52E0AA3C}"/>
                    </a:ext>
                  </a:extLst>
                </p:cNvPr>
                <p:cNvSpPr txBox="1"/>
                <p:nvPr/>
              </p:nvSpPr>
              <p:spPr>
                <a:xfrm>
                  <a:off x="4511941" y="1956099"/>
                  <a:ext cx="608897" cy="3285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CA0122EA-C7B1-5F23-F243-9B0D52E0A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1941" y="1956099"/>
                  <a:ext cx="608897" cy="32855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626C01F-556E-A849-BE02-18F7FB640D19}"/>
                </a:ext>
              </a:extLst>
            </p:cNvPr>
            <p:cNvSpPr/>
            <p:nvPr/>
          </p:nvSpPr>
          <p:spPr>
            <a:xfrm rot="1819476">
              <a:off x="5186598" y="1810700"/>
              <a:ext cx="297674" cy="1056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3E37C2C9-BD88-C77B-357A-20341274AB8D}"/>
                </a:ext>
              </a:extLst>
            </p:cNvPr>
            <p:cNvSpPr/>
            <p:nvPr/>
          </p:nvSpPr>
          <p:spPr>
            <a:xfrm rot="10130253">
              <a:off x="4180453" y="684793"/>
              <a:ext cx="1181346" cy="871200"/>
            </a:xfrm>
            <a:prstGeom prst="arc">
              <a:avLst/>
            </a:prstGeom>
            <a:ln w="25400">
              <a:solidFill>
                <a:srgbClr val="FF717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3" name="Arc 82">
              <a:extLst>
                <a:ext uri="{FF2B5EF4-FFF2-40B4-BE49-F238E27FC236}">
                  <a16:creationId xmlns:a16="http://schemas.microsoft.com/office/drawing/2014/main" id="{7F186CFD-17AA-E820-7D4A-BA702E90AA52}"/>
                </a:ext>
              </a:extLst>
            </p:cNvPr>
            <p:cNvSpPr/>
            <p:nvPr/>
          </p:nvSpPr>
          <p:spPr>
            <a:xfrm rot="10172292">
              <a:off x="4665728" y="910653"/>
              <a:ext cx="735333" cy="397150"/>
            </a:xfrm>
            <a:prstGeom prst="arc">
              <a:avLst/>
            </a:prstGeom>
            <a:ln w="25400">
              <a:solidFill>
                <a:srgbClr val="FF717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37D5BFD-0A3F-F0F3-4415-4033D666D298}"/>
                </a:ext>
              </a:extLst>
            </p:cNvPr>
            <p:cNvSpPr/>
            <p:nvPr/>
          </p:nvSpPr>
          <p:spPr>
            <a:xfrm>
              <a:off x="3838644" y="3831097"/>
              <a:ext cx="68623" cy="3449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358F8E9-F20F-1114-3AF4-88511A5A0517}"/>
                </a:ext>
              </a:extLst>
            </p:cNvPr>
            <p:cNvSpPr/>
            <p:nvPr/>
          </p:nvSpPr>
          <p:spPr>
            <a:xfrm rot="19975982">
              <a:off x="2500892" y="3195321"/>
              <a:ext cx="68623" cy="3449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0A6715E-CF20-58D8-0902-CF97201B5634}"/>
                </a:ext>
              </a:extLst>
            </p:cNvPr>
            <p:cNvSpPr/>
            <p:nvPr/>
          </p:nvSpPr>
          <p:spPr>
            <a:xfrm rot="1276279">
              <a:off x="5016343" y="3186703"/>
              <a:ext cx="68623" cy="34498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6C66AF4-CEA7-AB34-E0EA-93375D7AA116}"/>
                </a:ext>
              </a:extLst>
            </p:cNvPr>
            <p:cNvSpPr/>
            <p:nvPr/>
          </p:nvSpPr>
          <p:spPr>
            <a:xfrm>
              <a:off x="4399340" y="3458587"/>
              <a:ext cx="311340" cy="329611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0EAF999-6B3D-C2D4-8134-C635D754D848}"/>
                    </a:ext>
                  </a:extLst>
                </p:cNvPr>
                <p:cNvSpPr txBox="1"/>
                <p:nvPr/>
              </p:nvSpPr>
              <p:spPr>
                <a:xfrm>
                  <a:off x="4399004" y="3449983"/>
                  <a:ext cx="321038" cy="298690"/>
                </a:xfrm>
                <a:prstGeom prst="rect">
                  <a:avLst/>
                </a:prstGeom>
                <a:noFill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60EAF999-6B3D-C2D4-8134-C635D754D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9004" y="3449983"/>
                  <a:ext cx="321038" cy="29869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279F6BA-56B7-E531-E3EE-4814017E4474}"/>
                    </a:ext>
                  </a:extLst>
                </p:cNvPr>
                <p:cNvSpPr txBox="1"/>
                <p:nvPr/>
              </p:nvSpPr>
              <p:spPr>
                <a:xfrm>
                  <a:off x="1959576" y="977268"/>
                  <a:ext cx="638336" cy="358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8279F6BA-56B7-E531-E3EE-4814017E44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9576" y="977268"/>
                  <a:ext cx="638336" cy="358428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DFC9D18-19CA-CE56-902F-ED572E3F7D57}"/>
                    </a:ext>
                  </a:extLst>
                </p:cNvPr>
                <p:cNvSpPr txBox="1"/>
                <p:nvPr/>
              </p:nvSpPr>
              <p:spPr>
                <a:xfrm>
                  <a:off x="6090260" y="1007757"/>
                  <a:ext cx="638336" cy="3584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3DFC9D18-19CA-CE56-902F-ED572E3F7D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260" y="1007757"/>
                  <a:ext cx="638336" cy="358428"/>
                </a:xfrm>
                <a:prstGeom prst="rect">
                  <a:avLst/>
                </a:prstGeom>
                <a:blipFill>
                  <a:blip r:embed="rId1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C031317-55B4-41D3-7B97-BC91291009E0}"/>
                  </a:ext>
                </a:extLst>
              </p:cNvPr>
              <p:cNvSpPr/>
              <p:nvPr/>
            </p:nvSpPr>
            <p:spPr>
              <a:xfrm>
                <a:off x="1188714" y="5756695"/>
                <a:ext cx="9889588" cy="575102"/>
              </a:xfrm>
              <a:prstGeom prst="rect">
                <a:avLst/>
              </a:prstGeom>
              <a:solidFill>
                <a:srgbClr val="FFC000">
                  <a:alpha val="0"/>
                </a:srgbClr>
              </a:solidFill>
              <a:ln w="2540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Goal: Find the most efficient way to estimate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without direct detection </a:t>
                </a:r>
              </a:p>
            </p:txBody>
          </p:sp>
        </mc:Choice>
        <mc:Fallback xmlns=""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C031317-55B4-41D3-7B97-BC9129100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14" y="5756695"/>
                <a:ext cx="9889588" cy="57510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2EC65F-ACE7-CE23-405A-494C583061F6}"/>
                  </a:ext>
                </a:extLst>
              </p:cNvPr>
              <p:cNvSpPr txBox="1"/>
              <p:nvPr/>
            </p:nvSpPr>
            <p:spPr>
              <a:xfrm>
                <a:off x="8032732" y="2615554"/>
                <a:ext cx="39740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Astronomical state: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2EC65F-ACE7-CE23-405A-494C58306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732" y="2615554"/>
                <a:ext cx="3974032" cy="307777"/>
              </a:xfrm>
              <a:prstGeom prst="rect">
                <a:avLst/>
              </a:prstGeom>
              <a:blipFill>
                <a:blip r:embed="rId15"/>
                <a:stretch>
                  <a:fillRect l="-637" t="-3846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7239D80-C03F-0524-5F03-830B7F34C22F}"/>
                  </a:ext>
                </a:extLst>
              </p:cNvPr>
              <p:cNvSpPr txBox="1"/>
              <p:nvPr/>
            </p:nvSpPr>
            <p:spPr>
              <a:xfrm>
                <a:off x="8817833" y="3044772"/>
                <a:ext cx="2435604" cy="5770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7239D80-C03F-0524-5F03-830B7F34C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833" y="3044772"/>
                <a:ext cx="2435604" cy="577017"/>
              </a:xfrm>
              <a:prstGeom prst="rect">
                <a:avLst/>
              </a:prstGeom>
              <a:blipFill>
                <a:blip r:embed="rId16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9A4AB9B-F670-24D3-4353-0D44EA876FCC}"/>
              </a:ext>
            </a:extLst>
          </p:cNvPr>
          <p:cNvCxnSpPr>
            <a:cxnSpLocks/>
          </p:cNvCxnSpPr>
          <p:nvPr/>
        </p:nvCxnSpPr>
        <p:spPr>
          <a:xfrm>
            <a:off x="10451146" y="3196722"/>
            <a:ext cx="0" cy="733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8ABF3BB-974A-DA28-2AFE-B6A375431063}"/>
                  </a:ext>
                </a:extLst>
              </p:cNvPr>
              <p:cNvSpPr txBox="1"/>
              <p:nvPr/>
            </p:nvSpPr>
            <p:spPr>
              <a:xfrm>
                <a:off x="9152895" y="3957593"/>
                <a:ext cx="24356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Complex visibility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8ABF3BB-974A-DA28-2AFE-B6A375431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895" y="3957593"/>
                <a:ext cx="2435602" cy="307777"/>
              </a:xfrm>
              <a:prstGeom prst="rect">
                <a:avLst/>
              </a:prstGeom>
              <a:blipFill>
                <a:blip r:embed="rId17"/>
                <a:stretch>
                  <a:fillRect l="-518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4175E16-5213-CF81-2802-F56E60EDCB3A}"/>
              </a:ext>
            </a:extLst>
          </p:cNvPr>
          <p:cNvCxnSpPr>
            <a:cxnSpLocks/>
          </p:cNvCxnSpPr>
          <p:nvPr/>
        </p:nvCxnSpPr>
        <p:spPr>
          <a:xfrm>
            <a:off x="10245963" y="3196722"/>
            <a:ext cx="2051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37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6F07-7924-B032-A05B-D9FD345E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3DD5EBA-57DB-D091-D1F9-02216C08C97F}"/>
              </a:ext>
            </a:extLst>
          </p:cNvPr>
          <p:cNvCxnSpPr>
            <a:cxnSpLocks/>
          </p:cNvCxnSpPr>
          <p:nvPr/>
        </p:nvCxnSpPr>
        <p:spPr>
          <a:xfrm flipV="1">
            <a:off x="10569773" y="3749199"/>
            <a:ext cx="741258" cy="1145"/>
          </a:xfrm>
          <a:prstGeom prst="line">
            <a:avLst/>
          </a:prstGeom>
          <a:ln w="25400">
            <a:solidFill>
              <a:srgbClr val="FF7171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1C47FC1-775C-0455-1EE0-B8B3FAD2C6AB}"/>
              </a:ext>
            </a:extLst>
          </p:cNvPr>
          <p:cNvSpPr txBox="1"/>
          <p:nvPr/>
        </p:nvSpPr>
        <p:spPr>
          <a:xfrm>
            <a:off x="0" y="455066"/>
            <a:ext cx="358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was known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649B0F-AA29-471C-6E69-51BB748EEE04}"/>
              </a:ext>
            </a:extLst>
          </p:cNvPr>
          <p:cNvSpPr/>
          <p:nvPr/>
        </p:nvSpPr>
        <p:spPr>
          <a:xfrm>
            <a:off x="9684548" y="5914772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C0C982-85CF-547A-9860-BDD37965ACEE}"/>
              </a:ext>
            </a:extLst>
          </p:cNvPr>
          <p:cNvCxnSpPr>
            <a:cxnSpLocks/>
          </p:cNvCxnSpPr>
          <p:nvPr/>
        </p:nvCxnSpPr>
        <p:spPr>
          <a:xfrm>
            <a:off x="2315068" y="3759658"/>
            <a:ext cx="1363518" cy="686094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6D6AE6-199F-2CCC-3B16-E7F7223F8EDD}"/>
              </a:ext>
            </a:extLst>
          </p:cNvPr>
          <p:cNvCxnSpPr>
            <a:cxnSpLocks/>
          </p:cNvCxnSpPr>
          <p:nvPr/>
        </p:nvCxnSpPr>
        <p:spPr>
          <a:xfrm flipH="1">
            <a:off x="3022288" y="3760940"/>
            <a:ext cx="1214814" cy="701905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A81CED-9BFE-8085-B83E-847F594051D6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4218118" y="3267044"/>
            <a:ext cx="0" cy="497200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076EBC-F858-1149-8B6B-A3B5F36ACF83}"/>
              </a:ext>
            </a:extLst>
          </p:cNvPr>
          <p:cNvCxnSpPr>
            <a:cxnSpLocks/>
            <a:stCxn id="48" idx="2"/>
            <a:endCxn id="73" idx="3"/>
          </p:cNvCxnSpPr>
          <p:nvPr/>
        </p:nvCxnSpPr>
        <p:spPr>
          <a:xfrm flipH="1">
            <a:off x="2323510" y="3259699"/>
            <a:ext cx="6284" cy="500942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BBA91-E237-01F3-20D8-0CD7C53FD1ED}"/>
              </a:ext>
            </a:extLst>
          </p:cNvPr>
          <p:cNvCxnSpPr>
            <a:cxnSpLocks/>
          </p:cNvCxnSpPr>
          <p:nvPr/>
        </p:nvCxnSpPr>
        <p:spPr>
          <a:xfrm>
            <a:off x="5658967" y="3270955"/>
            <a:ext cx="0" cy="1033602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0786BE-8F94-4137-0A49-94CF4C63B3CF}"/>
              </a:ext>
            </a:extLst>
          </p:cNvPr>
          <p:cNvCxnSpPr>
            <a:cxnSpLocks/>
          </p:cNvCxnSpPr>
          <p:nvPr/>
        </p:nvCxnSpPr>
        <p:spPr>
          <a:xfrm>
            <a:off x="5243916" y="3751958"/>
            <a:ext cx="2746540" cy="0"/>
          </a:xfrm>
          <a:prstGeom prst="line">
            <a:avLst/>
          </a:prstGeom>
          <a:ln w="25400">
            <a:solidFill>
              <a:srgbClr val="FF7171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06846F-676A-53E7-BCEE-E8870B8A425A}"/>
              </a:ext>
            </a:extLst>
          </p:cNvPr>
          <p:cNvCxnSpPr>
            <a:cxnSpLocks/>
          </p:cNvCxnSpPr>
          <p:nvPr/>
        </p:nvCxnSpPr>
        <p:spPr>
          <a:xfrm>
            <a:off x="7576297" y="3273669"/>
            <a:ext cx="8929" cy="1030889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elay 13">
            <a:extLst>
              <a:ext uri="{FF2B5EF4-FFF2-40B4-BE49-F238E27FC236}">
                <a16:creationId xmlns:a16="http://schemas.microsoft.com/office/drawing/2014/main" id="{FC3B4181-8448-AC76-5661-9AC43D87599E}"/>
              </a:ext>
            </a:extLst>
          </p:cNvPr>
          <p:cNvSpPr/>
          <p:nvPr/>
        </p:nvSpPr>
        <p:spPr>
          <a:xfrm rot="16200000">
            <a:off x="5497516" y="2451670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256441-166A-84F6-EE62-93F28FA4A0CA}"/>
              </a:ext>
            </a:extLst>
          </p:cNvPr>
          <p:cNvSpPr/>
          <p:nvPr/>
        </p:nvSpPr>
        <p:spPr>
          <a:xfrm rot="7210911">
            <a:off x="5796887" y="2638670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F9F4A941-D52C-76A7-F66E-AED942970E7A}"/>
              </a:ext>
            </a:extLst>
          </p:cNvPr>
          <p:cNvSpPr/>
          <p:nvPr/>
        </p:nvSpPr>
        <p:spPr>
          <a:xfrm rot="20969975">
            <a:off x="5518290" y="2732074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C565E0-FBD4-CF5A-7A2D-AD477CC9667F}"/>
              </a:ext>
            </a:extLst>
          </p:cNvPr>
          <p:cNvSpPr/>
          <p:nvPr/>
        </p:nvSpPr>
        <p:spPr>
          <a:xfrm>
            <a:off x="5243916" y="2953384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B951AC-C129-E162-50ED-81C3CD238294}"/>
              </a:ext>
            </a:extLst>
          </p:cNvPr>
          <p:cNvSpPr/>
          <p:nvPr/>
        </p:nvSpPr>
        <p:spPr>
          <a:xfrm>
            <a:off x="5339982" y="3053454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CA15C-3AA2-DBBF-33CB-EE3E70214BF1}"/>
              </a:ext>
            </a:extLst>
          </p:cNvPr>
          <p:cNvSpPr/>
          <p:nvPr/>
        </p:nvSpPr>
        <p:spPr>
          <a:xfrm flipV="1">
            <a:off x="5461845" y="3143826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DE4030-4BFA-BA8C-9237-CF283E0E1C2F}"/>
              </a:ext>
            </a:extLst>
          </p:cNvPr>
          <p:cNvSpPr/>
          <p:nvPr/>
        </p:nvSpPr>
        <p:spPr>
          <a:xfrm rot="5400000">
            <a:off x="5748647" y="3112445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0078FE-13EB-778D-9A59-F60C4C4FFB36}"/>
              </a:ext>
            </a:extLst>
          </p:cNvPr>
          <p:cNvSpPr/>
          <p:nvPr/>
        </p:nvSpPr>
        <p:spPr>
          <a:xfrm flipV="1">
            <a:off x="5573109" y="3143826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44E56C-E747-62E8-E56E-62202321F350}"/>
              </a:ext>
            </a:extLst>
          </p:cNvPr>
          <p:cNvCxnSpPr>
            <a:cxnSpLocks/>
          </p:cNvCxnSpPr>
          <p:nvPr/>
        </p:nvCxnSpPr>
        <p:spPr>
          <a:xfrm>
            <a:off x="5437128" y="296070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3F4DA8-868F-045A-C6C0-CE11E33F89D1}"/>
              </a:ext>
            </a:extLst>
          </p:cNvPr>
          <p:cNvCxnSpPr>
            <a:cxnSpLocks/>
          </p:cNvCxnSpPr>
          <p:nvPr/>
        </p:nvCxnSpPr>
        <p:spPr>
          <a:xfrm>
            <a:off x="5658967" y="295278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AA214E4-F331-ABBB-6340-D4FDAB711A90}"/>
              </a:ext>
            </a:extLst>
          </p:cNvPr>
          <p:cNvCxnSpPr>
            <a:cxnSpLocks/>
          </p:cNvCxnSpPr>
          <p:nvPr/>
        </p:nvCxnSpPr>
        <p:spPr>
          <a:xfrm>
            <a:off x="5864962" y="293693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BFD170-CB20-86D0-8163-F05CC894F533}"/>
                  </a:ext>
                </a:extLst>
              </p:cNvPr>
              <p:cNvSpPr txBox="1"/>
              <p:nvPr/>
            </p:nvSpPr>
            <p:spPr>
              <a:xfrm>
                <a:off x="5290270" y="2664304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BFD170-CB20-86D0-8163-F05CC894F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270" y="2664304"/>
                <a:ext cx="474822" cy="326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5F0C7378-2402-CFF1-792B-BC006FCA9D2E}"/>
              </a:ext>
            </a:extLst>
          </p:cNvPr>
          <p:cNvSpPr/>
          <p:nvPr/>
        </p:nvSpPr>
        <p:spPr>
          <a:xfrm rot="1819476">
            <a:off x="5816372" y="2550890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Flowchart: Delay 133">
            <a:extLst>
              <a:ext uri="{FF2B5EF4-FFF2-40B4-BE49-F238E27FC236}">
                <a16:creationId xmlns:a16="http://schemas.microsoft.com/office/drawing/2014/main" id="{6C2C84B3-78E5-52D7-3B7B-FC20394D826D}"/>
              </a:ext>
            </a:extLst>
          </p:cNvPr>
          <p:cNvSpPr/>
          <p:nvPr/>
        </p:nvSpPr>
        <p:spPr>
          <a:xfrm rot="16200000">
            <a:off x="7385840" y="2459015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8F0256-993F-39C1-7CF6-CF2329986499}"/>
              </a:ext>
            </a:extLst>
          </p:cNvPr>
          <p:cNvSpPr/>
          <p:nvPr/>
        </p:nvSpPr>
        <p:spPr>
          <a:xfrm rot="7210911">
            <a:off x="7685211" y="2646015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50B44CC-39F4-36B1-DF40-95839045D5AA}"/>
              </a:ext>
            </a:extLst>
          </p:cNvPr>
          <p:cNvSpPr/>
          <p:nvPr/>
        </p:nvSpPr>
        <p:spPr>
          <a:xfrm rot="20969975">
            <a:off x="7406614" y="2739420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482445-ABF0-E213-2BC1-328DDDA80997}"/>
              </a:ext>
            </a:extLst>
          </p:cNvPr>
          <p:cNvSpPr/>
          <p:nvPr/>
        </p:nvSpPr>
        <p:spPr>
          <a:xfrm>
            <a:off x="7132240" y="2960730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458FA0-D9B3-F304-5CD2-EB415C91C87B}"/>
              </a:ext>
            </a:extLst>
          </p:cNvPr>
          <p:cNvSpPr/>
          <p:nvPr/>
        </p:nvSpPr>
        <p:spPr>
          <a:xfrm>
            <a:off x="7228306" y="3060799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9EC60E-8752-4915-3165-4A0DF2D8AF94}"/>
              </a:ext>
            </a:extLst>
          </p:cNvPr>
          <p:cNvSpPr/>
          <p:nvPr/>
        </p:nvSpPr>
        <p:spPr>
          <a:xfrm flipV="1">
            <a:off x="7350169" y="3151172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D973BC-C7AD-7239-0D4F-5FECDA395BF4}"/>
              </a:ext>
            </a:extLst>
          </p:cNvPr>
          <p:cNvSpPr/>
          <p:nvPr/>
        </p:nvSpPr>
        <p:spPr>
          <a:xfrm rot="5400000">
            <a:off x="7636971" y="3119791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F2665D-876D-3AED-F625-68DAE02D8519}"/>
              </a:ext>
            </a:extLst>
          </p:cNvPr>
          <p:cNvSpPr/>
          <p:nvPr/>
        </p:nvSpPr>
        <p:spPr>
          <a:xfrm flipV="1">
            <a:off x="7461433" y="3151172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7FDDE0-6E46-64D9-F4E7-53AC3FA94301}"/>
              </a:ext>
            </a:extLst>
          </p:cNvPr>
          <p:cNvCxnSpPr>
            <a:cxnSpLocks/>
          </p:cNvCxnSpPr>
          <p:nvPr/>
        </p:nvCxnSpPr>
        <p:spPr>
          <a:xfrm>
            <a:off x="7325451" y="296805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F24B656-F57B-D049-6C2A-673641C60438}"/>
              </a:ext>
            </a:extLst>
          </p:cNvPr>
          <p:cNvCxnSpPr>
            <a:cxnSpLocks/>
          </p:cNvCxnSpPr>
          <p:nvPr/>
        </p:nvCxnSpPr>
        <p:spPr>
          <a:xfrm>
            <a:off x="7547291" y="296012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6098E4-266B-319F-E34B-6B2CDCEA9B08}"/>
              </a:ext>
            </a:extLst>
          </p:cNvPr>
          <p:cNvCxnSpPr>
            <a:cxnSpLocks/>
          </p:cNvCxnSpPr>
          <p:nvPr/>
        </p:nvCxnSpPr>
        <p:spPr>
          <a:xfrm>
            <a:off x="7753285" y="294427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DEA015-5A92-C65A-B3B9-1930EEFF58D5}"/>
                  </a:ext>
                </a:extLst>
              </p:cNvPr>
              <p:cNvSpPr txBox="1"/>
              <p:nvPr/>
            </p:nvSpPr>
            <p:spPr>
              <a:xfrm>
                <a:off x="7178594" y="2671648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DEA015-5A92-C65A-B3B9-1930EEFF5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594" y="2671648"/>
                <a:ext cx="474822" cy="326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82F4543E-B5B1-1775-D325-C07E95C9E4E3}"/>
              </a:ext>
            </a:extLst>
          </p:cNvPr>
          <p:cNvSpPr/>
          <p:nvPr/>
        </p:nvSpPr>
        <p:spPr>
          <a:xfrm rot="1819476">
            <a:off x="7704695" y="2558235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A17AC662-BC57-291E-E57B-B2F3CC3623A3}"/>
              </a:ext>
            </a:extLst>
          </p:cNvPr>
          <p:cNvSpPr/>
          <p:nvPr/>
        </p:nvSpPr>
        <p:spPr>
          <a:xfrm rot="10130253">
            <a:off x="6920096" y="1680001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7B16A739-7498-01A8-5B07-E5F80639EC1F}"/>
              </a:ext>
            </a:extLst>
          </p:cNvPr>
          <p:cNvSpPr/>
          <p:nvPr/>
        </p:nvSpPr>
        <p:spPr>
          <a:xfrm rot="10172292">
            <a:off x="7298517" y="1856177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7F243A-33EB-9B63-1277-29B2120A6600}"/>
              </a:ext>
            </a:extLst>
          </p:cNvPr>
          <p:cNvSpPr/>
          <p:nvPr/>
        </p:nvSpPr>
        <p:spPr>
          <a:xfrm>
            <a:off x="6135448" y="3621771"/>
            <a:ext cx="946129" cy="301433"/>
          </a:xfrm>
          <a:prstGeom prst="rect">
            <a:avLst/>
          </a:prstGeom>
          <a:solidFill>
            <a:srgbClr val="FC8B74"/>
          </a:solidFill>
          <a:ln w="44450">
            <a:solidFill>
              <a:schemeClr val="tx1"/>
            </a:solidFill>
          </a:ln>
          <a:effectLst>
            <a:glow rad="63500">
              <a:srgbClr val="FC8B74">
                <a:alpha val="40000"/>
              </a:srgbClr>
            </a:glow>
            <a:outerShdw blurRad="50800" dist="50800" dir="5400000" sx="5000" sy="5000" algn="ctr" rotWithShape="0">
              <a:srgbClr val="000000">
                <a:alpha val="43137"/>
              </a:srgbClr>
            </a:outerShdw>
            <a:softEdge rad="381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Source</a:t>
            </a:r>
          </a:p>
        </p:txBody>
      </p:sp>
      <p:sp>
        <p:nvSpPr>
          <p:cNvPr id="44" name="Flowchart: Delay 224">
            <a:extLst>
              <a:ext uri="{FF2B5EF4-FFF2-40B4-BE49-F238E27FC236}">
                <a16:creationId xmlns:a16="http://schemas.microsoft.com/office/drawing/2014/main" id="{0C08081E-B186-5930-122D-16FFE7BD8BDA}"/>
              </a:ext>
            </a:extLst>
          </p:cNvPr>
          <p:cNvSpPr/>
          <p:nvPr/>
        </p:nvSpPr>
        <p:spPr>
          <a:xfrm rot="16200000">
            <a:off x="2160083" y="2451670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4C367C-9E5F-6080-3C17-BBAE9806DDC9}"/>
              </a:ext>
            </a:extLst>
          </p:cNvPr>
          <p:cNvSpPr/>
          <p:nvPr/>
        </p:nvSpPr>
        <p:spPr>
          <a:xfrm rot="7210911">
            <a:off x="2459455" y="2638670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89ECEC2B-50A9-30B2-FA41-DA1F1A691361}"/>
              </a:ext>
            </a:extLst>
          </p:cNvPr>
          <p:cNvSpPr/>
          <p:nvPr/>
        </p:nvSpPr>
        <p:spPr>
          <a:xfrm rot="20969975">
            <a:off x="2180857" y="2732074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C3D071-B81E-5993-A9A7-96F5191587C1}"/>
              </a:ext>
            </a:extLst>
          </p:cNvPr>
          <p:cNvSpPr/>
          <p:nvPr/>
        </p:nvSpPr>
        <p:spPr>
          <a:xfrm>
            <a:off x="1906483" y="2953384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350A093-428D-3A5B-F6D5-D172033D7484}"/>
              </a:ext>
            </a:extLst>
          </p:cNvPr>
          <p:cNvSpPr/>
          <p:nvPr/>
        </p:nvSpPr>
        <p:spPr>
          <a:xfrm>
            <a:off x="2002549" y="3053454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1CA199-C340-FFD1-1C3F-E5F7F622BFB2}"/>
              </a:ext>
            </a:extLst>
          </p:cNvPr>
          <p:cNvSpPr/>
          <p:nvPr/>
        </p:nvSpPr>
        <p:spPr>
          <a:xfrm flipV="1">
            <a:off x="2124412" y="3143826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AA33D0-D181-ED1D-E732-B5F4D4FAC427}"/>
              </a:ext>
            </a:extLst>
          </p:cNvPr>
          <p:cNvSpPr/>
          <p:nvPr/>
        </p:nvSpPr>
        <p:spPr>
          <a:xfrm rot="5400000">
            <a:off x="2411215" y="3112445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4F002B1-944C-A078-DCD5-780A0AF09B50}"/>
              </a:ext>
            </a:extLst>
          </p:cNvPr>
          <p:cNvSpPr/>
          <p:nvPr/>
        </p:nvSpPr>
        <p:spPr>
          <a:xfrm flipV="1">
            <a:off x="2235676" y="3143826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D125B58-7A94-2F15-3166-07B26B423371}"/>
              </a:ext>
            </a:extLst>
          </p:cNvPr>
          <p:cNvCxnSpPr>
            <a:cxnSpLocks/>
          </p:cNvCxnSpPr>
          <p:nvPr/>
        </p:nvCxnSpPr>
        <p:spPr>
          <a:xfrm>
            <a:off x="2099695" y="296070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F3F496C-D01D-056D-7586-0411D2381149}"/>
              </a:ext>
            </a:extLst>
          </p:cNvPr>
          <p:cNvCxnSpPr>
            <a:cxnSpLocks/>
          </p:cNvCxnSpPr>
          <p:nvPr/>
        </p:nvCxnSpPr>
        <p:spPr>
          <a:xfrm>
            <a:off x="2321535" y="295278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DAB6F2-A5E0-ED18-38A9-0AF82F248F46}"/>
              </a:ext>
            </a:extLst>
          </p:cNvPr>
          <p:cNvCxnSpPr>
            <a:cxnSpLocks/>
          </p:cNvCxnSpPr>
          <p:nvPr/>
        </p:nvCxnSpPr>
        <p:spPr>
          <a:xfrm>
            <a:off x="2527529" y="293693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F60AAD4-6BDF-A63A-FB83-8AC5C8B66F19}"/>
                  </a:ext>
                </a:extLst>
              </p:cNvPr>
              <p:cNvSpPr txBox="1"/>
              <p:nvPr/>
            </p:nvSpPr>
            <p:spPr>
              <a:xfrm>
                <a:off x="1952837" y="2664304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F60AAD4-6BDF-A63A-FB83-8AC5C8B66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837" y="2664304"/>
                <a:ext cx="474822" cy="3260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E17177C3-56BB-AB8D-63AE-69CECBF154B7}"/>
              </a:ext>
            </a:extLst>
          </p:cNvPr>
          <p:cNvSpPr/>
          <p:nvPr/>
        </p:nvSpPr>
        <p:spPr>
          <a:xfrm rot="1819476">
            <a:off x="2478939" y="2550890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7" name="Flowchart: Delay 237">
            <a:extLst>
              <a:ext uri="{FF2B5EF4-FFF2-40B4-BE49-F238E27FC236}">
                <a16:creationId xmlns:a16="http://schemas.microsoft.com/office/drawing/2014/main" id="{E2238592-D014-563B-58A9-65D3A35A1B0B}"/>
              </a:ext>
            </a:extLst>
          </p:cNvPr>
          <p:cNvSpPr/>
          <p:nvPr/>
        </p:nvSpPr>
        <p:spPr>
          <a:xfrm rot="16200000">
            <a:off x="4048407" y="2459015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FCC09F4-FB5F-DACF-9ADB-9210263A4BA7}"/>
              </a:ext>
            </a:extLst>
          </p:cNvPr>
          <p:cNvSpPr/>
          <p:nvPr/>
        </p:nvSpPr>
        <p:spPr>
          <a:xfrm rot="7210911">
            <a:off x="4347778" y="2646015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FE036459-F09F-5614-E891-709CEB64795D}"/>
              </a:ext>
            </a:extLst>
          </p:cNvPr>
          <p:cNvSpPr/>
          <p:nvPr/>
        </p:nvSpPr>
        <p:spPr>
          <a:xfrm rot="20969975">
            <a:off x="4069181" y="2739420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B35CC2-E809-AB77-3126-DAD755658BB8}"/>
              </a:ext>
            </a:extLst>
          </p:cNvPr>
          <p:cNvSpPr/>
          <p:nvPr/>
        </p:nvSpPr>
        <p:spPr>
          <a:xfrm>
            <a:off x="3794807" y="2960730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09FCAE-6AC5-1924-ED3A-672D48290987}"/>
              </a:ext>
            </a:extLst>
          </p:cNvPr>
          <p:cNvSpPr/>
          <p:nvPr/>
        </p:nvSpPr>
        <p:spPr>
          <a:xfrm>
            <a:off x="3890873" y="3060799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C47E84-8327-387F-68EA-C23BB8D32850}"/>
              </a:ext>
            </a:extLst>
          </p:cNvPr>
          <p:cNvSpPr/>
          <p:nvPr/>
        </p:nvSpPr>
        <p:spPr>
          <a:xfrm flipV="1">
            <a:off x="4012736" y="3151172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D39A1C-92D5-A26B-A6EC-EDC642C7CD0E}"/>
              </a:ext>
            </a:extLst>
          </p:cNvPr>
          <p:cNvSpPr/>
          <p:nvPr/>
        </p:nvSpPr>
        <p:spPr>
          <a:xfrm rot="5400000">
            <a:off x="4299538" y="3119791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7E09830-3F26-A9A2-6F15-DCCEB69AC00C}"/>
              </a:ext>
            </a:extLst>
          </p:cNvPr>
          <p:cNvSpPr/>
          <p:nvPr/>
        </p:nvSpPr>
        <p:spPr>
          <a:xfrm flipV="1">
            <a:off x="4124000" y="3151172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CE39E5F-5B4A-CBFC-DEF0-4AD73C3D7012}"/>
              </a:ext>
            </a:extLst>
          </p:cNvPr>
          <p:cNvCxnSpPr>
            <a:cxnSpLocks/>
          </p:cNvCxnSpPr>
          <p:nvPr/>
        </p:nvCxnSpPr>
        <p:spPr>
          <a:xfrm>
            <a:off x="3988018" y="296805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B1726EF-C8C3-B6FC-240E-48E1E4F4929F}"/>
              </a:ext>
            </a:extLst>
          </p:cNvPr>
          <p:cNvCxnSpPr>
            <a:cxnSpLocks/>
          </p:cNvCxnSpPr>
          <p:nvPr/>
        </p:nvCxnSpPr>
        <p:spPr>
          <a:xfrm>
            <a:off x="4209858" y="296012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6CEF755-9488-D5B4-1CE9-D37B7F21D343}"/>
              </a:ext>
            </a:extLst>
          </p:cNvPr>
          <p:cNvCxnSpPr>
            <a:cxnSpLocks/>
          </p:cNvCxnSpPr>
          <p:nvPr/>
        </p:nvCxnSpPr>
        <p:spPr>
          <a:xfrm>
            <a:off x="4415852" y="294427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D069C05-476B-FEEB-D97D-412706E88599}"/>
                  </a:ext>
                </a:extLst>
              </p:cNvPr>
              <p:cNvSpPr txBox="1"/>
              <p:nvPr/>
            </p:nvSpPr>
            <p:spPr>
              <a:xfrm>
                <a:off x="3841160" y="2671648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D069C05-476B-FEEB-D97D-412706E88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160" y="2671648"/>
                <a:ext cx="474822" cy="3260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>
            <a:extLst>
              <a:ext uri="{FF2B5EF4-FFF2-40B4-BE49-F238E27FC236}">
                <a16:creationId xmlns:a16="http://schemas.microsoft.com/office/drawing/2014/main" id="{336B9ABE-2CA2-5F13-F8AF-EE214FA7AB84}"/>
              </a:ext>
            </a:extLst>
          </p:cNvPr>
          <p:cNvSpPr/>
          <p:nvPr/>
        </p:nvSpPr>
        <p:spPr>
          <a:xfrm rot="1819476">
            <a:off x="4367262" y="2558235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7B2AB1FE-1247-EA5B-7CD0-B4AF40EAD88E}"/>
              </a:ext>
            </a:extLst>
          </p:cNvPr>
          <p:cNvSpPr/>
          <p:nvPr/>
        </p:nvSpPr>
        <p:spPr>
          <a:xfrm rot="10130253">
            <a:off x="3582663" y="1680001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1" name="Arc 70">
            <a:extLst>
              <a:ext uri="{FF2B5EF4-FFF2-40B4-BE49-F238E27FC236}">
                <a16:creationId xmlns:a16="http://schemas.microsoft.com/office/drawing/2014/main" id="{C8EB7057-960A-60A7-7773-A168A525B81F}"/>
              </a:ext>
            </a:extLst>
          </p:cNvPr>
          <p:cNvSpPr/>
          <p:nvPr/>
        </p:nvSpPr>
        <p:spPr>
          <a:xfrm rot="10172292">
            <a:off x="3961084" y="1856177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7E1600E-D1DF-5A6C-D8BC-562FC0A53DA9}"/>
              </a:ext>
            </a:extLst>
          </p:cNvPr>
          <p:cNvSpPr/>
          <p:nvPr/>
        </p:nvSpPr>
        <p:spPr>
          <a:xfrm>
            <a:off x="3316117" y="4134193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879ED8E-9AB4-E785-7822-E2DE0A6E4D09}"/>
              </a:ext>
            </a:extLst>
          </p:cNvPr>
          <p:cNvSpPr/>
          <p:nvPr/>
        </p:nvSpPr>
        <p:spPr>
          <a:xfrm rot="19975982">
            <a:off x="2272928" y="3638272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ECD3EF4-289A-E9B0-B98E-1EC461ED861A}"/>
              </a:ext>
            </a:extLst>
          </p:cNvPr>
          <p:cNvSpPr/>
          <p:nvPr/>
        </p:nvSpPr>
        <p:spPr>
          <a:xfrm rot="1276279">
            <a:off x="4234496" y="3631550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65E8077-9273-F772-DF7B-1990D158B061}"/>
              </a:ext>
            </a:extLst>
          </p:cNvPr>
          <p:cNvSpPr/>
          <p:nvPr/>
        </p:nvSpPr>
        <p:spPr>
          <a:xfrm>
            <a:off x="3753352" y="3843626"/>
            <a:ext cx="242785" cy="257104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3C38966-08E1-7D4B-77FB-2AEFF87D379F}"/>
                  </a:ext>
                </a:extLst>
              </p:cNvPr>
              <p:cNvSpPr txBox="1"/>
              <p:nvPr/>
            </p:nvSpPr>
            <p:spPr>
              <a:xfrm>
                <a:off x="3753090" y="3836915"/>
                <a:ext cx="250349" cy="296428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3C38966-08E1-7D4B-77FB-2AEFF87D3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90" y="3836915"/>
                <a:ext cx="250349" cy="2964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40EE35B-AED1-0164-9FDC-1B4E62EC5C60}"/>
                  </a:ext>
                </a:extLst>
              </p:cNvPr>
              <p:cNvSpPr txBox="1"/>
              <p:nvPr/>
            </p:nvSpPr>
            <p:spPr>
              <a:xfrm>
                <a:off x="1850805" y="1908139"/>
                <a:ext cx="497779" cy="35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40EE35B-AED1-0164-9FDC-1B4E62EC5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805" y="1908139"/>
                <a:ext cx="497779" cy="355713"/>
              </a:xfrm>
              <a:prstGeom prst="rect">
                <a:avLst/>
              </a:prstGeom>
              <a:blipFill>
                <a:blip r:embed="rId8"/>
                <a:stretch>
                  <a:fillRect l="-2500" r="-7500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69B7A6-D75C-31BE-4502-B8CF70A12B80}"/>
                  </a:ext>
                </a:extLst>
              </p:cNvPr>
              <p:cNvSpPr txBox="1"/>
              <p:nvPr/>
            </p:nvSpPr>
            <p:spPr>
              <a:xfrm>
                <a:off x="5071945" y="1931921"/>
                <a:ext cx="497779" cy="35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169B7A6-D75C-31BE-4502-B8CF70A12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945" y="1931921"/>
                <a:ext cx="497779" cy="355713"/>
              </a:xfrm>
              <a:prstGeom prst="rect">
                <a:avLst/>
              </a:prstGeom>
              <a:blipFill>
                <a:blip r:embed="rId9"/>
                <a:stretch>
                  <a:fillRect l="-5000" r="-5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0F05492-DB08-E1CA-594B-336BE502A8B5}"/>
                  </a:ext>
                </a:extLst>
              </p:cNvPr>
              <p:cNvSpPr txBox="1"/>
              <p:nvPr/>
            </p:nvSpPr>
            <p:spPr>
              <a:xfrm>
                <a:off x="5664048" y="4264274"/>
                <a:ext cx="1384241" cy="33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0F05492-DB08-E1CA-594B-336BE502A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048" y="4264274"/>
                <a:ext cx="1384241" cy="337433"/>
              </a:xfrm>
              <a:prstGeom prst="rect">
                <a:avLst/>
              </a:prstGeom>
              <a:blipFill>
                <a:blip r:embed="rId10"/>
                <a:stretch>
                  <a:fillRect r="-4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87CBD718-12DF-FCE4-E834-CEBDA500ECC2}"/>
              </a:ext>
            </a:extLst>
          </p:cNvPr>
          <p:cNvSpPr/>
          <p:nvPr/>
        </p:nvSpPr>
        <p:spPr>
          <a:xfrm rot="18845335">
            <a:off x="7559072" y="3619281"/>
            <a:ext cx="53528" cy="2690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1CB26D8-33E9-86F5-4720-870FB7379B05}"/>
              </a:ext>
            </a:extLst>
          </p:cNvPr>
          <p:cNvSpPr/>
          <p:nvPr/>
        </p:nvSpPr>
        <p:spPr>
          <a:xfrm rot="2556368">
            <a:off x="5625212" y="3616267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DBD383C-90EB-3837-2D97-902368D0F99E}"/>
              </a:ext>
            </a:extLst>
          </p:cNvPr>
          <p:cNvCxnSpPr>
            <a:cxnSpLocks/>
          </p:cNvCxnSpPr>
          <p:nvPr/>
        </p:nvCxnSpPr>
        <p:spPr>
          <a:xfrm>
            <a:off x="9176348" y="3270955"/>
            <a:ext cx="0" cy="1033602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1016900-BEBC-E2AD-8B8F-BC8F39F40C42}"/>
              </a:ext>
            </a:extLst>
          </p:cNvPr>
          <p:cNvCxnSpPr>
            <a:cxnSpLocks/>
          </p:cNvCxnSpPr>
          <p:nvPr/>
        </p:nvCxnSpPr>
        <p:spPr>
          <a:xfrm flipV="1">
            <a:off x="8761297" y="3750813"/>
            <a:ext cx="741258" cy="1145"/>
          </a:xfrm>
          <a:prstGeom prst="line">
            <a:avLst/>
          </a:prstGeom>
          <a:ln w="25400">
            <a:solidFill>
              <a:srgbClr val="FF7171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DEE7554-CAF7-EF80-AE4A-928B419A758D}"/>
              </a:ext>
            </a:extLst>
          </p:cNvPr>
          <p:cNvCxnSpPr>
            <a:cxnSpLocks/>
          </p:cNvCxnSpPr>
          <p:nvPr/>
        </p:nvCxnSpPr>
        <p:spPr>
          <a:xfrm>
            <a:off x="11093678" y="3273669"/>
            <a:ext cx="8929" cy="1030889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lowchart: Delay 13">
            <a:extLst>
              <a:ext uri="{FF2B5EF4-FFF2-40B4-BE49-F238E27FC236}">
                <a16:creationId xmlns:a16="http://schemas.microsoft.com/office/drawing/2014/main" id="{20EF7783-9FA5-8EC2-B0C6-FB463FDAE599}"/>
              </a:ext>
            </a:extLst>
          </p:cNvPr>
          <p:cNvSpPr/>
          <p:nvPr/>
        </p:nvSpPr>
        <p:spPr>
          <a:xfrm rot="16200000">
            <a:off x="9014897" y="2451670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C27D9D4-FD2F-CAF8-5BB2-48FC2218FF46}"/>
              </a:ext>
            </a:extLst>
          </p:cNvPr>
          <p:cNvSpPr/>
          <p:nvPr/>
        </p:nvSpPr>
        <p:spPr>
          <a:xfrm rot="7210911">
            <a:off x="9314268" y="2638670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18111A5E-BC2E-5C21-8D61-AD1D4F072071}"/>
              </a:ext>
            </a:extLst>
          </p:cNvPr>
          <p:cNvSpPr/>
          <p:nvPr/>
        </p:nvSpPr>
        <p:spPr>
          <a:xfrm rot="20969975">
            <a:off x="9035671" y="2732074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993BD65-EA14-C19D-B4A8-BD4100787ABD}"/>
              </a:ext>
            </a:extLst>
          </p:cNvPr>
          <p:cNvSpPr/>
          <p:nvPr/>
        </p:nvSpPr>
        <p:spPr>
          <a:xfrm>
            <a:off x="8761297" y="2953384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1E0D8AF-FB69-AA76-4DE8-9ED14A96C1E5}"/>
              </a:ext>
            </a:extLst>
          </p:cNvPr>
          <p:cNvSpPr/>
          <p:nvPr/>
        </p:nvSpPr>
        <p:spPr>
          <a:xfrm>
            <a:off x="8857363" y="3053454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23328D0-A343-8AA4-9424-9868382B29E7}"/>
              </a:ext>
            </a:extLst>
          </p:cNvPr>
          <p:cNvSpPr/>
          <p:nvPr/>
        </p:nvSpPr>
        <p:spPr>
          <a:xfrm flipV="1">
            <a:off x="8979226" y="3143826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DAD49DE-F42F-7CF4-9829-FDF87D1A757E}"/>
              </a:ext>
            </a:extLst>
          </p:cNvPr>
          <p:cNvSpPr/>
          <p:nvPr/>
        </p:nvSpPr>
        <p:spPr>
          <a:xfrm rot="5400000">
            <a:off x="9266028" y="3112445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396F4AD-56AD-06AF-5E41-1DC9C1B9461D}"/>
              </a:ext>
            </a:extLst>
          </p:cNvPr>
          <p:cNvSpPr/>
          <p:nvPr/>
        </p:nvSpPr>
        <p:spPr>
          <a:xfrm flipV="1">
            <a:off x="9090490" y="3143826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96FE66B-E317-96E2-83EA-5037402B6B51}"/>
              </a:ext>
            </a:extLst>
          </p:cNvPr>
          <p:cNvCxnSpPr>
            <a:cxnSpLocks/>
          </p:cNvCxnSpPr>
          <p:nvPr/>
        </p:nvCxnSpPr>
        <p:spPr>
          <a:xfrm>
            <a:off x="8954509" y="296070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C487CF6-75DA-B628-85BC-38481CBC11F3}"/>
              </a:ext>
            </a:extLst>
          </p:cNvPr>
          <p:cNvCxnSpPr>
            <a:cxnSpLocks/>
          </p:cNvCxnSpPr>
          <p:nvPr/>
        </p:nvCxnSpPr>
        <p:spPr>
          <a:xfrm>
            <a:off x="9176348" y="295278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4E7433A-1B11-FD97-1354-98462B321E50}"/>
              </a:ext>
            </a:extLst>
          </p:cNvPr>
          <p:cNvCxnSpPr>
            <a:cxnSpLocks/>
          </p:cNvCxnSpPr>
          <p:nvPr/>
        </p:nvCxnSpPr>
        <p:spPr>
          <a:xfrm>
            <a:off x="9382343" y="293693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5D64D3A-9A94-9125-EFB6-B0399A7B19B0}"/>
                  </a:ext>
                </a:extLst>
              </p:cNvPr>
              <p:cNvSpPr txBox="1"/>
              <p:nvPr/>
            </p:nvSpPr>
            <p:spPr>
              <a:xfrm>
                <a:off x="8807651" y="2664304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95D64D3A-9A94-9125-EFB6-B0399A7B1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651" y="2664304"/>
                <a:ext cx="474822" cy="326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A4F8EFF7-C979-1CD4-3EFA-600EC3329BD8}"/>
              </a:ext>
            </a:extLst>
          </p:cNvPr>
          <p:cNvSpPr/>
          <p:nvPr/>
        </p:nvSpPr>
        <p:spPr>
          <a:xfrm rot="1819476">
            <a:off x="9333753" y="2550890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8" name="Flowchart: Delay 133">
            <a:extLst>
              <a:ext uri="{FF2B5EF4-FFF2-40B4-BE49-F238E27FC236}">
                <a16:creationId xmlns:a16="http://schemas.microsoft.com/office/drawing/2014/main" id="{87299A29-4616-3031-38FB-E1657C8F5694}"/>
              </a:ext>
            </a:extLst>
          </p:cNvPr>
          <p:cNvSpPr/>
          <p:nvPr/>
        </p:nvSpPr>
        <p:spPr>
          <a:xfrm rot="16200000">
            <a:off x="10903221" y="2459015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0E9D6F4-3759-1B7F-8564-19CB30F5909B}"/>
              </a:ext>
            </a:extLst>
          </p:cNvPr>
          <p:cNvSpPr/>
          <p:nvPr/>
        </p:nvSpPr>
        <p:spPr>
          <a:xfrm rot="7210911">
            <a:off x="11202592" y="2646015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1FD50B80-5C9D-1543-1C1A-863C07FBE696}"/>
              </a:ext>
            </a:extLst>
          </p:cNvPr>
          <p:cNvSpPr/>
          <p:nvPr/>
        </p:nvSpPr>
        <p:spPr>
          <a:xfrm rot="20969975">
            <a:off x="10923995" y="2739420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FD0EED7-AC16-CE1E-8199-E3408797341C}"/>
              </a:ext>
            </a:extLst>
          </p:cNvPr>
          <p:cNvSpPr/>
          <p:nvPr/>
        </p:nvSpPr>
        <p:spPr>
          <a:xfrm>
            <a:off x="10649621" y="2960730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C0B7CDA-C446-222F-5DD1-63A7F37BDEF5}"/>
              </a:ext>
            </a:extLst>
          </p:cNvPr>
          <p:cNvSpPr/>
          <p:nvPr/>
        </p:nvSpPr>
        <p:spPr>
          <a:xfrm>
            <a:off x="10745687" y="3060799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CFF7B6A-C0BB-584D-FD72-CFD08FAC376E}"/>
              </a:ext>
            </a:extLst>
          </p:cNvPr>
          <p:cNvSpPr/>
          <p:nvPr/>
        </p:nvSpPr>
        <p:spPr>
          <a:xfrm flipV="1">
            <a:off x="10867550" y="3151172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AA2173D-887C-C08D-90B8-77E1F1EEAED4}"/>
              </a:ext>
            </a:extLst>
          </p:cNvPr>
          <p:cNvSpPr/>
          <p:nvPr/>
        </p:nvSpPr>
        <p:spPr>
          <a:xfrm rot="5400000">
            <a:off x="11154352" y="3119791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E495650-5A4F-9BD5-3FF9-2F355D097780}"/>
              </a:ext>
            </a:extLst>
          </p:cNvPr>
          <p:cNvSpPr/>
          <p:nvPr/>
        </p:nvSpPr>
        <p:spPr>
          <a:xfrm flipV="1">
            <a:off x="10978814" y="3151172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0C2396B-5ADB-4E5B-FD4E-4570C3FD4B46}"/>
              </a:ext>
            </a:extLst>
          </p:cNvPr>
          <p:cNvCxnSpPr>
            <a:cxnSpLocks/>
          </p:cNvCxnSpPr>
          <p:nvPr/>
        </p:nvCxnSpPr>
        <p:spPr>
          <a:xfrm>
            <a:off x="10842832" y="2968053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6AA4932-A4DD-8A1B-815A-E1BFFE778200}"/>
              </a:ext>
            </a:extLst>
          </p:cNvPr>
          <p:cNvCxnSpPr>
            <a:cxnSpLocks/>
          </p:cNvCxnSpPr>
          <p:nvPr/>
        </p:nvCxnSpPr>
        <p:spPr>
          <a:xfrm>
            <a:off x="11064672" y="296012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AA1366A-E444-9436-1999-A2DF8E19FB46}"/>
              </a:ext>
            </a:extLst>
          </p:cNvPr>
          <p:cNvCxnSpPr>
            <a:cxnSpLocks/>
          </p:cNvCxnSpPr>
          <p:nvPr/>
        </p:nvCxnSpPr>
        <p:spPr>
          <a:xfrm>
            <a:off x="11270666" y="2944278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E8D6C9E1-E968-208C-200A-663CA1E450E7}"/>
                  </a:ext>
                </a:extLst>
              </p:cNvPr>
              <p:cNvSpPr txBox="1"/>
              <p:nvPr/>
            </p:nvSpPr>
            <p:spPr>
              <a:xfrm>
                <a:off x="10695975" y="2671648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E8D6C9E1-E968-208C-200A-663CA1E45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975" y="2671648"/>
                <a:ext cx="474822" cy="326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Rectangle 109">
            <a:extLst>
              <a:ext uri="{FF2B5EF4-FFF2-40B4-BE49-F238E27FC236}">
                <a16:creationId xmlns:a16="http://schemas.microsoft.com/office/drawing/2014/main" id="{CA79C59D-78F1-0DBB-C757-B7D40AAF22A3}"/>
              </a:ext>
            </a:extLst>
          </p:cNvPr>
          <p:cNvSpPr/>
          <p:nvPr/>
        </p:nvSpPr>
        <p:spPr>
          <a:xfrm rot="1819476">
            <a:off x="11222076" y="2558235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1" name="Arc 110">
            <a:extLst>
              <a:ext uri="{FF2B5EF4-FFF2-40B4-BE49-F238E27FC236}">
                <a16:creationId xmlns:a16="http://schemas.microsoft.com/office/drawing/2014/main" id="{60E1E6D0-14C8-E0A9-B415-F5FE88E31B37}"/>
              </a:ext>
            </a:extLst>
          </p:cNvPr>
          <p:cNvSpPr/>
          <p:nvPr/>
        </p:nvSpPr>
        <p:spPr>
          <a:xfrm rot="10130253">
            <a:off x="10437477" y="1680001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2" name="Arc 111">
            <a:extLst>
              <a:ext uri="{FF2B5EF4-FFF2-40B4-BE49-F238E27FC236}">
                <a16:creationId xmlns:a16="http://schemas.microsoft.com/office/drawing/2014/main" id="{61DE5344-3C4A-E25B-DBA3-D355FDD658D3}"/>
              </a:ext>
            </a:extLst>
          </p:cNvPr>
          <p:cNvSpPr/>
          <p:nvPr/>
        </p:nvSpPr>
        <p:spPr>
          <a:xfrm rot="10172292">
            <a:off x="10815898" y="1856177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459D8CF-6A84-D526-F965-ED4881C2629E}"/>
              </a:ext>
            </a:extLst>
          </p:cNvPr>
          <p:cNvSpPr/>
          <p:nvPr/>
        </p:nvSpPr>
        <p:spPr>
          <a:xfrm>
            <a:off x="9444689" y="3598482"/>
            <a:ext cx="463096" cy="301433"/>
          </a:xfrm>
          <a:prstGeom prst="rect">
            <a:avLst/>
          </a:prstGeom>
          <a:solidFill>
            <a:srgbClr val="FC8B74"/>
          </a:solidFill>
          <a:ln w="44450">
            <a:solidFill>
              <a:schemeClr val="tx1"/>
            </a:solidFill>
          </a:ln>
          <a:effectLst>
            <a:glow rad="63500">
              <a:srgbClr val="FC8B74">
                <a:alpha val="40000"/>
              </a:srgbClr>
            </a:glow>
            <a:outerShdw blurRad="50800" dist="50800" dir="5400000" sx="5000" sy="5000" algn="ctr" rotWithShape="0">
              <a:srgbClr val="000000">
                <a:alpha val="43137"/>
              </a:srgbClr>
            </a:outerShdw>
            <a:softEdge rad="381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1DFA07D-E202-0940-1BB3-461E72BBF5CA}"/>
                  </a:ext>
                </a:extLst>
              </p:cNvPr>
              <p:cNvSpPr txBox="1"/>
              <p:nvPr/>
            </p:nvSpPr>
            <p:spPr>
              <a:xfrm>
                <a:off x="8589326" y="1931921"/>
                <a:ext cx="4977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51DFA07D-E202-0940-1BB3-461E72BBF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326" y="1931921"/>
                <a:ext cx="497779" cy="369332"/>
              </a:xfrm>
              <a:prstGeom prst="rect">
                <a:avLst/>
              </a:prstGeom>
              <a:blipFill>
                <a:blip r:embed="rId11"/>
                <a:stretch>
                  <a:fillRect l="-2500" r="-25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Rectangle 115">
            <a:extLst>
              <a:ext uri="{FF2B5EF4-FFF2-40B4-BE49-F238E27FC236}">
                <a16:creationId xmlns:a16="http://schemas.microsoft.com/office/drawing/2014/main" id="{90FBCC9F-672C-1D05-2C34-5409A25D8443}"/>
              </a:ext>
            </a:extLst>
          </p:cNvPr>
          <p:cNvSpPr/>
          <p:nvPr/>
        </p:nvSpPr>
        <p:spPr>
          <a:xfrm rot="18845335">
            <a:off x="11076453" y="3619281"/>
            <a:ext cx="53528" cy="2690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6D0F9F5-8BDF-CF23-E8D4-8234CED204EB}"/>
              </a:ext>
            </a:extLst>
          </p:cNvPr>
          <p:cNvSpPr/>
          <p:nvPr/>
        </p:nvSpPr>
        <p:spPr>
          <a:xfrm rot="2556368">
            <a:off x="9142593" y="3616267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4B2154E-D708-4393-F9B5-82CC01CE5CB1}"/>
              </a:ext>
            </a:extLst>
          </p:cNvPr>
          <p:cNvSpPr/>
          <p:nvPr/>
        </p:nvSpPr>
        <p:spPr>
          <a:xfrm>
            <a:off x="10280388" y="3598482"/>
            <a:ext cx="463096" cy="301433"/>
          </a:xfrm>
          <a:prstGeom prst="rect">
            <a:avLst/>
          </a:prstGeom>
          <a:solidFill>
            <a:srgbClr val="FC8B74"/>
          </a:solidFill>
          <a:ln w="44450">
            <a:solidFill>
              <a:schemeClr val="tx1"/>
            </a:solidFill>
          </a:ln>
          <a:effectLst>
            <a:glow rad="63500">
              <a:srgbClr val="FC8B74">
                <a:alpha val="40000"/>
              </a:srgbClr>
            </a:glow>
            <a:outerShdw blurRad="50800" dist="50800" dir="5400000" sx="5000" sy="5000" algn="ctr" rotWithShape="0">
              <a:srgbClr val="000000">
                <a:alpha val="43137"/>
              </a:srgbClr>
            </a:outerShdw>
            <a:softEdge rad="381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ED7C027-E022-132F-8E2D-7DAB52CEA452}"/>
                  </a:ext>
                </a:extLst>
              </p:cNvPr>
              <p:cNvSpPr txBox="1"/>
              <p:nvPr/>
            </p:nvSpPr>
            <p:spPr>
              <a:xfrm>
                <a:off x="2557168" y="5018999"/>
                <a:ext cx="2106523" cy="799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CA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sub>
                      <m:sup>
                        <m:r>
                          <m:rPr>
                            <m:sty m:val="p"/>
                          </m:rPr>
                          <a:rPr lang="en-CA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CA" sz="1800" b="0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 (ideal)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CA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sub>
                      <m:sup>
                        <m:r>
                          <a:rPr lang="en-CA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CA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800" dirty="0"/>
                  <a:t> (lossy)</a:t>
                </a:r>
                <a:endParaRPr lang="en-US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ED7C027-E022-132F-8E2D-7DAB52CEA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168" y="5018999"/>
                <a:ext cx="2106523" cy="799001"/>
              </a:xfrm>
              <a:prstGeom prst="rect">
                <a:avLst/>
              </a:prstGeom>
              <a:blipFill>
                <a:blip r:embed="rId12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7BCFAED-B01A-4898-CE33-F200C0EDBC8D}"/>
                  </a:ext>
                </a:extLst>
              </p:cNvPr>
              <p:cNvSpPr txBox="1"/>
              <p:nvPr/>
            </p:nvSpPr>
            <p:spPr>
              <a:xfrm>
                <a:off x="5804807" y="5198074"/>
                <a:ext cx="1767830" cy="433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sub>
                      </m:sSub>
                      <m:r>
                        <m:rPr>
                          <m:nor/>
                        </m:rPr>
                        <a:rPr lang="en-US" sz="1800" dirty="0" smtClean="0"/>
                        <m:t>=</m:t>
                      </m:r>
                      <m:sSubSup>
                        <m:sSub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</m:d>
                        </m:sub>
                        <m:sup>
                          <m:r>
                            <m:rPr>
                              <m:sty m:val="p"/>
                            </m:rPr>
                            <a:rPr lang="en-CA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/2∝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67BCFAED-B01A-4898-CE33-F200C0ED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807" y="5198074"/>
                <a:ext cx="1767830" cy="433452"/>
              </a:xfrm>
              <a:prstGeom prst="rect">
                <a:avLst/>
              </a:prstGeom>
              <a:blipFill>
                <a:blip r:embed="rId1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023C372-3296-D1A6-DE38-C3082C36CB5F}"/>
                  </a:ext>
                </a:extLst>
              </p:cNvPr>
              <p:cNvSpPr txBox="1"/>
              <p:nvPr/>
            </p:nvSpPr>
            <p:spPr>
              <a:xfrm>
                <a:off x="9374134" y="5233755"/>
                <a:ext cx="1481520" cy="397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p>
                          <m:r>
                            <a:rPr lang="en-US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023C372-3296-D1A6-DE38-C3082C36C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134" y="5233755"/>
                <a:ext cx="1481520" cy="397416"/>
              </a:xfrm>
              <a:prstGeom prst="rect">
                <a:avLst/>
              </a:prstGeom>
              <a:blipFill>
                <a:blip r:embed="rId14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39E27578-3A15-6EE8-1C9F-C47D6C817367}"/>
              </a:ext>
            </a:extLst>
          </p:cNvPr>
          <p:cNvSpPr txBox="1"/>
          <p:nvPr/>
        </p:nvSpPr>
        <p:spPr>
          <a:xfrm>
            <a:off x="-27333" y="5176491"/>
            <a:ext cx="2136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Fisher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0925E2F-6087-252B-7121-8C88C5935110}"/>
                  </a:ext>
                </a:extLst>
              </p:cNvPr>
              <p:cNvSpPr txBox="1"/>
              <p:nvPr/>
            </p:nvSpPr>
            <p:spPr>
              <a:xfrm>
                <a:off x="4769750" y="772752"/>
                <a:ext cx="46168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Astronomical state: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0925E2F-6087-252B-7121-8C88C593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50" y="772752"/>
                <a:ext cx="4616845" cy="338554"/>
              </a:xfrm>
              <a:prstGeom prst="rect">
                <a:avLst/>
              </a:prstGeom>
              <a:blipFill>
                <a:blip r:embed="rId15"/>
                <a:stretch>
                  <a:fillRect l="-82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27CD9C1-608B-937F-F2AC-B3C85A580F02}"/>
                  </a:ext>
                </a:extLst>
              </p:cNvPr>
              <p:cNvSpPr txBox="1"/>
              <p:nvPr/>
            </p:nvSpPr>
            <p:spPr>
              <a:xfrm>
                <a:off x="5554852" y="1201970"/>
                <a:ext cx="2435604" cy="637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27CD9C1-608B-937F-F2AC-B3C85A580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852" y="1201970"/>
                <a:ext cx="2435604" cy="637547"/>
              </a:xfrm>
              <a:prstGeom prst="rect">
                <a:avLst/>
              </a:prstGeom>
              <a:blipFill>
                <a:blip r:embed="rId1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5047C8D-04A1-1D9D-852B-8C62ACAC920D}"/>
              </a:ext>
            </a:extLst>
          </p:cNvPr>
          <p:cNvCxnSpPr/>
          <p:nvPr/>
        </p:nvCxnSpPr>
        <p:spPr>
          <a:xfrm flipH="1" flipV="1">
            <a:off x="9723600" y="3955552"/>
            <a:ext cx="154744" cy="27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6283277-8311-1779-74C3-3F7BF9DB8723}"/>
              </a:ext>
            </a:extLst>
          </p:cNvPr>
          <p:cNvSpPr txBox="1"/>
          <p:nvPr/>
        </p:nvSpPr>
        <p:spPr>
          <a:xfrm>
            <a:off x="9433629" y="4263153"/>
            <a:ext cx="1772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Local oscillator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C545BE4-E48C-414B-302F-1261EC5451D3}"/>
              </a:ext>
            </a:extLst>
          </p:cNvPr>
          <p:cNvSpPr txBox="1"/>
          <p:nvPr/>
        </p:nvSpPr>
        <p:spPr>
          <a:xfrm>
            <a:off x="-1259" y="6550223"/>
            <a:ext cx="61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Tsang, PRL 107, 270402 (2011)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0B9ED73-619C-6A1F-758D-5FAE33A9E699}"/>
              </a:ext>
            </a:extLst>
          </p:cNvPr>
          <p:cNvSpPr txBox="1"/>
          <p:nvPr/>
        </p:nvSpPr>
        <p:spPr>
          <a:xfrm>
            <a:off x="8523855" y="5863166"/>
            <a:ext cx="3668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All LOCC schemes without entanglement perform equally badly. </a:t>
            </a:r>
          </a:p>
        </p:txBody>
      </p:sp>
    </p:spTree>
    <p:extLst>
      <p:ext uri="{BB962C8B-B14F-4D97-AF65-F5344CB8AC3E}">
        <p14:creationId xmlns:p14="http://schemas.microsoft.com/office/powerpoint/2010/main" val="71611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18">
            <a:extLst>
              <a:ext uri="{FF2B5EF4-FFF2-40B4-BE49-F238E27FC236}">
                <a16:creationId xmlns:a16="http://schemas.microsoft.com/office/drawing/2014/main" id="{2581B066-7847-1BAD-EDB1-37117A89E8DB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10A47-F0F1-23F9-0A7D-E53421685849}"/>
              </a:ext>
            </a:extLst>
          </p:cNvPr>
          <p:cNvSpPr txBox="1"/>
          <p:nvPr/>
        </p:nvSpPr>
        <p:spPr>
          <a:xfrm>
            <a:off x="0" y="455066"/>
            <a:ext cx="358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was known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E8B9B-C5BF-43F8-A410-E2520F4D09AE}"/>
              </a:ext>
            </a:extLst>
          </p:cNvPr>
          <p:cNvSpPr txBox="1"/>
          <p:nvPr/>
        </p:nvSpPr>
        <p:spPr>
          <a:xfrm>
            <a:off x="6884190" y="2320673"/>
            <a:ext cx="525621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different ways of understanding the quantum advantages: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‘Nonlocal resources’ enable distributed measurement.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Entanglement allows ‘post-selected’ passive quantum teleportation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281B7-CACB-1E35-7C2E-7E06ECC32C68}"/>
              </a:ext>
            </a:extLst>
          </p:cNvPr>
          <p:cNvSpPr/>
          <p:nvPr/>
        </p:nvSpPr>
        <p:spPr>
          <a:xfrm>
            <a:off x="1264484" y="5175499"/>
            <a:ext cx="9244077" cy="998499"/>
          </a:xfrm>
          <a:prstGeom prst="rect">
            <a:avLst/>
          </a:prstGeom>
          <a:solidFill>
            <a:srgbClr val="FFC000">
              <a:alpha val="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“</a:t>
            </a:r>
            <a:r>
              <a:rPr lang="en-US" i="1" dirty="0">
                <a:solidFill>
                  <a:srgbClr val="00B050"/>
                </a:solidFill>
              </a:rPr>
              <a:t>Locality constraint </a:t>
            </a:r>
            <a:r>
              <a:rPr lang="en-US" i="1" dirty="0"/>
              <a:t>limits classical </a:t>
            </a:r>
            <a:r>
              <a:rPr lang="en-US" i="1" dirty="0" err="1"/>
              <a:t>telescopy</a:t>
            </a:r>
            <a:r>
              <a:rPr lang="en-US" i="1" dirty="0"/>
              <a:t>,  </a:t>
            </a:r>
            <a:r>
              <a:rPr lang="en-US" i="1" dirty="0">
                <a:solidFill>
                  <a:srgbClr val="00B050"/>
                </a:solidFill>
              </a:rPr>
              <a:t>nonlocal quantum resources </a:t>
            </a:r>
            <a:r>
              <a:rPr lang="en-US" i="1" dirty="0"/>
              <a:t>provide quantum enhancement”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DC1632-81B1-093A-5B8A-C10553E09DC5}"/>
              </a:ext>
            </a:extLst>
          </p:cNvPr>
          <p:cNvCxnSpPr>
            <a:cxnSpLocks/>
          </p:cNvCxnSpPr>
          <p:nvPr/>
        </p:nvCxnSpPr>
        <p:spPr>
          <a:xfrm>
            <a:off x="515858" y="3801860"/>
            <a:ext cx="1363518" cy="686094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2868CE-B374-6605-2901-616F473C2CCB}"/>
              </a:ext>
            </a:extLst>
          </p:cNvPr>
          <p:cNvCxnSpPr>
            <a:cxnSpLocks/>
          </p:cNvCxnSpPr>
          <p:nvPr/>
        </p:nvCxnSpPr>
        <p:spPr>
          <a:xfrm flipH="1">
            <a:off x="1223078" y="3803142"/>
            <a:ext cx="1214814" cy="701905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4E7907-C5BA-27EB-CD42-5110174A53CB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418908" y="3309246"/>
            <a:ext cx="0" cy="497200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3CB0EA-C7CC-AB0B-199D-9B1B98D35497}"/>
              </a:ext>
            </a:extLst>
          </p:cNvPr>
          <p:cNvCxnSpPr>
            <a:cxnSpLocks/>
            <a:stCxn id="47" idx="2"/>
            <a:endCxn id="72" idx="3"/>
          </p:cNvCxnSpPr>
          <p:nvPr/>
        </p:nvCxnSpPr>
        <p:spPr>
          <a:xfrm flipH="1">
            <a:off x="524300" y="3301901"/>
            <a:ext cx="6284" cy="500942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68B3CC-9DDA-84A0-F390-921118ADE818}"/>
              </a:ext>
            </a:extLst>
          </p:cNvPr>
          <p:cNvCxnSpPr>
            <a:cxnSpLocks/>
          </p:cNvCxnSpPr>
          <p:nvPr/>
        </p:nvCxnSpPr>
        <p:spPr>
          <a:xfrm>
            <a:off x="3859757" y="3313157"/>
            <a:ext cx="0" cy="1033602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C6CF70-A781-CCFA-24EA-49682B6FBD35}"/>
              </a:ext>
            </a:extLst>
          </p:cNvPr>
          <p:cNvCxnSpPr>
            <a:cxnSpLocks/>
          </p:cNvCxnSpPr>
          <p:nvPr/>
        </p:nvCxnSpPr>
        <p:spPr>
          <a:xfrm>
            <a:off x="3444706" y="3794160"/>
            <a:ext cx="2746540" cy="0"/>
          </a:xfrm>
          <a:prstGeom prst="line">
            <a:avLst/>
          </a:prstGeom>
          <a:ln w="25400">
            <a:solidFill>
              <a:srgbClr val="FF7171"/>
            </a:solidFill>
            <a:headEnd type="triangle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3F62A4-6C8D-6223-12C3-A4A300D08E3C}"/>
              </a:ext>
            </a:extLst>
          </p:cNvPr>
          <p:cNvCxnSpPr>
            <a:cxnSpLocks/>
          </p:cNvCxnSpPr>
          <p:nvPr/>
        </p:nvCxnSpPr>
        <p:spPr>
          <a:xfrm>
            <a:off x="5777087" y="3315871"/>
            <a:ext cx="8929" cy="1030889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697E94EE-270F-1C38-58F9-5EDAA49939BA}"/>
              </a:ext>
            </a:extLst>
          </p:cNvPr>
          <p:cNvSpPr/>
          <p:nvPr/>
        </p:nvSpPr>
        <p:spPr>
          <a:xfrm rot="16200000">
            <a:off x="3698306" y="2493872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25712F-DE77-A2EA-EAFD-7ACF045419A2}"/>
              </a:ext>
            </a:extLst>
          </p:cNvPr>
          <p:cNvSpPr/>
          <p:nvPr/>
        </p:nvSpPr>
        <p:spPr>
          <a:xfrm rot="7210911">
            <a:off x="3997677" y="2680872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9F8ACFBC-439C-4566-E5A6-FB371D6656C4}"/>
              </a:ext>
            </a:extLst>
          </p:cNvPr>
          <p:cNvSpPr/>
          <p:nvPr/>
        </p:nvSpPr>
        <p:spPr>
          <a:xfrm rot="20969975">
            <a:off x="3719080" y="2774276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907715-3D02-C8D3-146C-96C3D54A6FBE}"/>
              </a:ext>
            </a:extLst>
          </p:cNvPr>
          <p:cNvSpPr/>
          <p:nvPr/>
        </p:nvSpPr>
        <p:spPr>
          <a:xfrm>
            <a:off x="3444706" y="2995586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290D93-2638-8FED-C988-C41D3B299EF6}"/>
              </a:ext>
            </a:extLst>
          </p:cNvPr>
          <p:cNvSpPr/>
          <p:nvPr/>
        </p:nvSpPr>
        <p:spPr>
          <a:xfrm>
            <a:off x="3540772" y="3095656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43D86D-9C7D-1904-8B1D-F09025B8E8FB}"/>
              </a:ext>
            </a:extLst>
          </p:cNvPr>
          <p:cNvSpPr/>
          <p:nvPr/>
        </p:nvSpPr>
        <p:spPr>
          <a:xfrm flipV="1">
            <a:off x="3662635" y="3186028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1B2CA0-78C6-C92B-CED6-EF6B851D5AA5}"/>
              </a:ext>
            </a:extLst>
          </p:cNvPr>
          <p:cNvSpPr/>
          <p:nvPr/>
        </p:nvSpPr>
        <p:spPr>
          <a:xfrm rot="5400000">
            <a:off x="3949437" y="3154647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993233-46A9-B883-7E84-86B18FEADBCF}"/>
              </a:ext>
            </a:extLst>
          </p:cNvPr>
          <p:cNvSpPr/>
          <p:nvPr/>
        </p:nvSpPr>
        <p:spPr>
          <a:xfrm flipV="1">
            <a:off x="3773899" y="3186028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00B8D8-20DE-711E-55D7-9B923788A2A3}"/>
              </a:ext>
            </a:extLst>
          </p:cNvPr>
          <p:cNvCxnSpPr>
            <a:cxnSpLocks/>
          </p:cNvCxnSpPr>
          <p:nvPr/>
        </p:nvCxnSpPr>
        <p:spPr>
          <a:xfrm>
            <a:off x="3637918" y="300291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A6E883-A41D-3887-2D3B-B3B271C6C65A}"/>
              </a:ext>
            </a:extLst>
          </p:cNvPr>
          <p:cNvCxnSpPr>
            <a:cxnSpLocks/>
          </p:cNvCxnSpPr>
          <p:nvPr/>
        </p:nvCxnSpPr>
        <p:spPr>
          <a:xfrm>
            <a:off x="3859757" y="299498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09CA2A-7C84-1DFC-2543-ECCFC3B307E7}"/>
              </a:ext>
            </a:extLst>
          </p:cNvPr>
          <p:cNvCxnSpPr>
            <a:cxnSpLocks/>
          </p:cNvCxnSpPr>
          <p:nvPr/>
        </p:nvCxnSpPr>
        <p:spPr>
          <a:xfrm>
            <a:off x="4065752" y="297913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D6B189-8D13-A163-203C-73D5DDB7A80A}"/>
                  </a:ext>
                </a:extLst>
              </p:cNvPr>
              <p:cNvSpPr txBox="1"/>
              <p:nvPr/>
            </p:nvSpPr>
            <p:spPr>
              <a:xfrm>
                <a:off x="3491060" y="2706506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D6B189-8D13-A163-203C-73D5DDB7A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060" y="2706506"/>
                <a:ext cx="474822" cy="326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AE09702E-8B52-0F2B-9854-6086A85104BF}"/>
              </a:ext>
            </a:extLst>
          </p:cNvPr>
          <p:cNvSpPr/>
          <p:nvPr/>
        </p:nvSpPr>
        <p:spPr>
          <a:xfrm rot="1819476">
            <a:off x="4017162" y="2593092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" name="Flowchart: Delay 133">
            <a:extLst>
              <a:ext uri="{FF2B5EF4-FFF2-40B4-BE49-F238E27FC236}">
                <a16:creationId xmlns:a16="http://schemas.microsoft.com/office/drawing/2014/main" id="{57709EC1-66DF-E2D7-7E57-FE955B6151E3}"/>
              </a:ext>
            </a:extLst>
          </p:cNvPr>
          <p:cNvSpPr/>
          <p:nvPr/>
        </p:nvSpPr>
        <p:spPr>
          <a:xfrm rot="16200000">
            <a:off x="5586630" y="2501217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D99733-78C7-2E07-165F-6BFC788F9525}"/>
              </a:ext>
            </a:extLst>
          </p:cNvPr>
          <p:cNvSpPr/>
          <p:nvPr/>
        </p:nvSpPr>
        <p:spPr>
          <a:xfrm rot="7210911">
            <a:off x="5886001" y="2688217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FDE0B722-C6B9-B17A-5578-5FD410F2B84F}"/>
              </a:ext>
            </a:extLst>
          </p:cNvPr>
          <p:cNvSpPr/>
          <p:nvPr/>
        </p:nvSpPr>
        <p:spPr>
          <a:xfrm rot="20969975">
            <a:off x="5607404" y="2781622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1E4745-AA90-6F18-8A5E-D34475944945}"/>
              </a:ext>
            </a:extLst>
          </p:cNvPr>
          <p:cNvSpPr/>
          <p:nvPr/>
        </p:nvSpPr>
        <p:spPr>
          <a:xfrm>
            <a:off x="5333030" y="3002932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99B4C7-57B6-E433-5D52-3511D409500F}"/>
              </a:ext>
            </a:extLst>
          </p:cNvPr>
          <p:cNvSpPr/>
          <p:nvPr/>
        </p:nvSpPr>
        <p:spPr>
          <a:xfrm>
            <a:off x="5429096" y="3103001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8ED7A3-6B64-D3E7-DDD5-A7CC803EC3DB}"/>
              </a:ext>
            </a:extLst>
          </p:cNvPr>
          <p:cNvSpPr/>
          <p:nvPr/>
        </p:nvSpPr>
        <p:spPr>
          <a:xfrm flipV="1">
            <a:off x="5550959" y="3193374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BEC203-74EC-73F7-7BAB-CC17FDF52358}"/>
              </a:ext>
            </a:extLst>
          </p:cNvPr>
          <p:cNvSpPr/>
          <p:nvPr/>
        </p:nvSpPr>
        <p:spPr>
          <a:xfrm rot="5400000">
            <a:off x="5837761" y="3161993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971401-A6A9-1DB0-9B2B-F778EE5C8E17}"/>
              </a:ext>
            </a:extLst>
          </p:cNvPr>
          <p:cNvSpPr/>
          <p:nvPr/>
        </p:nvSpPr>
        <p:spPr>
          <a:xfrm flipV="1">
            <a:off x="5662223" y="3193374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4FA208-3FB1-141E-E6B3-7B23C088DC42}"/>
              </a:ext>
            </a:extLst>
          </p:cNvPr>
          <p:cNvCxnSpPr>
            <a:cxnSpLocks/>
          </p:cNvCxnSpPr>
          <p:nvPr/>
        </p:nvCxnSpPr>
        <p:spPr>
          <a:xfrm>
            <a:off x="5526241" y="301025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651E90-0F88-9C5B-A874-A9652E983A2C}"/>
              </a:ext>
            </a:extLst>
          </p:cNvPr>
          <p:cNvCxnSpPr>
            <a:cxnSpLocks/>
          </p:cNvCxnSpPr>
          <p:nvPr/>
        </p:nvCxnSpPr>
        <p:spPr>
          <a:xfrm>
            <a:off x="5748081" y="300233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5D3E245-7B14-A6D8-1C89-BC753A13726D}"/>
              </a:ext>
            </a:extLst>
          </p:cNvPr>
          <p:cNvCxnSpPr>
            <a:cxnSpLocks/>
          </p:cNvCxnSpPr>
          <p:nvPr/>
        </p:nvCxnSpPr>
        <p:spPr>
          <a:xfrm>
            <a:off x="5954075" y="298648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C4FD9C-AA27-1A5C-FDCB-EF4917D79763}"/>
                  </a:ext>
                </a:extLst>
              </p:cNvPr>
              <p:cNvSpPr txBox="1"/>
              <p:nvPr/>
            </p:nvSpPr>
            <p:spPr>
              <a:xfrm>
                <a:off x="5379384" y="2713850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C4FD9C-AA27-1A5C-FDCB-EF4917D7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384" y="2713850"/>
                <a:ext cx="474822" cy="326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B223A31E-99FA-E141-C4C5-A286F5FDE242}"/>
              </a:ext>
            </a:extLst>
          </p:cNvPr>
          <p:cNvSpPr/>
          <p:nvPr/>
        </p:nvSpPr>
        <p:spPr>
          <a:xfrm rot="1819476">
            <a:off x="5905485" y="2600437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5601F2F4-3899-76B8-8B6F-EF7D86E2A03A}"/>
              </a:ext>
            </a:extLst>
          </p:cNvPr>
          <p:cNvSpPr/>
          <p:nvPr/>
        </p:nvSpPr>
        <p:spPr>
          <a:xfrm rot="10130253">
            <a:off x="5120886" y="1722203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E7A4FAF-5218-4728-FF55-FE6481657E3A}"/>
              </a:ext>
            </a:extLst>
          </p:cNvPr>
          <p:cNvSpPr/>
          <p:nvPr/>
        </p:nvSpPr>
        <p:spPr>
          <a:xfrm rot="10172292">
            <a:off x="5499307" y="1898379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FF2A58-5D0E-654C-595F-8887AF2F8580}"/>
              </a:ext>
            </a:extLst>
          </p:cNvPr>
          <p:cNvSpPr/>
          <p:nvPr/>
        </p:nvSpPr>
        <p:spPr>
          <a:xfrm>
            <a:off x="4336238" y="3663973"/>
            <a:ext cx="946129" cy="301433"/>
          </a:xfrm>
          <a:prstGeom prst="rect">
            <a:avLst/>
          </a:prstGeom>
          <a:solidFill>
            <a:srgbClr val="FC8B74"/>
          </a:solidFill>
          <a:ln w="44450">
            <a:solidFill>
              <a:schemeClr val="tx1"/>
            </a:solidFill>
          </a:ln>
          <a:effectLst>
            <a:glow rad="63500">
              <a:srgbClr val="FC8B74">
                <a:alpha val="40000"/>
              </a:srgbClr>
            </a:glow>
            <a:outerShdw blurRad="50800" dist="50800" dir="5400000" sx="5000" sy="5000" algn="ctr" rotWithShape="0">
              <a:srgbClr val="000000">
                <a:alpha val="43137"/>
              </a:srgbClr>
            </a:outerShdw>
            <a:softEdge rad="381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Source</a:t>
            </a:r>
          </a:p>
        </p:txBody>
      </p:sp>
      <p:sp>
        <p:nvSpPr>
          <p:cNvPr id="43" name="Flowchart: Delay 224">
            <a:extLst>
              <a:ext uri="{FF2B5EF4-FFF2-40B4-BE49-F238E27FC236}">
                <a16:creationId xmlns:a16="http://schemas.microsoft.com/office/drawing/2014/main" id="{FC9A0C3A-700C-9172-ED0D-6B682E2669F2}"/>
              </a:ext>
            </a:extLst>
          </p:cNvPr>
          <p:cNvSpPr/>
          <p:nvPr/>
        </p:nvSpPr>
        <p:spPr>
          <a:xfrm rot="16200000">
            <a:off x="360873" y="2493872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59D43C-E7A2-29D2-4DD7-37703A2676CA}"/>
              </a:ext>
            </a:extLst>
          </p:cNvPr>
          <p:cNvSpPr/>
          <p:nvPr/>
        </p:nvSpPr>
        <p:spPr>
          <a:xfrm rot="7210911">
            <a:off x="660245" y="2680872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A35838DE-CB0F-7721-88C2-15280413B416}"/>
              </a:ext>
            </a:extLst>
          </p:cNvPr>
          <p:cNvSpPr/>
          <p:nvPr/>
        </p:nvSpPr>
        <p:spPr>
          <a:xfrm rot="20969975">
            <a:off x="381647" y="2774276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36ABF8-D980-CE74-821A-8E2E616DCA66}"/>
              </a:ext>
            </a:extLst>
          </p:cNvPr>
          <p:cNvSpPr/>
          <p:nvPr/>
        </p:nvSpPr>
        <p:spPr>
          <a:xfrm>
            <a:off x="107273" y="2995586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E895700-0886-D803-6876-23D197CF3FF1}"/>
              </a:ext>
            </a:extLst>
          </p:cNvPr>
          <p:cNvSpPr/>
          <p:nvPr/>
        </p:nvSpPr>
        <p:spPr>
          <a:xfrm>
            <a:off x="203339" y="3095656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01D42A1-3A9B-82F0-5E78-B513CDE3ABA7}"/>
              </a:ext>
            </a:extLst>
          </p:cNvPr>
          <p:cNvSpPr/>
          <p:nvPr/>
        </p:nvSpPr>
        <p:spPr>
          <a:xfrm flipV="1">
            <a:off x="325202" y="3186028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9BE2E3-2A0A-8872-7B66-8B08A0D1755C}"/>
              </a:ext>
            </a:extLst>
          </p:cNvPr>
          <p:cNvSpPr/>
          <p:nvPr/>
        </p:nvSpPr>
        <p:spPr>
          <a:xfrm rot="5400000">
            <a:off x="612005" y="3154647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63DC520-CCF9-7BE6-3A92-4E5B1CF2B9CF}"/>
              </a:ext>
            </a:extLst>
          </p:cNvPr>
          <p:cNvSpPr/>
          <p:nvPr/>
        </p:nvSpPr>
        <p:spPr>
          <a:xfrm flipV="1">
            <a:off x="436466" y="3186028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21B036D-155A-D175-0036-CA6834D00DA1}"/>
              </a:ext>
            </a:extLst>
          </p:cNvPr>
          <p:cNvCxnSpPr>
            <a:cxnSpLocks/>
          </p:cNvCxnSpPr>
          <p:nvPr/>
        </p:nvCxnSpPr>
        <p:spPr>
          <a:xfrm>
            <a:off x="300485" y="300291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19CAC9F-AA4C-E700-852B-F45AE9AFE36C}"/>
              </a:ext>
            </a:extLst>
          </p:cNvPr>
          <p:cNvCxnSpPr>
            <a:cxnSpLocks/>
          </p:cNvCxnSpPr>
          <p:nvPr/>
        </p:nvCxnSpPr>
        <p:spPr>
          <a:xfrm>
            <a:off x="522325" y="299498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A1FB26-087A-254C-7101-C81673504E97}"/>
              </a:ext>
            </a:extLst>
          </p:cNvPr>
          <p:cNvCxnSpPr>
            <a:cxnSpLocks/>
          </p:cNvCxnSpPr>
          <p:nvPr/>
        </p:nvCxnSpPr>
        <p:spPr>
          <a:xfrm>
            <a:off x="728319" y="297913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5262335-32B3-DE35-93AF-E29A3E01B61E}"/>
                  </a:ext>
                </a:extLst>
              </p:cNvPr>
              <p:cNvSpPr txBox="1"/>
              <p:nvPr/>
            </p:nvSpPr>
            <p:spPr>
              <a:xfrm>
                <a:off x="153627" y="2706506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5262335-32B3-DE35-93AF-E29A3E01B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27" y="2706506"/>
                <a:ext cx="474822" cy="3260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8F7A240A-5ABB-C578-A9C4-74F4B2CEEFED}"/>
              </a:ext>
            </a:extLst>
          </p:cNvPr>
          <p:cNvSpPr/>
          <p:nvPr/>
        </p:nvSpPr>
        <p:spPr>
          <a:xfrm rot="1819476">
            <a:off x="679729" y="2593092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6" name="Flowchart: Delay 237">
            <a:extLst>
              <a:ext uri="{FF2B5EF4-FFF2-40B4-BE49-F238E27FC236}">
                <a16:creationId xmlns:a16="http://schemas.microsoft.com/office/drawing/2014/main" id="{36990AE6-7CA2-F3BC-D181-3F459FB371D4}"/>
              </a:ext>
            </a:extLst>
          </p:cNvPr>
          <p:cNvSpPr/>
          <p:nvPr/>
        </p:nvSpPr>
        <p:spPr>
          <a:xfrm rot="16200000">
            <a:off x="2249197" y="2501217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9C0071-186D-65F9-B11A-25410FA896BD}"/>
              </a:ext>
            </a:extLst>
          </p:cNvPr>
          <p:cNvSpPr/>
          <p:nvPr/>
        </p:nvSpPr>
        <p:spPr>
          <a:xfrm rot="7210911">
            <a:off x="2548568" y="2688217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E4819721-C8E6-5B86-4520-CE1B2D487B43}"/>
              </a:ext>
            </a:extLst>
          </p:cNvPr>
          <p:cNvSpPr/>
          <p:nvPr/>
        </p:nvSpPr>
        <p:spPr>
          <a:xfrm rot="20969975">
            <a:off x="2269971" y="2781622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3446F9-02B4-A6D2-FCE3-A648EAB2B53A}"/>
              </a:ext>
            </a:extLst>
          </p:cNvPr>
          <p:cNvSpPr/>
          <p:nvPr/>
        </p:nvSpPr>
        <p:spPr>
          <a:xfrm>
            <a:off x="1995597" y="3002932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531C2CF-593F-FCD6-4E50-7AF5EE9A123F}"/>
              </a:ext>
            </a:extLst>
          </p:cNvPr>
          <p:cNvSpPr/>
          <p:nvPr/>
        </p:nvSpPr>
        <p:spPr>
          <a:xfrm>
            <a:off x="2091663" y="3103001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DA64ED0-938C-97BA-7132-863D2C6F4902}"/>
              </a:ext>
            </a:extLst>
          </p:cNvPr>
          <p:cNvSpPr/>
          <p:nvPr/>
        </p:nvSpPr>
        <p:spPr>
          <a:xfrm flipV="1">
            <a:off x="2213526" y="3193374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784565-5CFF-0E09-1459-067F39B6D8C8}"/>
              </a:ext>
            </a:extLst>
          </p:cNvPr>
          <p:cNvSpPr/>
          <p:nvPr/>
        </p:nvSpPr>
        <p:spPr>
          <a:xfrm rot="5400000">
            <a:off x="2500328" y="3161993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D8EFA8C-A7C5-ADE7-D8CD-A0BE333D904A}"/>
              </a:ext>
            </a:extLst>
          </p:cNvPr>
          <p:cNvSpPr/>
          <p:nvPr/>
        </p:nvSpPr>
        <p:spPr>
          <a:xfrm flipV="1">
            <a:off x="2324790" y="3193374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0BE51FA-E478-1954-BF3A-73DE932009FC}"/>
              </a:ext>
            </a:extLst>
          </p:cNvPr>
          <p:cNvCxnSpPr>
            <a:cxnSpLocks/>
          </p:cNvCxnSpPr>
          <p:nvPr/>
        </p:nvCxnSpPr>
        <p:spPr>
          <a:xfrm>
            <a:off x="2188808" y="301025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BBA3496-7CB3-04A4-750B-C98FD4630087}"/>
              </a:ext>
            </a:extLst>
          </p:cNvPr>
          <p:cNvCxnSpPr>
            <a:cxnSpLocks/>
          </p:cNvCxnSpPr>
          <p:nvPr/>
        </p:nvCxnSpPr>
        <p:spPr>
          <a:xfrm>
            <a:off x="2410648" y="300233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A8414BE-C6A3-CA20-CB80-140EB323FA09}"/>
              </a:ext>
            </a:extLst>
          </p:cNvPr>
          <p:cNvCxnSpPr>
            <a:cxnSpLocks/>
          </p:cNvCxnSpPr>
          <p:nvPr/>
        </p:nvCxnSpPr>
        <p:spPr>
          <a:xfrm>
            <a:off x="2616642" y="298648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C7F030A-2A5C-C89E-FA1E-610C84613354}"/>
                  </a:ext>
                </a:extLst>
              </p:cNvPr>
              <p:cNvSpPr txBox="1"/>
              <p:nvPr/>
            </p:nvSpPr>
            <p:spPr>
              <a:xfrm>
                <a:off x="2041950" y="2713850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C7F030A-2A5C-C89E-FA1E-610C846133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950" y="2713850"/>
                <a:ext cx="474822" cy="3260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15879881-A352-7284-1DA7-7F8BEAC5359A}"/>
              </a:ext>
            </a:extLst>
          </p:cNvPr>
          <p:cNvSpPr/>
          <p:nvPr/>
        </p:nvSpPr>
        <p:spPr>
          <a:xfrm rot="1819476">
            <a:off x="2568052" y="2600437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CF509A54-AD53-9704-585A-1D3B7086D2C1}"/>
              </a:ext>
            </a:extLst>
          </p:cNvPr>
          <p:cNvSpPr/>
          <p:nvPr/>
        </p:nvSpPr>
        <p:spPr>
          <a:xfrm rot="10130253">
            <a:off x="1783453" y="1722203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76046BEF-F49A-EEDF-A6D8-87829BBC4D6B}"/>
              </a:ext>
            </a:extLst>
          </p:cNvPr>
          <p:cNvSpPr/>
          <p:nvPr/>
        </p:nvSpPr>
        <p:spPr>
          <a:xfrm rot="10172292">
            <a:off x="2161874" y="1898379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94FBBBF-1B38-96B2-C190-C49CB2330D5D}"/>
              </a:ext>
            </a:extLst>
          </p:cNvPr>
          <p:cNvSpPr/>
          <p:nvPr/>
        </p:nvSpPr>
        <p:spPr>
          <a:xfrm>
            <a:off x="1516907" y="4176395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3B76E0-9DEE-533C-B76E-43CB500CFBEB}"/>
              </a:ext>
            </a:extLst>
          </p:cNvPr>
          <p:cNvSpPr/>
          <p:nvPr/>
        </p:nvSpPr>
        <p:spPr>
          <a:xfrm rot="19975982">
            <a:off x="473718" y="3680474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5158496-2D9F-B21A-BAD8-A02A4922B73C}"/>
              </a:ext>
            </a:extLst>
          </p:cNvPr>
          <p:cNvSpPr/>
          <p:nvPr/>
        </p:nvSpPr>
        <p:spPr>
          <a:xfrm rot="1276279">
            <a:off x="2435286" y="3673752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3713158-EC0D-C871-620B-1FA44D411EAE}"/>
              </a:ext>
            </a:extLst>
          </p:cNvPr>
          <p:cNvSpPr/>
          <p:nvPr/>
        </p:nvSpPr>
        <p:spPr>
          <a:xfrm>
            <a:off x="1954142" y="3885828"/>
            <a:ext cx="242785" cy="257104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92FF1F2-F6BD-B702-1CFD-98251501944C}"/>
                  </a:ext>
                </a:extLst>
              </p:cNvPr>
              <p:cNvSpPr txBox="1"/>
              <p:nvPr/>
            </p:nvSpPr>
            <p:spPr>
              <a:xfrm>
                <a:off x="1953880" y="3879117"/>
                <a:ext cx="250349" cy="296428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92FF1F2-F6BD-B702-1CFD-982515019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80" y="3879117"/>
                <a:ext cx="250349" cy="2964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72BD294-5F0E-A997-2014-7F82ACE1740F}"/>
                  </a:ext>
                </a:extLst>
              </p:cNvPr>
              <p:cNvSpPr txBox="1"/>
              <p:nvPr/>
            </p:nvSpPr>
            <p:spPr>
              <a:xfrm>
                <a:off x="51595" y="1950341"/>
                <a:ext cx="497779" cy="35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72BD294-5F0E-A997-2014-7F82ACE17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5" y="1950341"/>
                <a:ext cx="497779" cy="355713"/>
              </a:xfrm>
              <a:prstGeom prst="rect">
                <a:avLst/>
              </a:prstGeom>
              <a:blipFill>
                <a:blip r:embed="rId7"/>
                <a:stretch>
                  <a:fillRect l="-2439" r="-487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FDBA06B-E851-BB76-9DF1-F2D4E7DE3C19}"/>
                  </a:ext>
                </a:extLst>
              </p:cNvPr>
              <p:cNvSpPr txBox="1"/>
              <p:nvPr/>
            </p:nvSpPr>
            <p:spPr>
              <a:xfrm>
                <a:off x="3272735" y="1974123"/>
                <a:ext cx="497779" cy="35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FDBA06B-E851-BB76-9DF1-F2D4E7DE3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735" y="1974123"/>
                <a:ext cx="497779" cy="355713"/>
              </a:xfrm>
              <a:prstGeom prst="rect">
                <a:avLst/>
              </a:prstGeom>
              <a:blipFill>
                <a:blip r:embed="rId8"/>
                <a:stretch>
                  <a:fillRect l="-2439" r="-2439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DDCACF9-9EC2-2225-4FDE-DAEC408FD849}"/>
                  </a:ext>
                </a:extLst>
              </p:cNvPr>
              <p:cNvSpPr txBox="1"/>
              <p:nvPr/>
            </p:nvSpPr>
            <p:spPr>
              <a:xfrm>
                <a:off x="3864838" y="4306476"/>
                <a:ext cx="1384241" cy="33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DDCACF9-9EC2-2225-4FDE-DAEC408FD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838" y="4306476"/>
                <a:ext cx="1384241" cy="337433"/>
              </a:xfrm>
              <a:prstGeom prst="rect">
                <a:avLst/>
              </a:prstGeom>
              <a:blipFill>
                <a:blip r:embed="rId9"/>
                <a:stretch>
                  <a:fillRect r="-40909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78">
            <a:extLst>
              <a:ext uri="{FF2B5EF4-FFF2-40B4-BE49-F238E27FC236}">
                <a16:creationId xmlns:a16="http://schemas.microsoft.com/office/drawing/2014/main" id="{528A922B-8433-8FBF-D550-CFA46318BA0F}"/>
              </a:ext>
            </a:extLst>
          </p:cNvPr>
          <p:cNvSpPr/>
          <p:nvPr/>
        </p:nvSpPr>
        <p:spPr>
          <a:xfrm rot="18845335">
            <a:off x="5759862" y="3661483"/>
            <a:ext cx="53528" cy="2690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7D2555E-AA22-6381-4856-823A49EC0323}"/>
              </a:ext>
            </a:extLst>
          </p:cNvPr>
          <p:cNvSpPr/>
          <p:nvPr/>
        </p:nvSpPr>
        <p:spPr>
          <a:xfrm rot="2556368">
            <a:off x="3826002" y="3658469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AEF4B9A-4549-9F34-D5F2-24D6063142C4}"/>
              </a:ext>
            </a:extLst>
          </p:cNvPr>
          <p:cNvSpPr txBox="1"/>
          <p:nvPr/>
        </p:nvSpPr>
        <p:spPr>
          <a:xfrm>
            <a:off x="-1259" y="6550223"/>
            <a:ext cx="61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Tsang, PRL 107, 270402 (2011)</a:t>
            </a:r>
          </a:p>
        </p:txBody>
      </p:sp>
    </p:spTree>
    <p:extLst>
      <p:ext uri="{BB962C8B-B14F-4D97-AF65-F5344CB8AC3E}">
        <p14:creationId xmlns:p14="http://schemas.microsoft.com/office/powerpoint/2010/main" val="86408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FE209-96E2-7AE2-F935-281BB4A2A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>
            <a:extLst>
              <a:ext uri="{FF2B5EF4-FFF2-40B4-BE49-F238E27FC236}">
                <a16:creationId xmlns:a16="http://schemas.microsoft.com/office/drawing/2014/main" id="{C34EF36B-3E86-AFB1-8456-D60C9333EB25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83221C7-B694-8DF0-2720-B358F76EAB76}"/>
              </a:ext>
            </a:extLst>
          </p:cNvPr>
          <p:cNvGrpSpPr/>
          <p:nvPr/>
        </p:nvGrpSpPr>
        <p:grpSpPr>
          <a:xfrm>
            <a:off x="3428133" y="3318787"/>
            <a:ext cx="2804820" cy="1283306"/>
            <a:chOff x="3609616" y="3272734"/>
            <a:chExt cx="2664575" cy="121678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F8A6924E-C78F-BFA6-9FD8-1BE4D7101FCC}"/>
                </a:ext>
              </a:extLst>
            </p:cNvPr>
            <p:cNvCxnSpPr>
              <a:cxnSpLocks/>
            </p:cNvCxnSpPr>
            <p:nvPr/>
          </p:nvCxnSpPr>
          <p:spPr>
            <a:xfrm>
              <a:off x="4011505" y="3272734"/>
              <a:ext cx="0" cy="1214026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ABD76D3-8112-CD8F-FACA-820D7AAC19A0}"/>
                </a:ext>
              </a:extLst>
            </p:cNvPr>
            <p:cNvCxnSpPr>
              <a:cxnSpLocks/>
            </p:cNvCxnSpPr>
            <p:nvPr/>
          </p:nvCxnSpPr>
          <p:spPr>
            <a:xfrm>
              <a:off x="3609616" y="4073013"/>
              <a:ext cx="2659443" cy="0"/>
            </a:xfrm>
            <a:prstGeom prst="line">
              <a:avLst/>
            </a:prstGeom>
            <a:ln w="25400">
              <a:solidFill>
                <a:srgbClr val="FF7171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DF8B471-1AD9-F83D-A246-1B8917EC63B6}"/>
                </a:ext>
              </a:extLst>
            </p:cNvPr>
            <p:cNvCxnSpPr>
              <a:cxnSpLocks/>
            </p:cNvCxnSpPr>
            <p:nvPr/>
          </p:nvCxnSpPr>
          <p:spPr>
            <a:xfrm>
              <a:off x="3614748" y="3669352"/>
              <a:ext cx="2659443" cy="0"/>
            </a:xfrm>
            <a:prstGeom prst="line">
              <a:avLst/>
            </a:prstGeom>
            <a:ln w="25400">
              <a:solidFill>
                <a:srgbClr val="FF7171"/>
              </a:solidFill>
              <a:headEnd type="triangle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ACEE7DCB-D94D-4BE8-A453-A8ABE92A6788}"/>
                </a:ext>
              </a:extLst>
            </p:cNvPr>
            <p:cNvCxnSpPr>
              <a:cxnSpLocks/>
            </p:cNvCxnSpPr>
            <p:nvPr/>
          </p:nvCxnSpPr>
          <p:spPr>
            <a:xfrm>
              <a:off x="5868033" y="3275496"/>
              <a:ext cx="0" cy="1214026"/>
            </a:xfrm>
            <a:prstGeom prst="line">
              <a:avLst/>
            </a:prstGeom>
            <a:ln w="25400">
              <a:solidFill>
                <a:srgbClr val="FF717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: Rounded Corners 3">
                  <a:extLst>
                    <a:ext uri="{FF2B5EF4-FFF2-40B4-BE49-F238E27FC236}">
                      <a16:creationId xmlns:a16="http://schemas.microsoft.com/office/drawing/2014/main" id="{E4BE95FC-A6C4-4A03-6BBF-583D441A8428}"/>
                    </a:ext>
                  </a:extLst>
                </p:cNvPr>
                <p:cNvSpPr/>
                <p:nvPr/>
              </p:nvSpPr>
              <p:spPr>
                <a:xfrm>
                  <a:off x="3760783" y="3434114"/>
                  <a:ext cx="517439" cy="885876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𝒰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3" name="Rectangle: Rounded Corners 3">
                  <a:extLst>
                    <a:ext uri="{FF2B5EF4-FFF2-40B4-BE49-F238E27FC236}">
                      <a16:creationId xmlns:a16="http://schemas.microsoft.com/office/drawing/2014/main" id="{E4BE95FC-A6C4-4A03-6BBF-583D441A84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0783" y="3434114"/>
                  <a:ext cx="517439" cy="88587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: Rounded Corners 160">
                  <a:extLst>
                    <a:ext uri="{FF2B5EF4-FFF2-40B4-BE49-F238E27FC236}">
                      <a16:creationId xmlns:a16="http://schemas.microsoft.com/office/drawing/2014/main" id="{C6AEB528-13E0-BBCD-AB66-062FAC2BE445}"/>
                    </a:ext>
                  </a:extLst>
                </p:cNvPr>
                <p:cNvSpPr/>
                <p:nvPr/>
              </p:nvSpPr>
              <p:spPr>
                <a:xfrm>
                  <a:off x="5614011" y="3441851"/>
                  <a:ext cx="517439" cy="885876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𝒰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84" name="Rectangle: Rounded Corners 160">
                  <a:extLst>
                    <a:ext uri="{FF2B5EF4-FFF2-40B4-BE49-F238E27FC236}">
                      <a16:creationId xmlns:a16="http://schemas.microsoft.com/office/drawing/2014/main" id="{C6AEB528-13E0-BBCD-AB66-062FAC2BE4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4011" y="3441851"/>
                  <a:ext cx="517439" cy="88587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2370A96-6190-4E38-218E-2C39281C120F}"/>
                </a:ext>
              </a:extLst>
            </p:cNvPr>
            <p:cNvSpPr/>
            <p:nvPr/>
          </p:nvSpPr>
          <p:spPr>
            <a:xfrm>
              <a:off x="4589480" y="3615251"/>
              <a:ext cx="709978" cy="523600"/>
            </a:xfrm>
            <a:prstGeom prst="rect">
              <a:avLst/>
            </a:prstGeom>
            <a:solidFill>
              <a:srgbClr val="FC8B74"/>
            </a:solidFill>
            <a:ln w="44450">
              <a:solidFill>
                <a:schemeClr val="tx1"/>
              </a:solidFill>
            </a:ln>
            <a:effectLst>
              <a:glow rad="63500">
                <a:srgbClr val="FC8B74">
                  <a:alpha val="40000"/>
                </a:srgbClr>
              </a:glow>
              <a:outerShdw blurRad="50800" dist="50800" dir="5400000" sx="5000" sy="5000" algn="ctr" rotWithShape="0">
                <a:srgbClr val="000000">
                  <a:alpha val="43137"/>
                </a:srgbClr>
              </a:outerShdw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Source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EE8E99A-4724-7680-F477-B6E00FD7C974}"/>
                    </a:ext>
                  </a:extLst>
                </p:cNvPr>
                <p:cNvSpPr txBox="1"/>
                <p:nvPr/>
              </p:nvSpPr>
              <p:spPr>
                <a:xfrm rot="10800000">
                  <a:off x="4239337" y="3646593"/>
                  <a:ext cx="380104" cy="471833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eaVert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FEE8E99A-4724-7680-F477-B6E00FD7C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4239337" y="3646593"/>
                  <a:ext cx="380104" cy="47183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66FCDDC-776C-93C8-2E44-42A946CFD321}"/>
                    </a:ext>
                  </a:extLst>
                </p:cNvPr>
                <p:cNvSpPr txBox="1"/>
                <p:nvPr/>
              </p:nvSpPr>
              <p:spPr>
                <a:xfrm rot="10800000">
                  <a:off x="5254542" y="3657371"/>
                  <a:ext cx="380104" cy="471833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eaVert"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66FCDDC-776C-93C8-2E44-42A946CFD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5254542" y="3657371"/>
                  <a:ext cx="380104" cy="47183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44C9ECA-9687-BB46-FEFA-190F1F97037C}"/>
              </a:ext>
            </a:extLst>
          </p:cNvPr>
          <p:cNvSpPr txBox="1"/>
          <p:nvPr/>
        </p:nvSpPr>
        <p:spPr>
          <a:xfrm>
            <a:off x="0" y="455066"/>
            <a:ext cx="358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was known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884D16-1BD4-C7DD-6999-3F5B64AFF2C6}"/>
                  </a:ext>
                </a:extLst>
              </p:cNvPr>
              <p:cNvSpPr txBox="1"/>
              <p:nvPr/>
            </p:nvSpPr>
            <p:spPr>
              <a:xfrm>
                <a:off x="6732446" y="1881727"/>
                <a:ext cx="5256215" cy="2874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Inspired by that,  there are new protocols using</a:t>
                </a:r>
              </a:p>
              <a:p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N-copy of single-particle entangled state </a:t>
                </a:r>
              </a:p>
              <a:p>
                <a:r>
                  <a:rPr lang="en-US" sz="1600" dirty="0"/>
                  <a:t>                     </a:t>
                </a:r>
                <a14:m>
                  <m:oMath xmlns:m="http://schemas.openxmlformats.org/officeDocument/2006/math">
                    <m:r>
                      <a:rPr lang="en-CA" sz="16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CA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dirty="0"/>
              </a:p>
              <a:p>
                <a:pPr marL="342900" indent="-342900">
                  <a:buAutoNum type="arabicPeriod" startAt="2"/>
                </a:pPr>
                <a:r>
                  <a:rPr lang="en-US" sz="1600" dirty="0"/>
                  <a:t>Two-mode squeezed vacuum states and CV teleportation.  </a:t>
                </a:r>
              </a:p>
              <a:p>
                <a:pPr marL="342900" indent="-342900">
                  <a:buAutoNum type="arabicPeriod" startAt="2"/>
                </a:pPr>
                <a:endParaRPr lang="en-US" sz="1600" dirty="0"/>
              </a:p>
              <a:p>
                <a:pPr marL="342900" indent="-342900">
                  <a:buAutoNum type="arabicPeriod" startAt="2"/>
                </a:pPr>
                <a:endParaRPr lang="en-US" sz="1600" dirty="0"/>
              </a:p>
              <a:p>
                <a:pPr marL="342900" indent="-342900">
                  <a:buAutoNum type="arabicPeriod" startAt="2"/>
                </a:pPr>
                <a:r>
                  <a:rPr lang="en-US" sz="1600" dirty="0"/>
                  <a:t>NOON state,  weak coherence state and etc.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884D16-1BD4-C7DD-6999-3F5B64AFF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446" y="1881727"/>
                <a:ext cx="5256215" cy="2874120"/>
              </a:xfrm>
              <a:prstGeom prst="rect">
                <a:avLst/>
              </a:prstGeom>
              <a:blipFill>
                <a:blip r:embed="rId7"/>
                <a:stretch>
                  <a:fillRect l="-721" t="-1322" b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54846D-0B93-3F92-D76E-0B3F7FA1E5ED}"/>
              </a:ext>
            </a:extLst>
          </p:cNvPr>
          <p:cNvCxnSpPr>
            <a:cxnSpLocks/>
          </p:cNvCxnSpPr>
          <p:nvPr/>
        </p:nvCxnSpPr>
        <p:spPr>
          <a:xfrm>
            <a:off x="515858" y="3801860"/>
            <a:ext cx="1363518" cy="686094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144155-B0C9-0373-5575-FAFD605EBF51}"/>
              </a:ext>
            </a:extLst>
          </p:cNvPr>
          <p:cNvCxnSpPr>
            <a:cxnSpLocks/>
          </p:cNvCxnSpPr>
          <p:nvPr/>
        </p:nvCxnSpPr>
        <p:spPr>
          <a:xfrm flipH="1">
            <a:off x="1223078" y="3803142"/>
            <a:ext cx="1214814" cy="701905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B7E050-690C-2743-8997-D95DF3FC132A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418908" y="3309246"/>
            <a:ext cx="0" cy="497200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A165CA-F004-4587-2CE2-21086672B85A}"/>
              </a:ext>
            </a:extLst>
          </p:cNvPr>
          <p:cNvCxnSpPr>
            <a:cxnSpLocks/>
            <a:stCxn id="47" idx="2"/>
            <a:endCxn id="72" idx="3"/>
          </p:cNvCxnSpPr>
          <p:nvPr/>
        </p:nvCxnSpPr>
        <p:spPr>
          <a:xfrm flipH="1">
            <a:off x="524300" y="3301901"/>
            <a:ext cx="6284" cy="500942"/>
          </a:xfrm>
          <a:prstGeom prst="line">
            <a:avLst/>
          </a:prstGeom>
          <a:ln w="25400">
            <a:solidFill>
              <a:srgbClr val="FF717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A5769A5D-5F02-C7F7-56A2-CFB2933C8853}"/>
              </a:ext>
            </a:extLst>
          </p:cNvPr>
          <p:cNvSpPr/>
          <p:nvPr/>
        </p:nvSpPr>
        <p:spPr>
          <a:xfrm rot="16200000">
            <a:off x="3698306" y="2493872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76CDF-9F40-F9F2-53DD-835B55DA731E}"/>
              </a:ext>
            </a:extLst>
          </p:cNvPr>
          <p:cNvSpPr/>
          <p:nvPr/>
        </p:nvSpPr>
        <p:spPr>
          <a:xfrm rot="7210911">
            <a:off x="3997677" y="2680872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395FA5A-BA2B-5ED9-17EC-B81A1176638D}"/>
              </a:ext>
            </a:extLst>
          </p:cNvPr>
          <p:cNvSpPr/>
          <p:nvPr/>
        </p:nvSpPr>
        <p:spPr>
          <a:xfrm rot="20969975">
            <a:off x="3719080" y="2774276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0F1CE6-783E-9873-64BE-DFFE5337F04A}"/>
              </a:ext>
            </a:extLst>
          </p:cNvPr>
          <p:cNvSpPr/>
          <p:nvPr/>
        </p:nvSpPr>
        <p:spPr>
          <a:xfrm>
            <a:off x="3444706" y="2995586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51592-FF84-8105-E2F2-E96F9181C04A}"/>
              </a:ext>
            </a:extLst>
          </p:cNvPr>
          <p:cNvSpPr/>
          <p:nvPr/>
        </p:nvSpPr>
        <p:spPr>
          <a:xfrm>
            <a:off x="3540772" y="3095656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236F24-AC6B-6E56-EA1D-7EBFDE6D0891}"/>
              </a:ext>
            </a:extLst>
          </p:cNvPr>
          <p:cNvSpPr/>
          <p:nvPr/>
        </p:nvSpPr>
        <p:spPr>
          <a:xfrm flipV="1">
            <a:off x="3662635" y="3186028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5256A6-59B1-1D80-BC61-8EE304AB63D1}"/>
              </a:ext>
            </a:extLst>
          </p:cNvPr>
          <p:cNvSpPr/>
          <p:nvPr/>
        </p:nvSpPr>
        <p:spPr>
          <a:xfrm rot="5400000">
            <a:off x="3949437" y="3154647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BC0704-09E0-6FE5-2E54-DEED1385067F}"/>
              </a:ext>
            </a:extLst>
          </p:cNvPr>
          <p:cNvSpPr/>
          <p:nvPr/>
        </p:nvSpPr>
        <p:spPr>
          <a:xfrm flipV="1">
            <a:off x="3773899" y="3186028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C49A20-818F-6A75-57F6-9381B086DAEF}"/>
              </a:ext>
            </a:extLst>
          </p:cNvPr>
          <p:cNvCxnSpPr>
            <a:cxnSpLocks/>
          </p:cNvCxnSpPr>
          <p:nvPr/>
        </p:nvCxnSpPr>
        <p:spPr>
          <a:xfrm>
            <a:off x="3637918" y="300291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1D57A2-2791-78AE-4DD1-94EA5A8BDAB0}"/>
              </a:ext>
            </a:extLst>
          </p:cNvPr>
          <p:cNvCxnSpPr>
            <a:cxnSpLocks/>
          </p:cNvCxnSpPr>
          <p:nvPr/>
        </p:nvCxnSpPr>
        <p:spPr>
          <a:xfrm>
            <a:off x="3859757" y="299498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2B55BD-167B-FC27-E901-11F72E1648BA}"/>
              </a:ext>
            </a:extLst>
          </p:cNvPr>
          <p:cNvCxnSpPr>
            <a:cxnSpLocks/>
          </p:cNvCxnSpPr>
          <p:nvPr/>
        </p:nvCxnSpPr>
        <p:spPr>
          <a:xfrm>
            <a:off x="4065752" y="297913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6FBCD1-CE70-1467-2189-95681F478949}"/>
                  </a:ext>
                </a:extLst>
              </p:cNvPr>
              <p:cNvSpPr txBox="1"/>
              <p:nvPr/>
            </p:nvSpPr>
            <p:spPr>
              <a:xfrm>
                <a:off x="3491060" y="2706506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86FBCD1-CE70-1467-2189-95681F478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060" y="2706506"/>
                <a:ext cx="474822" cy="3260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0DDB4DC5-FC00-D3FA-A365-A54E32B3BC1F}"/>
              </a:ext>
            </a:extLst>
          </p:cNvPr>
          <p:cNvSpPr/>
          <p:nvPr/>
        </p:nvSpPr>
        <p:spPr>
          <a:xfrm rot="1819476">
            <a:off x="4017162" y="2593092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7" name="Flowchart: Delay 133">
            <a:extLst>
              <a:ext uri="{FF2B5EF4-FFF2-40B4-BE49-F238E27FC236}">
                <a16:creationId xmlns:a16="http://schemas.microsoft.com/office/drawing/2014/main" id="{29CC5EFC-DF58-2BFF-2B99-05EA6CA101F7}"/>
              </a:ext>
            </a:extLst>
          </p:cNvPr>
          <p:cNvSpPr/>
          <p:nvPr/>
        </p:nvSpPr>
        <p:spPr>
          <a:xfrm rot="16200000">
            <a:off x="5586630" y="2501217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22ED6F-8B30-7158-A65C-BC3FDC0D1195}"/>
              </a:ext>
            </a:extLst>
          </p:cNvPr>
          <p:cNvSpPr/>
          <p:nvPr/>
        </p:nvSpPr>
        <p:spPr>
          <a:xfrm rot="7210911">
            <a:off x="5886001" y="2688217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390B788-8E8B-BD7D-ED1B-AE609BE0DCE5}"/>
              </a:ext>
            </a:extLst>
          </p:cNvPr>
          <p:cNvSpPr/>
          <p:nvPr/>
        </p:nvSpPr>
        <p:spPr>
          <a:xfrm rot="20969975">
            <a:off x="5607404" y="2781622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A87E29-00F7-4795-E0B7-8E0556D2E04A}"/>
              </a:ext>
            </a:extLst>
          </p:cNvPr>
          <p:cNvSpPr/>
          <p:nvPr/>
        </p:nvSpPr>
        <p:spPr>
          <a:xfrm>
            <a:off x="5333030" y="3002932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850BD1-1F6A-9A66-CFEA-15042FAE88EC}"/>
              </a:ext>
            </a:extLst>
          </p:cNvPr>
          <p:cNvSpPr/>
          <p:nvPr/>
        </p:nvSpPr>
        <p:spPr>
          <a:xfrm>
            <a:off x="5429096" y="3103001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B79003-04C5-D90A-F7FC-60DCD6DE0248}"/>
              </a:ext>
            </a:extLst>
          </p:cNvPr>
          <p:cNvSpPr/>
          <p:nvPr/>
        </p:nvSpPr>
        <p:spPr>
          <a:xfrm flipV="1">
            <a:off x="5550959" y="3193374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6D10CB-65A0-D1B7-DCF1-950B4CDED60F}"/>
              </a:ext>
            </a:extLst>
          </p:cNvPr>
          <p:cNvSpPr/>
          <p:nvPr/>
        </p:nvSpPr>
        <p:spPr>
          <a:xfrm rot="5400000">
            <a:off x="5837761" y="3161993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1249DB-AFEC-1300-FE61-B69F6B3B2712}"/>
              </a:ext>
            </a:extLst>
          </p:cNvPr>
          <p:cNvSpPr/>
          <p:nvPr/>
        </p:nvSpPr>
        <p:spPr>
          <a:xfrm flipV="1">
            <a:off x="5662223" y="3193374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90273B-D129-1143-8551-9DE30E9D3FF7}"/>
              </a:ext>
            </a:extLst>
          </p:cNvPr>
          <p:cNvCxnSpPr>
            <a:cxnSpLocks/>
          </p:cNvCxnSpPr>
          <p:nvPr/>
        </p:nvCxnSpPr>
        <p:spPr>
          <a:xfrm>
            <a:off x="5526241" y="301025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700DB1A-2158-6268-45C4-1FF0BD8305BE}"/>
              </a:ext>
            </a:extLst>
          </p:cNvPr>
          <p:cNvCxnSpPr>
            <a:cxnSpLocks/>
          </p:cNvCxnSpPr>
          <p:nvPr/>
        </p:nvCxnSpPr>
        <p:spPr>
          <a:xfrm>
            <a:off x="5748081" y="300233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D4076A7-6A14-CEE6-D796-AA55A94AF435}"/>
              </a:ext>
            </a:extLst>
          </p:cNvPr>
          <p:cNvCxnSpPr>
            <a:cxnSpLocks/>
          </p:cNvCxnSpPr>
          <p:nvPr/>
        </p:nvCxnSpPr>
        <p:spPr>
          <a:xfrm>
            <a:off x="5954075" y="298648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F2DA082-5A74-99B5-A428-084D99B9197E}"/>
                  </a:ext>
                </a:extLst>
              </p:cNvPr>
              <p:cNvSpPr txBox="1"/>
              <p:nvPr/>
            </p:nvSpPr>
            <p:spPr>
              <a:xfrm>
                <a:off x="5379384" y="2713850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F2DA082-5A74-99B5-A428-084D99B91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384" y="2713850"/>
                <a:ext cx="474822" cy="3260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F5B833DD-17DC-A515-672F-94866F320BC0}"/>
              </a:ext>
            </a:extLst>
          </p:cNvPr>
          <p:cNvSpPr/>
          <p:nvPr/>
        </p:nvSpPr>
        <p:spPr>
          <a:xfrm rot="1819476">
            <a:off x="5905485" y="2600437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F636F2D4-57C7-8ED9-68E0-4EC994DC7E03}"/>
              </a:ext>
            </a:extLst>
          </p:cNvPr>
          <p:cNvSpPr/>
          <p:nvPr/>
        </p:nvSpPr>
        <p:spPr>
          <a:xfrm rot="10130253">
            <a:off x="5120886" y="1722203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AF6C7F42-DB9C-1686-2539-EE333CB85AAD}"/>
              </a:ext>
            </a:extLst>
          </p:cNvPr>
          <p:cNvSpPr/>
          <p:nvPr/>
        </p:nvSpPr>
        <p:spPr>
          <a:xfrm rot="10172292">
            <a:off x="5499307" y="1898379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3" name="Flowchart: Delay 224">
            <a:extLst>
              <a:ext uri="{FF2B5EF4-FFF2-40B4-BE49-F238E27FC236}">
                <a16:creationId xmlns:a16="http://schemas.microsoft.com/office/drawing/2014/main" id="{917CFC08-2E5F-5928-24DB-98E8C18A73BD}"/>
              </a:ext>
            </a:extLst>
          </p:cNvPr>
          <p:cNvSpPr/>
          <p:nvPr/>
        </p:nvSpPr>
        <p:spPr>
          <a:xfrm rot="16200000">
            <a:off x="360873" y="2493872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0AB9A6-8AAE-233F-BAD9-F7DDAA6D4667}"/>
              </a:ext>
            </a:extLst>
          </p:cNvPr>
          <p:cNvSpPr/>
          <p:nvPr/>
        </p:nvSpPr>
        <p:spPr>
          <a:xfrm rot="7210911">
            <a:off x="660245" y="2680872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40DF9C22-5816-F57E-7FC7-35D20736321C}"/>
              </a:ext>
            </a:extLst>
          </p:cNvPr>
          <p:cNvSpPr/>
          <p:nvPr/>
        </p:nvSpPr>
        <p:spPr>
          <a:xfrm rot="20969975">
            <a:off x="381647" y="2774276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C406BD1-5618-110C-AEB7-7D35C45CE162}"/>
              </a:ext>
            </a:extLst>
          </p:cNvPr>
          <p:cNvSpPr/>
          <p:nvPr/>
        </p:nvSpPr>
        <p:spPr>
          <a:xfrm>
            <a:off x="107273" y="2995586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27CB59-2A5F-8CBF-8769-CED3083F0E4E}"/>
              </a:ext>
            </a:extLst>
          </p:cNvPr>
          <p:cNvSpPr/>
          <p:nvPr/>
        </p:nvSpPr>
        <p:spPr>
          <a:xfrm>
            <a:off x="203339" y="3095656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B91C179-803B-4F1E-5179-C752F859D072}"/>
              </a:ext>
            </a:extLst>
          </p:cNvPr>
          <p:cNvSpPr/>
          <p:nvPr/>
        </p:nvSpPr>
        <p:spPr>
          <a:xfrm flipV="1">
            <a:off x="325202" y="3186028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624451-7A46-7FE8-C6FB-8EBB8C718872}"/>
              </a:ext>
            </a:extLst>
          </p:cNvPr>
          <p:cNvSpPr/>
          <p:nvPr/>
        </p:nvSpPr>
        <p:spPr>
          <a:xfrm rot="5400000">
            <a:off x="612005" y="3154647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027E0AC-6D9C-7F48-4902-44E2D8025C40}"/>
              </a:ext>
            </a:extLst>
          </p:cNvPr>
          <p:cNvSpPr/>
          <p:nvPr/>
        </p:nvSpPr>
        <p:spPr>
          <a:xfrm flipV="1">
            <a:off x="436466" y="3186028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391CC74-74AC-FA68-1431-B19C70D0D28E}"/>
              </a:ext>
            </a:extLst>
          </p:cNvPr>
          <p:cNvCxnSpPr>
            <a:cxnSpLocks/>
          </p:cNvCxnSpPr>
          <p:nvPr/>
        </p:nvCxnSpPr>
        <p:spPr>
          <a:xfrm>
            <a:off x="300485" y="300291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5EC45D-5FB2-8C13-D693-3CCB53C186F6}"/>
              </a:ext>
            </a:extLst>
          </p:cNvPr>
          <p:cNvCxnSpPr>
            <a:cxnSpLocks/>
          </p:cNvCxnSpPr>
          <p:nvPr/>
        </p:nvCxnSpPr>
        <p:spPr>
          <a:xfrm>
            <a:off x="522325" y="299498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7284B0-F8E5-0421-DB60-2F923641B849}"/>
              </a:ext>
            </a:extLst>
          </p:cNvPr>
          <p:cNvCxnSpPr>
            <a:cxnSpLocks/>
          </p:cNvCxnSpPr>
          <p:nvPr/>
        </p:nvCxnSpPr>
        <p:spPr>
          <a:xfrm>
            <a:off x="728319" y="297913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8F0FB74-9EBA-86B6-D515-24EC60D1AAA7}"/>
                  </a:ext>
                </a:extLst>
              </p:cNvPr>
              <p:cNvSpPr txBox="1"/>
              <p:nvPr/>
            </p:nvSpPr>
            <p:spPr>
              <a:xfrm>
                <a:off x="153627" y="2706506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8F0FB74-9EBA-86B6-D515-24EC60D1A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27" y="2706506"/>
                <a:ext cx="474822" cy="3260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ectangle 54">
            <a:extLst>
              <a:ext uri="{FF2B5EF4-FFF2-40B4-BE49-F238E27FC236}">
                <a16:creationId xmlns:a16="http://schemas.microsoft.com/office/drawing/2014/main" id="{6656019D-D7CC-4E21-69C5-4FB5396C52FD}"/>
              </a:ext>
            </a:extLst>
          </p:cNvPr>
          <p:cNvSpPr/>
          <p:nvPr/>
        </p:nvSpPr>
        <p:spPr>
          <a:xfrm rot="1819476">
            <a:off x="679729" y="2593092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6" name="Flowchart: Delay 237">
            <a:extLst>
              <a:ext uri="{FF2B5EF4-FFF2-40B4-BE49-F238E27FC236}">
                <a16:creationId xmlns:a16="http://schemas.microsoft.com/office/drawing/2014/main" id="{7A89579A-18D4-00C4-0121-1DF10B6CA7B5}"/>
              </a:ext>
            </a:extLst>
          </p:cNvPr>
          <p:cNvSpPr/>
          <p:nvPr/>
        </p:nvSpPr>
        <p:spPr>
          <a:xfrm rot="16200000">
            <a:off x="2249197" y="2501217"/>
            <a:ext cx="339421" cy="654488"/>
          </a:xfrm>
          <a:prstGeom prst="flowChartDelay">
            <a:avLst/>
          </a:prstGeom>
          <a:solidFill>
            <a:schemeClr val="bg1">
              <a:lumMod val="8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4E1197-E230-A60F-2E15-6DF1889A5FFA}"/>
              </a:ext>
            </a:extLst>
          </p:cNvPr>
          <p:cNvSpPr/>
          <p:nvPr/>
        </p:nvSpPr>
        <p:spPr>
          <a:xfrm rot="7210911">
            <a:off x="2548568" y="2688217"/>
            <a:ext cx="157482" cy="10368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62C9490-09CF-42AE-CD9F-5DDB8CD6580F}"/>
              </a:ext>
            </a:extLst>
          </p:cNvPr>
          <p:cNvSpPr/>
          <p:nvPr/>
        </p:nvSpPr>
        <p:spPr>
          <a:xfrm rot="20969975">
            <a:off x="2269971" y="2781622"/>
            <a:ext cx="400235" cy="321165"/>
          </a:xfrm>
          <a:prstGeom prst="arc">
            <a:avLst/>
          </a:prstGeom>
          <a:ln w="317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4B10AF4-37E2-7421-0ED2-6EB811AE0022}"/>
              </a:ext>
            </a:extLst>
          </p:cNvPr>
          <p:cNvSpPr/>
          <p:nvPr/>
        </p:nvSpPr>
        <p:spPr>
          <a:xfrm>
            <a:off x="1995597" y="3002932"/>
            <a:ext cx="858216" cy="82375"/>
          </a:xfrm>
          <a:prstGeom prst="rect">
            <a:avLst/>
          </a:prstGeom>
          <a:solidFill>
            <a:srgbClr val="E0B598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50649AF-7F2A-774D-567E-FBC957E4A71A}"/>
              </a:ext>
            </a:extLst>
          </p:cNvPr>
          <p:cNvSpPr/>
          <p:nvPr/>
        </p:nvSpPr>
        <p:spPr>
          <a:xfrm>
            <a:off x="2091663" y="3103001"/>
            <a:ext cx="654489" cy="206245"/>
          </a:xfrm>
          <a:prstGeom prst="rect">
            <a:avLst/>
          </a:prstGeom>
          <a:solidFill>
            <a:srgbClr val="E1BE97"/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DA219-57FD-5774-3396-D9F6C9732A1D}"/>
              </a:ext>
            </a:extLst>
          </p:cNvPr>
          <p:cNvSpPr/>
          <p:nvPr/>
        </p:nvSpPr>
        <p:spPr>
          <a:xfrm flipV="1">
            <a:off x="2213526" y="3193374"/>
            <a:ext cx="32520" cy="20096"/>
          </a:xfrm>
          <a:prstGeom prst="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40D5EA-8760-AAC0-CFD6-91EFCC4B38E4}"/>
              </a:ext>
            </a:extLst>
          </p:cNvPr>
          <p:cNvSpPr/>
          <p:nvPr/>
        </p:nvSpPr>
        <p:spPr>
          <a:xfrm rot="5400000">
            <a:off x="2500328" y="3161993"/>
            <a:ext cx="114573" cy="177333"/>
          </a:xfrm>
          <a:prstGeom prst="rect">
            <a:avLst/>
          </a:prstGeom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7A52F6F-A96A-0498-14DD-36996578F608}"/>
              </a:ext>
            </a:extLst>
          </p:cNvPr>
          <p:cNvSpPr/>
          <p:nvPr/>
        </p:nvSpPr>
        <p:spPr>
          <a:xfrm flipV="1">
            <a:off x="2324790" y="3193374"/>
            <a:ext cx="32516" cy="2009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1DAC79D-345E-7D33-5838-FB6155C174A8}"/>
              </a:ext>
            </a:extLst>
          </p:cNvPr>
          <p:cNvCxnSpPr>
            <a:cxnSpLocks/>
          </p:cNvCxnSpPr>
          <p:nvPr/>
        </p:nvCxnSpPr>
        <p:spPr>
          <a:xfrm>
            <a:off x="2188808" y="3010255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CD8C03E-456A-9B35-698E-CDE0738CBE15}"/>
              </a:ext>
            </a:extLst>
          </p:cNvPr>
          <p:cNvCxnSpPr>
            <a:cxnSpLocks/>
          </p:cNvCxnSpPr>
          <p:nvPr/>
        </p:nvCxnSpPr>
        <p:spPr>
          <a:xfrm>
            <a:off x="2410648" y="300233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2590FCC-7DF3-1765-1871-B4DB6F1E69C1}"/>
              </a:ext>
            </a:extLst>
          </p:cNvPr>
          <p:cNvCxnSpPr>
            <a:cxnSpLocks/>
          </p:cNvCxnSpPr>
          <p:nvPr/>
        </p:nvCxnSpPr>
        <p:spPr>
          <a:xfrm>
            <a:off x="2616642" y="2986480"/>
            <a:ext cx="0" cy="9214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184F0F6-0DEB-2D9E-A3E6-22BC78FC961B}"/>
                  </a:ext>
                </a:extLst>
              </p:cNvPr>
              <p:cNvSpPr txBox="1"/>
              <p:nvPr/>
            </p:nvSpPr>
            <p:spPr>
              <a:xfrm>
                <a:off x="2041950" y="2713850"/>
                <a:ext cx="474822" cy="326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184F0F6-0DEB-2D9E-A3E6-22BC78FC9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950" y="2713850"/>
                <a:ext cx="474822" cy="3260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67">
            <a:extLst>
              <a:ext uri="{FF2B5EF4-FFF2-40B4-BE49-F238E27FC236}">
                <a16:creationId xmlns:a16="http://schemas.microsoft.com/office/drawing/2014/main" id="{A080BDED-E5D7-4672-BBC1-B9D770E03548}"/>
              </a:ext>
            </a:extLst>
          </p:cNvPr>
          <p:cNvSpPr/>
          <p:nvPr/>
        </p:nvSpPr>
        <p:spPr>
          <a:xfrm rot="1819476">
            <a:off x="2568052" y="2600437"/>
            <a:ext cx="232129" cy="824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F4C057CC-8C18-1082-A99D-D992F4E32C7E}"/>
              </a:ext>
            </a:extLst>
          </p:cNvPr>
          <p:cNvSpPr/>
          <p:nvPr/>
        </p:nvSpPr>
        <p:spPr>
          <a:xfrm rot="10130253">
            <a:off x="1783453" y="1722203"/>
            <a:ext cx="921223" cy="679557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9B1D4C0A-DCE5-67C6-DCC9-57AD01455673}"/>
              </a:ext>
            </a:extLst>
          </p:cNvPr>
          <p:cNvSpPr/>
          <p:nvPr/>
        </p:nvSpPr>
        <p:spPr>
          <a:xfrm rot="10172292">
            <a:off x="2161874" y="1898379"/>
            <a:ext cx="573419" cy="309786"/>
          </a:xfrm>
          <a:prstGeom prst="arc">
            <a:avLst/>
          </a:prstGeom>
          <a:ln w="25400">
            <a:solidFill>
              <a:srgbClr val="FF71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42448B8-8585-51AA-04F4-E5EFEA0CB29B}"/>
              </a:ext>
            </a:extLst>
          </p:cNvPr>
          <p:cNvSpPr/>
          <p:nvPr/>
        </p:nvSpPr>
        <p:spPr>
          <a:xfrm>
            <a:off x="1516907" y="4176395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936E8D7-A3A3-1CD3-884A-1E49972D6086}"/>
              </a:ext>
            </a:extLst>
          </p:cNvPr>
          <p:cNvSpPr/>
          <p:nvPr/>
        </p:nvSpPr>
        <p:spPr>
          <a:xfrm rot="19975982">
            <a:off x="473718" y="3680474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8FA13A6-0BAE-CCD3-532E-8E0D76F9C1F1}"/>
              </a:ext>
            </a:extLst>
          </p:cNvPr>
          <p:cNvSpPr/>
          <p:nvPr/>
        </p:nvSpPr>
        <p:spPr>
          <a:xfrm rot="1276279">
            <a:off x="2435286" y="3673752"/>
            <a:ext cx="53513" cy="26909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ED22A91-FA5B-3805-1119-9597DDAA78CC}"/>
              </a:ext>
            </a:extLst>
          </p:cNvPr>
          <p:cNvSpPr/>
          <p:nvPr/>
        </p:nvSpPr>
        <p:spPr>
          <a:xfrm>
            <a:off x="1954142" y="3885828"/>
            <a:ext cx="242785" cy="257104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C37BF9-F45D-0975-911F-80C00343674A}"/>
                  </a:ext>
                </a:extLst>
              </p:cNvPr>
              <p:cNvSpPr txBox="1"/>
              <p:nvPr/>
            </p:nvSpPr>
            <p:spPr>
              <a:xfrm>
                <a:off x="1953880" y="3879117"/>
                <a:ext cx="250349" cy="296428"/>
              </a:xfrm>
              <a:prstGeom prst="rect">
                <a:avLst/>
              </a:prstGeom>
              <a:noFill/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C37BF9-F45D-0975-911F-80C003436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80" y="3879117"/>
                <a:ext cx="250349" cy="2964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CBE9A32-99E2-6008-2F14-401591BFF6A3}"/>
                  </a:ext>
                </a:extLst>
              </p:cNvPr>
              <p:cNvSpPr txBox="1"/>
              <p:nvPr/>
            </p:nvSpPr>
            <p:spPr>
              <a:xfrm>
                <a:off x="51595" y="1950341"/>
                <a:ext cx="497779" cy="35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CBE9A32-99E2-6008-2F14-401591BFF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5" y="1950341"/>
                <a:ext cx="497779" cy="355713"/>
              </a:xfrm>
              <a:prstGeom prst="rect">
                <a:avLst/>
              </a:prstGeom>
              <a:blipFill>
                <a:blip r:embed="rId12"/>
                <a:stretch>
                  <a:fillRect l="-2439" r="-4878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0E53B21-8311-C1C2-7C53-C6D9945CA66C}"/>
                  </a:ext>
                </a:extLst>
              </p:cNvPr>
              <p:cNvSpPr txBox="1"/>
              <p:nvPr/>
            </p:nvSpPr>
            <p:spPr>
              <a:xfrm>
                <a:off x="3272735" y="1974123"/>
                <a:ext cx="497779" cy="3557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0E53B21-8311-C1C2-7C53-C6D9945CA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735" y="1974123"/>
                <a:ext cx="497779" cy="355713"/>
              </a:xfrm>
              <a:prstGeom prst="rect">
                <a:avLst/>
              </a:prstGeom>
              <a:blipFill>
                <a:blip r:embed="rId13"/>
                <a:stretch>
                  <a:fillRect l="-2439" r="-2439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2DDCEFD5-6748-8143-2A46-92C4320D0FB0}"/>
              </a:ext>
            </a:extLst>
          </p:cNvPr>
          <p:cNvSpPr txBox="1"/>
          <p:nvPr/>
        </p:nvSpPr>
        <p:spPr>
          <a:xfrm>
            <a:off x="7752164" y="3011010"/>
            <a:ext cx="42862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PRA 106,032424(2022), PRL 130,160801(2023)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AD0263C-57E8-DEBB-6AFC-3B73372B8CFF}"/>
              </a:ext>
            </a:extLst>
          </p:cNvPr>
          <p:cNvSpPr txBox="1"/>
          <p:nvPr/>
        </p:nvSpPr>
        <p:spPr>
          <a:xfrm>
            <a:off x="7739699" y="3933168"/>
            <a:ext cx="40365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PRA 109, 052434(2024),  PRR 7, 023154(2025)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D5B5A8E-E07D-FE60-F034-11AEFE8145EA}"/>
              </a:ext>
            </a:extLst>
          </p:cNvPr>
          <p:cNvSpPr txBox="1"/>
          <p:nvPr/>
        </p:nvSpPr>
        <p:spPr>
          <a:xfrm>
            <a:off x="2091663" y="5119342"/>
            <a:ext cx="5396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However, 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57A7423-F5DC-99BC-46B2-3F2958C2DB55}"/>
              </a:ext>
            </a:extLst>
          </p:cNvPr>
          <p:cNvSpPr/>
          <p:nvPr/>
        </p:nvSpPr>
        <p:spPr>
          <a:xfrm>
            <a:off x="1879376" y="5479746"/>
            <a:ext cx="8277497" cy="1319825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These studies are always case-by-case and based on Fisher information, while the quantum Fisher information is trivial. 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There is no </a:t>
            </a:r>
            <a:r>
              <a:rPr lang="en-CA" sz="1600" dirty="0">
                <a:solidFill>
                  <a:schemeClr val="tx1"/>
                </a:solidFill>
              </a:rPr>
              <a:t>prescription for finding </a:t>
            </a:r>
            <a:r>
              <a:rPr lang="en-US" sz="1600" dirty="0">
                <a:solidFill>
                  <a:schemeClr val="tx1"/>
                </a:solidFill>
              </a:rPr>
              <a:t>optimal entanglement-assisted protocols </a:t>
            </a:r>
          </a:p>
        </p:txBody>
      </p:sp>
    </p:spTree>
    <p:extLst>
      <p:ext uri="{BB962C8B-B14F-4D97-AF65-F5344CB8AC3E}">
        <p14:creationId xmlns:p14="http://schemas.microsoft.com/office/powerpoint/2010/main" val="1145793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F176EB-A8CE-22C3-559C-21CC1877393A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2DF087-A679-CE95-F105-97CBEF1B2866}"/>
              </a:ext>
            </a:extLst>
          </p:cNvPr>
          <p:cNvSpPr txBox="1"/>
          <p:nvPr/>
        </p:nvSpPr>
        <p:spPr>
          <a:xfrm>
            <a:off x="-1" y="404686"/>
            <a:ext cx="1001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Super-selection rule: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4F41AA-FA5A-C9C8-1450-B7237DE73775}"/>
              </a:ext>
            </a:extLst>
          </p:cNvPr>
          <p:cNvSpPr/>
          <p:nvPr/>
        </p:nvSpPr>
        <p:spPr>
          <a:xfrm>
            <a:off x="1782612" y="1059915"/>
            <a:ext cx="8328780" cy="1023937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/>
              <a:t>“The resource should not only be a </a:t>
            </a:r>
            <a:r>
              <a:rPr lang="en-US" i="1" dirty="0">
                <a:solidFill>
                  <a:srgbClr val="00B050"/>
                </a:solidFill>
              </a:rPr>
              <a:t>nonlocal resource </a:t>
            </a:r>
            <a:r>
              <a:rPr lang="en-US" i="1" dirty="0">
                <a:solidFill>
                  <a:schemeClr val="tx1"/>
                </a:solidFill>
              </a:rPr>
              <a:t>to overcome </a:t>
            </a:r>
            <a:r>
              <a:rPr lang="en-US" i="1" dirty="0">
                <a:solidFill>
                  <a:srgbClr val="00B050"/>
                </a:solidFill>
              </a:rPr>
              <a:t>locality</a:t>
            </a:r>
            <a:r>
              <a:rPr lang="en-US" i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i="1" dirty="0">
                <a:solidFill>
                  <a:schemeClr val="tx1"/>
                </a:solidFill>
              </a:rPr>
              <a:t> but also, a </a:t>
            </a:r>
            <a:r>
              <a:rPr lang="en-US" i="1" dirty="0">
                <a:solidFill>
                  <a:srgbClr val="00B0F0"/>
                </a:solidFill>
              </a:rPr>
              <a:t>quantum phase reference </a:t>
            </a:r>
            <a:r>
              <a:rPr lang="en-US" i="1" dirty="0">
                <a:solidFill>
                  <a:schemeClr val="tx1"/>
                </a:solidFill>
              </a:rPr>
              <a:t>to overcome </a:t>
            </a:r>
            <a:r>
              <a:rPr lang="en-US" i="1" dirty="0">
                <a:solidFill>
                  <a:srgbClr val="00B0F0"/>
                </a:solidFill>
              </a:rPr>
              <a:t>the Super-selection rule”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D0D72A-92C3-3F55-8AE2-3BB6121CADE2}"/>
                  </a:ext>
                </a:extLst>
              </p:cNvPr>
              <p:cNvSpPr txBox="1"/>
              <p:nvPr/>
            </p:nvSpPr>
            <p:spPr>
              <a:xfrm>
                <a:off x="301302" y="2497607"/>
                <a:ext cx="11849100" cy="2091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Consider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1" dirty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defined relative to Alice phase reference frame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600" i="1" dirty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600" dirty="0"/>
                  <a:t> in the photon number basis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The state will be described differently in Charlie’s perspective by a unitary transformation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  <m:acc>
                          <m:accPr>
                            <m:chr m:val="̂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In the situation where the phase differences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are completely unknown by Charlie: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D0D72A-92C3-3F55-8AE2-3BB6121CA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02" y="2497607"/>
                <a:ext cx="11849100" cy="2091278"/>
              </a:xfrm>
              <a:prstGeom prst="rect">
                <a:avLst/>
              </a:prstGeom>
              <a:blipFill>
                <a:blip r:embed="rId3"/>
                <a:stretch>
                  <a:fillRect l="-214" t="-18072" b="-3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EC2CCD74-4B1D-8447-A658-7BCB8CC11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494" y="3429000"/>
            <a:ext cx="4125016" cy="6291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E34D98-619D-9EAF-CE87-7402DFDA5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486" y="4883563"/>
            <a:ext cx="9646732" cy="63552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E7E8CA-56B0-4152-9D1F-5DB2F10D4802}"/>
              </a:ext>
            </a:extLst>
          </p:cNvPr>
          <p:cNvCxnSpPr/>
          <p:nvPr/>
        </p:nvCxnSpPr>
        <p:spPr>
          <a:xfrm flipV="1">
            <a:off x="2522764" y="5636198"/>
            <a:ext cx="465365" cy="3673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C80C83-3EE2-35D2-1096-77F5566DA305}"/>
                  </a:ext>
                </a:extLst>
              </p:cNvPr>
              <p:cNvSpPr txBox="1"/>
              <p:nvPr/>
            </p:nvSpPr>
            <p:spPr>
              <a:xfrm>
                <a:off x="121333" y="6055918"/>
                <a:ext cx="903786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This is known as particle-number (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200" dirty="0"/>
                  <a:t>) super-selection rule, which erase all the </a:t>
                </a:r>
                <a:r>
                  <a:rPr lang="en-US" sz="1200" dirty="0">
                    <a:solidFill>
                      <a:srgbClr val="F08D20"/>
                    </a:solidFill>
                  </a:rPr>
                  <a:t>phase information</a:t>
                </a:r>
                <a:r>
                  <a:rPr lang="en-US" sz="1200" dirty="0"/>
                  <a:t> among number basis.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C80C83-3EE2-35D2-1096-77F5566DA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33" y="6055918"/>
                <a:ext cx="9037865" cy="276999"/>
              </a:xfrm>
              <a:prstGeom prst="rect">
                <a:avLst/>
              </a:prstGeom>
              <a:blipFill>
                <a:blip r:embed="rId6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53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36E050-4F86-5C8D-5541-7AA3D7E90FB0}"/>
              </a:ext>
            </a:extLst>
          </p:cNvPr>
          <p:cNvSpPr/>
          <p:nvPr/>
        </p:nvSpPr>
        <p:spPr>
          <a:xfrm>
            <a:off x="480442" y="914390"/>
            <a:ext cx="9919004" cy="590853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10085B-D8EF-7203-E231-249463391DE4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ADD73B-79C8-E2BF-2F2A-B7603B70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40" y="3518440"/>
            <a:ext cx="9265920" cy="151074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048E221-6A22-05B4-B9FC-45C58C70DD71}"/>
              </a:ext>
            </a:extLst>
          </p:cNvPr>
          <p:cNvSpPr/>
          <p:nvPr/>
        </p:nvSpPr>
        <p:spPr>
          <a:xfrm>
            <a:off x="815926" y="3518441"/>
            <a:ext cx="9706810" cy="1510748"/>
          </a:xfrm>
          <a:prstGeom prst="rect">
            <a:avLst/>
          </a:prstGeom>
          <a:solidFill>
            <a:srgbClr val="FFC000">
              <a:alpha val="0"/>
            </a:srgbClr>
          </a:solidFill>
          <a:ln w="508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2269F-9B1E-5239-22DF-2197C77CBE09}"/>
              </a:ext>
            </a:extLst>
          </p:cNvPr>
          <p:cNvSpPr txBox="1"/>
          <p:nvPr/>
        </p:nvSpPr>
        <p:spPr>
          <a:xfrm>
            <a:off x="-1" y="404686"/>
            <a:ext cx="1001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Super-selection rule constrained quantum estimation problem: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EFC31E-4ABA-8901-C4F9-9F01C62E6664}"/>
                  </a:ext>
                </a:extLst>
              </p:cNvPr>
              <p:cNvSpPr txBox="1"/>
              <p:nvPr/>
            </p:nvSpPr>
            <p:spPr>
              <a:xfrm>
                <a:off x="505156" y="914390"/>
                <a:ext cx="11516715" cy="5578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 </a:t>
                </a:r>
                <a:r>
                  <a:rPr lang="en-US" altLang="zh-CN" sz="1600" dirty="0"/>
                  <a:t>Recall the task:  </a:t>
                </a:r>
                <a:r>
                  <a:rPr lang="en-US" sz="1600" dirty="0"/>
                  <a:t>We want to estimate g in state: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If no super-selection rule exists (i.e., ideal direct interference): the QFI of estimating g is given as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If we consider the SSR constraint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And therefore, the achievable QFI always scales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,  which explains why the intensity interferometer (</a:t>
                </a:r>
                <a:r>
                  <a:rPr lang="en-CA" dirty="0"/>
                  <a:t>Hanbury Brown-Twiss (HBT) </a:t>
                </a:r>
                <a:r>
                  <a:rPr lang="en-US" sz="1600" dirty="0"/>
                  <a:t>) is not quite useful in astronomical imaging.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EFC31E-4ABA-8901-C4F9-9F01C62E6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56" y="914390"/>
                <a:ext cx="11516715" cy="5578194"/>
              </a:xfrm>
              <a:prstGeom prst="rect">
                <a:avLst/>
              </a:prstGeom>
              <a:blipFill>
                <a:blip r:embed="rId4"/>
                <a:stretch>
                  <a:fillRect l="-441" b="-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EBBC308-1738-C1CB-5654-E2B0D1247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861" y="2273164"/>
            <a:ext cx="6455900" cy="624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DD6FC4-CF59-2CEE-66F5-5E7F48BE9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408" y="5154806"/>
            <a:ext cx="7015843" cy="54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1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uiExpand="1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2CD0F-D5B6-335E-2A37-F03549C4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A2A0B8-C7BB-055C-FD70-F643E9852871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8D810-84C4-A876-7B58-36B2C5ECCF60}"/>
              </a:ext>
            </a:extLst>
          </p:cNvPr>
          <p:cNvSpPr txBox="1"/>
          <p:nvPr/>
        </p:nvSpPr>
        <p:spPr>
          <a:xfrm>
            <a:off x="-1" y="404686"/>
            <a:ext cx="1001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Super-selection rule constrained quantum estimation problem: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5E7DA1-7D9D-FC83-BC15-35408BCC3F12}"/>
                  </a:ext>
                </a:extLst>
              </p:cNvPr>
              <p:cNvSpPr txBox="1"/>
              <p:nvPr/>
            </p:nvSpPr>
            <p:spPr>
              <a:xfrm>
                <a:off x="505156" y="914390"/>
                <a:ext cx="11516715" cy="453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/>
                  <a:t> </a:t>
                </a:r>
                <a:r>
                  <a:rPr lang="en-US" altLang="zh-CN" sz="1600" dirty="0"/>
                  <a:t>Recall the task:  </a:t>
                </a:r>
                <a:r>
                  <a:rPr lang="en-US" sz="1600" dirty="0"/>
                  <a:t>We want to estimate g in source state: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 </a:t>
                </a:r>
              </a:p>
              <a:p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If no super-selection rule exists: the QFI of estimating g is given as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If we consider the SSR constraints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And therefore, the achievable QFI always scales at most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 (This explain why intensity interferometer is not efficient. )</a:t>
                </a:r>
              </a:p>
              <a:p>
                <a:endParaRPr lang="en-US" sz="1600" dirty="0"/>
              </a:p>
              <a:p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What if we consider the SSR constraints and phase reference resources, i.e., an ancillary state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𝐴𝐵</m:t>
                        </m:r>
                      </m:sup>
                    </m:sSubSup>
                  </m:oMath>
                </a14:m>
                <a:r>
                  <a:rPr lang="en-US" sz="1600" dirty="0"/>
                  <a:t>:</a:t>
                </a:r>
              </a:p>
              <a:p>
                <a:endParaRPr lang="en-US" sz="16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5E7DA1-7D9D-FC83-BC15-35408BCC3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56" y="914390"/>
                <a:ext cx="11516715" cy="4532459"/>
              </a:xfrm>
              <a:prstGeom prst="rect">
                <a:avLst/>
              </a:prstGeom>
              <a:blipFill>
                <a:blip r:embed="rId3"/>
                <a:stretch>
                  <a:fillRect l="-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7422CB3-F5B5-6BC2-A395-62D9DDA0A2B2}"/>
              </a:ext>
            </a:extLst>
          </p:cNvPr>
          <p:cNvSpPr/>
          <p:nvPr/>
        </p:nvSpPr>
        <p:spPr>
          <a:xfrm>
            <a:off x="505156" y="914390"/>
            <a:ext cx="9919004" cy="590853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1CC461-A515-EC69-3555-D05DC4C1C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861" y="2273164"/>
            <a:ext cx="6455900" cy="624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F6F151-EA9E-63AF-187A-1E4F766B7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5591" y="3382916"/>
            <a:ext cx="7015843" cy="5427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4B6A82-D978-35ED-4D4F-BECB8C34E5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701" y="5004630"/>
            <a:ext cx="4460983" cy="58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0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7B5BD3-89E4-75A3-4837-3F7B05EBBB8F}"/>
              </a:ext>
            </a:extLst>
          </p:cNvPr>
          <p:cNvSpPr/>
          <p:nvPr/>
        </p:nvSpPr>
        <p:spPr>
          <a:xfrm>
            <a:off x="1341023" y="2128644"/>
            <a:ext cx="9923932" cy="2473626"/>
          </a:xfrm>
          <a:prstGeom prst="rect">
            <a:avLst/>
          </a:prstGeom>
          <a:solidFill>
            <a:srgbClr val="FFC000">
              <a:alpha val="0"/>
            </a:srgbClr>
          </a:solidFill>
          <a:ln w="508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CCD4ED-ECA8-69D4-71EC-007CC95D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59" y="2283613"/>
            <a:ext cx="9817796" cy="1097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613475-E6C0-AD5B-8F08-18C362A37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815" y="3507111"/>
            <a:ext cx="6717847" cy="95798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BB8B77-A8D3-EA27-402D-751B35251848}"/>
              </a:ext>
            </a:extLst>
          </p:cNvPr>
          <p:cNvCxnSpPr>
            <a:cxnSpLocks/>
          </p:cNvCxnSpPr>
          <p:nvPr/>
        </p:nvCxnSpPr>
        <p:spPr>
          <a:xfrm>
            <a:off x="1720905" y="1948878"/>
            <a:ext cx="367393" cy="326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187ECE8-8754-4851-010D-5FF5ACA95E09}"/>
              </a:ext>
            </a:extLst>
          </p:cNvPr>
          <p:cNvSpPr txBox="1"/>
          <p:nvPr/>
        </p:nvSpPr>
        <p:spPr>
          <a:xfrm>
            <a:off x="457361" y="1681855"/>
            <a:ext cx="7256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Adding ancillary state (phase reference), will not give QFI greater than the optimal one (no SSR)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3F25A-AD2F-8B05-FF79-A2BF13B0EEB8}"/>
              </a:ext>
            </a:extLst>
          </p:cNvPr>
          <p:cNvSpPr txBox="1"/>
          <p:nvPr/>
        </p:nvSpPr>
        <p:spPr>
          <a:xfrm>
            <a:off x="-1" y="404686"/>
            <a:ext cx="1001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Super-selection rule constrained quantum estimation problem: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1C1C54-5ABA-259C-0146-656F9040F311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BCD3BF-B304-C691-EE5F-7AE288771A79}"/>
              </a:ext>
            </a:extLst>
          </p:cNvPr>
          <p:cNvCxnSpPr>
            <a:cxnSpLocks/>
          </p:cNvCxnSpPr>
          <p:nvPr/>
        </p:nvCxnSpPr>
        <p:spPr>
          <a:xfrm flipV="1">
            <a:off x="4655187" y="4435264"/>
            <a:ext cx="509102" cy="5853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BCAF6E-1C27-BF4A-CABE-29AC3F7459FB}"/>
              </a:ext>
            </a:extLst>
          </p:cNvPr>
          <p:cNvSpPr txBox="1"/>
          <p:nvPr/>
        </p:nvSpPr>
        <p:spPr>
          <a:xfrm>
            <a:off x="4085426" y="5037645"/>
            <a:ext cx="1211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QFI-ratio</a:t>
            </a:r>
          </a:p>
        </p:txBody>
      </p:sp>
    </p:spTree>
    <p:extLst>
      <p:ext uri="{BB962C8B-B14F-4D97-AF65-F5344CB8AC3E}">
        <p14:creationId xmlns:p14="http://schemas.microsoft.com/office/powerpoint/2010/main" val="26686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D337-5AA2-2298-7356-FB3467FB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A6E0DF-3727-C037-108C-674E06E77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297" y="1918957"/>
            <a:ext cx="10230233" cy="168535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CB2D68F-5307-8420-E15F-6B333E0F0774}"/>
              </a:ext>
            </a:extLst>
          </p:cNvPr>
          <p:cNvSpPr/>
          <p:nvPr/>
        </p:nvSpPr>
        <p:spPr>
          <a:xfrm>
            <a:off x="965469" y="1788430"/>
            <a:ext cx="10834284" cy="1947100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7BD42-06B1-15D0-8A1C-55128B77419A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C934E-C7AE-4370-729F-0945BE8A0553}"/>
              </a:ext>
            </a:extLst>
          </p:cNvPr>
          <p:cNvSpPr txBox="1"/>
          <p:nvPr/>
        </p:nvSpPr>
        <p:spPr>
          <a:xfrm>
            <a:off x="532084" y="1156342"/>
            <a:ext cx="104094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most general form of ancillary state is of the form: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 make sense of our discussion,  we consider ancilla state with bounded energy.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C0803D-52D3-7B35-A1BD-2B2D455ED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611" y="1080603"/>
            <a:ext cx="2575833" cy="62758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D1C7155-D069-7F34-7216-66C6860D9CAF}"/>
              </a:ext>
            </a:extLst>
          </p:cNvPr>
          <p:cNvSpPr/>
          <p:nvPr/>
        </p:nvSpPr>
        <p:spPr>
          <a:xfrm>
            <a:off x="968162" y="4586522"/>
            <a:ext cx="10834284" cy="2170110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75A52-75DF-4ABB-6EB9-0B89CCC2AE6F}"/>
              </a:ext>
            </a:extLst>
          </p:cNvPr>
          <p:cNvSpPr txBox="1"/>
          <p:nvPr/>
        </p:nvSpPr>
        <p:spPr>
          <a:xfrm>
            <a:off x="-1" y="404686"/>
            <a:ext cx="1001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Super-selection rule constrained quantum estimation problem: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383041-B79E-2F87-AA39-788A7644DC30}"/>
              </a:ext>
            </a:extLst>
          </p:cNvPr>
          <p:cNvSpPr/>
          <p:nvPr/>
        </p:nvSpPr>
        <p:spPr>
          <a:xfrm>
            <a:off x="10432241" y="2393818"/>
            <a:ext cx="1227675" cy="7819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8AED72-210D-8800-0875-AFFCBF7FD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98" y="4652452"/>
            <a:ext cx="7482840" cy="1123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D11AE-321A-91C7-F60D-8D941CA31D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505" y="5706644"/>
            <a:ext cx="7772400" cy="102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7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B06B-F3BE-1881-320F-C7E5467F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5D475B-CA6C-C733-C60C-E1B678BF5D57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14019-B860-DF05-3718-1E52D6A64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611" y="1080603"/>
            <a:ext cx="2575833" cy="62758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1D0C0DF-B92D-8993-C0C4-562C66750E60}"/>
              </a:ext>
            </a:extLst>
          </p:cNvPr>
          <p:cNvSpPr/>
          <p:nvPr/>
        </p:nvSpPr>
        <p:spPr>
          <a:xfrm>
            <a:off x="968162" y="4586522"/>
            <a:ext cx="10834284" cy="2170110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E73678-17B6-0A85-3122-2CDEF195DBBA}"/>
              </a:ext>
            </a:extLst>
          </p:cNvPr>
          <p:cNvSpPr txBox="1"/>
          <p:nvPr/>
        </p:nvSpPr>
        <p:spPr>
          <a:xfrm>
            <a:off x="-1" y="404686"/>
            <a:ext cx="1001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Super-selection rule constrained quantum estimation problem: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507E2-91FD-AB50-4509-62F16139D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505" y="4625868"/>
            <a:ext cx="7552464" cy="10501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780117-1237-DCF6-FC26-D13B55744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341" y="5632712"/>
            <a:ext cx="7772400" cy="10807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A4D23C5-CE3B-4A87-A480-C912E17B2DA0}"/>
              </a:ext>
            </a:extLst>
          </p:cNvPr>
          <p:cNvSpPr txBox="1"/>
          <p:nvPr/>
        </p:nvSpPr>
        <p:spPr>
          <a:xfrm>
            <a:off x="532084" y="1156342"/>
            <a:ext cx="104094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most general form of ancillary state is of the form: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 make sense of our discussion,  we consider ancilla state with bounded energy.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/>
          </a:p>
          <a:p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4536337-2B55-E49E-03D5-88C128DC0F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297" y="1918957"/>
            <a:ext cx="10230233" cy="168535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94B9CCF-F167-E7F9-26C1-2AB5D3D98FCA}"/>
              </a:ext>
            </a:extLst>
          </p:cNvPr>
          <p:cNvSpPr/>
          <p:nvPr/>
        </p:nvSpPr>
        <p:spPr>
          <a:xfrm>
            <a:off x="965469" y="1788430"/>
            <a:ext cx="10834284" cy="1947100"/>
          </a:xfrm>
          <a:prstGeom prst="rect">
            <a:avLst/>
          </a:prstGeom>
          <a:solidFill>
            <a:srgbClr val="FFC000">
              <a:alpha val="0"/>
            </a:srgbClr>
          </a:solidFill>
          <a:ln w="2540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E8F6CC-6F96-7DF5-0E9E-6C3D99EB1046}"/>
              </a:ext>
            </a:extLst>
          </p:cNvPr>
          <p:cNvSpPr/>
          <p:nvPr/>
        </p:nvSpPr>
        <p:spPr>
          <a:xfrm>
            <a:off x="10432241" y="2393818"/>
            <a:ext cx="1227675" cy="7819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2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D280C-5368-1FD3-720A-69BDAF844DC0}"/>
              </a:ext>
            </a:extLst>
          </p:cNvPr>
          <p:cNvSpPr txBox="1"/>
          <p:nvPr/>
        </p:nvSpPr>
        <p:spPr>
          <a:xfrm>
            <a:off x="104648" y="538171"/>
            <a:ext cx="4294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Specific protocols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22BB8E-DDA4-F129-D720-12DAEC76B9A9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BFA6E-CB70-19CA-6108-6C884DE23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" y="1601850"/>
            <a:ext cx="12049315" cy="3654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33B3EF-3BDD-8148-10CE-8B154506BE75}"/>
              </a:ext>
            </a:extLst>
          </p:cNvPr>
          <p:cNvSpPr/>
          <p:nvPr/>
        </p:nvSpPr>
        <p:spPr>
          <a:xfrm>
            <a:off x="1873505" y="2398254"/>
            <a:ext cx="757154" cy="5840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3228A3-0424-A448-C016-FF144B2FB952}"/>
              </a:ext>
            </a:extLst>
          </p:cNvPr>
          <p:cNvSpPr/>
          <p:nvPr/>
        </p:nvSpPr>
        <p:spPr>
          <a:xfrm>
            <a:off x="2294286" y="3875651"/>
            <a:ext cx="757154" cy="5840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04F08C-58A0-B9D6-A796-816DD0532609}"/>
              </a:ext>
            </a:extLst>
          </p:cNvPr>
          <p:cNvSpPr/>
          <p:nvPr/>
        </p:nvSpPr>
        <p:spPr>
          <a:xfrm>
            <a:off x="492369" y="3058148"/>
            <a:ext cx="1927274" cy="893302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B7DF0-6DFE-2ECF-9BF2-C7D2D50A5317}"/>
              </a:ext>
            </a:extLst>
          </p:cNvPr>
          <p:cNvSpPr txBox="1"/>
          <p:nvPr/>
        </p:nvSpPr>
        <p:spPr>
          <a:xfrm>
            <a:off x="71342" y="5925474"/>
            <a:ext cx="11684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</a:t>
            </a:r>
          </a:p>
          <a:p>
            <a:r>
              <a:rPr lang="en-US" sz="1400" dirty="0"/>
              <a:t>The KLM state was first proposed in the study of linear optical quantum computation by </a:t>
            </a:r>
            <a:r>
              <a:rPr lang="en-CA" sz="1400" b="0" i="0" u="sng" dirty="0">
                <a:solidFill>
                  <a:srgbClr val="9F3526"/>
                </a:solidFill>
                <a:effectLst/>
                <a:latin typeface="Arial" panose="020B0604020202020204" pitchFamily="34" charset="0"/>
                <a:hlinkClick r:id="rId4" tooltip="Emanuel Knill (page does not exist)"/>
              </a:rPr>
              <a:t>Knill</a:t>
            </a:r>
            <a:r>
              <a:rPr lang="en-CA" sz="1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CA" sz="1400" b="0" i="0" u="sng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Raymond Laflamme"/>
              </a:rPr>
              <a:t>Laflamme</a:t>
            </a:r>
            <a:r>
              <a:rPr lang="en-CA" sz="1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CA" sz="1400" b="0" i="0" u="sng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Gerard J. Milburn"/>
              </a:rPr>
              <a:t>Milburn</a:t>
            </a:r>
            <a:endParaRPr lang="en-US" sz="1400" u="sng" dirty="0"/>
          </a:p>
          <a:p>
            <a:r>
              <a:rPr lang="en-US" sz="1400" dirty="0"/>
              <a:t>The optimal-KLM state saturates the upper bound asymptotically,  and the state with a similar form was referred to as </a:t>
            </a:r>
            <a:r>
              <a:rPr lang="en-CA" sz="1400" dirty="0"/>
              <a:t>the Berry-Wiseman state  [ PRL 85, 5098 (2020) ] </a:t>
            </a:r>
            <a:r>
              <a:rPr lang="en-US" sz="14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02252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45A7D4-E295-B932-6D5D-8FB588F51AB8}"/>
              </a:ext>
            </a:extLst>
          </p:cNvPr>
          <p:cNvSpPr/>
          <p:nvPr/>
        </p:nvSpPr>
        <p:spPr>
          <a:xfrm>
            <a:off x="9680293" y="5827154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D280C-5368-1FD3-720A-69BDAF844DC0}"/>
              </a:ext>
            </a:extLst>
          </p:cNvPr>
          <p:cNvSpPr txBox="1"/>
          <p:nvPr/>
        </p:nvSpPr>
        <p:spPr>
          <a:xfrm>
            <a:off x="104648" y="538171"/>
            <a:ext cx="8139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Linear optical implementation (Teleportation trick)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1C416B-B2C8-74A5-B557-1A44AE482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73" y="1265692"/>
            <a:ext cx="5806385" cy="4489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2F77A4-0363-58A8-DA18-4ADF6AD94C15}"/>
              </a:ext>
            </a:extLst>
          </p:cNvPr>
          <p:cNvSpPr txBox="1"/>
          <p:nvPr/>
        </p:nvSpPr>
        <p:spPr>
          <a:xfrm>
            <a:off x="500202" y="5893052"/>
            <a:ext cx="5991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*Caveat:  A delay line quantum memory is required for one-way classical communication</a:t>
            </a:r>
            <a:r>
              <a:rPr lang="en-US" dirty="0"/>
              <a:t>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CC7633-7393-AE5A-7168-5A4D9CFBC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825" y="1856106"/>
            <a:ext cx="4794818" cy="6081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73D75-848B-AF13-8DDF-C11893E98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825" y="2601558"/>
            <a:ext cx="4794818" cy="7275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3A9612-334C-261A-853E-251E479B5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25" y="3466395"/>
            <a:ext cx="4794818" cy="8266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297280-2445-0757-67D0-7BE50778AE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825" y="4464320"/>
            <a:ext cx="4794818" cy="8266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CD1FED-854E-2CAC-ACAF-6CB39F188A82}"/>
              </a:ext>
            </a:extLst>
          </p:cNvPr>
          <p:cNvSpPr txBox="1"/>
          <p:nvPr/>
        </p:nvSpPr>
        <p:spPr>
          <a:xfrm>
            <a:off x="10155374" y="6421801"/>
            <a:ext cx="2036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arXiv:2501.16670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69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455FFEBA-D6E6-E87B-A93D-375EB308443E}"/>
              </a:ext>
            </a:extLst>
          </p:cNvPr>
          <p:cNvSpPr/>
          <p:nvPr/>
        </p:nvSpPr>
        <p:spPr>
          <a:xfrm>
            <a:off x="9680293" y="5804981"/>
            <a:ext cx="2511707" cy="9432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0D280C-5368-1FD3-720A-69BDAF844DC0}"/>
              </a:ext>
            </a:extLst>
          </p:cNvPr>
          <p:cNvSpPr txBox="1"/>
          <p:nvPr/>
        </p:nvSpPr>
        <p:spPr>
          <a:xfrm>
            <a:off x="104648" y="538170"/>
            <a:ext cx="1208735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Conclusion (and caveats):</a:t>
            </a:r>
          </a:p>
          <a:p>
            <a:endParaRPr lang="en-US" sz="20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A resource state for quantum-enhanced quantum </a:t>
            </a:r>
            <a:r>
              <a:rPr lang="en-US" dirty="0" err="1"/>
              <a:t>telescopy</a:t>
            </a:r>
            <a:r>
              <a:rPr lang="en-US" dirty="0"/>
              <a:t> should both be </a:t>
            </a:r>
            <a:r>
              <a:rPr lang="en-US" dirty="0">
                <a:solidFill>
                  <a:srgbClr val="00B050"/>
                </a:solidFill>
              </a:rPr>
              <a:t>‘nonlocal’ </a:t>
            </a:r>
            <a:r>
              <a:rPr lang="en-US" dirty="0"/>
              <a:t>and a </a:t>
            </a:r>
            <a:r>
              <a:rPr lang="en-US" dirty="0">
                <a:solidFill>
                  <a:schemeClr val="accent6"/>
                </a:solidFill>
              </a:rPr>
              <a:t>phase reference </a:t>
            </a:r>
            <a:r>
              <a:rPr lang="en-CA" dirty="0"/>
              <a:t>so as to circumvent both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locality</a:t>
            </a:r>
            <a:r>
              <a:rPr lang="en-US" dirty="0"/>
              <a:t> and the </a:t>
            </a:r>
            <a:r>
              <a:rPr lang="en-US" dirty="0">
                <a:solidFill>
                  <a:schemeClr val="accent6"/>
                </a:solidFill>
              </a:rPr>
              <a:t>SSR constraint.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The optimal quantum strategy reported here assumes</a:t>
            </a:r>
            <a:r>
              <a:rPr lang="en-US" i="1" dirty="0"/>
              <a:t> ideal, lossless </a:t>
            </a:r>
            <a:r>
              <a:rPr lang="en-US" dirty="0"/>
              <a:t>entanglement distribution, hence relies on a repeater-based quantum network.</a:t>
            </a:r>
          </a:p>
          <a:p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dirty="0"/>
              <a:t>However, our new protocols do have certain loss-robustness compared to the original GJC protocol, which utilizes only one ancilla photon, and can only offer quantum-enhancement assuming the existence of repeaters </a:t>
            </a:r>
          </a:p>
          <a:p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CA" dirty="0"/>
              <a:t>The figures of merit discussed here are </a:t>
            </a:r>
            <a:r>
              <a:rPr lang="en-CA" i="1" dirty="0"/>
              <a:t>FI/QFI per mode,</a:t>
            </a:r>
            <a:r>
              <a:rPr lang="en-CA" dirty="0"/>
              <a:t> so the optimal protocol we proposed here does not reduce the demand for </a:t>
            </a:r>
            <a:r>
              <a:rPr lang="en-CA" i="1" dirty="0"/>
              <a:t>high-rate, broadband </a:t>
            </a:r>
            <a:r>
              <a:rPr lang="en-CA" dirty="0"/>
              <a:t>photon sources (as those memory-based protocols). </a:t>
            </a:r>
            <a:r>
              <a:rPr lang="en-US" dirty="0"/>
              <a:t>Practically speaking, </a:t>
            </a:r>
            <a:r>
              <a:rPr lang="en-CA" dirty="0"/>
              <a:t>preparing the required highly mode-entangled states is currently infeasible, and quantum advantage under realistic noise remains marginal versus the N-copy SPE state.</a:t>
            </a: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84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ofWaterloo_WhiteBkgrd">
  <a:themeElements>
    <a:clrScheme name="Waterloo2016">
      <a:dk1>
        <a:sysClr val="windowText" lastClr="000000"/>
      </a:dk1>
      <a:lt1>
        <a:sysClr val="window" lastClr="FFFFFF"/>
      </a:lt1>
      <a:dk2>
        <a:srgbClr val="757575"/>
      </a:dk2>
      <a:lt2>
        <a:srgbClr val="D6D6D6"/>
      </a:lt2>
      <a:accent1>
        <a:srgbClr val="FFD54F"/>
      </a:accent1>
      <a:accent2>
        <a:srgbClr val="0C0C0C"/>
      </a:accent2>
      <a:accent3>
        <a:srgbClr val="AEAEAE"/>
      </a:accent3>
      <a:accent4>
        <a:srgbClr val="B71233"/>
      </a:accent4>
      <a:accent5>
        <a:srgbClr val="7F7F7F"/>
      </a:accent5>
      <a:accent6>
        <a:srgbClr val="0073CE"/>
      </a:accent6>
      <a:hlink>
        <a:srgbClr val="353535"/>
      </a:hlink>
      <a:folHlink>
        <a:srgbClr val="595959"/>
      </a:folHlink>
    </a:clrScheme>
    <a:fontScheme name="Custom 1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terloo_powerpoint_template_16-9_widescreen" id="{4809F9E8-56BF-8C4D-85E0-7353F442B736}" vid="{D553A0E6-7EAA-F242-A75B-21BFDE7A7B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18" ma:contentTypeDescription="Create a new document." ma:contentTypeScope="" ma:versionID="7285b9cc6bba5c9b85d94d920e7dfc07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f0270ac4df06b376f64c66cfff2f207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ba3a617-1b7a-4a30-95e2-c72e9aed8fba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72D760-2AFB-44F2-90B8-413B700CCFB1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DD9A14-7A8A-4433-ACDA-309D911B3EE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2280</TotalTime>
  <Words>1472</Words>
  <Application>Microsoft Macintosh PowerPoint</Application>
  <PresentationFormat>Widescreen</PresentationFormat>
  <Paragraphs>313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Barlow Condensed</vt:lpstr>
      <vt:lpstr>Cambria Math</vt:lpstr>
      <vt:lpstr>Georgia</vt:lpstr>
      <vt:lpstr>Verdana</vt:lpstr>
      <vt:lpstr>Wingdings</vt:lpstr>
      <vt:lpstr>UofWaterloo_WhiteBkgrd</vt:lpstr>
      <vt:lpstr>Optimal entanglement-assisted quantum telescopy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telescope in the presence of super-selection rule:  </dc:title>
  <dc:creator>Zhang, Yujie</dc:creator>
  <cp:lastModifiedBy>Yujie Zhang</cp:lastModifiedBy>
  <cp:revision>4</cp:revision>
  <dcterms:created xsi:type="dcterms:W3CDTF">2024-05-10T03:58:17Z</dcterms:created>
  <dcterms:modified xsi:type="dcterms:W3CDTF">2026-01-07T07:32:56Z</dcterms:modified>
</cp:coreProperties>
</file>