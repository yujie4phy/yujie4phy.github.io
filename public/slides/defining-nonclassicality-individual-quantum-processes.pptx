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7"/>
  </p:notesMasterIdLst>
  <p:sldIdLst>
    <p:sldId id="257" r:id="rId2"/>
    <p:sldId id="306" r:id="rId3"/>
    <p:sldId id="2533" r:id="rId4"/>
    <p:sldId id="2538" r:id="rId5"/>
    <p:sldId id="2534" r:id="rId6"/>
    <p:sldId id="2536" r:id="rId7"/>
    <p:sldId id="2535" r:id="rId8"/>
    <p:sldId id="311" r:id="rId9"/>
    <p:sldId id="2537" r:id="rId10"/>
    <p:sldId id="2540" r:id="rId11"/>
    <p:sldId id="2539" r:id="rId12"/>
    <p:sldId id="312" r:id="rId13"/>
    <p:sldId id="2497" r:id="rId14"/>
    <p:sldId id="2541" r:id="rId15"/>
    <p:sldId id="2499" r:id="rId16"/>
    <p:sldId id="2544" r:id="rId17"/>
    <p:sldId id="2500" r:id="rId18"/>
    <p:sldId id="2512" r:id="rId19"/>
    <p:sldId id="2542" r:id="rId20"/>
    <p:sldId id="2543" r:id="rId21"/>
    <p:sldId id="2527" r:id="rId22"/>
    <p:sldId id="2546" r:id="rId23"/>
    <p:sldId id="2545" r:id="rId24"/>
    <p:sldId id="272" r:id="rId25"/>
    <p:sldId id="2516" r:id="rId26"/>
    <p:sldId id="2513" r:id="rId27"/>
    <p:sldId id="309" r:id="rId28"/>
    <p:sldId id="2501" r:id="rId29"/>
    <p:sldId id="2518" r:id="rId30"/>
    <p:sldId id="2508" r:id="rId31"/>
    <p:sldId id="2509" r:id="rId32"/>
    <p:sldId id="2505" r:id="rId33"/>
    <p:sldId id="2514" r:id="rId34"/>
    <p:sldId id="2524" r:id="rId35"/>
    <p:sldId id="2525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347"/>
    <a:srgbClr val="8FAADD"/>
    <a:srgbClr val="0098FF"/>
    <a:srgbClr val="008CF3"/>
    <a:srgbClr val="FA71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18" autoAdjust="0"/>
    <p:restoredTop sz="94855"/>
  </p:normalViewPr>
  <p:slideViewPr>
    <p:cSldViewPr snapToGrid="0">
      <p:cViewPr varScale="1">
        <p:scale>
          <a:sx n="113" d="100"/>
          <a:sy n="113" d="100"/>
        </p:scale>
        <p:origin x="6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41ABA2-B144-41CB-B678-E64B6A051CDC}" type="datetimeFigureOut">
              <a:rPr lang="en-CA" smtClean="0"/>
              <a:t>2025-07-17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2B6410-3A0D-4241-8BB0-A828190FE0A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09398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B6410-3A0D-4241-8BB0-A828190FE0A3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40611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02566-F9E9-7BDF-F5F0-EE2EE7D2D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27847D-1080-B835-4611-90F5EBD86C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656A93-7A1C-1789-82C1-97F02C8A1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588D3E-2E70-71CF-DA14-C6CE277D5C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B6410-3A0D-4241-8BB0-A828190FE0A3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8715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01E40-1C08-CAEC-E4E0-1BE8768E6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8BE0A3-35A3-C16B-8745-24FDF939CE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200D26-5B6E-BED6-873E-2AE0C0F88F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B91D86-A545-8BB2-A52E-B79970D324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B6410-3A0D-4241-8BB0-A828190FE0A3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172855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793E5-F702-1AB9-9A2B-FF9B7309E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A1C746-6FD3-A169-FC14-C55B5A403D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C81468-80C2-A1C3-3CA5-7A6F6EACD7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C4D74A-3CFB-8722-D290-AB7646D1D5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B6410-3A0D-4241-8BB0-A828190FE0A3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117677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611F0-AA80-08E7-5FBC-F74189B14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89E727-E888-4F40-6014-9B091EEE60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61D8AD-179D-03ED-5D78-0EFE50A5D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D27D47-FA74-ECFF-F171-412209DA9A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B6410-3A0D-4241-8BB0-A828190FE0A3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753210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75EC-5C3F-0C18-35A4-81CDF13BC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A7AF70-9E3D-E30C-97CC-B163261AE8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CD35EB-D4A0-A801-9DB7-9A7ABF6BF3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AC3A7C-1C8F-B9A8-A876-73EEF5C19F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B6410-3A0D-4241-8BB0-A828190FE0A3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70485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6144D-76B2-FB45-11FF-1BA4413B0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7CF534-6656-F0CA-A82E-46B4944266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599AF7-58AD-7246-982B-D4F345C9C3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821C70-CF8B-2F94-6AEB-07028C87CB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B6410-3A0D-4241-8BB0-A828190FE0A3}" type="slidenum">
              <a:rPr lang="en-CA" smtClean="0"/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792535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BBD3C-3D2C-BDDF-6F36-3920EE175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AF7007-7D60-67D3-4F19-6183128C5E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032D55-9ECF-D1E1-C4D9-2AC93295E8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5FE1A-A56F-E9A0-72D1-0670FC88B2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B6410-3A0D-4241-8BB0-A828190FE0A3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729088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8E9F2-C41C-D0C1-F1B1-CAA52506E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579BE3-C0D3-4F68-32E8-FC831D0432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8202DE-DDB7-9392-4310-6F07A3A86F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D2724E-246D-19A7-DD15-BF871A926A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B6410-3A0D-4241-8BB0-A828190FE0A3}" type="slidenum">
              <a:rPr lang="en-CA" smtClean="0"/>
              <a:t>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861770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F1D27-2CEC-3CC0-95A0-3068EF979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D5C009-0054-678C-9CD2-5FB103DC8F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9D4EF1-1039-890C-ECFA-E6F581BFD4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91A66-8142-49DC-A886-E65B5F10AB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B6410-3A0D-4241-8BB0-A828190FE0A3}" type="slidenum">
              <a:rPr lang="en-CA" smtClean="0"/>
              <a:t>33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771643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07982-AB2A-81BC-888C-8CCFEB834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3C0E3B-7CD5-CD14-72FD-137ABAA906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954431-8BEA-9258-24D7-FEF6A0D1D2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B4F1A-C8C9-894D-3FD6-955D3F3509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B6410-3A0D-4241-8BB0-A828190FE0A3}" type="slidenum">
              <a:rPr lang="en-CA" smtClean="0"/>
              <a:t>34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519208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3927A-AB71-99B7-A7A7-4842C961C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EF791A-F9B0-BD7C-6AFA-B1DF1520D2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3CAE2D-0D06-C57D-3B2C-E447D4FF18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0D04E6-8786-256A-AB80-DA93B476E8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B6410-3A0D-4241-8BB0-A828190FE0A3}" type="slidenum">
              <a:rPr lang="en-CA" smtClean="0"/>
              <a:t>35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48836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9719960" cy="1474115"/>
          </a:xfrm>
        </p:spPr>
        <p:txBody>
          <a:bodyPr lIns="0" anchor="b">
            <a:noAutofit/>
          </a:bodyPr>
          <a:lstStyle>
            <a:lvl1pPr algn="l">
              <a:defRPr sz="54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1"/>
          </a:solidFill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t>7/17/25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/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A9D516E-B50C-3538-5F83-7A7E26FA7180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64C80F1-3A23-371A-2470-E4F47051B067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AE94728-AA91-523E-8496-C81B9B4F7DBA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191B2D9-C1ED-03D3-DEF3-A9A462104F1B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06A16F2-9D54-FDAA-9A4A-51FD430B6DEC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0E2637A-331B-C5E3-4052-2A4B4D0889CD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Picture 16" descr="University of Waterloo logo">
            <a:extLst>
              <a:ext uri="{FF2B5EF4-FFF2-40B4-BE49-F238E27FC236}">
                <a16:creationId xmlns:a16="http://schemas.microsoft.com/office/drawing/2014/main" id="{F9381018-83A5-0DDE-AA4A-B9F8D17123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161" y="5304722"/>
            <a:ext cx="3759035" cy="1484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798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4124" y="397164"/>
            <a:ext cx="6097876" cy="646083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5486243" cy="1474115"/>
          </a:xfrm>
        </p:spPr>
        <p:txBody>
          <a:bodyPr lIns="0" anchor="b">
            <a:noAutofit/>
          </a:bodyPr>
          <a:lstStyle>
            <a:lvl1pPr algn="l">
              <a:defRPr sz="54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1"/>
          </a:solidFill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t>7/17/25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/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70F6756-3E11-A664-FDBC-686B312F4EDA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61E4A79-7EF1-881C-448C-B5893289EE72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2F2ED37-6474-16ED-2345-5EC13A087CB3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0628BAF-CB56-3888-5C04-D94C5B43C05A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2D47A3D-6975-669C-340E-F2326F6ABABA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296993A-5AA1-1101-663C-8CCD805BD6CC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4" name="Picture 13" descr="University of Waterloo logo">
            <a:extLst>
              <a:ext uri="{FF2B5EF4-FFF2-40B4-BE49-F238E27FC236}">
                <a16:creationId xmlns:a16="http://schemas.microsoft.com/office/drawing/2014/main" id="{023930CF-35B1-50C3-2CC3-42CBB13E41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161" y="5304722"/>
            <a:ext cx="3759035" cy="1484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836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9516760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 baseline="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1"/>
          </a:solidFill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t>7/17/25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67CFFB5-59B4-4102-814E-9285FB5173B4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5932F0D-9F96-7DB3-EBDF-2EEF5271C0CC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56A6273-7642-42A5-E18F-1DE50316C943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C044829-A5BB-8024-3D09-E1C9E32BCA68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B95626F-B1B6-6C41-86AA-CC9E13CCC1F5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3422BFA-868C-6396-0C14-E3B59F179385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1" name="Picture 20" descr="University of Waterloo logo">
            <a:extLst>
              <a:ext uri="{FF2B5EF4-FFF2-40B4-BE49-F238E27FC236}">
                <a16:creationId xmlns:a16="http://schemas.microsoft.com/office/drawing/2014/main" id="{BBF0D8A2-F1EC-E7D7-E699-09A5BA5F00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64157" y="5304723"/>
            <a:ext cx="3759035" cy="1484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677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ack with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4124" y="397164"/>
            <a:ext cx="6097876" cy="646083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5486243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 baseline="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1"/>
          </a:solidFill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t>7/17/25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2EC3763-2453-841B-0F5D-79F0D6E1A604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18602B7-0464-FA62-D3B1-AF340B30EEBD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09FCB91-56EE-0306-B1C4-B6EE24D72222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AC9AC06-3237-7FB8-3E71-5F0CC0F88A28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5069881-5C49-1510-1B4A-A66A82513010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AF94964-811F-E5B8-5769-F335900C6514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3" name="Picture 12" descr="University of Waterloo logo">
            <a:extLst>
              <a:ext uri="{FF2B5EF4-FFF2-40B4-BE49-F238E27FC236}">
                <a16:creationId xmlns:a16="http://schemas.microsoft.com/office/drawing/2014/main" id="{0F962198-0F7C-1A7B-DC29-ECAA32C67E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64157" y="5304723"/>
            <a:ext cx="3759035" cy="1484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136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4B0C9-B47E-4B33-A656-C78D1805DA95}" type="datetime1">
              <a:rPr lang="en-US" smtClean="0"/>
              <a:t>7/17/25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486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M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7407696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MENU ITEM 1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908224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MENU ITEM 2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10408752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MENU ITEM 3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8C228CE-C572-4AF5-9728-AA6E475873DD}" type="datetime1">
              <a:rPr lang="en-US" smtClean="0"/>
              <a:t>7/17/25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9883" y="434108"/>
            <a:ext cx="7046081" cy="895927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922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882" y="1709738"/>
            <a:ext cx="9399507" cy="2852737"/>
          </a:xfrm>
        </p:spPr>
        <p:txBody>
          <a:bodyPr anchor="b">
            <a:normAutofit/>
          </a:bodyPr>
          <a:lstStyle>
            <a:lvl1pPr algn="l">
              <a:defRPr sz="40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</a:t>
            </a:r>
            <a:br>
              <a:rPr lang="en-US" dirty="0"/>
            </a:br>
            <a:r>
              <a:rPr lang="en-US" dirty="0"/>
              <a:t>SECTION TITLE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2" y="4589463"/>
            <a:ext cx="9399507" cy="1500187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D43AC-4B94-471D-A170-0D88FCD1FB54}" type="datetime1">
              <a:rPr lang="en-US" smtClean="0"/>
              <a:t>7/17/25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353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60521" y="3227413"/>
            <a:ext cx="8770620" cy="1212056"/>
          </a:xfrm>
        </p:spPr>
        <p:txBody>
          <a:bodyPr anchor="b">
            <a:noAutofit/>
          </a:bodyPr>
          <a:lstStyle>
            <a:lvl1pPr algn="l">
              <a:defRPr sz="40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</a:t>
            </a:r>
            <a:br>
              <a:rPr lang="en-US" dirty="0"/>
            </a:br>
            <a:r>
              <a:rPr lang="en-US" dirty="0"/>
              <a:t>SECTION TITLE SLIDE OPTION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960521" y="4447299"/>
            <a:ext cx="8770620" cy="666549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72EFF9E2-52BD-4C8D-9C57-79F661DB94A1}" type="datetime1">
              <a:rPr lang="en-US" smtClean="0"/>
              <a:t>7/17/25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23CDDAC-C7BC-C026-DBF5-1F441817694A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093E90F-8348-6507-0CA6-23A77D0FF9D3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610C4E9-E0C2-2B5C-6851-9D5D61545008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7BCF4D7-716F-52CC-66B7-C2694CA5B51F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EE75C32-392B-B376-010B-6A75AE630CBB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C0F947E-B04D-E029-09CB-EEC744D80E2B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2892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883" y="434108"/>
            <a:ext cx="11569729" cy="89592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9882" y="1413164"/>
            <a:ext cx="5586855" cy="4590472"/>
          </a:xfrm>
        </p:spPr>
        <p:txBody>
          <a:bodyPr/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992" y="1413164"/>
            <a:ext cx="5658620" cy="4590472"/>
          </a:xfrm>
        </p:spPr>
        <p:txBody>
          <a:bodyPr/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81F3-AB4F-4026-8B03-DBF7475676B1}" type="datetime1">
              <a:rPr lang="en-US" smtClean="0"/>
              <a:t>7/17/25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858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1" y="1396192"/>
            <a:ext cx="5542713" cy="670270"/>
          </a:xfrm>
        </p:spPr>
        <p:txBody>
          <a:bodyPr anchor="b">
            <a:noAutofit/>
          </a:bodyPr>
          <a:lstStyle>
            <a:lvl1pPr marL="0" indent="0">
              <a:buNone/>
              <a:defRPr sz="2800" b="1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9881" y="2184400"/>
            <a:ext cx="5542713" cy="3846945"/>
          </a:xfrm>
        </p:spPr>
        <p:txBody>
          <a:bodyPr>
            <a:normAutofit/>
          </a:bodyPr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2000"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800"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600"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6154" y="1396192"/>
            <a:ext cx="5593458" cy="670270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6154" y="2184400"/>
            <a:ext cx="5593458" cy="3846945"/>
          </a:xfrm>
        </p:spPr>
        <p:txBody>
          <a:bodyPr>
            <a:normAutofit/>
          </a:bodyPr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2000"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800"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600"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xfrm>
            <a:off x="259883" y="434108"/>
            <a:ext cx="11569729" cy="89592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F432B-3FBE-4889-963D-BF97BFBB7D3F}" type="datetime1">
              <a:rPr lang="en-US" smtClean="0"/>
              <a:t>7/17/25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492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CCC04-1E76-41EE-A8AC-75AD85313D09}" type="datetime1">
              <a:rPr lang="en-US" smtClean="0"/>
              <a:t>7/17/25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542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74A9E-84AC-4661-9381-CC35B09E47F7}" type="datetime1">
              <a:rPr lang="en-US" smtClean="0"/>
              <a:t>7/17/25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326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_NoBkg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1E55829F-8847-4C2A-8DD0-690EAD78E53F}" type="datetime1">
              <a:rPr lang="en-US" smtClean="0"/>
              <a:t>7/17/25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4CEECD4-4800-71B3-500D-D8DB8ECD7D8D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5DB53A1-9CD0-9270-2A9B-841D9E8E7C98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0238B9E-5961-89CA-949B-73D627619ADE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0B4FFA6-3B2D-F2A7-3300-59721970DC69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795B991-F449-37E7-F856-FDA75449C532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BFF1749-63D7-B78A-277A-2B74411FA25C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45017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xt or 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0071" y="1237675"/>
            <a:ext cx="4331855" cy="910202"/>
          </a:xfrm>
        </p:spPr>
        <p:txBody>
          <a:bodyPr anchor="b">
            <a:normAutofit/>
          </a:bodyPr>
          <a:lstStyle>
            <a:lvl1pPr algn="ctr">
              <a:defRPr sz="2800" cap="all" baseline="0"/>
            </a:lvl1pPr>
          </a:lstStyle>
          <a:p>
            <a:r>
              <a:rPr lang="en-US" dirty="0"/>
              <a:t>CONTEXT or THEME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7/17/25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3930073" y="2244437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3930073" y="4668983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660400" y="2420360"/>
            <a:ext cx="10871200" cy="211455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3930072" y="4784725"/>
            <a:ext cx="4331855" cy="27622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200" b="1" cap="all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FDE9AFA-FFD7-2347-3167-FDF1E0A34AC3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6E5C5A6-6C2A-AFEE-BD17-49528C3855FB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BD549B1-F3EA-848F-3C95-AFBB4052AC0B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D0A31AE-FDE0-EF4E-8CB4-92A0FFF2647C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1D21763-0A4C-FA7D-9F37-F8AFE615EED6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72AC8E2-F6D4-FD99-70C6-77755885A9A4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1663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xt or Quote with Phot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6350285" y="845819"/>
            <a:ext cx="5440648" cy="5407201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54362" y="1237675"/>
            <a:ext cx="4331855" cy="910202"/>
          </a:xfrm>
        </p:spPr>
        <p:txBody>
          <a:bodyPr anchor="b">
            <a:normAutofit/>
          </a:bodyPr>
          <a:lstStyle>
            <a:lvl1pPr algn="ctr">
              <a:defRPr sz="2800" cap="all" baseline="0"/>
            </a:lvl1pPr>
          </a:lstStyle>
          <a:p>
            <a:r>
              <a:rPr lang="en-US" dirty="0"/>
              <a:t>CONTEXT or THEME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7/17/25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59882" y="6335309"/>
            <a:ext cx="3887245" cy="250337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587999" y="6335309"/>
            <a:ext cx="1016000" cy="250337"/>
          </a:xfrm>
        </p:spPr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544943" y="2409026"/>
            <a:ext cx="4950694" cy="211455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2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854362" y="4784725"/>
            <a:ext cx="4331855" cy="27622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200" b="1" cap="all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cxnSp>
        <p:nvCxnSpPr>
          <p:cNvPr id="10" name="Straight Connecto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4363" y="2244437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4363" y="4668983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D72C6A36-12A8-648E-3569-D00054B97EDE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341EFA2-509C-A2DA-BAFE-6A88632CD8BD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475CC21-076A-A811-68B0-7FD8CD8D56F3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C91703A-A99F-06CE-B55C-0D09FBAF811B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60600EF-94C1-BC1E-4FA3-4CC356E82A0C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069E7EA-C348-85EA-0BB1-F112127EBF12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88438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cap="all" baseline="0"/>
            </a:lvl1pPr>
          </a:lstStyle>
          <a:p>
            <a:r>
              <a:rPr lang="en-US" dirty="0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7/17/25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86E267E-B65C-F4B3-6286-047BB3E93079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3736B7B-B04C-12D3-2026-E56D619F8DA3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6331547-A9DB-F53A-721D-FDBAE7A1BAA4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056261B-07B2-A56E-A728-17FD21096879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07BC18F-6CFE-55D8-BE1F-9202FC65B49C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0FCE5BD-A2E3-BD85-F1DC-9C10B47153A4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70139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2">
    <p:bg>
      <p:bgPr>
        <a:solidFill>
          <a:srgbClr val="FED3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cap="all" baseline="0"/>
            </a:lvl1pPr>
          </a:lstStyle>
          <a:p>
            <a:r>
              <a:rPr lang="en-US" dirty="0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7/17/25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C257420-CE83-4866-3EA3-381C0CFC3158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8621F66-77FA-4999-E325-230D9B669B97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042B54D-8327-3710-DF48-EE39609CDDA0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DCFC16C-2941-FB67-C5DD-46A3F3A9A173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34C2BD1-3A50-A203-B064-3DCD3906F6F2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E1944A9-11DF-DB57-300B-F689B08F4D3C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05729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FDFC970-B950-4395-A833-47227D4A68CA}" type="datetime1">
              <a:rPr lang="en-US" smtClean="0"/>
              <a:pPr/>
              <a:t>7/17/25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5AC5E88-54DB-DB07-2D2B-3EA3C0141922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D421AC2-0BAA-41E8-5271-9D286A5CB1F7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D31278D-990D-8DFD-00A2-BCCECAB47A5E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A348C4B-29F3-5E21-5DA6-F7A38594E57F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C0FAD8C-7636-5833-CFCE-3253852F15EF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CC4306F-759D-AE82-8D13-D983855E47FC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71318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57225" y="4581236"/>
            <a:ext cx="10877550" cy="1597891"/>
          </a:xfrm>
          <a:noFill/>
        </p:spPr>
        <p:txBody>
          <a:bodyPr wrap="square" rtlCol="0" anchor="ctr" anchorCtr="1">
            <a:noAutofit/>
          </a:bodyPr>
          <a:lstStyle>
            <a:lvl1pPr algn="ctr">
              <a:defRPr lang="en-US" sz="1800" b="0" i="0" cap="none" baseline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pPr marL="0" lvl="0" algn="ctr">
              <a:lnSpc>
                <a:spcPct val="75000"/>
              </a:lnSpc>
            </a:pPr>
            <a:r>
              <a:rPr lang="en-US" dirty="0"/>
              <a:t>Click to edit master closing slide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75D660D7-90CE-4513-A3CE-C070B9421917}" type="datetime1">
              <a:rPr lang="en-US" smtClean="0"/>
              <a:t>7/17/25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B2C18FC-29DC-30A0-0360-C5E5735072A4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6231277-A44F-A1F5-03E4-79BB667E118A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269444E-AE08-770D-D564-E199EA1B706B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7691CF8-1E73-A801-14D7-6110247881EC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1DC9D66-33DA-E6DF-D54B-2453FA7322A6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EBB1E0F-DE82-BF28-6F15-1C179C3FA41E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6" name="Picture 25" descr="University of Waterloo logo">
            <a:extLst>
              <a:ext uri="{FF2B5EF4-FFF2-40B4-BE49-F238E27FC236}">
                <a16:creationId xmlns:a16="http://schemas.microsoft.com/office/drawing/2014/main" id="{5604EBD5-7BE6-8BAD-C10F-F29FF1FC02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84945" y="1204402"/>
            <a:ext cx="6407315" cy="4157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008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3425" y="4682836"/>
            <a:ext cx="10725150" cy="1559782"/>
          </a:xfrm>
          <a:noFill/>
        </p:spPr>
        <p:txBody>
          <a:bodyPr wrap="square" rtlCol="0" anchor="ctr" anchorCtr="1">
            <a:noAutofit/>
          </a:bodyPr>
          <a:lstStyle>
            <a:lvl1pPr marL="0" algn="ctr">
              <a:lnSpc>
                <a:spcPct val="75000"/>
              </a:lnSpc>
              <a:defRPr lang="en-US" sz="1800" b="0" i="0" cap="none" baseline="0">
                <a:solidFill>
                  <a:schemeClr val="bg1">
                    <a:alpha val="81000"/>
                  </a:schemeClr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pPr marL="0" lvl="0" algn="ctr">
              <a:lnSpc>
                <a:spcPct val="75000"/>
              </a:lnSpc>
            </a:pPr>
            <a:r>
              <a:rPr lang="en-US" dirty="0"/>
              <a:t>Click to edit master closing slide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A368D4B-3D0A-49AB-8EA2-2DC8CB4594DB}" type="datetime1">
              <a:rPr lang="en-US" smtClean="0"/>
              <a:pPr/>
              <a:t>7/17/25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3C84CBA-BDD4-B9EC-8FD3-ECC1DF539F9E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FE04DCE-1B6E-B5CB-9E62-E45B592AFB6A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8AF4A26-5CAE-1F08-C93F-B41E8E5BB1DB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1623493-CA34-79CF-0A7F-DF7FA3107102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BFBED65-B55C-005E-0B76-59B6F1DB7BD0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F170495-1DE0-AF98-003E-5B61D768B50C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9" name="Picture 18" descr="University of Waterloo logo">
            <a:extLst>
              <a:ext uri="{FF2B5EF4-FFF2-40B4-BE49-F238E27FC236}">
                <a16:creationId xmlns:a16="http://schemas.microsoft.com/office/drawing/2014/main" id="{086A222B-79FE-32D2-AF56-76C91A4EBD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84945" y="1204402"/>
            <a:ext cx="6407315" cy="415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805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losing Slide_Y+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YOU+WATERLOO">
            <a:extLst>
              <a:ext uri="{FF2B5EF4-FFF2-40B4-BE49-F238E27FC236}">
                <a16:creationId xmlns:a16="http://schemas.microsoft.com/office/drawing/2014/main" id="{28F653FE-3A86-E844-A53F-0361E59D70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53660" y="4585014"/>
            <a:ext cx="1884680" cy="5334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8ADE716-1136-A547-A8CE-EAC2B309AA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68648" y="5270227"/>
            <a:ext cx="3854704" cy="252476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75D660D7-90CE-4513-A3CE-C070B9421917}" type="datetime1">
              <a:rPr lang="en-US" smtClean="0"/>
              <a:t>7/17/25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691E8C1-028B-B8F4-4256-E3712FED0E55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53E403A-BC35-D5C8-A61A-6A21441F2A47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0BBAAB5-DC1C-86EB-4372-7AA35FAC264E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06E0FE3-0020-4B30-798D-E8A1A63EEAD4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F32F16E-6FB3-59D9-5ABB-055FA23EB8BF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4B425B3-553E-0171-4C59-CD7445926E13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Picture 16" descr="University of Waterloo logo">
            <a:extLst>
              <a:ext uri="{FF2B5EF4-FFF2-40B4-BE49-F238E27FC236}">
                <a16:creationId xmlns:a16="http://schemas.microsoft.com/office/drawing/2014/main" id="{0E8EB7D6-3776-0C1B-E0DD-A6CD3262A46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25667" y="895553"/>
            <a:ext cx="5757267" cy="3735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074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losing Slide_Y+W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A368D4B-3D0A-49AB-8EA2-2DC8CB4594DB}" type="datetime1">
              <a:rPr lang="en-US" smtClean="0"/>
              <a:pPr/>
              <a:t>7/17/25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1" name="Picture 20" descr="YOU+WATERLOO">
            <a:extLst>
              <a:ext uri="{FF2B5EF4-FFF2-40B4-BE49-F238E27FC236}">
                <a16:creationId xmlns:a16="http://schemas.microsoft.com/office/drawing/2014/main" id="{61B2F895-74F6-5245-9741-0020E25D8A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3660" y="4592032"/>
            <a:ext cx="1884680" cy="5334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D46E8A0-B6BB-1D40-8410-044E5B20399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68648" y="5277245"/>
            <a:ext cx="3854704" cy="2524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747904-A0FC-F14A-9236-E3A1ADBB8DEF}"/>
              </a:ext>
            </a:extLst>
          </p:cNvPr>
          <p:cNvSpPr txBox="1"/>
          <p:nvPr userDrawn="1"/>
        </p:nvSpPr>
        <p:spPr>
          <a:xfrm>
            <a:off x="4851400" y="72474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D286E6D-0D71-65B9-5A2A-13BC64D090E5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94DCB05-C5B2-F917-DEBD-1ADFF9EF49FB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EC16BE5-37EB-7BF9-91C1-1DD99FB6DF48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643753E-1D6D-DAC7-EEB3-784F18B6ACE7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5A03DC8-13E8-7109-1E6E-7D037DB2C7A0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187BAEF-5621-E3DD-3CE7-8D8AEF27527F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9" name="Picture 18" descr="University of Waterloo logo">
            <a:extLst>
              <a:ext uri="{FF2B5EF4-FFF2-40B4-BE49-F238E27FC236}">
                <a16:creationId xmlns:a16="http://schemas.microsoft.com/office/drawing/2014/main" id="{468B2007-5BEA-A5A1-19B5-A9DE3EF8F41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25666" y="895553"/>
            <a:ext cx="5757269" cy="3735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521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2" y="1413163"/>
            <a:ext cx="11569729" cy="45951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38014" y="6335309"/>
            <a:ext cx="1181114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5FDFC970-B950-4395-A833-47227D4A68CA}" type="datetime1">
              <a:rPr lang="en-US" smtClean="0"/>
              <a:t>7/17/25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882" y="6335309"/>
            <a:ext cx="5226517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88000" y="6335309"/>
            <a:ext cx="1016000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16" name="Rectangle 15"/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 descr="University of Waterloo logo">
            <a:extLst>
              <a:ext uri="{FF2B5EF4-FFF2-40B4-BE49-F238E27FC236}">
                <a16:creationId xmlns:a16="http://schemas.microsoft.com/office/drawing/2014/main" id="{5AE93192-E6E4-EBD3-E1EB-1CA76925B880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2767" y="5868697"/>
            <a:ext cx="2749233" cy="1085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077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b="1" kern="1200" spc="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8925" indent="-288925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.png"/><Relationship Id="rId18" Type="http://schemas.openxmlformats.org/officeDocument/2006/relationships/image" Target="../media/image31.png"/><Relationship Id="rId26" Type="http://schemas.openxmlformats.org/officeDocument/2006/relationships/image" Target="../media/image39.png"/><Relationship Id="rId39" Type="http://schemas.openxmlformats.org/officeDocument/2006/relationships/image" Target="../media/image52.png"/><Relationship Id="rId21" Type="http://schemas.openxmlformats.org/officeDocument/2006/relationships/image" Target="../media/image34.png"/><Relationship Id="rId34" Type="http://schemas.openxmlformats.org/officeDocument/2006/relationships/image" Target="../media/image47.png"/><Relationship Id="rId42" Type="http://schemas.openxmlformats.org/officeDocument/2006/relationships/image" Target="../media/image55.png"/><Relationship Id="rId47" Type="http://schemas.openxmlformats.org/officeDocument/2006/relationships/image" Target="../media/image60.png"/><Relationship Id="rId50" Type="http://schemas.openxmlformats.org/officeDocument/2006/relationships/image" Target="../media/image63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6" Type="http://schemas.openxmlformats.org/officeDocument/2006/relationships/image" Target="../media/image29.png"/><Relationship Id="rId29" Type="http://schemas.openxmlformats.org/officeDocument/2006/relationships/image" Target="../media/image42.png"/><Relationship Id="rId11" Type="http://schemas.openxmlformats.org/officeDocument/2006/relationships/image" Target="../media/image24.png"/><Relationship Id="rId24" Type="http://schemas.openxmlformats.org/officeDocument/2006/relationships/image" Target="../media/image37.png"/><Relationship Id="rId32" Type="http://schemas.openxmlformats.org/officeDocument/2006/relationships/image" Target="../media/image45.png"/><Relationship Id="rId37" Type="http://schemas.openxmlformats.org/officeDocument/2006/relationships/image" Target="../media/image50.png"/><Relationship Id="rId40" Type="http://schemas.openxmlformats.org/officeDocument/2006/relationships/image" Target="../media/image53.png"/><Relationship Id="rId45" Type="http://schemas.openxmlformats.org/officeDocument/2006/relationships/image" Target="../media/image58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23" Type="http://schemas.openxmlformats.org/officeDocument/2006/relationships/image" Target="../media/image36.png"/><Relationship Id="rId28" Type="http://schemas.openxmlformats.org/officeDocument/2006/relationships/image" Target="../media/image41.png"/><Relationship Id="rId36" Type="http://schemas.openxmlformats.org/officeDocument/2006/relationships/image" Target="../media/image49.png"/><Relationship Id="rId49" Type="http://schemas.openxmlformats.org/officeDocument/2006/relationships/image" Target="../media/image62.png"/><Relationship Id="rId10" Type="http://schemas.openxmlformats.org/officeDocument/2006/relationships/image" Target="../media/image23.png"/><Relationship Id="rId19" Type="http://schemas.openxmlformats.org/officeDocument/2006/relationships/image" Target="../media/image32.png"/><Relationship Id="rId31" Type="http://schemas.openxmlformats.org/officeDocument/2006/relationships/image" Target="../media/image44.png"/><Relationship Id="rId44" Type="http://schemas.openxmlformats.org/officeDocument/2006/relationships/image" Target="../media/image57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Relationship Id="rId22" Type="http://schemas.openxmlformats.org/officeDocument/2006/relationships/image" Target="../media/image35.png"/><Relationship Id="rId27" Type="http://schemas.openxmlformats.org/officeDocument/2006/relationships/image" Target="../media/image40.png"/><Relationship Id="rId30" Type="http://schemas.openxmlformats.org/officeDocument/2006/relationships/image" Target="../media/image43.png"/><Relationship Id="rId35" Type="http://schemas.openxmlformats.org/officeDocument/2006/relationships/image" Target="../media/image48.png"/><Relationship Id="rId43" Type="http://schemas.openxmlformats.org/officeDocument/2006/relationships/image" Target="../media/image56.png"/><Relationship Id="rId48" Type="http://schemas.openxmlformats.org/officeDocument/2006/relationships/image" Target="../media/image61.png"/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5" Type="http://schemas.openxmlformats.org/officeDocument/2006/relationships/image" Target="../media/image38.png"/><Relationship Id="rId33" Type="http://schemas.openxmlformats.org/officeDocument/2006/relationships/image" Target="../media/image46.png"/><Relationship Id="rId38" Type="http://schemas.openxmlformats.org/officeDocument/2006/relationships/image" Target="../media/image51.png"/><Relationship Id="rId46" Type="http://schemas.openxmlformats.org/officeDocument/2006/relationships/image" Target="../media/image59.png"/><Relationship Id="rId20" Type="http://schemas.openxmlformats.org/officeDocument/2006/relationships/image" Target="../media/image33.png"/><Relationship Id="rId41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0" Type="http://schemas.openxmlformats.org/officeDocument/2006/relationships/image" Target="../media/image72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11" Type="http://schemas.openxmlformats.org/officeDocument/2006/relationships/image" Target="../media/image85.png"/><Relationship Id="rId5" Type="http://schemas.openxmlformats.org/officeDocument/2006/relationships/image" Target="../media/image79.png"/><Relationship Id="rId10" Type="http://schemas.openxmlformats.org/officeDocument/2006/relationships/image" Target="../media/image84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97.png"/><Relationship Id="rId18" Type="http://schemas.openxmlformats.org/officeDocument/2006/relationships/image" Target="../media/image102.png"/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12" Type="http://schemas.openxmlformats.org/officeDocument/2006/relationships/image" Target="../media/image96.png"/><Relationship Id="rId17" Type="http://schemas.openxmlformats.org/officeDocument/2006/relationships/image" Target="../media/image101.png"/><Relationship Id="rId2" Type="http://schemas.openxmlformats.org/officeDocument/2006/relationships/image" Target="../media/image86.png"/><Relationship Id="rId16" Type="http://schemas.openxmlformats.org/officeDocument/2006/relationships/image" Target="../media/image10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png"/><Relationship Id="rId11" Type="http://schemas.openxmlformats.org/officeDocument/2006/relationships/image" Target="../media/image95.png"/><Relationship Id="rId5" Type="http://schemas.openxmlformats.org/officeDocument/2006/relationships/image" Target="../media/image89.png"/><Relationship Id="rId15" Type="http://schemas.openxmlformats.org/officeDocument/2006/relationships/image" Target="../media/image99.png"/><Relationship Id="rId10" Type="http://schemas.openxmlformats.org/officeDocument/2006/relationships/image" Target="../media/image94.png"/><Relationship Id="rId19" Type="http://schemas.openxmlformats.org/officeDocument/2006/relationships/image" Target="../media/image103.png"/><Relationship Id="rId4" Type="http://schemas.openxmlformats.org/officeDocument/2006/relationships/image" Target="../media/image88.png"/><Relationship Id="rId9" Type="http://schemas.openxmlformats.org/officeDocument/2006/relationships/image" Target="../media/image93.png"/><Relationship Id="rId14" Type="http://schemas.openxmlformats.org/officeDocument/2006/relationships/image" Target="../media/image98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5.png"/><Relationship Id="rId18" Type="http://schemas.openxmlformats.org/officeDocument/2006/relationships/image" Target="../media/image120.png"/><Relationship Id="rId26" Type="http://schemas.openxmlformats.org/officeDocument/2006/relationships/image" Target="../media/image127.png"/><Relationship Id="rId3" Type="http://schemas.openxmlformats.org/officeDocument/2006/relationships/image" Target="../media/image105.png"/><Relationship Id="rId21" Type="http://schemas.openxmlformats.org/officeDocument/2006/relationships/image" Target="../media/image123.png"/><Relationship Id="rId7" Type="http://schemas.openxmlformats.org/officeDocument/2006/relationships/image" Target="../media/image109.png"/><Relationship Id="rId12" Type="http://schemas.openxmlformats.org/officeDocument/2006/relationships/image" Target="../media/image114.png"/><Relationship Id="rId17" Type="http://schemas.openxmlformats.org/officeDocument/2006/relationships/image" Target="../media/image119.png"/><Relationship Id="rId25" Type="http://schemas.openxmlformats.org/officeDocument/2006/relationships/image" Target="../media/image101.png"/><Relationship Id="rId33" Type="http://schemas.openxmlformats.org/officeDocument/2006/relationships/image" Target="../media/image134.png"/><Relationship Id="rId2" Type="http://schemas.openxmlformats.org/officeDocument/2006/relationships/image" Target="../media/image104.png"/><Relationship Id="rId16" Type="http://schemas.openxmlformats.org/officeDocument/2006/relationships/image" Target="../media/image118.png"/><Relationship Id="rId20" Type="http://schemas.openxmlformats.org/officeDocument/2006/relationships/image" Target="../media/image122.png"/><Relationship Id="rId29" Type="http://schemas.openxmlformats.org/officeDocument/2006/relationships/image" Target="../media/image1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8.png"/><Relationship Id="rId11" Type="http://schemas.openxmlformats.org/officeDocument/2006/relationships/image" Target="../media/image113.png"/><Relationship Id="rId24" Type="http://schemas.openxmlformats.org/officeDocument/2006/relationships/image" Target="../media/image126.png"/><Relationship Id="rId32" Type="http://schemas.openxmlformats.org/officeDocument/2006/relationships/image" Target="../media/image133.png"/><Relationship Id="rId5" Type="http://schemas.openxmlformats.org/officeDocument/2006/relationships/image" Target="../media/image107.png"/><Relationship Id="rId15" Type="http://schemas.openxmlformats.org/officeDocument/2006/relationships/image" Target="../media/image117.png"/><Relationship Id="rId23" Type="http://schemas.openxmlformats.org/officeDocument/2006/relationships/image" Target="../media/image125.png"/><Relationship Id="rId28" Type="http://schemas.openxmlformats.org/officeDocument/2006/relationships/image" Target="../media/image129.png"/><Relationship Id="rId10" Type="http://schemas.openxmlformats.org/officeDocument/2006/relationships/image" Target="../media/image112.png"/><Relationship Id="rId19" Type="http://schemas.openxmlformats.org/officeDocument/2006/relationships/image" Target="../media/image121.png"/><Relationship Id="rId31" Type="http://schemas.openxmlformats.org/officeDocument/2006/relationships/image" Target="../media/image132.png"/><Relationship Id="rId4" Type="http://schemas.openxmlformats.org/officeDocument/2006/relationships/image" Target="../media/image106.png"/><Relationship Id="rId9" Type="http://schemas.openxmlformats.org/officeDocument/2006/relationships/image" Target="../media/image111.png"/><Relationship Id="rId14" Type="http://schemas.openxmlformats.org/officeDocument/2006/relationships/image" Target="../media/image116.png"/><Relationship Id="rId22" Type="http://schemas.openxmlformats.org/officeDocument/2006/relationships/image" Target="../media/image124.png"/><Relationship Id="rId27" Type="http://schemas.openxmlformats.org/officeDocument/2006/relationships/image" Target="../media/image128.png"/><Relationship Id="rId30" Type="http://schemas.openxmlformats.org/officeDocument/2006/relationships/image" Target="../media/image131.png"/><Relationship Id="rId8" Type="http://schemas.openxmlformats.org/officeDocument/2006/relationships/image" Target="../media/image11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0.png"/><Relationship Id="rId13" Type="http://schemas.openxmlformats.org/officeDocument/2006/relationships/image" Target="../media/image960.png"/><Relationship Id="rId3" Type="http://schemas.openxmlformats.org/officeDocument/2006/relationships/image" Target="../media/image860.png"/><Relationship Id="rId7" Type="http://schemas.openxmlformats.org/officeDocument/2006/relationships/image" Target="../media/image900.png"/><Relationship Id="rId12" Type="http://schemas.openxmlformats.org/officeDocument/2006/relationships/image" Target="../media/image950.png"/><Relationship Id="rId2" Type="http://schemas.openxmlformats.org/officeDocument/2006/relationships/image" Target="../media/image8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0.png"/><Relationship Id="rId11" Type="http://schemas.openxmlformats.org/officeDocument/2006/relationships/image" Target="../media/image940.png"/><Relationship Id="rId5" Type="http://schemas.openxmlformats.org/officeDocument/2006/relationships/image" Target="../media/image880.png"/><Relationship Id="rId15" Type="http://schemas.openxmlformats.org/officeDocument/2006/relationships/image" Target="../media/image135.png"/><Relationship Id="rId10" Type="http://schemas.openxmlformats.org/officeDocument/2006/relationships/image" Target="../media/image930.png"/><Relationship Id="rId4" Type="http://schemas.openxmlformats.org/officeDocument/2006/relationships/image" Target="../media/image870.png"/><Relationship Id="rId9" Type="http://schemas.openxmlformats.org/officeDocument/2006/relationships/image" Target="../media/image920.png"/><Relationship Id="rId14" Type="http://schemas.openxmlformats.org/officeDocument/2006/relationships/image" Target="../media/image97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7" Type="http://schemas.openxmlformats.org/officeDocument/2006/relationships/image" Target="../media/image137.png"/><Relationship Id="rId2" Type="http://schemas.openxmlformats.org/officeDocument/2006/relationships/image" Target="../media/image5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0.png"/><Relationship Id="rId5" Type="http://schemas.openxmlformats.org/officeDocument/2006/relationships/image" Target="../media/image990.png"/><Relationship Id="rId4" Type="http://schemas.openxmlformats.org/officeDocument/2006/relationships/image" Target="../media/image5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sv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3" Type="http://schemas.openxmlformats.org/officeDocument/2006/relationships/image" Target="../media/image85.png"/><Relationship Id="rId7" Type="http://schemas.openxmlformats.org/officeDocument/2006/relationships/image" Target="../media/image143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2.png"/><Relationship Id="rId5" Type="http://schemas.openxmlformats.org/officeDocument/2006/relationships/image" Target="../media/image141.png"/><Relationship Id="rId10" Type="http://schemas.openxmlformats.org/officeDocument/2006/relationships/image" Target="../media/image146.png"/><Relationship Id="rId4" Type="http://schemas.openxmlformats.org/officeDocument/2006/relationships/image" Target="../media/image80.png"/><Relationship Id="rId9" Type="http://schemas.openxmlformats.org/officeDocument/2006/relationships/image" Target="../media/image14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0.png"/><Relationship Id="rId13" Type="http://schemas.openxmlformats.org/officeDocument/2006/relationships/image" Target="../media/image150.png"/><Relationship Id="rId3" Type="http://schemas.openxmlformats.org/officeDocument/2006/relationships/image" Target="../media/image1400.png"/><Relationship Id="rId7" Type="http://schemas.openxmlformats.org/officeDocument/2006/relationships/image" Target="../media/image1440.png"/><Relationship Id="rId12" Type="http://schemas.openxmlformats.org/officeDocument/2006/relationships/image" Target="../media/image149.png"/><Relationship Id="rId2" Type="http://schemas.openxmlformats.org/officeDocument/2006/relationships/image" Target="../media/image147.png"/><Relationship Id="rId16" Type="http://schemas.openxmlformats.org/officeDocument/2006/relationships/image" Target="../media/image1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30.png"/><Relationship Id="rId11" Type="http://schemas.openxmlformats.org/officeDocument/2006/relationships/image" Target="../media/image148.png"/><Relationship Id="rId5" Type="http://schemas.openxmlformats.org/officeDocument/2006/relationships/image" Target="../media/image1420.png"/><Relationship Id="rId15" Type="http://schemas.openxmlformats.org/officeDocument/2006/relationships/image" Target="../media/image152.png"/><Relationship Id="rId10" Type="http://schemas.openxmlformats.org/officeDocument/2006/relationships/image" Target="../media/image1470.png"/><Relationship Id="rId4" Type="http://schemas.openxmlformats.org/officeDocument/2006/relationships/image" Target="../media/image1410.png"/><Relationship Id="rId9" Type="http://schemas.openxmlformats.org/officeDocument/2006/relationships/image" Target="../media/image1460.png"/><Relationship Id="rId14" Type="http://schemas.openxmlformats.org/officeDocument/2006/relationships/image" Target="../media/image15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png"/><Relationship Id="rId13" Type="http://schemas.openxmlformats.org/officeDocument/2006/relationships/image" Target="../media/image164.png"/><Relationship Id="rId3" Type="http://schemas.openxmlformats.org/officeDocument/2006/relationships/image" Target="../media/image154.png"/><Relationship Id="rId7" Type="http://schemas.openxmlformats.org/officeDocument/2006/relationships/image" Target="../media/image158.png"/><Relationship Id="rId12" Type="http://schemas.openxmlformats.org/officeDocument/2006/relationships/image" Target="../media/image163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7.png"/><Relationship Id="rId11" Type="http://schemas.openxmlformats.org/officeDocument/2006/relationships/image" Target="../media/image162.png"/><Relationship Id="rId5" Type="http://schemas.openxmlformats.org/officeDocument/2006/relationships/image" Target="../media/image156.png"/><Relationship Id="rId15" Type="http://schemas.openxmlformats.org/officeDocument/2006/relationships/image" Target="../media/image166.png"/><Relationship Id="rId10" Type="http://schemas.openxmlformats.org/officeDocument/2006/relationships/image" Target="../media/image161.png"/><Relationship Id="rId4" Type="http://schemas.openxmlformats.org/officeDocument/2006/relationships/image" Target="../media/image155.png"/><Relationship Id="rId9" Type="http://schemas.openxmlformats.org/officeDocument/2006/relationships/image" Target="../media/image160.png"/><Relationship Id="rId14" Type="http://schemas.openxmlformats.org/officeDocument/2006/relationships/image" Target="../media/image16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png"/><Relationship Id="rId13" Type="http://schemas.openxmlformats.org/officeDocument/2006/relationships/image" Target="../media/image164.png"/><Relationship Id="rId3" Type="http://schemas.openxmlformats.org/officeDocument/2006/relationships/image" Target="../media/image154.png"/><Relationship Id="rId7" Type="http://schemas.openxmlformats.org/officeDocument/2006/relationships/image" Target="../media/image158.png"/><Relationship Id="rId12" Type="http://schemas.openxmlformats.org/officeDocument/2006/relationships/image" Target="../media/image163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7.png"/><Relationship Id="rId11" Type="http://schemas.openxmlformats.org/officeDocument/2006/relationships/image" Target="../media/image162.png"/><Relationship Id="rId5" Type="http://schemas.openxmlformats.org/officeDocument/2006/relationships/image" Target="../media/image156.png"/><Relationship Id="rId15" Type="http://schemas.openxmlformats.org/officeDocument/2006/relationships/image" Target="../media/image166.png"/><Relationship Id="rId10" Type="http://schemas.openxmlformats.org/officeDocument/2006/relationships/image" Target="../media/image161.png"/><Relationship Id="rId4" Type="http://schemas.openxmlformats.org/officeDocument/2006/relationships/image" Target="../media/image155.png"/><Relationship Id="rId9" Type="http://schemas.openxmlformats.org/officeDocument/2006/relationships/image" Target="../media/image160.png"/><Relationship Id="rId14" Type="http://schemas.openxmlformats.org/officeDocument/2006/relationships/image" Target="../media/image16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png"/><Relationship Id="rId13" Type="http://schemas.openxmlformats.org/officeDocument/2006/relationships/image" Target="../media/image177.png"/><Relationship Id="rId18" Type="http://schemas.openxmlformats.org/officeDocument/2006/relationships/image" Target="../media/image182.png"/><Relationship Id="rId26" Type="http://schemas.openxmlformats.org/officeDocument/2006/relationships/image" Target="../media/image190.png"/><Relationship Id="rId3" Type="http://schemas.openxmlformats.org/officeDocument/2006/relationships/image" Target="../media/image168.png"/><Relationship Id="rId21" Type="http://schemas.openxmlformats.org/officeDocument/2006/relationships/image" Target="../media/image185.png"/><Relationship Id="rId7" Type="http://schemas.openxmlformats.org/officeDocument/2006/relationships/image" Target="../media/image172.png"/><Relationship Id="rId12" Type="http://schemas.openxmlformats.org/officeDocument/2006/relationships/image" Target="../media/image176.png"/><Relationship Id="rId17" Type="http://schemas.openxmlformats.org/officeDocument/2006/relationships/image" Target="../media/image181.png"/><Relationship Id="rId25" Type="http://schemas.openxmlformats.org/officeDocument/2006/relationships/image" Target="../media/image189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80.png"/><Relationship Id="rId20" Type="http://schemas.openxmlformats.org/officeDocument/2006/relationships/image" Target="../media/image1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1.png"/><Relationship Id="rId11" Type="http://schemas.openxmlformats.org/officeDocument/2006/relationships/image" Target="../media/image175.png"/><Relationship Id="rId24" Type="http://schemas.openxmlformats.org/officeDocument/2006/relationships/image" Target="../media/image188.png"/><Relationship Id="rId5" Type="http://schemas.openxmlformats.org/officeDocument/2006/relationships/image" Target="../media/image170.png"/><Relationship Id="rId15" Type="http://schemas.openxmlformats.org/officeDocument/2006/relationships/image" Target="../media/image179.png"/><Relationship Id="rId23" Type="http://schemas.openxmlformats.org/officeDocument/2006/relationships/image" Target="../media/image187.png"/><Relationship Id="rId10" Type="http://schemas.openxmlformats.org/officeDocument/2006/relationships/image" Target="../media/image43.png"/><Relationship Id="rId19" Type="http://schemas.openxmlformats.org/officeDocument/2006/relationships/image" Target="../media/image183.png"/><Relationship Id="rId4" Type="http://schemas.openxmlformats.org/officeDocument/2006/relationships/image" Target="../media/image169.png"/><Relationship Id="rId9" Type="http://schemas.openxmlformats.org/officeDocument/2006/relationships/image" Target="../media/image174.png"/><Relationship Id="rId14" Type="http://schemas.openxmlformats.org/officeDocument/2006/relationships/image" Target="../media/image178.png"/><Relationship Id="rId22" Type="http://schemas.openxmlformats.org/officeDocument/2006/relationships/image" Target="../media/image186.png"/><Relationship Id="rId27" Type="http://schemas.openxmlformats.org/officeDocument/2006/relationships/image" Target="../media/image19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png"/><Relationship Id="rId13" Type="http://schemas.openxmlformats.org/officeDocument/2006/relationships/image" Target="../media/image177.png"/><Relationship Id="rId18" Type="http://schemas.openxmlformats.org/officeDocument/2006/relationships/image" Target="../media/image182.png"/><Relationship Id="rId26" Type="http://schemas.openxmlformats.org/officeDocument/2006/relationships/image" Target="../media/image192.png"/><Relationship Id="rId3" Type="http://schemas.openxmlformats.org/officeDocument/2006/relationships/image" Target="../media/image168.png"/><Relationship Id="rId21" Type="http://schemas.openxmlformats.org/officeDocument/2006/relationships/image" Target="../media/image185.png"/><Relationship Id="rId7" Type="http://schemas.openxmlformats.org/officeDocument/2006/relationships/image" Target="../media/image172.png"/><Relationship Id="rId12" Type="http://schemas.openxmlformats.org/officeDocument/2006/relationships/image" Target="../media/image176.png"/><Relationship Id="rId17" Type="http://schemas.openxmlformats.org/officeDocument/2006/relationships/image" Target="../media/image181.png"/><Relationship Id="rId25" Type="http://schemas.openxmlformats.org/officeDocument/2006/relationships/image" Target="../media/image189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80.png"/><Relationship Id="rId20" Type="http://schemas.openxmlformats.org/officeDocument/2006/relationships/image" Target="../media/image184.png"/><Relationship Id="rId29" Type="http://schemas.openxmlformats.org/officeDocument/2006/relationships/image" Target="../media/image1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1.png"/><Relationship Id="rId11" Type="http://schemas.openxmlformats.org/officeDocument/2006/relationships/image" Target="../media/image175.png"/><Relationship Id="rId24" Type="http://schemas.openxmlformats.org/officeDocument/2006/relationships/image" Target="../media/image188.png"/><Relationship Id="rId5" Type="http://schemas.openxmlformats.org/officeDocument/2006/relationships/image" Target="../media/image170.png"/><Relationship Id="rId15" Type="http://schemas.openxmlformats.org/officeDocument/2006/relationships/image" Target="../media/image179.png"/><Relationship Id="rId23" Type="http://schemas.openxmlformats.org/officeDocument/2006/relationships/image" Target="../media/image187.png"/><Relationship Id="rId28" Type="http://schemas.openxmlformats.org/officeDocument/2006/relationships/image" Target="../media/image194.png"/><Relationship Id="rId10" Type="http://schemas.openxmlformats.org/officeDocument/2006/relationships/image" Target="../media/image43.png"/><Relationship Id="rId19" Type="http://schemas.openxmlformats.org/officeDocument/2006/relationships/image" Target="../media/image183.png"/><Relationship Id="rId4" Type="http://schemas.openxmlformats.org/officeDocument/2006/relationships/image" Target="../media/image169.png"/><Relationship Id="rId9" Type="http://schemas.openxmlformats.org/officeDocument/2006/relationships/image" Target="../media/image174.png"/><Relationship Id="rId14" Type="http://schemas.openxmlformats.org/officeDocument/2006/relationships/image" Target="../media/image178.png"/><Relationship Id="rId22" Type="http://schemas.openxmlformats.org/officeDocument/2006/relationships/image" Target="../media/image186.png"/><Relationship Id="rId27" Type="http://schemas.openxmlformats.org/officeDocument/2006/relationships/image" Target="../media/image19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sv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3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4.png"/><Relationship Id="rId13" Type="http://schemas.openxmlformats.org/officeDocument/2006/relationships/image" Target="../media/image260.png"/><Relationship Id="rId18" Type="http://schemas.openxmlformats.org/officeDocument/2006/relationships/image" Target="../media/image310.png"/><Relationship Id="rId3" Type="http://schemas.openxmlformats.org/officeDocument/2006/relationships/image" Target="../media/image1610.png"/><Relationship Id="rId7" Type="http://schemas.openxmlformats.org/officeDocument/2006/relationships/image" Target="../media/image2010.png"/><Relationship Id="rId12" Type="http://schemas.openxmlformats.org/officeDocument/2006/relationships/image" Target="../media/image250.png"/><Relationship Id="rId17" Type="http://schemas.openxmlformats.org/officeDocument/2006/relationships/image" Target="../media/image300.png"/><Relationship Id="rId2" Type="http://schemas.openxmlformats.org/officeDocument/2006/relationships/image" Target="../media/image1510.png"/><Relationship Id="rId16" Type="http://schemas.openxmlformats.org/officeDocument/2006/relationships/image" Target="../media/image29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10.png"/><Relationship Id="rId11" Type="http://schemas.openxmlformats.org/officeDocument/2006/relationships/image" Target="../media/image240.png"/><Relationship Id="rId5" Type="http://schemas.openxmlformats.org/officeDocument/2006/relationships/image" Target="../media/image1810.png"/><Relationship Id="rId15" Type="http://schemas.openxmlformats.org/officeDocument/2006/relationships/image" Target="../media/image280.png"/><Relationship Id="rId10" Type="http://schemas.openxmlformats.org/officeDocument/2006/relationships/image" Target="../media/image230.png"/><Relationship Id="rId19" Type="http://schemas.openxmlformats.org/officeDocument/2006/relationships/image" Target="../media/image1010.png"/><Relationship Id="rId4" Type="http://schemas.openxmlformats.org/officeDocument/2006/relationships/image" Target="../media/image1710.png"/><Relationship Id="rId9" Type="http://schemas.openxmlformats.org/officeDocument/2006/relationships/image" Target="../media/image220.png"/><Relationship Id="rId14" Type="http://schemas.openxmlformats.org/officeDocument/2006/relationships/image" Target="../media/image27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7" Type="http://schemas.openxmlformats.org/officeDocument/2006/relationships/image" Target="../media/image205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4.png"/><Relationship Id="rId5" Type="http://schemas.openxmlformats.org/officeDocument/2006/relationships/image" Target="../media/image203.png"/><Relationship Id="rId4" Type="http://schemas.openxmlformats.org/officeDocument/2006/relationships/image" Target="../media/image20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png"/><Relationship Id="rId7" Type="http://schemas.openxmlformats.org/officeDocument/2006/relationships/image" Target="../media/image202.png"/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1.png"/><Relationship Id="rId5" Type="http://schemas.openxmlformats.org/officeDocument/2006/relationships/image" Target="../media/image200.png"/><Relationship Id="rId4" Type="http://schemas.openxmlformats.org/officeDocument/2006/relationships/image" Target="../media/image20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7" Type="http://schemas.openxmlformats.org/officeDocument/2006/relationships/image" Target="../media/image202.png"/><Relationship Id="rId2" Type="http://schemas.openxmlformats.org/officeDocument/2006/relationships/image" Target="../media/image20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1.png"/><Relationship Id="rId5" Type="http://schemas.openxmlformats.org/officeDocument/2006/relationships/image" Target="../media/image200.png"/><Relationship Id="rId4" Type="http://schemas.openxmlformats.org/officeDocument/2006/relationships/image" Target="../media/image21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2.png"/><Relationship Id="rId4" Type="http://schemas.openxmlformats.org/officeDocument/2006/relationships/image" Target="../media/image20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3.png"/><Relationship Id="rId5" Type="http://schemas.openxmlformats.org/officeDocument/2006/relationships/image" Target="../media/image1140.png"/><Relationship Id="rId4" Type="http://schemas.openxmlformats.org/officeDocument/2006/relationships/image" Target="../media/image20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DAA9F1-128D-4D0D-0179-27655490C6A4}"/>
              </a:ext>
            </a:extLst>
          </p:cNvPr>
          <p:cNvSpPr/>
          <p:nvPr/>
        </p:nvSpPr>
        <p:spPr>
          <a:xfrm>
            <a:off x="164938" y="5466531"/>
            <a:ext cx="4657060" cy="1392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DE71BF3-88D6-7CDE-28E2-423003637E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3545" y="1591694"/>
            <a:ext cx="11354817" cy="709665"/>
          </a:xfrm>
        </p:spPr>
        <p:txBody>
          <a:bodyPr/>
          <a:lstStyle/>
          <a:p>
            <a:r>
              <a:rPr lang="en-CA" sz="4000" b="0" dirty="0"/>
              <a:t>Defining </a:t>
            </a:r>
            <a:r>
              <a:rPr lang="en-CA" sz="4000" dirty="0" err="1"/>
              <a:t>nonclassicality</a:t>
            </a:r>
            <a:r>
              <a:rPr lang="en-CA" sz="4000" b="0" dirty="0"/>
              <a:t> for individual quantum processes</a:t>
            </a:r>
            <a:br>
              <a:rPr lang="en-CA" sz="4000" dirty="0"/>
            </a:br>
            <a:r>
              <a:rPr lang="en-CA" sz="3200" b="0" dirty="0"/>
              <a:t>--  through generalized contextuality</a:t>
            </a:r>
            <a:endParaRPr lang="en-US" sz="4000" b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5BF59D-A689-86D6-03FE-C26DEE8C7270}"/>
              </a:ext>
            </a:extLst>
          </p:cNvPr>
          <p:cNvSpPr txBox="1"/>
          <p:nvPr/>
        </p:nvSpPr>
        <p:spPr>
          <a:xfrm>
            <a:off x="164938" y="6121755"/>
            <a:ext cx="112625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400" dirty="0"/>
              <a:t>arXiv:2503.05884 (2025):  Reassessing the boundary between classical and nonclassical for individual quantum processes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46239C-50EE-1836-2B40-F56B2EC58702}"/>
              </a:ext>
            </a:extLst>
          </p:cNvPr>
          <p:cNvSpPr txBox="1"/>
          <p:nvPr/>
        </p:nvSpPr>
        <p:spPr>
          <a:xfrm>
            <a:off x="164938" y="6334780"/>
            <a:ext cx="114907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400" i="0" dirty="0">
                <a:solidFill>
                  <a:schemeClr val="bg2">
                    <a:lumMod val="75000"/>
                  </a:schemeClr>
                </a:solidFill>
                <a:effectLst/>
              </a:rPr>
              <a:t>arXiv:2504.02944 (2025</a:t>
            </a:r>
            <a:r>
              <a:rPr lang="en-CA" sz="1400" dirty="0">
                <a:solidFill>
                  <a:schemeClr val="bg2">
                    <a:lumMod val="75000"/>
                  </a:schemeClr>
                </a:solidFill>
              </a:rPr>
              <a:t>):  </a:t>
            </a:r>
            <a:r>
              <a:rPr lang="en-CA" sz="1400" dirty="0" err="1">
                <a:solidFill>
                  <a:schemeClr val="bg2">
                    <a:lumMod val="75000"/>
                  </a:schemeClr>
                </a:solidFill>
              </a:rPr>
              <a:t>Nonclassicality</a:t>
            </a:r>
            <a:r>
              <a:rPr lang="en-CA" sz="1400" dirty="0">
                <a:solidFill>
                  <a:schemeClr val="bg2">
                    <a:lumMod val="75000"/>
                  </a:schemeClr>
                </a:solidFill>
              </a:rPr>
              <a:t> for measurements/set of quantum states</a:t>
            </a:r>
          </a:p>
          <a:p>
            <a:r>
              <a:rPr lang="en-CA" sz="1400" dirty="0">
                <a:solidFill>
                  <a:schemeClr val="bg2">
                    <a:lumMod val="75000"/>
                  </a:schemeClr>
                </a:solidFill>
              </a:rPr>
              <a:t>arXiv:2507.01122 (2025):   </a:t>
            </a:r>
            <a:r>
              <a:rPr lang="en-CA" sz="1400" dirty="0" err="1">
                <a:solidFill>
                  <a:schemeClr val="bg2">
                    <a:lumMod val="75000"/>
                  </a:schemeClr>
                </a:solidFill>
              </a:rPr>
              <a:t>Nonclassicality</a:t>
            </a:r>
            <a:r>
              <a:rPr lang="en-CA" sz="1400" dirty="0">
                <a:solidFill>
                  <a:schemeClr val="bg2">
                    <a:lumMod val="75000"/>
                  </a:schemeClr>
                </a:solidFill>
              </a:rPr>
              <a:t> for bipartite states</a:t>
            </a:r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2EE7321A-361D-EE80-9A2A-CC3815426C4C}"/>
              </a:ext>
            </a:extLst>
          </p:cNvPr>
          <p:cNvSpPr txBox="1">
            <a:spLocks/>
          </p:cNvSpPr>
          <p:nvPr/>
        </p:nvSpPr>
        <p:spPr>
          <a:xfrm>
            <a:off x="2607579" y="3323921"/>
            <a:ext cx="6871556" cy="980637"/>
          </a:xfrm>
          <a:prstGeom prst="rect">
            <a:avLst/>
          </a:prstGeom>
        </p:spPr>
        <p:txBody>
          <a:bodyPr vert="horz" lIns="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b="1" kern="1200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400" u="sng" dirty="0" err="1"/>
              <a:t>Yujie</a:t>
            </a:r>
            <a:r>
              <a:rPr lang="en-CA" sz="2400" u="sng" dirty="0"/>
              <a:t> Zhang</a:t>
            </a:r>
            <a:r>
              <a:rPr lang="en-CA" sz="2400" b="0" dirty="0"/>
              <a:t>,  David Schmid,   </a:t>
            </a:r>
            <a:r>
              <a:rPr lang="en-CA" sz="2400" b="0" dirty="0" err="1"/>
              <a:t>Yìlè</a:t>
            </a:r>
            <a:r>
              <a:rPr lang="en-CA" sz="2400" b="0" dirty="0"/>
              <a:t> </a:t>
            </a:r>
            <a:r>
              <a:rPr lang="en-CA" sz="2400" b="0" dirty="0" err="1"/>
              <a:t>Yīng</a:t>
            </a:r>
            <a:r>
              <a:rPr lang="en-CA" sz="2400" b="0" dirty="0"/>
              <a:t>,  and Robert </a:t>
            </a:r>
            <a:r>
              <a:rPr lang="en-CA" sz="2400" b="0" dirty="0" err="1"/>
              <a:t>Spekkens</a:t>
            </a:r>
            <a:endParaRPr lang="en-CA" sz="2400" b="0" dirty="0"/>
          </a:p>
          <a:p>
            <a:endParaRPr lang="en-CA" sz="2400" b="0" dirty="0"/>
          </a:p>
          <a:p>
            <a:r>
              <a:rPr lang="en-CA" sz="2400" b="0" dirty="0"/>
              <a:t>                                      July, 19, 2025</a:t>
            </a:r>
          </a:p>
        </p:txBody>
      </p:sp>
      <p:pic>
        <p:nvPicPr>
          <p:cNvPr id="1026" name="Picture 2" descr="Perimeter Institute - Partner Institute ...">
            <a:extLst>
              <a:ext uri="{FF2B5EF4-FFF2-40B4-BE49-F238E27FC236}">
                <a16:creationId xmlns:a16="http://schemas.microsoft.com/office/drawing/2014/main" id="{99998219-3F99-DAF2-FC1C-887B494083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8779" y="5192558"/>
            <a:ext cx="2121543" cy="701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54F0830-A444-ED23-C845-BD379717C2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5012629"/>
            <a:ext cx="2700759" cy="1142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863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90517-9D8A-99F2-43A8-129AE4BA0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0E84F88-B6B6-F7C5-EECA-F8B6B3F73CF6}"/>
              </a:ext>
            </a:extLst>
          </p:cNvPr>
          <p:cNvSpPr/>
          <p:nvPr/>
        </p:nvSpPr>
        <p:spPr>
          <a:xfrm>
            <a:off x="68840" y="5354384"/>
            <a:ext cx="4657060" cy="1392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DC0C85-74C6-5464-C995-4D965A474638}"/>
              </a:ext>
            </a:extLst>
          </p:cNvPr>
          <p:cNvSpPr txBox="1"/>
          <p:nvPr/>
        </p:nvSpPr>
        <p:spPr>
          <a:xfrm>
            <a:off x="3085903" y="1060564"/>
            <a:ext cx="72155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Original Question:   What is nonclassical?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1D159E-FAA2-25CB-7080-E7AF6AC19072}"/>
              </a:ext>
            </a:extLst>
          </p:cNvPr>
          <p:cNvSpPr txBox="1"/>
          <p:nvPr/>
        </p:nvSpPr>
        <p:spPr>
          <a:xfrm>
            <a:off x="381964" y="3061964"/>
            <a:ext cx="9398645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sz="1600" dirty="0"/>
          </a:p>
          <a:p>
            <a:r>
              <a:rPr lang="en-US" sz="1600" dirty="0"/>
              <a:t>                                  Quantum contextuality </a:t>
            </a:r>
            <a:r>
              <a:rPr lang="en-US" sz="1600" dirty="0">
                <a:sym typeface="Wingdings" pitchFamily="2" charset="2"/>
              </a:rPr>
              <a:t></a:t>
            </a:r>
            <a:r>
              <a:rPr lang="en-US" sz="1600" dirty="0"/>
              <a:t> Bell test </a:t>
            </a:r>
            <a:r>
              <a:rPr lang="en-US" sz="1600" dirty="0">
                <a:sym typeface="Wingdings" pitchFamily="2" charset="2"/>
              </a:rPr>
              <a:t> Hardy test  Strong contextuality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sz="1600" dirty="0">
              <a:sym typeface="Wingdings" pitchFamily="2" charset="2"/>
            </a:endParaRPr>
          </a:p>
          <a:p>
            <a:endParaRPr lang="en-US" sz="1600" dirty="0">
              <a:sym typeface="Wingdings" pitchFamily="2" charset="2"/>
            </a:endParaRPr>
          </a:p>
          <a:p>
            <a:r>
              <a:rPr lang="en-US" sz="1600" dirty="0">
                <a:sym typeface="Wingdings" pitchFamily="2" charset="2"/>
              </a:rPr>
              <a:t>                                  Bell correlation  Non-signaling  One-way signaling   QW  BW</a:t>
            </a:r>
          </a:p>
          <a:p>
            <a:endParaRPr lang="en-US" sz="1600" dirty="0">
              <a:sym typeface="Wingdings" pitchFamily="2" charset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C4438B-3D2A-EA12-4FE1-F9C5FE98B913}"/>
              </a:ext>
            </a:extLst>
          </p:cNvPr>
          <p:cNvSpPr txBox="1"/>
          <p:nvPr/>
        </p:nvSpPr>
        <p:spPr>
          <a:xfrm>
            <a:off x="68840" y="2277649"/>
            <a:ext cx="121231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Over the past few days,  I have learned a lot about how to become “more and more nonclassical”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7D7298-1EDA-E90D-BF45-790B8AED5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1588" y="2845128"/>
            <a:ext cx="3028315" cy="258532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89DE9A2-842E-75BB-1C8E-0A3BD465E37E}"/>
              </a:ext>
            </a:extLst>
          </p:cNvPr>
          <p:cNvSpPr txBox="1"/>
          <p:nvPr/>
        </p:nvSpPr>
        <p:spPr>
          <a:xfrm>
            <a:off x="10563148" y="5430451"/>
            <a:ext cx="1666755" cy="26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100" dirty="0"/>
              <a:t>Jessica </a:t>
            </a:r>
            <a:r>
              <a:rPr lang="en-CA" sz="1100" dirty="0" err="1"/>
              <a:t>Bavaresco</a:t>
            </a:r>
            <a:r>
              <a:rPr lang="en-CA" sz="1100" dirty="0"/>
              <a:t> </a:t>
            </a:r>
            <a:r>
              <a:rPr lang="en-CA" sz="1100" dirty="0" err="1"/>
              <a:t>et.al</a:t>
            </a:r>
            <a:r>
              <a:rPr lang="en-CA" sz="1100" dirty="0"/>
              <a:t>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282117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2AFF1-6EEC-FCA7-76D9-D6D4CB94E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09C2725-C892-7221-1D2A-F39F9B21BBDB}"/>
              </a:ext>
            </a:extLst>
          </p:cNvPr>
          <p:cNvSpPr/>
          <p:nvPr/>
        </p:nvSpPr>
        <p:spPr>
          <a:xfrm>
            <a:off x="68840" y="5354384"/>
            <a:ext cx="4657060" cy="1392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C8A37C-DCBE-CCE4-BFF2-A4EB09EDDDF1}"/>
              </a:ext>
            </a:extLst>
          </p:cNvPr>
          <p:cNvSpPr txBox="1"/>
          <p:nvPr/>
        </p:nvSpPr>
        <p:spPr>
          <a:xfrm>
            <a:off x="68839" y="2277649"/>
            <a:ext cx="115199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Indeed, the talk is about  “where is the </a:t>
            </a:r>
            <a:r>
              <a:rPr lang="en-CA" sz="1600" dirty="0">
                <a:solidFill>
                  <a:srgbClr val="0070C0"/>
                </a:solidFill>
              </a:rPr>
              <a:t>boundary between classical and nonclassical (for individual quantum processes)</a:t>
            </a:r>
            <a:r>
              <a:rPr lang="en-US" sz="1600" dirty="0">
                <a:solidFill>
                  <a:srgbClr val="0070C0"/>
                </a:solidFill>
              </a:rPr>
              <a:t>”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BF640F9-1245-A738-F139-2F48AD7D2B31}"/>
              </a:ext>
            </a:extLst>
          </p:cNvPr>
          <p:cNvGrpSpPr/>
          <p:nvPr/>
        </p:nvGrpSpPr>
        <p:grpSpPr>
          <a:xfrm>
            <a:off x="9455907" y="3061964"/>
            <a:ext cx="2446725" cy="2163723"/>
            <a:chOff x="9604536" y="3578095"/>
            <a:chExt cx="2518624" cy="2416854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CF28D680-AE6E-833B-C6C9-C92F36F1A2A3}"/>
                </a:ext>
              </a:extLst>
            </p:cNvPr>
            <p:cNvSpPr/>
            <p:nvPr/>
          </p:nvSpPr>
          <p:spPr>
            <a:xfrm>
              <a:off x="9604536" y="3578095"/>
              <a:ext cx="2518624" cy="2416854"/>
            </a:xfrm>
            <a:prstGeom prst="ellipse">
              <a:avLst/>
            </a:prstGeom>
            <a:solidFill>
              <a:srgbClr val="9B4ED6">
                <a:alpha val="90167"/>
              </a:srgbClr>
            </a:solidFill>
            <a:ln w="19050">
              <a:solidFill>
                <a:schemeClr val="tx1">
                  <a:alpha val="87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b="0" dirty="0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0F30F8CE-2D2D-3638-CC52-05315E8D2FD6}"/>
                </a:ext>
              </a:extLst>
            </p:cNvPr>
            <p:cNvGrpSpPr/>
            <p:nvPr/>
          </p:nvGrpSpPr>
          <p:grpSpPr>
            <a:xfrm>
              <a:off x="9822432" y="4005394"/>
              <a:ext cx="2090576" cy="1968469"/>
              <a:chOff x="6148486" y="2322710"/>
              <a:chExt cx="2346779" cy="2128546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D83890DC-6912-EE24-F3A9-57FAC3938FBC}"/>
                  </a:ext>
                </a:extLst>
              </p:cNvPr>
              <p:cNvSpPr/>
              <p:nvPr/>
            </p:nvSpPr>
            <p:spPr>
              <a:xfrm>
                <a:off x="6148486" y="2322710"/>
                <a:ext cx="2346779" cy="2115392"/>
              </a:xfrm>
              <a:prstGeom prst="ellipse">
                <a:avLst/>
              </a:prstGeom>
              <a:solidFill>
                <a:srgbClr val="F0C679"/>
              </a:solidFill>
              <a:ln w="19050">
                <a:solidFill>
                  <a:schemeClr val="tx1">
                    <a:alpha val="87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b="0" dirty="0">
                  <a:solidFill>
                    <a:srgbClr val="F8CBAD"/>
                  </a:solidFill>
                </a:endParaRP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3C7D4CC-292C-60BF-8C44-0E24104CDBE6}"/>
                  </a:ext>
                </a:extLst>
              </p:cNvPr>
              <p:cNvSpPr/>
              <p:nvPr/>
            </p:nvSpPr>
            <p:spPr>
              <a:xfrm>
                <a:off x="6405850" y="2733177"/>
                <a:ext cx="1855011" cy="1718079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tx1">
                    <a:alpha val="87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b="0" dirty="0">
                  <a:solidFill>
                    <a:srgbClr val="F8CBAD"/>
                  </a:solidFill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0338914-2629-AF19-0DE7-D6248CEA18BC}"/>
                  </a:ext>
                </a:extLst>
              </p:cNvPr>
              <p:cNvSpPr/>
              <p:nvPr/>
            </p:nvSpPr>
            <p:spPr>
              <a:xfrm>
                <a:off x="6609190" y="3194011"/>
                <a:ext cx="1416678" cy="1242157"/>
              </a:xfrm>
              <a:prstGeom prst="ellipse">
                <a:avLst/>
              </a:prstGeom>
              <a:solidFill>
                <a:srgbClr val="FA9576"/>
              </a:solidFill>
              <a:ln w="19050">
                <a:solidFill>
                  <a:schemeClr val="tx1">
                    <a:alpha val="87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b="0" dirty="0">
                  <a:solidFill>
                    <a:srgbClr val="F8CBAD"/>
                  </a:solidFill>
                </a:endParaRPr>
              </a:p>
            </p:txBody>
          </p:sp>
        </p:grpSp>
        <p:sp>
          <p:nvSpPr>
            <p:cNvPr id="10" name="Oval 73">
              <a:extLst>
                <a:ext uri="{FF2B5EF4-FFF2-40B4-BE49-F238E27FC236}">
                  <a16:creationId xmlns:a16="http://schemas.microsoft.com/office/drawing/2014/main" id="{4A37FE1F-8212-169C-F267-070F6F73E223}"/>
                </a:ext>
              </a:extLst>
            </p:cNvPr>
            <p:cNvSpPr/>
            <p:nvPr/>
          </p:nvSpPr>
          <p:spPr>
            <a:xfrm>
              <a:off x="10314984" y="5060838"/>
              <a:ext cx="1053941" cy="658378"/>
            </a:xfrm>
            <a:custGeom>
              <a:avLst/>
              <a:gdLst>
                <a:gd name="connsiteX0" fmla="*/ 0 w 1135096"/>
                <a:gd name="connsiteY0" fmla="*/ 534045 h 1068090"/>
                <a:gd name="connsiteX1" fmla="*/ 567548 w 1135096"/>
                <a:gd name="connsiteY1" fmla="*/ 0 h 1068090"/>
                <a:gd name="connsiteX2" fmla="*/ 1135096 w 1135096"/>
                <a:gd name="connsiteY2" fmla="*/ 534045 h 1068090"/>
                <a:gd name="connsiteX3" fmla="*/ 567548 w 1135096"/>
                <a:gd name="connsiteY3" fmla="*/ 1068090 h 1068090"/>
                <a:gd name="connsiteX4" fmla="*/ 0 w 1135096"/>
                <a:gd name="connsiteY4" fmla="*/ 534045 h 1068090"/>
                <a:gd name="connsiteX0" fmla="*/ 13 w 1135109"/>
                <a:gd name="connsiteY0" fmla="*/ 111945 h 645990"/>
                <a:gd name="connsiteX1" fmla="*/ 554772 w 1135109"/>
                <a:gd name="connsiteY1" fmla="*/ 198157 h 645990"/>
                <a:gd name="connsiteX2" fmla="*/ 1135109 w 1135109"/>
                <a:gd name="connsiteY2" fmla="*/ 111945 h 645990"/>
                <a:gd name="connsiteX3" fmla="*/ 567561 w 1135109"/>
                <a:gd name="connsiteY3" fmla="*/ 645990 h 645990"/>
                <a:gd name="connsiteX4" fmla="*/ 13 w 1135109"/>
                <a:gd name="connsiteY4" fmla="*/ 111945 h 645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109" h="645990">
                  <a:moveTo>
                    <a:pt x="13" y="111945"/>
                  </a:moveTo>
                  <a:cubicBezTo>
                    <a:pt x="-2118" y="37306"/>
                    <a:pt x="241324" y="198157"/>
                    <a:pt x="554772" y="198157"/>
                  </a:cubicBezTo>
                  <a:cubicBezTo>
                    <a:pt x="868220" y="198157"/>
                    <a:pt x="1135109" y="-183000"/>
                    <a:pt x="1135109" y="111945"/>
                  </a:cubicBezTo>
                  <a:cubicBezTo>
                    <a:pt x="1135109" y="406890"/>
                    <a:pt x="881009" y="645990"/>
                    <a:pt x="567561" y="645990"/>
                  </a:cubicBezTo>
                  <a:cubicBezTo>
                    <a:pt x="254113" y="645990"/>
                    <a:pt x="2144" y="186584"/>
                    <a:pt x="13" y="111945"/>
                  </a:cubicBezTo>
                  <a:close/>
                </a:path>
              </a:pathLst>
            </a:custGeom>
            <a:solidFill>
              <a:srgbClr val="F66565"/>
            </a:solidFill>
            <a:ln w="19050">
              <a:solidFill>
                <a:schemeClr val="tx1">
                  <a:alpha val="87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b="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8250EAF-01AE-3FB2-66E1-F7F24DE1AB03}"/>
                </a:ext>
              </a:extLst>
            </p:cNvPr>
            <p:cNvSpPr txBox="1"/>
            <p:nvPr/>
          </p:nvSpPr>
          <p:spPr>
            <a:xfrm>
              <a:off x="10511798" y="5245300"/>
              <a:ext cx="83506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Classical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A88F53E-C674-A490-71B4-7B7AF6A5ADF3}"/>
                    </a:ext>
                  </a:extLst>
                </p:cNvPr>
                <p:cNvSpPr txBox="1"/>
                <p:nvPr/>
              </p:nvSpPr>
              <p:spPr>
                <a:xfrm>
                  <a:off x="10314984" y="4902862"/>
                  <a:ext cx="1135096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CA" sz="1200" b="0" i="0" spc="-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Separable</m:t>
                        </m:r>
                      </m:oMath>
                    </m:oMathPara>
                  </a14:m>
                  <a:endParaRPr lang="en-US" sz="1200" spc="-1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A88F53E-C674-A490-71B4-7B7AF6A5AD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14984" y="4902862"/>
                  <a:ext cx="1135096" cy="276999"/>
                </a:xfrm>
                <a:prstGeom prst="rect">
                  <a:avLst/>
                </a:prstGeom>
                <a:blipFill>
                  <a:blip r:embed="rId2"/>
                  <a:stretch>
                    <a:fillRect b="-2381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562F2313-F2B9-97A7-B2A4-D9A2E9D98606}"/>
                    </a:ext>
                  </a:extLst>
                </p:cNvPr>
                <p:cNvSpPr txBox="1"/>
                <p:nvPr/>
              </p:nvSpPr>
              <p:spPr>
                <a:xfrm>
                  <a:off x="10151380" y="4509523"/>
                  <a:ext cx="1427063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CA" sz="1200" i="0" spc="-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m:rPr>
                            <m:sty m:val="p"/>
                          </m:rPr>
                          <a:rPr lang="en-CA" sz="1200" b="0" i="0" spc="-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nsteerable</m:t>
                        </m:r>
                      </m:oMath>
                    </m:oMathPara>
                  </a14:m>
                  <a:endParaRPr lang="en-US" sz="1200" spc="-10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562F2313-F2B9-97A7-B2A4-D9A2E9D986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1380" y="4509523"/>
                  <a:ext cx="1427063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22551E9-727C-E963-5008-9665DFF9DE33}"/>
                    </a:ext>
                  </a:extLst>
                </p:cNvPr>
                <p:cNvSpPr txBox="1"/>
                <p:nvPr/>
              </p:nvSpPr>
              <p:spPr>
                <a:xfrm>
                  <a:off x="10225497" y="4097340"/>
                  <a:ext cx="1276702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CA" sz="12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Local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22551E9-727C-E963-5008-9665DFF9DE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25497" y="4097340"/>
                  <a:ext cx="1276702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517D685-7246-926F-B1DD-47854B7E7311}"/>
                </a:ext>
              </a:extLst>
            </p:cNvPr>
            <p:cNvSpPr txBox="1"/>
            <p:nvPr/>
          </p:nvSpPr>
          <p:spPr>
            <a:xfrm>
              <a:off x="10096174" y="3688974"/>
              <a:ext cx="15600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All quantum states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3F434400-4802-7BB4-DC34-AD2EA5FF1669}"/>
              </a:ext>
            </a:extLst>
          </p:cNvPr>
          <p:cNvSpPr txBox="1"/>
          <p:nvPr/>
        </p:nvSpPr>
        <p:spPr>
          <a:xfrm>
            <a:off x="381964" y="3061964"/>
            <a:ext cx="9398645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sz="1600" dirty="0"/>
          </a:p>
          <a:p>
            <a:r>
              <a:rPr lang="en-US" sz="1600" dirty="0"/>
              <a:t>Classical </a:t>
            </a:r>
            <a:r>
              <a:rPr lang="en-US" sz="1600" dirty="0">
                <a:sym typeface="Wingdings" pitchFamily="2" charset="2"/>
              </a:rPr>
              <a:t></a:t>
            </a:r>
            <a:r>
              <a:rPr lang="en-US" sz="1600" dirty="0"/>
              <a:t> …….</a:t>
            </a:r>
            <a:r>
              <a:rPr lang="en-US" sz="1600" dirty="0">
                <a:sym typeface="Wingdings" pitchFamily="2" charset="2"/>
              </a:rPr>
              <a:t> </a:t>
            </a:r>
            <a:r>
              <a:rPr lang="en-US" sz="1600" dirty="0"/>
              <a:t>Quantum contextuality </a:t>
            </a:r>
            <a:r>
              <a:rPr lang="en-US" sz="1600" dirty="0">
                <a:solidFill>
                  <a:schemeClr val="bg2">
                    <a:lumMod val="75000"/>
                  </a:schemeClr>
                </a:solidFill>
                <a:sym typeface="Wingdings" pitchFamily="2" charset="2"/>
              </a:rPr>
              <a:t></a:t>
            </a:r>
            <a:r>
              <a:rPr lang="en-US" sz="1600" dirty="0">
                <a:solidFill>
                  <a:schemeClr val="bg2">
                    <a:lumMod val="75000"/>
                  </a:schemeClr>
                </a:solidFill>
              </a:rPr>
              <a:t> Bell test </a:t>
            </a:r>
            <a:r>
              <a:rPr lang="en-US" sz="1600" dirty="0">
                <a:solidFill>
                  <a:schemeClr val="bg2">
                    <a:lumMod val="75000"/>
                  </a:schemeClr>
                </a:solidFill>
                <a:sym typeface="Wingdings" pitchFamily="2" charset="2"/>
              </a:rPr>
              <a:t> Hardy test  Strong contextuality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sz="1600" dirty="0">
              <a:solidFill>
                <a:schemeClr val="bg2">
                  <a:lumMod val="75000"/>
                </a:schemeClr>
              </a:solidFill>
              <a:sym typeface="Wingdings" pitchFamily="2" charset="2"/>
            </a:endParaRPr>
          </a:p>
          <a:p>
            <a:endParaRPr lang="en-US" sz="1600" dirty="0">
              <a:sym typeface="Wingdings" pitchFamily="2" charset="2"/>
            </a:endParaRPr>
          </a:p>
          <a:p>
            <a:r>
              <a:rPr lang="en-US" sz="1600" dirty="0">
                <a:sym typeface="Wingdings" pitchFamily="2" charset="2"/>
              </a:rPr>
              <a:t>Classical  ……  Bell correlation </a:t>
            </a:r>
            <a:r>
              <a:rPr lang="en-US" sz="1600" dirty="0">
                <a:solidFill>
                  <a:schemeClr val="bg2">
                    <a:lumMod val="75000"/>
                  </a:schemeClr>
                </a:solidFill>
                <a:sym typeface="Wingdings" pitchFamily="2" charset="2"/>
              </a:rPr>
              <a:t> Non-signaling  One-way signaling   QW  BW</a:t>
            </a:r>
          </a:p>
          <a:p>
            <a:endParaRPr lang="en-US" sz="1600" dirty="0">
              <a:sym typeface="Wingdings" pitchFamily="2" charset="2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C481131-BCFA-CC3A-F4EC-3140E6DAAF55}"/>
              </a:ext>
            </a:extLst>
          </p:cNvPr>
          <p:cNvSpPr txBox="1"/>
          <p:nvPr/>
        </p:nvSpPr>
        <p:spPr>
          <a:xfrm>
            <a:off x="3085903" y="1060564"/>
            <a:ext cx="72155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New Question:   What is classical ?!!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158EC04-25A4-601E-4D06-C35F7031FADF}"/>
              </a:ext>
            </a:extLst>
          </p:cNvPr>
          <p:cNvSpPr/>
          <p:nvPr/>
        </p:nvSpPr>
        <p:spPr>
          <a:xfrm>
            <a:off x="1264024" y="3409217"/>
            <a:ext cx="900952" cy="1499406"/>
          </a:xfrm>
          <a:prstGeom prst="rect">
            <a:avLst/>
          </a:prstGeom>
          <a:solidFill>
            <a:schemeClr val="bg1">
              <a:alpha val="0"/>
            </a:schemeClr>
          </a:solidFill>
          <a:ln w="254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E13256D-B13A-F2EF-CE8D-8C1A9878732A}"/>
              </a:ext>
            </a:extLst>
          </p:cNvPr>
          <p:cNvCxnSpPr>
            <a:cxnSpLocks/>
          </p:cNvCxnSpPr>
          <p:nvPr/>
        </p:nvCxnSpPr>
        <p:spPr>
          <a:xfrm flipH="1">
            <a:off x="2030506" y="2616203"/>
            <a:ext cx="537882" cy="678326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721064B-1ADD-9C18-8CBB-664B05D30D92}"/>
              </a:ext>
            </a:extLst>
          </p:cNvPr>
          <p:cNvCxnSpPr>
            <a:cxnSpLocks/>
          </p:cNvCxnSpPr>
          <p:nvPr/>
        </p:nvCxnSpPr>
        <p:spPr>
          <a:xfrm flipV="1">
            <a:off x="1438940" y="4878585"/>
            <a:ext cx="726036" cy="567179"/>
          </a:xfrm>
          <a:prstGeom prst="straightConnector1">
            <a:avLst/>
          </a:prstGeom>
          <a:ln w="28575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62544E2-3FC2-328A-E505-45F204608D1A}"/>
              </a:ext>
            </a:extLst>
          </p:cNvPr>
          <p:cNvSpPr txBox="1"/>
          <p:nvPr/>
        </p:nvSpPr>
        <p:spPr>
          <a:xfrm>
            <a:off x="1493782" y="5571044"/>
            <a:ext cx="2780763" cy="3450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Generalized contextuality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0FA172A-7328-36A7-5EBE-652EB2201E06}"/>
              </a:ext>
            </a:extLst>
          </p:cNvPr>
          <p:cNvSpPr/>
          <p:nvPr/>
        </p:nvSpPr>
        <p:spPr>
          <a:xfrm>
            <a:off x="1438940" y="5465531"/>
            <a:ext cx="2835606" cy="567179"/>
          </a:xfrm>
          <a:prstGeom prst="rect">
            <a:avLst/>
          </a:prstGeom>
          <a:solidFill>
            <a:schemeClr val="bg1">
              <a:alpha val="0"/>
            </a:schemeClr>
          </a:solidFill>
          <a:ln w="254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09DBA5D-3A1B-A107-FF82-A2F93F3549D2}"/>
              </a:ext>
            </a:extLst>
          </p:cNvPr>
          <p:cNvCxnSpPr>
            <a:cxnSpLocks/>
          </p:cNvCxnSpPr>
          <p:nvPr/>
        </p:nvCxnSpPr>
        <p:spPr>
          <a:xfrm flipH="1" flipV="1">
            <a:off x="2164976" y="4878585"/>
            <a:ext cx="2109569" cy="575806"/>
          </a:xfrm>
          <a:prstGeom prst="straightConnector1">
            <a:avLst/>
          </a:prstGeom>
          <a:ln w="28575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4587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E07FD-C393-1842-512F-59361F6BF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CD9325F-1202-8B35-CF79-15C84C76B4B5}"/>
              </a:ext>
            </a:extLst>
          </p:cNvPr>
          <p:cNvSpPr/>
          <p:nvPr/>
        </p:nvSpPr>
        <p:spPr>
          <a:xfrm>
            <a:off x="164938" y="5466531"/>
            <a:ext cx="4657060" cy="1392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0E0779F-4C44-74B5-14FE-2D55EB1F12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3545" y="1591694"/>
            <a:ext cx="11354817" cy="709665"/>
          </a:xfrm>
        </p:spPr>
        <p:txBody>
          <a:bodyPr/>
          <a:lstStyle/>
          <a:p>
            <a:r>
              <a:rPr lang="en-CA" sz="4000" b="0" dirty="0"/>
              <a:t>Defining </a:t>
            </a:r>
            <a:r>
              <a:rPr lang="en-CA" sz="4000" dirty="0"/>
              <a:t>classicality</a:t>
            </a:r>
            <a:r>
              <a:rPr lang="en-CA" sz="4000" b="0" dirty="0"/>
              <a:t> for individual quantum processes</a:t>
            </a:r>
            <a:br>
              <a:rPr lang="en-CA" sz="4000" dirty="0"/>
            </a:br>
            <a:r>
              <a:rPr lang="en-CA" sz="3200" b="0" dirty="0"/>
              <a:t>--  through generalized noncontextuality</a:t>
            </a:r>
            <a:endParaRPr lang="en-US" sz="4000" b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240D36-1160-5B1C-0162-A62D28A92295}"/>
              </a:ext>
            </a:extLst>
          </p:cNvPr>
          <p:cNvSpPr txBox="1"/>
          <p:nvPr/>
        </p:nvSpPr>
        <p:spPr>
          <a:xfrm>
            <a:off x="164938" y="6121755"/>
            <a:ext cx="112625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400" dirty="0"/>
              <a:t>arXiv:2503.05884 (2025):  Reassessing the boundary between classical and nonclassical for individual quantum processes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0BD627-CE1D-544E-1FF8-0D7C00F9B0A5}"/>
              </a:ext>
            </a:extLst>
          </p:cNvPr>
          <p:cNvSpPr txBox="1"/>
          <p:nvPr/>
        </p:nvSpPr>
        <p:spPr>
          <a:xfrm>
            <a:off x="164938" y="6334780"/>
            <a:ext cx="114907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400" i="0" dirty="0">
                <a:effectLst/>
              </a:rPr>
              <a:t>arXiv:2504.02944 (2025</a:t>
            </a:r>
            <a:r>
              <a:rPr lang="en-CA" sz="1400" dirty="0"/>
              <a:t>):  </a:t>
            </a:r>
            <a:r>
              <a:rPr lang="en-CA" sz="1400" dirty="0" err="1"/>
              <a:t>Nonclassicality</a:t>
            </a:r>
            <a:r>
              <a:rPr lang="en-CA" sz="1400" dirty="0"/>
              <a:t> for measurements/set of quantum states</a:t>
            </a:r>
          </a:p>
          <a:p>
            <a:r>
              <a:rPr lang="en-CA" sz="1400" dirty="0"/>
              <a:t>arXiv:2507.01122 (2025):   </a:t>
            </a:r>
            <a:r>
              <a:rPr lang="en-CA" sz="1400" dirty="0" err="1"/>
              <a:t>Nonclassicality</a:t>
            </a:r>
            <a:r>
              <a:rPr lang="en-CA" sz="1400" dirty="0"/>
              <a:t> for bipartite states</a:t>
            </a:r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8349228D-DEF5-9FC1-3D73-18EC067B12B1}"/>
              </a:ext>
            </a:extLst>
          </p:cNvPr>
          <p:cNvSpPr txBox="1">
            <a:spLocks/>
          </p:cNvSpPr>
          <p:nvPr/>
        </p:nvSpPr>
        <p:spPr>
          <a:xfrm>
            <a:off x="2607579" y="3323921"/>
            <a:ext cx="6871556" cy="980637"/>
          </a:xfrm>
          <a:prstGeom prst="rect">
            <a:avLst/>
          </a:prstGeom>
        </p:spPr>
        <p:txBody>
          <a:bodyPr vert="horz" lIns="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b="1" kern="1200" spc="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400" u="sng" dirty="0" err="1"/>
              <a:t>Yujie</a:t>
            </a:r>
            <a:r>
              <a:rPr lang="en-CA" sz="2400" u="sng" dirty="0"/>
              <a:t> Zhang</a:t>
            </a:r>
            <a:r>
              <a:rPr lang="en-CA" sz="2400" b="0" dirty="0"/>
              <a:t>,  David Schmid,   </a:t>
            </a:r>
            <a:r>
              <a:rPr lang="en-CA" sz="2400" b="0" dirty="0" err="1"/>
              <a:t>Yìlè</a:t>
            </a:r>
            <a:r>
              <a:rPr lang="en-CA" sz="2400" b="0" dirty="0"/>
              <a:t> </a:t>
            </a:r>
            <a:r>
              <a:rPr lang="en-CA" sz="2400" b="0" dirty="0" err="1"/>
              <a:t>Yīng</a:t>
            </a:r>
            <a:r>
              <a:rPr lang="en-CA" sz="2400" b="0" dirty="0"/>
              <a:t>,  and Robert </a:t>
            </a:r>
            <a:r>
              <a:rPr lang="en-CA" sz="2400" b="0" dirty="0" err="1"/>
              <a:t>Spekkens</a:t>
            </a:r>
            <a:endParaRPr lang="en-CA" sz="2400" b="0" dirty="0"/>
          </a:p>
          <a:p>
            <a:endParaRPr lang="en-CA" sz="2400" b="0" dirty="0"/>
          </a:p>
          <a:p>
            <a:r>
              <a:rPr lang="en-CA" sz="2400" b="0" dirty="0"/>
              <a:t>                                      July, 19, 2025</a:t>
            </a:r>
          </a:p>
        </p:txBody>
      </p:sp>
      <p:pic>
        <p:nvPicPr>
          <p:cNvPr id="1026" name="Picture 2" descr="Perimeter Institute - Partner Institute ...">
            <a:extLst>
              <a:ext uri="{FF2B5EF4-FFF2-40B4-BE49-F238E27FC236}">
                <a16:creationId xmlns:a16="http://schemas.microsoft.com/office/drawing/2014/main" id="{76FE9A37-D04E-23B9-3026-11D57F1395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667" y="5052052"/>
            <a:ext cx="2121543" cy="701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54CC4B8-F786-D17D-75BC-FD5EE1877D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3357" y="4929371"/>
            <a:ext cx="2700759" cy="1142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108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95A0C-523A-B84C-2360-F4E0A103F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7C26B8E-FCC3-4A3A-4EE2-8D9AEAF79167}"/>
              </a:ext>
            </a:extLst>
          </p:cNvPr>
          <p:cNvSpPr/>
          <p:nvPr/>
        </p:nvSpPr>
        <p:spPr>
          <a:xfrm>
            <a:off x="68329" y="5465135"/>
            <a:ext cx="4657060" cy="1392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810115CA-D2E4-7B43-07CD-2B9A17A5DCFC}"/>
              </a:ext>
            </a:extLst>
          </p:cNvPr>
          <p:cNvSpPr/>
          <p:nvPr/>
        </p:nvSpPr>
        <p:spPr>
          <a:xfrm>
            <a:off x="4804571" y="2014063"/>
            <a:ext cx="2420470" cy="1049141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Subject to experimental test</a:t>
            </a: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27EAD908-43E0-B3BD-AC39-D2ED7C924C75}"/>
              </a:ext>
            </a:extLst>
          </p:cNvPr>
          <p:cNvSpPr/>
          <p:nvPr/>
        </p:nvSpPr>
        <p:spPr>
          <a:xfrm>
            <a:off x="8152604" y="2014062"/>
            <a:ext cx="2420470" cy="1049141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Constitute a resource</a:t>
            </a: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4A6355B3-D23A-3AEC-761A-09F117250A54}"/>
              </a:ext>
            </a:extLst>
          </p:cNvPr>
          <p:cNvSpPr/>
          <p:nvPr/>
        </p:nvSpPr>
        <p:spPr>
          <a:xfrm>
            <a:off x="1456538" y="2014063"/>
            <a:ext cx="2420470" cy="1049141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Applicable to all quantum processes</a:t>
            </a:r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25FBA244-56CA-1EF5-C744-ABCFA4651576}"/>
              </a:ext>
            </a:extLst>
          </p:cNvPr>
          <p:cNvSpPr/>
          <p:nvPr/>
        </p:nvSpPr>
        <p:spPr>
          <a:xfrm>
            <a:off x="4804571" y="3794796"/>
            <a:ext cx="2420470" cy="1049141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Connect to other notions of classicality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F5A4CB92-4C0C-E080-3E6D-A714FF31F196}"/>
              </a:ext>
            </a:extLst>
          </p:cNvPr>
          <p:cNvSpPr/>
          <p:nvPr/>
        </p:nvSpPr>
        <p:spPr>
          <a:xfrm>
            <a:off x="1456538" y="3794797"/>
            <a:ext cx="2420470" cy="1049141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Invariant under different views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9B2DE57A-5B78-BD2A-DB99-93EDDBD38D69}"/>
              </a:ext>
            </a:extLst>
          </p:cNvPr>
          <p:cNvSpPr txBox="1"/>
          <p:nvPr/>
        </p:nvSpPr>
        <p:spPr>
          <a:xfrm>
            <a:off x="68840" y="412612"/>
            <a:ext cx="8321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Defining classicality:  What we want? </a:t>
            </a:r>
          </a:p>
        </p:txBody>
      </p:sp>
    </p:spTree>
    <p:extLst>
      <p:ext uri="{BB962C8B-B14F-4D97-AF65-F5344CB8AC3E}">
        <p14:creationId xmlns:p14="http://schemas.microsoft.com/office/powerpoint/2010/main" val="3780795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" grpId="0" animBg="1"/>
      <p:bldP spid="2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6199F-534B-08A6-9029-279C6A3E4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46984AB-F2F0-49C4-CEA8-3517C990B264}"/>
              </a:ext>
            </a:extLst>
          </p:cNvPr>
          <p:cNvSpPr/>
          <p:nvPr/>
        </p:nvSpPr>
        <p:spPr>
          <a:xfrm>
            <a:off x="68329" y="5365376"/>
            <a:ext cx="4657060" cy="1392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6B6CF7B6-D0EF-140C-9C41-5BDDD63EF4E9}"/>
              </a:ext>
            </a:extLst>
          </p:cNvPr>
          <p:cNvSpPr txBox="1"/>
          <p:nvPr/>
        </p:nvSpPr>
        <p:spPr>
          <a:xfrm>
            <a:off x="68840" y="412612"/>
            <a:ext cx="8321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Defining classicality:  What we want? 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29C57507-3CF4-27BF-219B-9FE43D041FF6}"/>
              </a:ext>
            </a:extLst>
          </p:cNvPr>
          <p:cNvSpPr/>
          <p:nvPr/>
        </p:nvSpPr>
        <p:spPr>
          <a:xfrm>
            <a:off x="4804571" y="2014063"/>
            <a:ext cx="2420470" cy="1049141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Subject to experimental test</a:t>
            </a: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A9B1B5F6-8637-CCD8-FF8F-4FA0F51FEF75}"/>
              </a:ext>
            </a:extLst>
          </p:cNvPr>
          <p:cNvSpPr/>
          <p:nvPr/>
        </p:nvSpPr>
        <p:spPr>
          <a:xfrm>
            <a:off x="8152604" y="2014062"/>
            <a:ext cx="2420470" cy="1049141"/>
          </a:xfrm>
          <a:prstGeom prst="rect">
            <a:avLst/>
          </a:prstGeom>
          <a:ln w="25400"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Constitute a resource</a:t>
            </a: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4B281488-841C-B85F-A6D1-FE4119E165AC}"/>
              </a:ext>
            </a:extLst>
          </p:cNvPr>
          <p:cNvSpPr/>
          <p:nvPr/>
        </p:nvSpPr>
        <p:spPr>
          <a:xfrm>
            <a:off x="1456538" y="2014063"/>
            <a:ext cx="2420470" cy="1049141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Applicable to all quantum processes</a:t>
            </a: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F237493C-6854-D113-8310-48760410F568}"/>
              </a:ext>
            </a:extLst>
          </p:cNvPr>
          <p:cNvSpPr/>
          <p:nvPr/>
        </p:nvSpPr>
        <p:spPr>
          <a:xfrm>
            <a:off x="1456538" y="3794797"/>
            <a:ext cx="2420470" cy="1049141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Invariant under different views</a:t>
            </a:r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02A8337D-B85C-94CE-9FB6-8907DD328A46}"/>
              </a:ext>
            </a:extLst>
          </p:cNvPr>
          <p:cNvSpPr/>
          <p:nvPr/>
        </p:nvSpPr>
        <p:spPr>
          <a:xfrm>
            <a:off x="4804571" y="3794796"/>
            <a:ext cx="2420470" cy="1049141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Connect to other notions of classicality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6534BCE-D787-AC7C-E0CD-5251BFCE3E1D}"/>
              </a:ext>
            </a:extLst>
          </p:cNvPr>
          <p:cNvCxnSpPr>
            <a:cxnSpLocks/>
          </p:cNvCxnSpPr>
          <p:nvPr/>
        </p:nvCxnSpPr>
        <p:spPr>
          <a:xfrm>
            <a:off x="7343085" y="3063203"/>
            <a:ext cx="809519" cy="365797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48F22F3-C44A-87F3-80EE-01F7AC189AF2}"/>
              </a:ext>
            </a:extLst>
          </p:cNvPr>
          <p:cNvCxnSpPr>
            <a:cxnSpLocks/>
          </p:cNvCxnSpPr>
          <p:nvPr/>
        </p:nvCxnSpPr>
        <p:spPr>
          <a:xfrm flipV="1">
            <a:off x="7343084" y="3779474"/>
            <a:ext cx="809520" cy="322148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A0B1F6FD-7122-A981-48B8-D48CA68C516F}"/>
              </a:ext>
            </a:extLst>
          </p:cNvPr>
          <p:cNvSpPr/>
          <p:nvPr/>
        </p:nvSpPr>
        <p:spPr>
          <a:xfrm>
            <a:off x="8270647" y="3364626"/>
            <a:ext cx="3508977" cy="838362"/>
          </a:xfrm>
          <a:prstGeom prst="rect">
            <a:avLst/>
          </a:prstGeom>
          <a:ln w="254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New test for entanglement, steering, incompatibility and etc.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2D14B6D-EFBF-DDEF-58BC-570099E0A4DD}"/>
              </a:ext>
            </a:extLst>
          </p:cNvPr>
          <p:cNvCxnSpPr>
            <a:cxnSpLocks/>
          </p:cNvCxnSpPr>
          <p:nvPr/>
        </p:nvCxnSpPr>
        <p:spPr>
          <a:xfrm flipH="1">
            <a:off x="1665652" y="4843937"/>
            <a:ext cx="524565" cy="62488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5A52DF1-6FCC-E07E-79D8-5A7B79DBE5DB}"/>
              </a:ext>
            </a:extLst>
          </p:cNvPr>
          <p:cNvCxnSpPr>
            <a:cxnSpLocks/>
          </p:cNvCxnSpPr>
          <p:nvPr/>
        </p:nvCxnSpPr>
        <p:spPr>
          <a:xfrm flipH="1">
            <a:off x="1105736" y="2959763"/>
            <a:ext cx="350802" cy="2509054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39C0630E-36CB-335F-F594-FC8F5F4D7D00}"/>
              </a:ext>
            </a:extLst>
          </p:cNvPr>
          <p:cNvSpPr/>
          <p:nvPr/>
        </p:nvSpPr>
        <p:spPr>
          <a:xfrm>
            <a:off x="68328" y="5566489"/>
            <a:ext cx="3236911" cy="819779"/>
          </a:xfrm>
          <a:prstGeom prst="rect">
            <a:avLst/>
          </a:prstGeom>
          <a:ln w="254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 clear connection among different types of processes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731CBCE-B91D-EC07-34DE-D3BB762B6C34}"/>
              </a:ext>
            </a:extLst>
          </p:cNvPr>
          <p:cNvCxnSpPr>
            <a:cxnSpLocks/>
          </p:cNvCxnSpPr>
          <p:nvPr/>
        </p:nvCxnSpPr>
        <p:spPr>
          <a:xfrm flipH="1">
            <a:off x="5892114" y="4843937"/>
            <a:ext cx="392313" cy="62488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4B9ED5C-856A-220F-956A-9C5C918DBC8A}"/>
              </a:ext>
            </a:extLst>
          </p:cNvPr>
          <p:cNvCxnSpPr>
            <a:cxnSpLocks/>
          </p:cNvCxnSpPr>
          <p:nvPr/>
        </p:nvCxnSpPr>
        <p:spPr>
          <a:xfrm>
            <a:off x="3846960" y="3116559"/>
            <a:ext cx="1087543" cy="2352258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C73E646C-509F-14D9-C583-D386867C4636}"/>
              </a:ext>
            </a:extLst>
          </p:cNvPr>
          <p:cNvSpPr/>
          <p:nvPr/>
        </p:nvSpPr>
        <p:spPr>
          <a:xfrm>
            <a:off x="4229700" y="5555500"/>
            <a:ext cx="3393971" cy="819779"/>
          </a:xfrm>
          <a:prstGeom prst="rect">
            <a:avLst/>
          </a:prstGeom>
          <a:ln w="254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 clear hierarchy of classicality for</a:t>
            </a:r>
            <a:r>
              <a:rPr lang="zh-CN" altLang="en-US" dirty="0"/>
              <a:t> </a:t>
            </a:r>
            <a:r>
              <a:rPr lang="en-US" dirty="0"/>
              <a:t>the same type of processes</a:t>
            </a:r>
          </a:p>
        </p:txBody>
      </p:sp>
    </p:spTree>
    <p:extLst>
      <p:ext uri="{BB962C8B-B14F-4D97-AF65-F5344CB8AC3E}">
        <p14:creationId xmlns:p14="http://schemas.microsoft.com/office/powerpoint/2010/main" val="657916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4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6DEE6-BF66-5EC7-FFFE-8937E7398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C30918AE-9AE7-6900-E1F2-163F44015FFD}"/>
              </a:ext>
            </a:extLst>
          </p:cNvPr>
          <p:cNvCxnSpPr/>
          <p:nvPr/>
        </p:nvCxnSpPr>
        <p:spPr>
          <a:xfrm>
            <a:off x="10021672" y="2204103"/>
            <a:ext cx="0" cy="275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4E6EA1D4-E458-BAC9-0C66-6BF2CFFAD8AB}"/>
                  </a:ext>
                </a:extLst>
              </p:cNvPr>
              <p:cNvSpPr txBox="1"/>
              <p:nvPr/>
            </p:nvSpPr>
            <p:spPr>
              <a:xfrm>
                <a:off x="9679122" y="2093841"/>
                <a:ext cx="32780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CA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𝑐</m:t>
                      </m:r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4E6EA1D4-E458-BAC9-0C66-6BF2CFFAD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9122" y="2093841"/>
                <a:ext cx="327806" cy="3385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A5F1E505-985E-D645-DE66-C6FE9029E6F5}"/>
              </a:ext>
            </a:extLst>
          </p:cNvPr>
          <p:cNvCxnSpPr/>
          <p:nvPr/>
        </p:nvCxnSpPr>
        <p:spPr>
          <a:xfrm>
            <a:off x="8508194" y="2721777"/>
            <a:ext cx="0" cy="275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2F275C16-DC38-E0EC-C9C3-CDC02FC8674B}"/>
                  </a:ext>
                </a:extLst>
              </p:cNvPr>
              <p:cNvSpPr txBox="1"/>
              <p:nvPr/>
            </p:nvSpPr>
            <p:spPr>
              <a:xfrm>
                <a:off x="8177086" y="2750685"/>
                <a:ext cx="32780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CA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𝑧</m:t>
                      </m:r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2F275C16-DC38-E0EC-C9C3-CDC02FC867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7086" y="2750685"/>
                <a:ext cx="327806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BC8BE541-BFD2-5338-BC76-A13DFD2BF538}"/>
              </a:ext>
            </a:extLst>
          </p:cNvPr>
          <p:cNvSpPr/>
          <p:nvPr/>
        </p:nvSpPr>
        <p:spPr>
          <a:xfrm>
            <a:off x="56634" y="5252134"/>
            <a:ext cx="4657060" cy="1392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324FE2C-74F3-7B0B-CDB9-610C7380E8CF}"/>
              </a:ext>
            </a:extLst>
          </p:cNvPr>
          <p:cNvSpPr txBox="1"/>
          <p:nvPr/>
        </p:nvSpPr>
        <p:spPr>
          <a:xfrm>
            <a:off x="68840" y="412612"/>
            <a:ext cx="8321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Defining classicality:  Some common views: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BDA095D-74F9-C59F-33ED-DAE768666B56}"/>
              </a:ext>
            </a:extLst>
          </p:cNvPr>
          <p:cNvGrpSpPr/>
          <p:nvPr/>
        </p:nvGrpSpPr>
        <p:grpSpPr>
          <a:xfrm>
            <a:off x="2970763" y="2674972"/>
            <a:ext cx="73178" cy="283502"/>
            <a:chOff x="6548130" y="2237014"/>
            <a:chExt cx="49658" cy="440872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1A84705-3216-6968-D078-86E9C0F887CC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8F716-E6CE-D669-52AD-14DB8C54689B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77B39A0-434C-8C69-E5B3-1E745C415487}"/>
              </a:ext>
            </a:extLst>
          </p:cNvPr>
          <p:cNvCxnSpPr/>
          <p:nvPr/>
        </p:nvCxnSpPr>
        <p:spPr>
          <a:xfrm>
            <a:off x="2729761" y="2683024"/>
            <a:ext cx="0" cy="275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91CD27A-E6C8-DB58-9695-3383EE7503A8}"/>
                  </a:ext>
                </a:extLst>
              </p:cNvPr>
              <p:cNvSpPr txBox="1"/>
              <p:nvPr/>
            </p:nvSpPr>
            <p:spPr>
              <a:xfrm>
                <a:off x="2817061" y="1844469"/>
                <a:ext cx="394854" cy="3909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6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𝑏</m:t>
                      </m:r>
                    </m:oMath>
                  </m:oMathPara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91CD27A-E6C8-DB58-9695-3383EE7503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7061" y="1844469"/>
                <a:ext cx="394854" cy="3909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Flowchart: Delay 107">
                <a:extLst>
                  <a:ext uri="{FF2B5EF4-FFF2-40B4-BE49-F238E27FC236}">
                    <a16:creationId xmlns:a16="http://schemas.microsoft.com/office/drawing/2014/main" id="{C8DA9519-0C36-E485-D265-08ED77E3913C}"/>
                  </a:ext>
                </a:extLst>
              </p:cNvPr>
              <p:cNvSpPr/>
              <p:nvPr/>
            </p:nvSpPr>
            <p:spPr>
              <a:xfrm rot="16200000">
                <a:off x="2625156" y="2180456"/>
                <a:ext cx="487590" cy="549640"/>
              </a:xfrm>
              <a:prstGeom prst="flowChartDelay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eaVert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CA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1600" b="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0" lang="en-CA" sz="1600" b="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b</m:t>
                        </m:r>
                        <m:r>
                          <a:rPr kumimoji="0" lang="en-CA" sz="1600" b="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kumimoji="0" lang="en-CA" sz="1600" b="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y</m:t>
                        </m:r>
                      </m:sub>
                    </m:sSub>
                  </m:oMath>
                </a14:m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21" name="Flowchart: Delay 107">
                <a:extLst>
                  <a:ext uri="{FF2B5EF4-FFF2-40B4-BE49-F238E27FC236}">
                    <a16:creationId xmlns:a16="http://schemas.microsoft.com/office/drawing/2014/main" id="{C8DA9519-0C36-E485-D265-08ED77E391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625156" y="2180456"/>
                <a:ext cx="487590" cy="549640"/>
              </a:xfrm>
              <a:prstGeom prst="flowChartDelay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E7CB792-4AEC-2AD3-9E8B-1E2294C7DC60}"/>
              </a:ext>
            </a:extLst>
          </p:cNvPr>
          <p:cNvCxnSpPr>
            <a:cxnSpLocks/>
          </p:cNvCxnSpPr>
          <p:nvPr/>
        </p:nvCxnSpPr>
        <p:spPr>
          <a:xfrm>
            <a:off x="2849073" y="2016309"/>
            <a:ext cx="0" cy="19612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D379740-C9A9-4CA3-A2B5-FFBC5E5964F5}"/>
                  </a:ext>
                </a:extLst>
              </p:cNvPr>
              <p:cNvSpPr txBox="1"/>
              <p:nvPr/>
            </p:nvSpPr>
            <p:spPr>
              <a:xfrm>
                <a:off x="2376280" y="2631582"/>
                <a:ext cx="327806" cy="3385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CA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D379740-C9A9-4CA3-A2B5-FFBC5E5964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6280" y="2631582"/>
                <a:ext cx="327806" cy="338555"/>
              </a:xfrm>
              <a:prstGeom prst="rect">
                <a:avLst/>
              </a:prstGeom>
              <a:blipFill>
                <a:blip r:embed="rId6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4C6144A9-F77D-C858-2C65-F166BB30DA7E}"/>
              </a:ext>
            </a:extLst>
          </p:cNvPr>
          <p:cNvSpPr txBox="1"/>
          <p:nvPr/>
        </p:nvSpPr>
        <p:spPr>
          <a:xfrm>
            <a:off x="2218631" y="3034649"/>
            <a:ext cx="1370092" cy="338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Multi-meter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9C2889D-A00F-632D-CCD1-08BB47F1AC5D}"/>
                  </a:ext>
                </a:extLst>
              </p:cNvPr>
              <p:cNvSpPr txBox="1"/>
              <p:nvPr/>
            </p:nvSpPr>
            <p:spPr>
              <a:xfrm>
                <a:off x="3064085" y="2656392"/>
                <a:ext cx="241001" cy="3909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CA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</m:t>
                      </m:r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9C2889D-A00F-632D-CCD1-08BB47F1AC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4085" y="2656392"/>
                <a:ext cx="241001" cy="390963"/>
              </a:xfrm>
              <a:prstGeom prst="rect">
                <a:avLst/>
              </a:prstGeom>
              <a:blipFill>
                <a:blip r:embed="rId7"/>
                <a:stretch>
                  <a:fillRect r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09A3D332-6180-C2D8-8637-5B9BA3CF5176}"/>
              </a:ext>
            </a:extLst>
          </p:cNvPr>
          <p:cNvGrpSpPr/>
          <p:nvPr/>
        </p:nvGrpSpPr>
        <p:grpSpPr>
          <a:xfrm>
            <a:off x="432147" y="1948769"/>
            <a:ext cx="1492743" cy="1412860"/>
            <a:chOff x="3981193" y="3611013"/>
            <a:chExt cx="1019914" cy="912887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65E1496-10D9-09CF-49F1-268411FF060E}"/>
                </a:ext>
              </a:extLst>
            </p:cNvPr>
            <p:cNvGrpSpPr/>
            <p:nvPr/>
          </p:nvGrpSpPr>
          <p:grpSpPr>
            <a:xfrm>
              <a:off x="4462203" y="3674246"/>
              <a:ext cx="45719" cy="165022"/>
              <a:chOff x="6548130" y="2237014"/>
              <a:chExt cx="49658" cy="440872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F026EA9A-3BFC-CD49-38F4-2E0DA41A51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48130" y="2237014"/>
                <a:ext cx="0" cy="440872"/>
              </a:xfrm>
              <a:prstGeom prst="line">
                <a:avLst/>
              </a:prstGeom>
              <a:ln w="19050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59FFF1DE-4E66-3533-C49E-7E4ED3AFBE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97788" y="2237014"/>
                <a:ext cx="0" cy="440872"/>
              </a:xfrm>
              <a:prstGeom prst="line">
                <a:avLst/>
              </a:prstGeom>
              <a:ln w="19050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F2055DF-386E-8E80-5FF4-F5D57B2964E9}"/>
                </a:ext>
              </a:extLst>
            </p:cNvPr>
            <p:cNvCxnSpPr/>
            <p:nvPr/>
          </p:nvCxnSpPr>
          <p:spPr>
            <a:xfrm>
              <a:off x="4438885" y="4112039"/>
              <a:ext cx="0" cy="160276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32CBD55E-0664-E8DB-8048-6AFF14836B03}"/>
                    </a:ext>
                  </a:extLst>
                </p:cNvPr>
                <p:cNvSpPr txBox="1"/>
                <p:nvPr/>
              </p:nvSpPr>
              <p:spPr>
                <a:xfrm>
                  <a:off x="4391891" y="4062232"/>
                  <a:ext cx="204800" cy="2187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F0502020204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oMath>
                    </m:oMathPara>
                  </a14:m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32CBD55E-0664-E8DB-8048-6AFF14836B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91891" y="4062232"/>
                  <a:ext cx="204800" cy="21874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Flowchart: Delay 100">
                  <a:extLst>
                    <a:ext uri="{FF2B5EF4-FFF2-40B4-BE49-F238E27FC236}">
                      <a16:creationId xmlns:a16="http://schemas.microsoft.com/office/drawing/2014/main" id="{5BC0E3BC-3D5D-39B7-9816-E8E5A420397C}"/>
                    </a:ext>
                  </a:extLst>
                </p:cNvPr>
                <p:cNvSpPr/>
                <p:nvPr/>
              </p:nvSpPr>
              <p:spPr>
                <a:xfrm rot="5400000">
                  <a:off x="4299274" y="3803143"/>
                  <a:ext cx="276999" cy="343396"/>
                </a:xfrm>
                <a:prstGeom prst="flowChartDelay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vert270" rtlCol="0" anchor="ctr"/>
                <a:lstStyle/>
                <a:p>
                  <a:pPr lvl="0" algn="ctr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F0502020204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CA" sz="16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CA" sz="16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CA" sz="16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CA" sz="16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prstClr val="black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Flowchart: Delay 100">
                  <a:extLst>
                    <a:ext uri="{FF2B5EF4-FFF2-40B4-BE49-F238E27FC236}">
                      <a16:creationId xmlns:a16="http://schemas.microsoft.com/office/drawing/2014/main" id="{5BC0E3BC-3D5D-39B7-9816-E8E5A420397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4299274" y="3803143"/>
                  <a:ext cx="276999" cy="343396"/>
                </a:xfrm>
                <a:prstGeom prst="flowChartDelay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4C84DC91-3580-F7A1-0D73-9C3319337240}"/>
                    </a:ext>
                  </a:extLst>
                </p:cNvPr>
                <p:cNvSpPr txBox="1"/>
                <p:nvPr/>
              </p:nvSpPr>
              <p:spPr>
                <a:xfrm>
                  <a:off x="4142593" y="3611448"/>
                  <a:ext cx="166012" cy="2187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</m:t>
                        </m:r>
                      </m:oMath>
                    </m:oMathPara>
                  </a14:m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4C84DC91-3580-F7A1-0D73-9C33193372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2593" y="3611448"/>
                  <a:ext cx="166012" cy="218749"/>
                </a:xfrm>
                <a:prstGeom prst="rect">
                  <a:avLst/>
                </a:prstGeom>
                <a:blipFill>
                  <a:blip r:embed="rId10"/>
                  <a:stretch>
                    <a:fillRect r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2E94F8A-C561-DBCE-2948-A1E252EADD94}"/>
                </a:ext>
              </a:extLst>
            </p:cNvPr>
            <p:cNvCxnSpPr/>
            <p:nvPr/>
          </p:nvCxnSpPr>
          <p:spPr>
            <a:xfrm>
              <a:off x="4338822" y="3674246"/>
              <a:ext cx="0" cy="160276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FB31EEC-19FD-CD0B-E417-539050B3528D}"/>
                </a:ext>
              </a:extLst>
            </p:cNvPr>
            <p:cNvSpPr txBox="1"/>
            <p:nvPr/>
          </p:nvSpPr>
          <p:spPr>
            <a:xfrm>
              <a:off x="3981193" y="4305151"/>
              <a:ext cx="1019914" cy="218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Multi-Source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BA1A6A74-1765-550C-C5A3-49525844908D}"/>
                    </a:ext>
                  </a:extLst>
                </p:cNvPr>
                <p:cNvSpPr txBox="1"/>
                <p:nvPr/>
              </p:nvSpPr>
              <p:spPr>
                <a:xfrm>
                  <a:off x="4510619" y="3611013"/>
                  <a:ext cx="166012" cy="2187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CA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𝐴</m:t>
                        </m:r>
                      </m:oMath>
                    </m:oMathPara>
                  </a14:m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BA1A6A74-1765-550C-C5A3-4952584490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10619" y="3611013"/>
                  <a:ext cx="166012" cy="218749"/>
                </a:xfrm>
                <a:prstGeom prst="rect">
                  <a:avLst/>
                </a:prstGeom>
                <a:blipFill>
                  <a:blip r:embed="rId11"/>
                  <a:stretch>
                    <a:fillRect r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50DEFEF-CE01-FA8D-9ED0-5DC4D23CA051}"/>
              </a:ext>
            </a:extLst>
          </p:cNvPr>
          <p:cNvGrpSpPr/>
          <p:nvPr/>
        </p:nvGrpSpPr>
        <p:grpSpPr>
          <a:xfrm>
            <a:off x="4587380" y="2205971"/>
            <a:ext cx="45719" cy="479517"/>
            <a:chOff x="6548130" y="2237014"/>
            <a:chExt cx="49658" cy="440872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34B0C373-08D9-4465-9E51-FD793022F322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CC1D99E9-BEC5-C6B8-1EE7-57B82F5C043B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824BA6F-CD35-3CA1-4E9F-6E02117C92C4}"/>
              </a:ext>
            </a:extLst>
          </p:cNvPr>
          <p:cNvGrpSpPr/>
          <p:nvPr/>
        </p:nvGrpSpPr>
        <p:grpSpPr>
          <a:xfrm>
            <a:off x="5093179" y="2212679"/>
            <a:ext cx="45719" cy="479517"/>
            <a:chOff x="6548130" y="2237014"/>
            <a:chExt cx="49658" cy="440872"/>
          </a:xfrm>
        </p:grpSpPr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0025E816-579E-919A-2FC7-5D0B094D1D35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E9C32B9E-EABC-E5AE-A498-B839385054FE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Flowchart: Delay 35">
                <a:extLst>
                  <a:ext uri="{FF2B5EF4-FFF2-40B4-BE49-F238E27FC236}">
                    <a16:creationId xmlns:a16="http://schemas.microsoft.com/office/drawing/2014/main" id="{885CCC6C-2EBD-E454-85FC-75F3982E1E38}"/>
                  </a:ext>
                </a:extLst>
              </p:cNvPr>
              <p:cNvSpPr/>
              <p:nvPr/>
            </p:nvSpPr>
            <p:spPr>
              <a:xfrm rot="5400000">
                <a:off x="4666536" y="2204695"/>
                <a:ext cx="390961" cy="946526"/>
              </a:xfrm>
              <a:prstGeom prst="flowChartDelay">
                <a:avLst/>
              </a:prstGeom>
              <a:solidFill>
                <a:srgbClr val="FFE699"/>
              </a:solidFill>
              <a:ln w="15875">
                <a:solidFill>
                  <a:schemeClr val="tx1"/>
                </a:solidFill>
              </a:ln>
              <a:effectLst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27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sSub>
                            <m:sSubPr>
                              <m:ctrlPr>
                                <a:rPr lang="en-CA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CA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CA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CA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kumimoji="0" lang="en-US" sz="7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9" name="Flowchart: Delay 35">
                <a:extLst>
                  <a:ext uri="{FF2B5EF4-FFF2-40B4-BE49-F238E27FC236}">
                    <a16:creationId xmlns:a16="http://schemas.microsoft.com/office/drawing/2014/main" id="{885CCC6C-2EBD-E454-85FC-75F3982E1E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4666536" y="2204695"/>
                <a:ext cx="390961" cy="946526"/>
              </a:xfrm>
              <a:prstGeom prst="flowChartDelay">
                <a:avLst/>
              </a:prstGeom>
              <a:blipFill>
                <a:blip r:embed="rId12"/>
                <a:stretch>
                  <a:fillRect/>
                </a:stretch>
              </a:blipFill>
              <a:ln w="15875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5580F4F-1A0A-C96B-55DE-B0C35F47B341}"/>
                  </a:ext>
                </a:extLst>
              </p:cNvPr>
              <p:cNvSpPr txBox="1"/>
              <p:nvPr/>
            </p:nvSpPr>
            <p:spPr>
              <a:xfrm>
                <a:off x="4248739" y="2089951"/>
                <a:ext cx="384359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CA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𝐴</m:t>
                          </m:r>
                        </m:e>
                        <m:sub>
                          <m:r>
                            <a:rPr kumimoji="0" lang="en-CA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5580F4F-1A0A-C96B-55DE-B0C35F47B3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8739" y="2089951"/>
                <a:ext cx="384359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E69159D9-CAF8-2AEB-17E6-6DF233269957}"/>
                  </a:ext>
                </a:extLst>
              </p:cNvPr>
              <p:cNvSpPr txBox="1"/>
              <p:nvPr/>
            </p:nvSpPr>
            <p:spPr>
              <a:xfrm>
                <a:off x="5176677" y="2081187"/>
                <a:ext cx="384359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CA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𝐴</m:t>
                          </m:r>
                        </m:e>
                        <m:sub>
                          <m:r>
                            <a:rPr kumimoji="0" lang="en-CA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E69159D9-CAF8-2AEB-17E6-6DF2332699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6677" y="2081187"/>
                <a:ext cx="384359" cy="33855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>
            <a:extLst>
              <a:ext uri="{FF2B5EF4-FFF2-40B4-BE49-F238E27FC236}">
                <a16:creationId xmlns:a16="http://schemas.microsoft.com/office/drawing/2014/main" id="{3CB6BE3A-8D33-8510-9547-3FE35E8E6DAB}"/>
              </a:ext>
            </a:extLst>
          </p:cNvPr>
          <p:cNvSpPr txBox="1"/>
          <p:nvPr/>
        </p:nvSpPr>
        <p:spPr>
          <a:xfrm>
            <a:off x="4160454" y="3009471"/>
            <a:ext cx="14957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Bipartite state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07248AA-77FA-2FBE-AD4C-681FBE8F8AF2}"/>
              </a:ext>
            </a:extLst>
          </p:cNvPr>
          <p:cNvGrpSpPr/>
          <p:nvPr/>
        </p:nvGrpSpPr>
        <p:grpSpPr>
          <a:xfrm>
            <a:off x="6847129" y="2796818"/>
            <a:ext cx="45719" cy="210912"/>
            <a:chOff x="6548130" y="2237014"/>
            <a:chExt cx="49658" cy="440872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FA79A99F-F5B4-ECC0-62D1-12314C82B9A7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9B754EDE-680A-5261-A44C-A5F7756D89E1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6CDCF81C-1CA6-15A4-2E30-F3760FB33AA7}"/>
                  </a:ext>
                </a:extLst>
              </p:cNvPr>
              <p:cNvSpPr txBox="1"/>
              <p:nvPr/>
            </p:nvSpPr>
            <p:spPr>
              <a:xfrm>
                <a:off x="6712992" y="2781791"/>
                <a:ext cx="73050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CA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6CDCF81C-1CA6-15A4-2E30-F3760FB33A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2992" y="2781791"/>
                <a:ext cx="730505" cy="33855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: Rounded Corners 28">
                <a:extLst>
                  <a:ext uri="{FF2B5EF4-FFF2-40B4-BE49-F238E27FC236}">
                    <a16:creationId xmlns:a16="http://schemas.microsoft.com/office/drawing/2014/main" id="{91357469-8ABA-8A80-4BEA-A8B807004408}"/>
                  </a:ext>
                </a:extLst>
              </p:cNvPr>
              <p:cNvSpPr/>
              <p:nvPr/>
            </p:nvSpPr>
            <p:spPr>
              <a:xfrm>
                <a:off x="6575288" y="2410066"/>
                <a:ext cx="593047" cy="413590"/>
              </a:xfrm>
              <a:prstGeom prst="roundRect">
                <a:avLst/>
              </a:prstGeom>
              <a:solidFill>
                <a:srgbClr val="FFE699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 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ℰ</m:t>
                          </m:r>
                        </m:e>
                        <m:sup>
                          <m: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𝐴</m:t>
                          </m:r>
                          <m: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→</m:t>
                          </m:r>
                          <m: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𝐵</m:t>
                          </m:r>
                        </m:sup>
                      </m:sSup>
                      <m:r>
                        <a:rPr kumimoji="0" lang="en-CA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</m:oMath>
                  </m:oMathPara>
                </a14:m>
                <a:endParaRPr kumimoji="0" lang="en-C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9" name="Rectangle: Rounded Corners 28">
                <a:extLst>
                  <a:ext uri="{FF2B5EF4-FFF2-40B4-BE49-F238E27FC236}">
                    <a16:creationId xmlns:a16="http://schemas.microsoft.com/office/drawing/2014/main" id="{91357469-8ABA-8A80-4BEA-A8B8070044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288" y="2410066"/>
                <a:ext cx="593047" cy="413590"/>
              </a:xfrm>
              <a:prstGeom prst="round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E6232AC6-CC55-5F7E-1BE5-EC2337F3D43B}"/>
              </a:ext>
            </a:extLst>
          </p:cNvPr>
          <p:cNvGrpSpPr/>
          <p:nvPr/>
        </p:nvGrpSpPr>
        <p:grpSpPr>
          <a:xfrm>
            <a:off x="6845141" y="2196643"/>
            <a:ext cx="45719" cy="210912"/>
            <a:chOff x="6548130" y="2237014"/>
            <a:chExt cx="49658" cy="440872"/>
          </a:xfrm>
        </p:grpSpPr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30E804AB-0EB2-EAC2-539D-8F3907BD063D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F98DB2A4-A351-1DCB-7829-B49A087587E7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0627CDA7-35D9-0D34-8957-152C8F3F291C}"/>
                  </a:ext>
                </a:extLst>
              </p:cNvPr>
              <p:cNvSpPr txBox="1"/>
              <p:nvPr/>
            </p:nvSpPr>
            <p:spPr>
              <a:xfrm>
                <a:off x="6741447" y="2068248"/>
                <a:ext cx="73050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6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0627CDA7-35D9-0D34-8957-152C8F3F29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1447" y="2068248"/>
                <a:ext cx="730505" cy="3385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TextBox 73">
            <a:extLst>
              <a:ext uri="{FF2B5EF4-FFF2-40B4-BE49-F238E27FC236}">
                <a16:creationId xmlns:a16="http://schemas.microsoft.com/office/drawing/2014/main" id="{3BED2AC8-F75A-03F2-A646-5B9ACC00E84E}"/>
              </a:ext>
            </a:extLst>
          </p:cNvPr>
          <p:cNvSpPr txBox="1"/>
          <p:nvPr/>
        </p:nvSpPr>
        <p:spPr>
          <a:xfrm>
            <a:off x="6100799" y="3046019"/>
            <a:ext cx="14957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       Channel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0318F828-DA95-7BB7-ECA7-A798D78FDD94}"/>
              </a:ext>
            </a:extLst>
          </p:cNvPr>
          <p:cNvGrpSpPr/>
          <p:nvPr/>
        </p:nvGrpSpPr>
        <p:grpSpPr>
          <a:xfrm>
            <a:off x="8727734" y="2807596"/>
            <a:ext cx="45719" cy="210912"/>
            <a:chOff x="6548130" y="2237014"/>
            <a:chExt cx="49658" cy="440872"/>
          </a:xfrm>
        </p:grpSpPr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E438BFF6-1816-B02D-BA47-419625B75BF9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C5234B21-B482-BED8-E2F8-443505AEFBF0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Rectangle: Rounded Corners 28">
                <a:extLst>
                  <a:ext uri="{FF2B5EF4-FFF2-40B4-BE49-F238E27FC236}">
                    <a16:creationId xmlns:a16="http://schemas.microsoft.com/office/drawing/2014/main" id="{847B0843-5B5D-67B9-A9B3-108421C4984B}"/>
                  </a:ext>
                </a:extLst>
              </p:cNvPr>
              <p:cNvSpPr/>
              <p:nvPr/>
            </p:nvSpPr>
            <p:spPr>
              <a:xfrm>
                <a:off x="8351721" y="2397694"/>
                <a:ext cx="593047" cy="413590"/>
              </a:xfrm>
              <a:prstGeom prst="roundRect">
                <a:avLst/>
              </a:prstGeom>
              <a:solidFill>
                <a:srgbClr val="FFE699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SupPr>
                        <m:e>
                          <m: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ℰ</m:t>
                          </m:r>
                        </m:e>
                        <m:sub>
                          <m: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𝑧</m:t>
                          </m:r>
                        </m:sub>
                        <m:sup>
                          <m: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𝐴</m:t>
                          </m:r>
                          <m: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→</m:t>
                          </m:r>
                          <m: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𝐵</m:t>
                          </m:r>
                        </m:sup>
                      </m:sSubSup>
                    </m:oMath>
                  </m:oMathPara>
                </a14:m>
                <a:endParaRPr kumimoji="0" lang="en-C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9" name="Rectangle: Rounded Corners 28">
                <a:extLst>
                  <a:ext uri="{FF2B5EF4-FFF2-40B4-BE49-F238E27FC236}">
                    <a16:creationId xmlns:a16="http://schemas.microsoft.com/office/drawing/2014/main" id="{847B0843-5B5D-67B9-A9B3-108421C498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1721" y="2397694"/>
                <a:ext cx="593047" cy="413590"/>
              </a:xfrm>
              <a:prstGeom prst="round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0837B625-F18A-9C46-9A28-ADDFC68B97E9}"/>
              </a:ext>
            </a:extLst>
          </p:cNvPr>
          <p:cNvGrpSpPr/>
          <p:nvPr/>
        </p:nvGrpSpPr>
        <p:grpSpPr>
          <a:xfrm>
            <a:off x="8621574" y="2184271"/>
            <a:ext cx="45719" cy="210912"/>
            <a:chOff x="6548130" y="2237014"/>
            <a:chExt cx="49658" cy="440872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E309A808-1217-7E1B-5F5C-AEA2A55B855B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40BE836A-EB7C-21AE-EB0E-3BB816BCD77F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AA4DF93A-BE99-FD48-EB29-D0AE0D622149}"/>
              </a:ext>
            </a:extLst>
          </p:cNvPr>
          <p:cNvSpPr txBox="1"/>
          <p:nvPr/>
        </p:nvSpPr>
        <p:spPr>
          <a:xfrm>
            <a:off x="7599715" y="3046225"/>
            <a:ext cx="18733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       Multi-channel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4E1381B8-0696-322F-B66D-6459BBFAC5A0}"/>
                  </a:ext>
                </a:extLst>
              </p:cNvPr>
              <p:cNvSpPr txBox="1"/>
              <p:nvPr/>
            </p:nvSpPr>
            <p:spPr>
              <a:xfrm>
                <a:off x="8747876" y="2756202"/>
                <a:ext cx="485471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CA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4E1381B8-0696-322F-B66D-6459BBFAC5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7876" y="2756202"/>
                <a:ext cx="485471" cy="3385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A916BE82-D528-4149-3172-C49CBFEFDBF6}"/>
                  </a:ext>
                </a:extLst>
              </p:cNvPr>
              <p:cNvSpPr txBox="1"/>
              <p:nvPr/>
            </p:nvSpPr>
            <p:spPr>
              <a:xfrm>
                <a:off x="8727707" y="2035976"/>
                <a:ext cx="485471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6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A916BE82-D528-4149-3172-C49CBFEFDB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7707" y="2035976"/>
                <a:ext cx="485471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5" name="Group 94">
            <a:extLst>
              <a:ext uri="{FF2B5EF4-FFF2-40B4-BE49-F238E27FC236}">
                <a16:creationId xmlns:a16="http://schemas.microsoft.com/office/drawing/2014/main" id="{839664D6-8037-D952-E470-5D7D7418DE32}"/>
              </a:ext>
            </a:extLst>
          </p:cNvPr>
          <p:cNvGrpSpPr/>
          <p:nvPr/>
        </p:nvGrpSpPr>
        <p:grpSpPr>
          <a:xfrm>
            <a:off x="10134900" y="2820174"/>
            <a:ext cx="45719" cy="210912"/>
            <a:chOff x="6548130" y="2237014"/>
            <a:chExt cx="49658" cy="440872"/>
          </a:xfrm>
        </p:grpSpPr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1EC0FA66-CE91-FA20-988C-770378618C45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3A496CB6-8214-477A-1F97-1247538D3AFC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Rectangle: Rounded Corners 28">
                <a:extLst>
                  <a:ext uri="{FF2B5EF4-FFF2-40B4-BE49-F238E27FC236}">
                    <a16:creationId xmlns:a16="http://schemas.microsoft.com/office/drawing/2014/main" id="{18DCFEA4-9DFC-BBE2-D682-6EC25926A617}"/>
                  </a:ext>
                </a:extLst>
              </p:cNvPr>
              <p:cNvSpPr/>
              <p:nvPr/>
            </p:nvSpPr>
            <p:spPr>
              <a:xfrm>
                <a:off x="9874636" y="2410272"/>
                <a:ext cx="593047" cy="413590"/>
              </a:xfrm>
              <a:prstGeom prst="roundRect">
                <a:avLst/>
              </a:prstGeom>
              <a:solidFill>
                <a:srgbClr val="FFE699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SupPr>
                        <m:e>
                          <m: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ℐ</m:t>
                          </m:r>
                        </m:e>
                        <m:sub>
                          <m: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𝑐</m:t>
                          </m:r>
                        </m:sub>
                        <m:sup>
                          <m: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𝐴</m:t>
                          </m:r>
                          <m: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→</m:t>
                          </m:r>
                          <m: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𝐵</m:t>
                          </m:r>
                        </m:sup>
                      </m:sSubSup>
                    </m:oMath>
                  </m:oMathPara>
                </a14:m>
                <a:endParaRPr kumimoji="0" lang="en-C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8" name="Rectangle: Rounded Corners 28">
                <a:extLst>
                  <a:ext uri="{FF2B5EF4-FFF2-40B4-BE49-F238E27FC236}">
                    <a16:creationId xmlns:a16="http://schemas.microsoft.com/office/drawing/2014/main" id="{18DCFEA4-9DFC-BBE2-D682-6EC25926A6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4636" y="2410272"/>
                <a:ext cx="593047" cy="413590"/>
              </a:xfrm>
              <a:prstGeom prst="roundRect">
                <a:avLst/>
              </a:prstGeom>
              <a:blipFill>
                <a:blip r:embed="rId21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9" name="Group 98">
            <a:extLst>
              <a:ext uri="{FF2B5EF4-FFF2-40B4-BE49-F238E27FC236}">
                <a16:creationId xmlns:a16="http://schemas.microsoft.com/office/drawing/2014/main" id="{4EB7FC83-ADDF-5CF1-6B42-9ACB19FE1A6A}"/>
              </a:ext>
            </a:extLst>
          </p:cNvPr>
          <p:cNvGrpSpPr/>
          <p:nvPr/>
        </p:nvGrpSpPr>
        <p:grpSpPr>
          <a:xfrm>
            <a:off x="10225514" y="2196849"/>
            <a:ext cx="45719" cy="210912"/>
            <a:chOff x="6548130" y="2237014"/>
            <a:chExt cx="49658" cy="440872"/>
          </a:xfrm>
        </p:grpSpPr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0AE9253B-E342-ED93-5C89-9B4699E3A1F1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EDBE0E45-DD9F-C353-0F71-C97328C9EFDF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C785619D-93F4-F529-66B8-5A57B5F206A6}"/>
                  </a:ext>
                </a:extLst>
              </p:cNvPr>
              <p:cNvSpPr txBox="1"/>
              <p:nvPr/>
            </p:nvSpPr>
            <p:spPr>
              <a:xfrm>
                <a:off x="10155042" y="2768780"/>
                <a:ext cx="485471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CA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C785619D-93F4-F529-66B8-5A57B5F20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5042" y="2768780"/>
                <a:ext cx="485471" cy="33855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19B00725-5FCE-9C9F-1DFC-3D8064134BC2}"/>
                  </a:ext>
                </a:extLst>
              </p:cNvPr>
              <p:cNvSpPr txBox="1"/>
              <p:nvPr/>
            </p:nvSpPr>
            <p:spPr>
              <a:xfrm>
                <a:off x="10217068" y="2081695"/>
                <a:ext cx="485471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6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19B00725-5FCE-9C9F-1DFC-3D8064134B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7068" y="2081695"/>
                <a:ext cx="485471" cy="33855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TextBox 105">
            <a:extLst>
              <a:ext uri="{FF2B5EF4-FFF2-40B4-BE49-F238E27FC236}">
                <a16:creationId xmlns:a16="http://schemas.microsoft.com/office/drawing/2014/main" id="{9374280E-8D55-5BC5-A2EA-02E8782CFB20}"/>
              </a:ext>
            </a:extLst>
          </p:cNvPr>
          <p:cNvSpPr txBox="1"/>
          <p:nvPr/>
        </p:nvSpPr>
        <p:spPr>
          <a:xfrm>
            <a:off x="9288817" y="3052654"/>
            <a:ext cx="18733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       Instrument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135EE6BA-9C98-08D1-E748-B694D6AD1B66}"/>
                  </a:ext>
                </a:extLst>
              </p:cNvPr>
              <p:cNvSpPr txBox="1"/>
              <p:nvPr/>
            </p:nvSpPr>
            <p:spPr>
              <a:xfrm>
                <a:off x="11061418" y="2059337"/>
                <a:ext cx="116904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3200" b="0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135EE6BA-9C98-08D1-E748-B694D6AD1B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1418" y="2059337"/>
                <a:ext cx="1169043" cy="584775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" name="TextBox 108">
            <a:extLst>
              <a:ext uri="{FF2B5EF4-FFF2-40B4-BE49-F238E27FC236}">
                <a16:creationId xmlns:a16="http://schemas.microsoft.com/office/drawing/2014/main" id="{3A6C5B17-1BE0-82B4-1D15-A5088F5AF41D}"/>
              </a:ext>
            </a:extLst>
          </p:cNvPr>
          <p:cNvSpPr txBox="1"/>
          <p:nvPr/>
        </p:nvSpPr>
        <p:spPr>
          <a:xfrm>
            <a:off x="501104" y="3536282"/>
            <a:ext cx="1596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*</a:t>
            </a:r>
            <a:r>
              <a:rPr lang="en-US" sz="1400" dirty="0" err="1">
                <a:solidFill>
                  <a:srgbClr val="0070C0"/>
                </a:solidFill>
              </a:rPr>
              <a:t>Unsteerable</a:t>
            </a:r>
            <a:r>
              <a:rPr lang="en-US" sz="1400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91C593D7-6ADA-DF85-8DE4-20C1CD065550}"/>
              </a:ext>
            </a:extLst>
          </p:cNvPr>
          <p:cNvSpPr txBox="1"/>
          <p:nvPr/>
        </p:nvSpPr>
        <p:spPr>
          <a:xfrm>
            <a:off x="2215623" y="3551040"/>
            <a:ext cx="14404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   Compatible 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DF70010B-E0AB-A716-593C-113BF6F6DE2B}"/>
              </a:ext>
            </a:extLst>
          </p:cNvPr>
          <p:cNvSpPr txBox="1"/>
          <p:nvPr/>
        </p:nvSpPr>
        <p:spPr>
          <a:xfrm>
            <a:off x="4256860" y="3500184"/>
            <a:ext cx="1421688" cy="542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   Separable</a:t>
            </a:r>
          </a:p>
          <a:p>
            <a:r>
              <a:rPr lang="en-US" sz="1400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BA2C267E-D8E0-FC29-8B48-89DF4E0AC8BE}"/>
              </a:ext>
            </a:extLst>
          </p:cNvPr>
          <p:cNvSpPr txBox="1"/>
          <p:nvPr/>
        </p:nvSpPr>
        <p:spPr>
          <a:xfrm>
            <a:off x="5856966" y="3539984"/>
            <a:ext cx="20296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Entanglement breaking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AC690514-35FC-B003-2D0B-504551E27A5C}"/>
              </a:ext>
            </a:extLst>
          </p:cNvPr>
          <p:cNvSpPr txBox="1"/>
          <p:nvPr/>
        </p:nvSpPr>
        <p:spPr>
          <a:xfrm>
            <a:off x="8802462" y="3531724"/>
            <a:ext cx="1305373" cy="312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   Compatible 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52E1D5C7-D3ED-C915-D975-341862156F0A}"/>
              </a:ext>
            </a:extLst>
          </p:cNvPr>
          <p:cNvSpPr txBox="1"/>
          <p:nvPr/>
        </p:nvSpPr>
        <p:spPr>
          <a:xfrm>
            <a:off x="4267427" y="3909596"/>
            <a:ext cx="11947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 </a:t>
            </a:r>
            <a:r>
              <a:rPr lang="en-US" sz="1400" dirty="0" err="1">
                <a:solidFill>
                  <a:srgbClr val="0070C0"/>
                </a:solidFill>
              </a:rPr>
              <a:t>Unsteerable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4D75036-EC5D-4AE9-29C0-425C23CF5BF1}"/>
              </a:ext>
            </a:extLst>
          </p:cNvPr>
          <p:cNvSpPr txBox="1"/>
          <p:nvPr/>
        </p:nvSpPr>
        <p:spPr>
          <a:xfrm>
            <a:off x="4310924" y="4327435"/>
            <a:ext cx="11947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      Local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1E259780-2282-BC0E-F5CE-866DDBB56CEF}"/>
              </a:ext>
            </a:extLst>
          </p:cNvPr>
          <p:cNvSpPr txBox="1"/>
          <p:nvPr/>
        </p:nvSpPr>
        <p:spPr>
          <a:xfrm>
            <a:off x="0" y="1281325"/>
            <a:ext cx="56038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1600" dirty="0"/>
              <a:t>Well-established definition(s):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3C65AF38-1840-01D7-7AA4-29F87EB8C3BD}"/>
              </a:ext>
            </a:extLst>
          </p:cNvPr>
          <p:cNvSpPr txBox="1"/>
          <p:nvPr/>
        </p:nvSpPr>
        <p:spPr>
          <a:xfrm>
            <a:off x="56634" y="4370971"/>
            <a:ext cx="56038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1600" dirty="0"/>
              <a:t>Not well-established:  </a:t>
            </a:r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2A526303-E037-DE4A-CA5F-A3852A37EAAA}"/>
              </a:ext>
            </a:extLst>
          </p:cNvPr>
          <p:cNvGrpSpPr/>
          <p:nvPr/>
        </p:nvGrpSpPr>
        <p:grpSpPr>
          <a:xfrm>
            <a:off x="1121537" y="5005124"/>
            <a:ext cx="66914" cy="255402"/>
            <a:chOff x="6548130" y="2237014"/>
            <a:chExt cx="49658" cy="440872"/>
          </a:xfrm>
        </p:grpSpPr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7BA65FA6-FA25-5D16-D122-B677AA3E88E3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8F5B9312-BDDA-CFDC-A92D-F9DA839C1080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EABBEE5B-6EBC-7706-06CC-FDE6004D6AE9}"/>
              </a:ext>
            </a:extLst>
          </p:cNvPr>
          <p:cNvCxnSpPr/>
          <p:nvPr/>
        </p:nvCxnSpPr>
        <p:spPr>
          <a:xfrm>
            <a:off x="1168432" y="5682689"/>
            <a:ext cx="0" cy="24805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34B1A7FC-2051-6546-E072-D2299EF774CA}"/>
                  </a:ext>
                </a:extLst>
              </p:cNvPr>
              <p:cNvSpPr txBox="1"/>
              <p:nvPr/>
            </p:nvSpPr>
            <p:spPr>
              <a:xfrm>
                <a:off x="1099651" y="5605603"/>
                <a:ext cx="29974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6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F0502020204030204" pitchFamily="18" charset="0"/>
                          <a:ea typeface="+mn-ea"/>
                          <a:cs typeface="+mn-cs"/>
                        </a:rPr>
                        <m:t>𝑥</m:t>
                      </m:r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34B1A7FC-2051-6546-E072-D2299EF774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651" y="5605603"/>
                <a:ext cx="299745" cy="33855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Flowchart: Delay 100">
                <a:extLst>
                  <a:ext uri="{FF2B5EF4-FFF2-40B4-BE49-F238E27FC236}">
                    <a16:creationId xmlns:a16="http://schemas.microsoft.com/office/drawing/2014/main" id="{472A371D-094B-7DD2-0509-68F54933600B}"/>
                  </a:ext>
                </a:extLst>
              </p:cNvPr>
              <p:cNvSpPr/>
              <p:nvPr/>
            </p:nvSpPr>
            <p:spPr>
              <a:xfrm rot="5400000">
                <a:off x="952451" y="5219053"/>
                <a:ext cx="428707" cy="502593"/>
              </a:xfrm>
              <a:prstGeom prst="flowChartDelay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270" rtlCol="0" anchor="ctr"/>
              <a:lstStyle/>
              <a:p>
                <a:pPr lvl="0" algn="ctr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F0502020204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CA" sz="16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CA" sz="16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⋅|</m:t>
                          </m:r>
                          <m:r>
                            <a:rPr lang="en-CA" sz="16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22" name="Flowchart: Delay 100">
                <a:extLst>
                  <a:ext uri="{FF2B5EF4-FFF2-40B4-BE49-F238E27FC236}">
                    <a16:creationId xmlns:a16="http://schemas.microsoft.com/office/drawing/2014/main" id="{472A371D-094B-7DD2-0509-68F5493360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952451" y="5219053"/>
                <a:ext cx="428707" cy="502593"/>
              </a:xfrm>
              <a:prstGeom prst="flowChartDelay">
                <a:avLst/>
              </a:prstGeom>
              <a:blipFill>
                <a:blip r:embed="rId2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5" name="TextBox 124">
            <a:extLst>
              <a:ext uri="{FF2B5EF4-FFF2-40B4-BE49-F238E27FC236}">
                <a16:creationId xmlns:a16="http://schemas.microsoft.com/office/drawing/2014/main" id="{13329FF9-3D94-4D26-0E54-5A7EA1DF4695}"/>
              </a:ext>
            </a:extLst>
          </p:cNvPr>
          <p:cNvSpPr txBox="1"/>
          <p:nvPr/>
        </p:nvSpPr>
        <p:spPr>
          <a:xfrm>
            <a:off x="687871" y="5996712"/>
            <a:ext cx="14927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Multi-state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91D9AECD-13A2-46B5-F3F4-89CABE7FEE81}"/>
                  </a:ext>
                </a:extLst>
              </p:cNvPr>
              <p:cNvSpPr txBox="1"/>
              <p:nvPr/>
            </p:nvSpPr>
            <p:spPr>
              <a:xfrm>
                <a:off x="1192398" y="4907259"/>
                <a:ext cx="24297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CA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</m:t>
                      </m:r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91D9AECD-13A2-46B5-F3F4-89CABE7FE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2398" y="4907259"/>
                <a:ext cx="242975" cy="338554"/>
              </a:xfrm>
              <a:prstGeom prst="rect">
                <a:avLst/>
              </a:prstGeom>
              <a:blipFill>
                <a:blip r:embed="rId27"/>
                <a:stretch>
                  <a:fillRect r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744B2DFA-99C8-161B-C087-3CF56694FA80}"/>
              </a:ext>
            </a:extLst>
          </p:cNvPr>
          <p:cNvGrpSpPr/>
          <p:nvPr/>
        </p:nvGrpSpPr>
        <p:grpSpPr>
          <a:xfrm>
            <a:off x="2970290" y="5008613"/>
            <a:ext cx="66914" cy="255402"/>
            <a:chOff x="6548130" y="2237014"/>
            <a:chExt cx="49658" cy="440872"/>
          </a:xfrm>
        </p:grpSpPr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5D2BA9A9-3593-9DB1-0A36-C6170C22502C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16229E5D-A193-E96A-2692-439745E10B93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Flowchart: Delay 100">
                <a:extLst>
                  <a:ext uri="{FF2B5EF4-FFF2-40B4-BE49-F238E27FC236}">
                    <a16:creationId xmlns:a16="http://schemas.microsoft.com/office/drawing/2014/main" id="{D785D335-7C68-A900-024F-8E487B83229D}"/>
                  </a:ext>
                </a:extLst>
              </p:cNvPr>
              <p:cNvSpPr/>
              <p:nvPr/>
            </p:nvSpPr>
            <p:spPr>
              <a:xfrm rot="5400000">
                <a:off x="2722932" y="5219792"/>
                <a:ext cx="423205" cy="502592"/>
              </a:xfrm>
              <a:prstGeom prst="flowChartDelay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270" rtlCol="0" anchor="ctr"/>
              <a:lstStyle/>
              <a:p>
                <a:pPr lvl="0" algn="ctr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F0502020204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CA" sz="16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CA" sz="16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33" name="Flowchart: Delay 100">
                <a:extLst>
                  <a:ext uri="{FF2B5EF4-FFF2-40B4-BE49-F238E27FC236}">
                    <a16:creationId xmlns:a16="http://schemas.microsoft.com/office/drawing/2014/main" id="{D785D335-7C68-A900-024F-8E487B8322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2722932" y="5219792"/>
                <a:ext cx="423205" cy="502592"/>
              </a:xfrm>
              <a:prstGeom prst="flowChartDelay">
                <a:avLst/>
              </a:prstGeom>
              <a:blipFill>
                <a:blip r:embed="rId2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8DB89E3A-AEDF-EAFC-82DD-563F28FA0383}"/>
                  </a:ext>
                </a:extLst>
              </p:cNvPr>
              <p:cNvSpPr txBox="1"/>
              <p:nvPr/>
            </p:nvSpPr>
            <p:spPr>
              <a:xfrm>
                <a:off x="2502510" y="4911421"/>
                <a:ext cx="24297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6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</m:t>
                      </m:r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8DB89E3A-AEDF-EAFC-82DD-563F28FA0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2510" y="4911421"/>
                <a:ext cx="242975" cy="338554"/>
              </a:xfrm>
              <a:prstGeom prst="rect">
                <a:avLst/>
              </a:prstGeom>
              <a:blipFill>
                <a:blip r:embed="rId29"/>
                <a:stretch>
                  <a:fillRect r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6656BF9F-DBC8-C46B-E35F-146C391A8E29}"/>
              </a:ext>
            </a:extLst>
          </p:cNvPr>
          <p:cNvCxnSpPr/>
          <p:nvPr/>
        </p:nvCxnSpPr>
        <p:spPr>
          <a:xfrm>
            <a:off x="2789710" y="5008613"/>
            <a:ext cx="0" cy="24805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69CFD4CB-D6CC-1B51-09FB-D22BD6470D29}"/>
              </a:ext>
            </a:extLst>
          </p:cNvPr>
          <p:cNvSpPr txBox="1"/>
          <p:nvPr/>
        </p:nvSpPr>
        <p:spPr>
          <a:xfrm>
            <a:off x="2386643" y="5986927"/>
            <a:ext cx="14927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      Source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5B3D2C48-29BB-D36E-AC0F-68510C3D8982}"/>
                  </a:ext>
                </a:extLst>
              </p:cNvPr>
              <p:cNvSpPr txBox="1"/>
              <p:nvPr/>
            </p:nvSpPr>
            <p:spPr>
              <a:xfrm>
                <a:off x="3041151" y="4910748"/>
                <a:ext cx="24297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CA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</m:t>
                      </m:r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5B3D2C48-29BB-D36E-AC0F-68510C3D89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1151" y="4910748"/>
                <a:ext cx="242975" cy="338554"/>
              </a:xfrm>
              <a:prstGeom prst="rect">
                <a:avLst/>
              </a:prstGeom>
              <a:blipFill>
                <a:blip r:embed="rId30"/>
                <a:stretch>
                  <a:fillRect r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0" name="Group 139">
            <a:extLst>
              <a:ext uri="{FF2B5EF4-FFF2-40B4-BE49-F238E27FC236}">
                <a16:creationId xmlns:a16="http://schemas.microsoft.com/office/drawing/2014/main" id="{E58B9228-332A-4F58-31E0-8DC4550E92F9}"/>
              </a:ext>
            </a:extLst>
          </p:cNvPr>
          <p:cNvGrpSpPr/>
          <p:nvPr/>
        </p:nvGrpSpPr>
        <p:grpSpPr>
          <a:xfrm>
            <a:off x="4717997" y="5613759"/>
            <a:ext cx="73178" cy="283502"/>
            <a:chOff x="6548130" y="2237014"/>
            <a:chExt cx="49658" cy="440872"/>
          </a:xfrm>
        </p:grpSpPr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084EECDF-0572-0478-04D3-BC4C25FD4DBF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BD8CA5BB-97A1-D360-CDD6-A564FC836D1F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3BC82404-9552-1372-F42B-2F0AD0837276}"/>
                  </a:ext>
                </a:extLst>
              </p:cNvPr>
              <p:cNvSpPr txBox="1"/>
              <p:nvPr/>
            </p:nvSpPr>
            <p:spPr>
              <a:xfrm>
                <a:off x="4703193" y="4817981"/>
                <a:ext cx="394854" cy="3909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6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𝑏</m:t>
                      </m:r>
                    </m:oMath>
                  </m:oMathPara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3BC82404-9552-1372-F42B-2F0AD08372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3193" y="4817981"/>
                <a:ext cx="394854" cy="390963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Flowchart: Delay 107">
                <a:extLst>
                  <a:ext uri="{FF2B5EF4-FFF2-40B4-BE49-F238E27FC236}">
                    <a16:creationId xmlns:a16="http://schemas.microsoft.com/office/drawing/2014/main" id="{6DD062A5-1258-FBB3-3AAC-11D69CB31F6A}"/>
                  </a:ext>
                </a:extLst>
              </p:cNvPr>
              <p:cNvSpPr/>
              <p:nvPr/>
            </p:nvSpPr>
            <p:spPr>
              <a:xfrm rot="16200000">
                <a:off x="4511288" y="5153968"/>
                <a:ext cx="487590" cy="549640"/>
              </a:xfrm>
              <a:prstGeom prst="flowChartDelay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eaVert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CA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1600" b="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0" lang="en-CA" sz="1600" b="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b</m:t>
                        </m:r>
                      </m:sub>
                    </m:sSub>
                  </m:oMath>
                </a14:m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145" name="Flowchart: Delay 107">
                <a:extLst>
                  <a:ext uri="{FF2B5EF4-FFF2-40B4-BE49-F238E27FC236}">
                    <a16:creationId xmlns:a16="http://schemas.microsoft.com/office/drawing/2014/main" id="{6DD062A5-1258-FBB3-3AAC-11D69CB31F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511288" y="5153968"/>
                <a:ext cx="487590" cy="549640"/>
              </a:xfrm>
              <a:prstGeom prst="flowChartDelay">
                <a:avLst/>
              </a:prstGeom>
              <a:blipFill>
                <a:blip r:embed="rId3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EA58D7B2-DB5D-E9B7-F1CB-35D8CFB0D7FA}"/>
              </a:ext>
            </a:extLst>
          </p:cNvPr>
          <p:cNvCxnSpPr>
            <a:cxnSpLocks/>
          </p:cNvCxnSpPr>
          <p:nvPr/>
        </p:nvCxnSpPr>
        <p:spPr>
          <a:xfrm>
            <a:off x="4735205" y="4989821"/>
            <a:ext cx="0" cy="19612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FC7D1EA0-37B0-254A-FE46-BFA541B76F11}"/>
              </a:ext>
            </a:extLst>
          </p:cNvPr>
          <p:cNvSpPr txBox="1"/>
          <p:nvPr/>
        </p:nvSpPr>
        <p:spPr>
          <a:xfrm>
            <a:off x="4158876" y="5996712"/>
            <a:ext cx="14428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Measurement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F452E3C3-565F-CB9C-5EDE-18CD95D10E8C}"/>
                  </a:ext>
                </a:extLst>
              </p:cNvPr>
              <p:cNvSpPr txBox="1"/>
              <p:nvPr/>
            </p:nvSpPr>
            <p:spPr>
              <a:xfrm>
                <a:off x="4834470" y="5641479"/>
                <a:ext cx="241001" cy="3909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CA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</m:t>
                      </m:r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F452E3C3-565F-CB9C-5EDE-18CD95D10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4470" y="5641479"/>
                <a:ext cx="241001" cy="390963"/>
              </a:xfrm>
              <a:prstGeom prst="rect">
                <a:avLst/>
              </a:prstGeom>
              <a:blipFill>
                <a:blip r:embed="rId33"/>
                <a:stretch>
                  <a:fillRect r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0" name="Group 169">
            <a:extLst>
              <a:ext uri="{FF2B5EF4-FFF2-40B4-BE49-F238E27FC236}">
                <a16:creationId xmlns:a16="http://schemas.microsoft.com/office/drawing/2014/main" id="{5C8C830F-3A5D-FFC8-A10B-C9E247011503}"/>
              </a:ext>
            </a:extLst>
          </p:cNvPr>
          <p:cNvGrpSpPr/>
          <p:nvPr/>
        </p:nvGrpSpPr>
        <p:grpSpPr>
          <a:xfrm>
            <a:off x="6069511" y="4988347"/>
            <a:ext cx="897620" cy="865177"/>
            <a:chOff x="5908294" y="5052610"/>
            <a:chExt cx="1216556" cy="1251103"/>
          </a:xfrm>
        </p:grpSpPr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BFA5E430-9CED-0DA2-BE96-51D461697818}"/>
                </a:ext>
              </a:extLst>
            </p:cNvPr>
            <p:cNvGrpSpPr/>
            <p:nvPr/>
          </p:nvGrpSpPr>
          <p:grpSpPr>
            <a:xfrm>
              <a:off x="6435529" y="5856734"/>
              <a:ext cx="45719" cy="244570"/>
              <a:chOff x="6548130" y="2237014"/>
              <a:chExt cx="49658" cy="440872"/>
            </a:xfrm>
          </p:grpSpPr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084DAB30-3D10-2380-9AA9-BDDF792204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48130" y="2237014"/>
                <a:ext cx="0" cy="440872"/>
              </a:xfrm>
              <a:prstGeom prst="line">
                <a:avLst/>
              </a:prstGeom>
              <a:ln w="19050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B42A5134-EE1E-9C37-817A-862E879AD7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97788" y="2237014"/>
                <a:ext cx="0" cy="440872"/>
              </a:xfrm>
              <a:prstGeom prst="line">
                <a:avLst/>
              </a:prstGeom>
              <a:ln w="19050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61DBF996-F40D-0878-C7E8-4098E36FF415}"/>
                </a:ext>
              </a:extLst>
            </p:cNvPr>
            <p:cNvGrpSpPr/>
            <p:nvPr/>
          </p:nvGrpSpPr>
          <p:grpSpPr>
            <a:xfrm>
              <a:off x="5993355" y="5052610"/>
              <a:ext cx="1131495" cy="1251103"/>
              <a:chOff x="5818515" y="1800299"/>
              <a:chExt cx="1131495" cy="125110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7" name="Rectangle: Rounded Corners 24">
                    <a:extLst>
                      <a:ext uri="{FF2B5EF4-FFF2-40B4-BE49-F238E27FC236}">
                        <a16:creationId xmlns:a16="http://schemas.microsoft.com/office/drawing/2014/main" id="{BE19B050-84F7-4115-45D9-2AC24227127F}"/>
                      </a:ext>
                    </a:extLst>
                  </p:cNvPr>
                  <p:cNvSpPr/>
                  <p:nvPr/>
                </p:nvSpPr>
                <p:spPr>
                  <a:xfrm>
                    <a:off x="5825024" y="1800299"/>
                    <a:ext cx="1012656" cy="240007"/>
                  </a:xfrm>
                  <a:prstGeom prst="roundRect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7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</m:oMath>
                      </m:oMathPara>
                    </a14:m>
                    <a:endParaRPr kumimoji="0" 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57" name="Rectangle: Rounded Corners 24">
                    <a:extLst>
                      <a:ext uri="{FF2B5EF4-FFF2-40B4-BE49-F238E27FC236}">
                        <a16:creationId xmlns:a16="http://schemas.microsoft.com/office/drawing/2014/main" id="{BE19B050-84F7-4115-45D9-2AC24227127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25024" y="1800299"/>
                    <a:ext cx="1012656" cy="240007"/>
                  </a:xfrm>
                  <a:prstGeom prst="roundRect">
                    <a:avLst/>
                  </a:prstGeom>
                  <a:blipFill>
                    <a:blip r:embed="rId34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8" name="Rectangle: Rounded Corners 25">
                    <a:extLst>
                      <a:ext uri="{FF2B5EF4-FFF2-40B4-BE49-F238E27FC236}">
                        <a16:creationId xmlns:a16="http://schemas.microsoft.com/office/drawing/2014/main" id="{8FE88163-30CF-843D-A8EA-2AC9C1FF8056}"/>
                      </a:ext>
                    </a:extLst>
                  </p:cNvPr>
                  <p:cNvSpPr/>
                  <p:nvPr/>
                </p:nvSpPr>
                <p:spPr>
                  <a:xfrm>
                    <a:off x="5818515" y="2811394"/>
                    <a:ext cx="1012656" cy="240007"/>
                  </a:xfrm>
                  <a:prstGeom prst="roundRect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7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</m:oMath>
                      </m:oMathPara>
                    </a14:m>
                    <a:endParaRPr kumimoji="0" 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58" name="Rectangle: Rounded Corners 25">
                    <a:extLst>
                      <a:ext uri="{FF2B5EF4-FFF2-40B4-BE49-F238E27FC236}">
                        <a16:creationId xmlns:a16="http://schemas.microsoft.com/office/drawing/2014/main" id="{8FE88163-30CF-843D-A8EA-2AC9C1FF805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18515" y="2811394"/>
                    <a:ext cx="1012656" cy="240007"/>
                  </a:xfrm>
                  <a:prstGeom prst="roundRect">
                    <a:avLst/>
                  </a:prstGeom>
                  <a:blipFill>
                    <a:blip r:embed="rId35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9" name="Rectangle: Rounded Corners 26">
                    <a:extLst>
                      <a:ext uri="{FF2B5EF4-FFF2-40B4-BE49-F238E27FC236}">
                        <a16:creationId xmlns:a16="http://schemas.microsoft.com/office/drawing/2014/main" id="{330DD1E5-3729-69AA-A44D-7D6BF09EE08C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6142659" y="2244051"/>
                    <a:ext cx="1251103" cy="363599"/>
                  </a:xfrm>
                  <a:prstGeom prst="roundRect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7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</m:oMath>
                      </m:oMathPara>
                    </a14:m>
                    <a:endParaRPr kumimoji="0" 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59" name="Rectangle: Rounded Corners 26">
                    <a:extLst>
                      <a:ext uri="{FF2B5EF4-FFF2-40B4-BE49-F238E27FC236}">
                        <a16:creationId xmlns:a16="http://schemas.microsoft.com/office/drawing/2014/main" id="{330DD1E5-3729-69AA-A44D-7D6BF09EE08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5400000">
                    <a:off x="6142659" y="2244051"/>
                    <a:ext cx="1251103" cy="363599"/>
                  </a:xfrm>
                  <a:prstGeom prst="roundRect">
                    <a:avLst/>
                  </a:prstGeom>
                  <a:blipFill>
                    <a:blip r:embed="rId36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0" name="Rectangle: Rounded Corners 27">
                    <a:extLst>
                      <a:ext uri="{FF2B5EF4-FFF2-40B4-BE49-F238E27FC236}">
                        <a16:creationId xmlns:a16="http://schemas.microsoft.com/office/drawing/2014/main" id="{80E408B2-58CC-E976-3A39-26934F615113}"/>
                      </a:ext>
                    </a:extLst>
                  </p:cNvPr>
                  <p:cNvSpPr/>
                  <p:nvPr/>
                </p:nvSpPr>
                <p:spPr>
                  <a:xfrm>
                    <a:off x="5860420" y="1810302"/>
                    <a:ext cx="1012656" cy="215214"/>
                  </a:xfrm>
                  <a:prstGeom prst="roundRect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>
                    <a:solidFill>
                      <a:schemeClr val="accent4">
                        <a:lumMod val="40000"/>
                        <a:lumOff val="60000"/>
                      </a:schemeClr>
                    </a:solidFill>
                  </a:ln>
                  <a:effectLst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7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</m:oMath>
                      </m:oMathPara>
                    </a14:m>
                    <a:endParaRPr kumimoji="0" 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60" name="Rectangle: Rounded Corners 27">
                    <a:extLst>
                      <a:ext uri="{FF2B5EF4-FFF2-40B4-BE49-F238E27FC236}">
                        <a16:creationId xmlns:a16="http://schemas.microsoft.com/office/drawing/2014/main" id="{80E408B2-58CC-E976-3A39-26934F61511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60420" y="1810302"/>
                    <a:ext cx="1012656" cy="215214"/>
                  </a:xfrm>
                  <a:prstGeom prst="roundRect">
                    <a:avLst/>
                  </a:prstGeom>
                  <a:blipFill>
                    <a:blip r:embed="rId37"/>
                    <a:stretch>
                      <a:fillRect b="-14286"/>
                    </a:stretch>
                  </a:blipFill>
                  <a:ln>
                    <a:solidFill>
                      <a:schemeClr val="accent4">
                        <a:lumMod val="40000"/>
                        <a:lumOff val="60000"/>
                      </a:schemeClr>
                    </a:solidFill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1" name="Rectangle: Rounded Corners 28">
                    <a:extLst>
                      <a:ext uri="{FF2B5EF4-FFF2-40B4-BE49-F238E27FC236}">
                        <a16:creationId xmlns:a16="http://schemas.microsoft.com/office/drawing/2014/main" id="{67160108-70E3-9EB4-CF0B-295BCF0B9BF9}"/>
                      </a:ext>
                    </a:extLst>
                  </p:cNvPr>
                  <p:cNvSpPr/>
                  <p:nvPr/>
                </p:nvSpPr>
                <p:spPr>
                  <a:xfrm>
                    <a:off x="5877935" y="2823580"/>
                    <a:ext cx="1012656" cy="215214"/>
                  </a:xfrm>
                  <a:prstGeom prst="roundRect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>
                    <a:solidFill>
                      <a:schemeClr val="accent4">
                        <a:lumMod val="40000"/>
                        <a:lumOff val="60000"/>
                      </a:schemeClr>
                    </a:solidFill>
                  </a:ln>
                  <a:effectLst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7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</m:oMath>
                      </m:oMathPara>
                    </a14:m>
                    <a:endParaRPr kumimoji="0" 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161" name="Rectangle: Rounded Corners 28">
                    <a:extLst>
                      <a:ext uri="{FF2B5EF4-FFF2-40B4-BE49-F238E27FC236}">
                        <a16:creationId xmlns:a16="http://schemas.microsoft.com/office/drawing/2014/main" id="{67160108-70E3-9EB4-CF0B-295BCF0B9BF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77935" y="2823580"/>
                    <a:ext cx="1012656" cy="215214"/>
                  </a:xfrm>
                  <a:prstGeom prst="roundRect">
                    <a:avLst/>
                  </a:prstGeom>
                  <a:blipFill>
                    <a:blip r:embed="rId38"/>
                    <a:stretch>
                      <a:fillRect b="-14286"/>
                    </a:stretch>
                  </a:blipFill>
                  <a:ln>
                    <a:solidFill>
                      <a:schemeClr val="accent4">
                        <a:lumMod val="40000"/>
                        <a:lumOff val="60000"/>
                      </a:schemeClr>
                    </a:solidFill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D8D39959-CFF1-8D23-2829-E9F8030D7BB1}"/>
                    </a:ext>
                  </a:extLst>
                </p:cNvPr>
                <p:cNvSpPr txBox="1"/>
                <p:nvPr/>
              </p:nvSpPr>
              <p:spPr>
                <a:xfrm>
                  <a:off x="6767471" y="5487402"/>
                  <a:ext cx="35737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F0502020204030204" pitchFamily="18" charset="0"/>
                          </a:rPr>
                          <m:t>𝒞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D8D39959-CFF1-8D23-2829-E9F8030D7B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7471" y="5487402"/>
                  <a:ext cx="357379" cy="369332"/>
                </a:xfrm>
                <a:prstGeom prst="rect">
                  <a:avLst/>
                </a:prstGeom>
                <a:blipFill>
                  <a:blip r:embed="rId39"/>
                  <a:stretch>
                    <a:fillRect r="-14286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C13DF3BD-7F15-EAED-75BC-DB46CC6C3FC9}"/>
                </a:ext>
              </a:extLst>
            </p:cNvPr>
            <p:cNvGrpSpPr/>
            <p:nvPr/>
          </p:nvGrpSpPr>
          <p:grpSpPr>
            <a:xfrm>
              <a:off x="6432984" y="5299978"/>
              <a:ext cx="45719" cy="244570"/>
              <a:chOff x="6548130" y="2237014"/>
              <a:chExt cx="49658" cy="440872"/>
            </a:xfrm>
          </p:grpSpPr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B15AA8E5-183F-8022-DE28-45C12D156D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48130" y="2237014"/>
                <a:ext cx="0" cy="440872"/>
              </a:xfrm>
              <a:prstGeom prst="line">
                <a:avLst/>
              </a:prstGeom>
              <a:ln w="19050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8F3B0C98-81DB-6DFF-4A49-01074EADEA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97788" y="2237014"/>
                <a:ext cx="0" cy="440872"/>
              </a:xfrm>
              <a:prstGeom prst="line">
                <a:avLst/>
              </a:prstGeom>
              <a:ln w="19050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AF155B7C-6CB0-2470-6277-3D57D7AC8B64}"/>
                    </a:ext>
                  </a:extLst>
                </p:cNvPr>
                <p:cNvSpPr txBox="1"/>
                <p:nvPr/>
              </p:nvSpPr>
              <p:spPr>
                <a:xfrm>
                  <a:off x="5909662" y="5276998"/>
                  <a:ext cx="730505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A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AF155B7C-6CB0-2470-6277-3D57D7AC8B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09662" y="5276998"/>
                  <a:ext cx="730505" cy="338554"/>
                </a:xfrm>
                <a:prstGeom prst="rect">
                  <a:avLst/>
                </a:prstGeom>
                <a:blipFill>
                  <a:blip r:embed="rId40"/>
                  <a:stretch>
                    <a:fillRect b="-3157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5215D8E3-56F2-A6F8-8054-31796842F7DD}"/>
                    </a:ext>
                  </a:extLst>
                </p:cNvPr>
                <p:cNvSpPr txBox="1"/>
                <p:nvPr/>
              </p:nvSpPr>
              <p:spPr>
                <a:xfrm>
                  <a:off x="5908294" y="5660628"/>
                  <a:ext cx="730505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CA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𝐴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5215D8E3-56F2-A6F8-8054-31796842F7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08294" y="5660628"/>
                  <a:ext cx="730505" cy="338554"/>
                </a:xfrm>
                <a:prstGeom prst="rect">
                  <a:avLst/>
                </a:prstGeom>
                <a:blipFill>
                  <a:blip r:embed="rId41"/>
                  <a:stretch>
                    <a:fillRect b="-3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1" name="TextBox 170">
            <a:extLst>
              <a:ext uri="{FF2B5EF4-FFF2-40B4-BE49-F238E27FC236}">
                <a16:creationId xmlns:a16="http://schemas.microsoft.com/office/drawing/2014/main" id="{54EBC88E-9469-D367-FDFE-514C10646504}"/>
              </a:ext>
            </a:extLst>
          </p:cNvPr>
          <p:cNvSpPr txBox="1"/>
          <p:nvPr/>
        </p:nvSpPr>
        <p:spPr>
          <a:xfrm>
            <a:off x="6257030" y="5996712"/>
            <a:ext cx="7448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Comb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AB656225-4A75-4DE3-6308-8CDEA56C26E4}"/>
                  </a:ext>
                </a:extLst>
              </p:cNvPr>
              <p:cNvSpPr txBox="1"/>
              <p:nvPr/>
            </p:nvSpPr>
            <p:spPr>
              <a:xfrm>
                <a:off x="8008710" y="4842148"/>
                <a:ext cx="334065" cy="4008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AB656225-4A75-4DE3-6308-8CDEA56C26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8710" y="4842148"/>
                <a:ext cx="334065" cy="400880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8EEE6102-82F9-059A-88BC-2A9BF290022F}"/>
              </a:ext>
            </a:extLst>
          </p:cNvPr>
          <p:cNvCxnSpPr>
            <a:cxnSpLocks/>
          </p:cNvCxnSpPr>
          <p:nvPr/>
        </p:nvCxnSpPr>
        <p:spPr>
          <a:xfrm>
            <a:off x="8316866" y="4917316"/>
            <a:ext cx="0" cy="27404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5844B55F-0939-5DB1-5290-128417063FE4}"/>
              </a:ext>
            </a:extLst>
          </p:cNvPr>
          <p:cNvCxnSpPr>
            <a:cxnSpLocks/>
          </p:cNvCxnSpPr>
          <p:nvPr/>
        </p:nvCxnSpPr>
        <p:spPr>
          <a:xfrm>
            <a:off x="8292385" y="5641519"/>
            <a:ext cx="0" cy="27404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EAAAE536-846F-3165-D979-9DE1897C11DD}"/>
                  </a:ext>
                </a:extLst>
              </p:cNvPr>
              <p:cNvSpPr txBox="1"/>
              <p:nvPr/>
            </p:nvSpPr>
            <p:spPr>
              <a:xfrm>
                <a:off x="8002539" y="5574811"/>
                <a:ext cx="334065" cy="4008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𝑧</m:t>
                      </m:r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EAAAE536-846F-3165-D979-9DE1897C11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2539" y="5574811"/>
                <a:ext cx="334065" cy="400880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Rectangle: Rounded Corners 28">
                <a:extLst>
                  <a:ext uri="{FF2B5EF4-FFF2-40B4-BE49-F238E27FC236}">
                    <a16:creationId xmlns:a16="http://schemas.microsoft.com/office/drawing/2014/main" id="{07FF10FC-B06B-07AE-330D-5BC28E9547CC}"/>
                  </a:ext>
                </a:extLst>
              </p:cNvPr>
              <p:cNvSpPr/>
              <p:nvPr/>
            </p:nvSpPr>
            <p:spPr>
              <a:xfrm>
                <a:off x="8096198" y="5169287"/>
                <a:ext cx="1075707" cy="489730"/>
              </a:xfrm>
              <a:prstGeom prst="roundRect">
                <a:avLst/>
              </a:prstGeom>
              <a:solidFill>
                <a:srgbClr val="FFE699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en-CA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SupPr>
                        <m:e>
                          <m: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ℰ</m:t>
                          </m:r>
                        </m:e>
                        <m:sub>
                          <m:r>
                            <a:rPr kumimoji="0" lang="en-CA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𝑐</m:t>
                          </m:r>
                          <m:r>
                            <a:rPr kumimoji="0" lang="en-CA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|</m:t>
                          </m:r>
                          <m:r>
                            <a:rPr kumimoji="0" lang="en-CA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𝑧</m:t>
                          </m:r>
                          <m:r>
                            <a:rPr kumimoji="0" lang="en-CA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</m:sub>
                        <m:sup>
                          <m:acc>
                            <m:accPr>
                              <m:chr m:val="⃗"/>
                              <m:ctrlPr>
                                <a:rPr kumimoji="0" lang="en-CA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CA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𝐴</m:t>
                              </m:r>
                            </m:e>
                          </m:acc>
                          <m:r>
                            <a:rPr kumimoji="0" lang="en-CA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→</m:t>
                          </m:r>
                          <m:acc>
                            <m:accPr>
                              <m:chr m:val="⃗"/>
                              <m:ctrlPr>
                                <a:rPr kumimoji="0" lang="en-CA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CA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𝐵</m:t>
                              </m:r>
                            </m:e>
                          </m:acc>
                          <m:r>
                            <a:rPr kumimoji="0" lang="en-CA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 </m:t>
                          </m:r>
                        </m:sup>
                      </m:sSubSup>
                    </m:oMath>
                  </m:oMathPara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6" name="Rectangle: Rounded Corners 28">
                <a:extLst>
                  <a:ext uri="{FF2B5EF4-FFF2-40B4-BE49-F238E27FC236}">
                    <a16:creationId xmlns:a16="http://schemas.microsoft.com/office/drawing/2014/main" id="{07FF10FC-B06B-07AE-330D-5BC28E9547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6198" y="5169287"/>
                <a:ext cx="1075707" cy="489730"/>
              </a:xfrm>
              <a:prstGeom prst="roundRect">
                <a:avLst/>
              </a:prstGeom>
              <a:blipFill>
                <a:blip r:embed="rId4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7" name="Group 176">
            <a:extLst>
              <a:ext uri="{FF2B5EF4-FFF2-40B4-BE49-F238E27FC236}">
                <a16:creationId xmlns:a16="http://schemas.microsoft.com/office/drawing/2014/main" id="{93BD9094-1B8A-8FA6-2165-4FCEDFEF5B0F}"/>
              </a:ext>
            </a:extLst>
          </p:cNvPr>
          <p:cNvGrpSpPr/>
          <p:nvPr/>
        </p:nvGrpSpPr>
        <p:grpSpPr>
          <a:xfrm>
            <a:off x="8506861" y="4916574"/>
            <a:ext cx="59538" cy="249740"/>
            <a:chOff x="6548130" y="2237014"/>
            <a:chExt cx="49658" cy="440872"/>
          </a:xfrm>
        </p:grpSpPr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303CEF11-6FBD-5FEF-A128-DD31218C52F9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42D01C91-FAB5-0E6E-B947-20D0F3BC3FDB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2DCA93E8-F80A-685C-7043-EE09EC9C6B14}"/>
              </a:ext>
            </a:extLst>
          </p:cNvPr>
          <p:cNvGrpSpPr/>
          <p:nvPr/>
        </p:nvGrpSpPr>
        <p:grpSpPr>
          <a:xfrm>
            <a:off x="8509450" y="5670203"/>
            <a:ext cx="59538" cy="249740"/>
            <a:chOff x="6548130" y="2237014"/>
            <a:chExt cx="49658" cy="440872"/>
          </a:xfrm>
        </p:grpSpPr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D904507C-CC79-2C62-150A-587F35AE390C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32D4DB59-5494-9FCA-FC68-B3EF4C7458C3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C347F17F-3727-1047-D067-DA2E6A5D193F}"/>
                  </a:ext>
                </a:extLst>
              </p:cNvPr>
              <p:cNvSpPr txBox="1"/>
              <p:nvPr/>
            </p:nvSpPr>
            <p:spPr>
              <a:xfrm>
                <a:off x="8712762" y="5676215"/>
                <a:ext cx="951314" cy="3701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0" lang="en-CA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0" lang="en-CA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C347F17F-3727-1047-D067-DA2E6A5D19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2762" y="5676215"/>
                <a:ext cx="951314" cy="370101"/>
              </a:xfrm>
              <a:prstGeom prst="rect">
                <a:avLst/>
              </a:prstGeom>
              <a:blipFill>
                <a:blip r:embed="rId45"/>
                <a:stretch>
                  <a:fillRect t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A9972C88-4AD7-ABF2-31BA-0A1E6B8388F5}"/>
                  </a:ext>
                </a:extLst>
              </p:cNvPr>
              <p:cNvSpPr txBox="1"/>
              <p:nvPr/>
            </p:nvSpPr>
            <p:spPr>
              <a:xfrm>
                <a:off x="8732104" y="4800660"/>
                <a:ext cx="951314" cy="3686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CA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A9972C88-4AD7-ABF2-31BA-0A1E6B8388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2104" y="4800660"/>
                <a:ext cx="951314" cy="368627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6" name="Group 185">
            <a:extLst>
              <a:ext uri="{FF2B5EF4-FFF2-40B4-BE49-F238E27FC236}">
                <a16:creationId xmlns:a16="http://schemas.microsoft.com/office/drawing/2014/main" id="{C659AA92-CC65-4B16-1EE8-1F06963BAC48}"/>
              </a:ext>
            </a:extLst>
          </p:cNvPr>
          <p:cNvGrpSpPr/>
          <p:nvPr/>
        </p:nvGrpSpPr>
        <p:grpSpPr>
          <a:xfrm>
            <a:off x="8893371" y="4918954"/>
            <a:ext cx="59538" cy="249740"/>
            <a:chOff x="6548130" y="2237014"/>
            <a:chExt cx="49658" cy="440872"/>
          </a:xfrm>
        </p:grpSpPr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1FE50818-9EF5-16AC-6369-C5D0E005B8DF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CAA9D039-1D03-1BFD-E7D1-52C45DBFB247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410FC379-7500-5D58-3375-0E86480C5601}"/>
              </a:ext>
            </a:extLst>
          </p:cNvPr>
          <p:cNvGrpSpPr/>
          <p:nvPr/>
        </p:nvGrpSpPr>
        <p:grpSpPr>
          <a:xfrm>
            <a:off x="8895960" y="5672583"/>
            <a:ext cx="59538" cy="249740"/>
            <a:chOff x="6548130" y="2237014"/>
            <a:chExt cx="49658" cy="440872"/>
          </a:xfrm>
        </p:grpSpPr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998B7D9A-5EC5-5001-BDF9-3814E134F763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C7BBD7DF-7D41-76B8-6119-3FE389DE0163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B2E99478-D2DB-B975-5FEF-05AC1B874D19}"/>
                  </a:ext>
                </a:extLst>
              </p:cNvPr>
              <p:cNvSpPr txBox="1"/>
              <p:nvPr/>
            </p:nvSpPr>
            <p:spPr>
              <a:xfrm>
                <a:off x="8490196" y="4839612"/>
                <a:ext cx="4838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B2E99478-D2DB-B975-5FEF-05AC1B874D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0196" y="4839612"/>
                <a:ext cx="483817" cy="369332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25AA95F5-ADC4-1AD9-655E-39AB527CFEF1}"/>
                  </a:ext>
                </a:extLst>
              </p:cNvPr>
              <p:cNvSpPr txBox="1"/>
              <p:nvPr/>
            </p:nvSpPr>
            <p:spPr>
              <a:xfrm>
                <a:off x="8490196" y="5627380"/>
                <a:ext cx="4838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25AA95F5-ADC4-1AD9-655E-39AB527CFE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0196" y="5627380"/>
                <a:ext cx="483817" cy="369332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4" name="TextBox 193">
            <a:extLst>
              <a:ext uri="{FF2B5EF4-FFF2-40B4-BE49-F238E27FC236}">
                <a16:creationId xmlns:a16="http://schemas.microsoft.com/office/drawing/2014/main" id="{A9274C08-C2B9-D6AF-9F07-C247CC2DB687}"/>
              </a:ext>
            </a:extLst>
          </p:cNvPr>
          <p:cNvSpPr txBox="1"/>
          <p:nvPr/>
        </p:nvSpPr>
        <p:spPr>
          <a:xfrm>
            <a:off x="7376067" y="5999363"/>
            <a:ext cx="2833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Multipartite-multi-instrument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FFCB44F4-11A9-EEF2-7DAA-5045E1109E50}"/>
                  </a:ext>
                </a:extLst>
              </p:cNvPr>
              <p:cNvSpPr txBox="1"/>
              <p:nvPr/>
            </p:nvSpPr>
            <p:spPr>
              <a:xfrm>
                <a:off x="9780727" y="5115317"/>
                <a:ext cx="116904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3200" b="0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FFCB44F4-11A9-EEF2-7DAA-5045E1109E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0727" y="5115317"/>
                <a:ext cx="1169043" cy="584775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118F6ABA-8BCE-A1D0-01ED-4D55D93217E9}"/>
                  </a:ext>
                </a:extLst>
              </p:cNvPr>
              <p:cNvSpPr/>
              <p:nvPr/>
            </p:nvSpPr>
            <p:spPr>
              <a:xfrm rot="21343401">
                <a:off x="6188695" y="881760"/>
                <a:ext cx="5603830" cy="838171"/>
              </a:xfrm>
              <a:prstGeom prst="rect">
                <a:avLst/>
              </a:prstGeom>
              <a:ln w="2540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400" dirty="0"/>
                  <a:t>A </a:t>
                </a:r>
                <a:r>
                  <a:rPr lang="en-US" sz="1400" i="1" dirty="0"/>
                  <a:t>quantum process </a:t>
                </a:r>
                <a:r>
                  <a:rPr lang="en-US" sz="1400" dirty="0"/>
                  <a:t>is a multi-partite multi-instrument (or comb) with various </a:t>
                </a:r>
                <a:r>
                  <a:rPr lang="en-US" sz="1400" b="1" dirty="0"/>
                  <a:t>quantum input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CA" sz="14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A" sz="1400" b="1" i="0" smtClean="0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</m:acc>
                  </m:oMath>
                </a14:m>
                <a:r>
                  <a:rPr lang="en-US" sz="1400" dirty="0"/>
                  <a:t>, </a:t>
                </a:r>
                <a:r>
                  <a:rPr lang="en-US" sz="1400" b="1" dirty="0"/>
                  <a:t>quantum output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CA" sz="1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A" sz="1400" b="1" i="0" smtClean="0">
                            <a:latin typeface="Cambria Math" panose="02040503050406030204" pitchFamily="18" charset="0"/>
                          </a:rPr>
                          <m:t>𝐁</m:t>
                        </m:r>
                      </m:e>
                    </m:acc>
                  </m:oMath>
                </a14:m>
                <a:r>
                  <a:rPr lang="en-US" sz="1400" dirty="0"/>
                  <a:t>,  </a:t>
                </a:r>
                <a:r>
                  <a:rPr lang="en-US" sz="1400" b="1" dirty="0"/>
                  <a:t>classical setting variable </a:t>
                </a:r>
                <a:r>
                  <a:rPr lang="en-US" sz="1400" b="1" dirty="0" err="1"/>
                  <a:t>x,y,z</a:t>
                </a:r>
                <a:r>
                  <a:rPr lang="en-US" sz="1400" b="1" dirty="0"/>
                  <a:t> </a:t>
                </a:r>
                <a:r>
                  <a:rPr lang="en-US" sz="1400" dirty="0"/>
                  <a:t>and </a:t>
                </a:r>
                <a:r>
                  <a:rPr lang="en-US" sz="1400" b="1" dirty="0"/>
                  <a:t>outcome variable </a:t>
                </a:r>
                <a:r>
                  <a:rPr lang="en-US" sz="1400" b="1" dirty="0" err="1"/>
                  <a:t>a,b,c</a:t>
                </a:r>
                <a:r>
                  <a:rPr lang="en-US" sz="1400" b="1" dirty="0"/>
                  <a:t>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118F6ABA-8BCE-A1D0-01ED-4D55D93217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343401">
                <a:off x="6188695" y="881760"/>
                <a:ext cx="5603830" cy="838171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8710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/>
      <p:bldP spid="89" grpId="0"/>
      <p:bldP spid="13" grpId="0" animBg="1"/>
      <p:bldP spid="20" grpId="0"/>
      <p:bldP spid="21" grpId="0" animBg="1"/>
      <p:bldP spid="23" grpId="0"/>
      <p:bldP spid="24" grpId="0"/>
      <p:bldP spid="28" grpId="0"/>
      <p:bldP spid="59" grpId="0" animBg="1"/>
      <p:bldP spid="60" grpId="0"/>
      <p:bldP spid="61" grpId="0"/>
      <p:bldP spid="62" grpId="0"/>
      <p:bldP spid="68" grpId="0"/>
      <p:bldP spid="69" grpId="0" animBg="1"/>
      <p:bldP spid="73" grpId="0"/>
      <p:bldP spid="74" grpId="0"/>
      <p:bldP spid="79" grpId="0" animBg="1"/>
      <p:bldP spid="84" grpId="0"/>
      <p:bldP spid="90" grpId="0"/>
      <p:bldP spid="91" grpId="0"/>
      <p:bldP spid="98" grpId="0" animBg="1"/>
      <p:bldP spid="102" grpId="0"/>
      <p:bldP spid="103" grpId="0"/>
      <p:bldP spid="106" grpId="0"/>
      <p:bldP spid="109" grpId="0"/>
      <p:bldP spid="110" grpId="0"/>
      <p:bldP spid="111" grpId="0"/>
      <p:bldP spid="112" grpId="0"/>
      <p:bldP spid="113" grpId="0"/>
      <p:bldP spid="114" grpId="0"/>
      <p:bldP spid="115" grpId="0"/>
      <p:bldP spid="117" grpId="0"/>
      <p:bldP spid="121" grpId="0"/>
      <p:bldP spid="122" grpId="0" animBg="1"/>
      <p:bldP spid="125" grpId="0"/>
      <p:bldP spid="126" grpId="0"/>
      <p:bldP spid="133" grpId="0" animBg="1"/>
      <p:bldP spid="134" grpId="0"/>
      <p:bldP spid="136" grpId="0"/>
      <p:bldP spid="137" grpId="0"/>
      <p:bldP spid="144" grpId="0"/>
      <p:bldP spid="145" grpId="0" animBg="1"/>
      <p:bldP spid="148" grpId="0"/>
      <p:bldP spid="149" grpId="0"/>
      <p:bldP spid="171" grpId="0"/>
      <p:bldP spid="172" grpId="0"/>
      <p:bldP spid="175" grpId="0"/>
      <p:bldP spid="176" grpId="0" animBg="1"/>
      <p:bldP spid="183" grpId="0"/>
      <p:bldP spid="184" grpId="0"/>
      <p:bldP spid="192" grpId="0"/>
      <p:bldP spid="193" grpId="0"/>
      <p:bldP spid="194" grpId="0"/>
      <p:bldP spid="19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D56DF-74F4-EDF3-EBE3-1301024C8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021389FF-DF11-17B3-612F-5F0DBA9AF53C}"/>
              </a:ext>
            </a:extLst>
          </p:cNvPr>
          <p:cNvSpPr txBox="1"/>
          <p:nvPr/>
        </p:nvSpPr>
        <p:spPr>
          <a:xfrm>
            <a:off x="0" y="416689"/>
            <a:ext cx="6458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Towards making the definition….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640E0C-9290-6B43-2B37-23E9E743D40F}"/>
              </a:ext>
            </a:extLst>
          </p:cNvPr>
          <p:cNvSpPr/>
          <p:nvPr/>
        </p:nvSpPr>
        <p:spPr>
          <a:xfrm>
            <a:off x="425294" y="5153101"/>
            <a:ext cx="4657060" cy="1392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1A4CB9-65A2-7EAF-256C-68593EC68FC1}"/>
              </a:ext>
            </a:extLst>
          </p:cNvPr>
          <p:cNvSpPr txBox="1"/>
          <p:nvPr/>
        </p:nvSpPr>
        <p:spPr>
          <a:xfrm>
            <a:off x="425294" y="1860347"/>
            <a:ext cx="1176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When is a set of statistics classically explainable?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34F63A-EC40-50AC-F362-0D901B074C1C}"/>
              </a:ext>
            </a:extLst>
          </p:cNvPr>
          <p:cNvSpPr txBox="1"/>
          <p:nvPr/>
        </p:nvSpPr>
        <p:spPr>
          <a:xfrm>
            <a:off x="1913006" y="4654535"/>
            <a:ext cx="90913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2">
                    <a:lumMod val="90000"/>
                  </a:schemeClr>
                </a:solidFill>
              </a:rPr>
              <a:t>When is a single process classical?</a:t>
            </a:r>
          </a:p>
        </p:txBody>
      </p:sp>
      <p:sp>
        <p:nvSpPr>
          <p:cNvPr id="5" name="Left Arrow 4">
            <a:extLst>
              <a:ext uri="{FF2B5EF4-FFF2-40B4-BE49-F238E27FC236}">
                <a16:creationId xmlns:a16="http://schemas.microsoft.com/office/drawing/2014/main" id="{DCBABED1-00CB-5D78-CE29-DA0654A72FAE}"/>
              </a:ext>
            </a:extLst>
          </p:cNvPr>
          <p:cNvSpPr/>
          <p:nvPr/>
        </p:nvSpPr>
        <p:spPr>
          <a:xfrm rot="16200000">
            <a:off x="5423546" y="3391100"/>
            <a:ext cx="1461571" cy="608682"/>
          </a:xfrm>
          <a:prstGeom prst="leftArrow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3583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C6358-90AA-FC72-30D6-FD4C8754E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D983821-6E32-E4AA-0B7C-A6732C748965}"/>
              </a:ext>
            </a:extLst>
          </p:cNvPr>
          <p:cNvSpPr/>
          <p:nvPr/>
        </p:nvSpPr>
        <p:spPr>
          <a:xfrm>
            <a:off x="69366" y="5433082"/>
            <a:ext cx="4657060" cy="1392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59" name="Rectangle: Rounded Corners 2">
            <a:extLst>
              <a:ext uri="{FF2B5EF4-FFF2-40B4-BE49-F238E27FC236}">
                <a16:creationId xmlns:a16="http://schemas.microsoft.com/office/drawing/2014/main" id="{D74A64B4-2240-92AA-05F0-B2683F20BF0D}"/>
              </a:ext>
            </a:extLst>
          </p:cNvPr>
          <p:cNvSpPr/>
          <p:nvPr/>
        </p:nvSpPr>
        <p:spPr>
          <a:xfrm>
            <a:off x="2291509" y="5864730"/>
            <a:ext cx="7951882" cy="704446"/>
          </a:xfrm>
          <a:prstGeom prst="roundRect">
            <a:avLst/>
          </a:prstGeom>
          <a:solidFill>
            <a:schemeClr val="bg1"/>
          </a:solidFill>
          <a:ln w="41275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8EF888B-B566-4E72-B02C-F242EC3ED264}"/>
              </a:ext>
            </a:extLst>
          </p:cNvPr>
          <p:cNvSpPr txBox="1"/>
          <p:nvPr/>
        </p:nvSpPr>
        <p:spPr>
          <a:xfrm>
            <a:off x="-50869" y="2097500"/>
            <a:ext cx="2928720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dirty="0">
                <a:latin typeface="Arial"/>
                <a:ea typeface="ＭＳ Ｐゴシック"/>
              </a:rPr>
              <a:t>A quantum representation </a:t>
            </a:r>
            <a:r>
              <a:rPr lang="en-US" sz="2400" dirty="0">
                <a:solidFill>
                  <a:schemeClr val="bg1"/>
                </a:solidFill>
                <a:latin typeface="Arial"/>
                <a:ea typeface="ＭＳ Ｐゴシック"/>
              </a:rPr>
              <a:t>f:</a:t>
            </a: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45E14C52-4CA8-29A5-4138-69E740FF5887}"/>
              </a:ext>
            </a:extLst>
          </p:cNvPr>
          <p:cNvCxnSpPr/>
          <p:nvPr/>
        </p:nvCxnSpPr>
        <p:spPr>
          <a:xfrm>
            <a:off x="4441194" y="2108172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4D168D0E-16DF-A348-1089-35DC35F6F3DB}"/>
                  </a:ext>
                </a:extLst>
              </p:cNvPr>
              <p:cNvSpPr txBox="1"/>
              <p:nvPr/>
            </p:nvSpPr>
            <p:spPr>
              <a:xfrm>
                <a:off x="4394200" y="2058365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200" i="1" smtClean="0">
                              <a:solidFill>
                                <a:prstClr val="black"/>
                              </a:solidFill>
                              <a:latin typeface="Cambria Math" panose="020F0502020204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zh-CN" sz="1200" i="1" smtClean="0">
                              <a:solidFill>
                                <a:prstClr val="black"/>
                              </a:solidFill>
                              <a:latin typeface="Cambria Math" panose="020F0502020204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4D168D0E-16DF-A348-1089-35DC35F6F3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200" y="2058365"/>
                <a:ext cx="204800" cy="276999"/>
              </a:xfrm>
              <a:prstGeom prst="rect">
                <a:avLst/>
              </a:prstGeom>
              <a:blipFill>
                <a:blip r:embed="rId2"/>
                <a:stretch>
                  <a:fillRect r="-37500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47D965A3-C908-1A1C-E6D2-079E98010101}"/>
              </a:ext>
            </a:extLst>
          </p:cNvPr>
          <p:cNvCxnSpPr/>
          <p:nvPr/>
        </p:nvCxnSpPr>
        <p:spPr>
          <a:xfrm>
            <a:off x="3830804" y="2106533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42855A17-5F10-AECE-A116-7F6079296612}"/>
                  </a:ext>
                </a:extLst>
              </p:cNvPr>
              <p:cNvSpPr txBox="1"/>
              <p:nvPr/>
            </p:nvSpPr>
            <p:spPr>
              <a:xfrm>
                <a:off x="3783810" y="2056726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200" i="1" smtClean="0">
                              <a:solidFill>
                                <a:prstClr val="black"/>
                              </a:solidFill>
                              <a:latin typeface="Cambria Math" panose="020F0502020204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zh-CN" sz="1200" i="1" smtClean="0">
                              <a:solidFill>
                                <a:prstClr val="black"/>
                              </a:solidFill>
                              <a:latin typeface="Cambria Math" panose="020F0502020204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42855A17-5F10-AECE-A116-7F6079296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3810" y="2056726"/>
                <a:ext cx="204800" cy="276999"/>
              </a:xfrm>
              <a:prstGeom prst="rect">
                <a:avLst/>
              </a:prstGeom>
              <a:blipFill>
                <a:blip r:embed="rId3"/>
                <a:stretch>
                  <a:fillRect r="-37500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029424A2-0238-6E67-7EBC-7B66E4A0968D}"/>
                  </a:ext>
                </a:extLst>
              </p:cNvPr>
              <p:cNvSpPr txBox="1"/>
              <p:nvPr/>
            </p:nvSpPr>
            <p:spPr>
              <a:xfrm>
                <a:off x="3708440" y="1595418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029424A2-0238-6E67-7EBC-7B66E4A09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8440" y="1595418"/>
                <a:ext cx="246689" cy="276999"/>
              </a:xfrm>
              <a:prstGeom prst="rect">
                <a:avLst/>
              </a:prstGeom>
              <a:blipFill>
                <a:blip r:embed="rId4"/>
                <a:stretch>
                  <a:fillRect r="-38095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0" name="Group 119">
            <a:extLst>
              <a:ext uri="{FF2B5EF4-FFF2-40B4-BE49-F238E27FC236}">
                <a16:creationId xmlns:a16="http://schemas.microsoft.com/office/drawing/2014/main" id="{9679AC1A-75F5-00EE-F48A-5A5DC2692522}"/>
              </a:ext>
            </a:extLst>
          </p:cNvPr>
          <p:cNvGrpSpPr/>
          <p:nvPr/>
        </p:nvGrpSpPr>
        <p:grpSpPr>
          <a:xfrm>
            <a:off x="4335940" y="2116838"/>
            <a:ext cx="45719" cy="210912"/>
            <a:chOff x="6548130" y="2237014"/>
            <a:chExt cx="49658" cy="440872"/>
          </a:xfrm>
        </p:grpSpPr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B962F0AB-79F7-539C-5FEB-172C8BA90104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709C856D-EF78-01CD-31D5-448CE6C1A2E7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sp>
        <p:nvSpPr>
          <p:cNvPr id="123" name="Flowchart: Delay 9">
            <a:extLst>
              <a:ext uri="{FF2B5EF4-FFF2-40B4-BE49-F238E27FC236}">
                <a16:creationId xmlns:a16="http://schemas.microsoft.com/office/drawing/2014/main" id="{02E1F8B1-55DB-3C17-0A0F-2B697E67404A}"/>
              </a:ext>
            </a:extLst>
          </p:cNvPr>
          <p:cNvSpPr/>
          <p:nvPr/>
        </p:nvSpPr>
        <p:spPr>
          <a:xfrm rot="16200000">
            <a:off x="4211516" y="1778045"/>
            <a:ext cx="309789" cy="367797"/>
          </a:xfrm>
          <a:prstGeom prst="flowChartDelay">
            <a:avLst/>
          </a:prstGeom>
          <a:solidFill>
            <a:srgbClr val="FFC000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eaVert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AE445E3F-B19E-73B5-237C-4AAD4FDEDA21}"/>
                  </a:ext>
                </a:extLst>
              </p:cNvPr>
              <p:cNvSpPr txBox="1"/>
              <p:nvPr/>
            </p:nvSpPr>
            <p:spPr>
              <a:xfrm>
                <a:off x="4341432" y="1595418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AE445E3F-B19E-73B5-237C-4AAD4FDEDA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1432" y="1595418"/>
                <a:ext cx="246689" cy="276999"/>
              </a:xfrm>
              <a:prstGeom prst="rect">
                <a:avLst/>
              </a:prstGeom>
              <a:blipFill>
                <a:blip r:embed="rId5"/>
                <a:stretch>
                  <a:fillRect r="-38095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5" name="Group 124">
            <a:extLst>
              <a:ext uri="{FF2B5EF4-FFF2-40B4-BE49-F238E27FC236}">
                <a16:creationId xmlns:a16="http://schemas.microsoft.com/office/drawing/2014/main" id="{517B0F76-FB28-F541-9233-4E4B308A74B2}"/>
              </a:ext>
            </a:extLst>
          </p:cNvPr>
          <p:cNvGrpSpPr/>
          <p:nvPr/>
        </p:nvGrpSpPr>
        <p:grpSpPr>
          <a:xfrm>
            <a:off x="3720718" y="2116838"/>
            <a:ext cx="45719" cy="210912"/>
            <a:chOff x="6548130" y="2237014"/>
            <a:chExt cx="49658" cy="440872"/>
          </a:xfrm>
        </p:grpSpPr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B87876C8-8929-DD41-39BB-551411D93E36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74B887E0-6EFB-7CCC-1576-B68C9FE3BAFA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sp>
        <p:nvSpPr>
          <p:cNvPr id="128" name="Flowchart: Delay 17">
            <a:extLst>
              <a:ext uri="{FF2B5EF4-FFF2-40B4-BE49-F238E27FC236}">
                <a16:creationId xmlns:a16="http://schemas.microsoft.com/office/drawing/2014/main" id="{393EEEDA-BDF2-8D48-B6EB-F9D4654D5A17}"/>
              </a:ext>
            </a:extLst>
          </p:cNvPr>
          <p:cNvSpPr/>
          <p:nvPr/>
        </p:nvSpPr>
        <p:spPr>
          <a:xfrm rot="16200000">
            <a:off x="3584855" y="1778045"/>
            <a:ext cx="309789" cy="367797"/>
          </a:xfrm>
          <a:prstGeom prst="flowChartDelay">
            <a:avLst/>
          </a:prstGeom>
          <a:solidFill>
            <a:srgbClr val="FFC000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eaVert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7EE08E22-95C5-DF66-16D9-C2778B558590}"/>
              </a:ext>
            </a:extLst>
          </p:cNvPr>
          <p:cNvCxnSpPr>
            <a:cxnSpLocks/>
          </p:cNvCxnSpPr>
          <p:nvPr/>
        </p:nvCxnSpPr>
        <p:spPr>
          <a:xfrm>
            <a:off x="3739532" y="1692890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C1D4D397-0602-0FB2-309F-7D446590A507}"/>
              </a:ext>
            </a:extLst>
          </p:cNvPr>
          <p:cNvCxnSpPr>
            <a:cxnSpLocks/>
          </p:cNvCxnSpPr>
          <p:nvPr/>
        </p:nvCxnSpPr>
        <p:spPr>
          <a:xfrm>
            <a:off x="4366410" y="1692890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Rectangle: Rounded Corners 10">
                <a:extLst>
                  <a:ext uri="{FF2B5EF4-FFF2-40B4-BE49-F238E27FC236}">
                    <a16:creationId xmlns:a16="http://schemas.microsoft.com/office/drawing/2014/main" id="{D7193994-A5A9-1C92-3CD4-31DC7E781AFD}"/>
                  </a:ext>
                </a:extLst>
              </p:cNvPr>
              <p:cNvSpPr/>
              <p:nvPr/>
            </p:nvSpPr>
            <p:spPr>
              <a:xfrm>
                <a:off x="3510184" y="2318773"/>
                <a:ext cx="1130829" cy="592426"/>
              </a:xfrm>
              <a:prstGeom prst="roundRect">
                <a:avLst/>
              </a:prstGeom>
              <a:solidFill>
                <a:srgbClr val="FFC000">
                  <a:lumMod val="40000"/>
                  <a:lumOff val="60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𝜌</m:t>
                          </m:r>
                        </m:e>
                        <m:sup>
                          <m:sSub>
                            <m:sSubPr>
                              <m:ctrlPr>
                                <a:rPr kumimoji="0" lang="en-US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𝐵</m:t>
                              </m:r>
                            </m:e>
                            <m:sub>
                              <m:r>
                                <a:rPr kumimoji="0" lang="en-US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0" lang="en-US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𝐵</m:t>
                              </m:r>
                            </m:e>
                            <m:sub>
                              <m:r>
                                <a:rPr kumimoji="0" lang="en-US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45" name="Rectangle: Rounded Corners 10">
                <a:extLst>
                  <a:ext uri="{FF2B5EF4-FFF2-40B4-BE49-F238E27FC236}">
                    <a16:creationId xmlns:a16="http://schemas.microsoft.com/office/drawing/2014/main" id="{D7193994-A5A9-1C92-3CD4-31DC7E781A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0184" y="2318773"/>
                <a:ext cx="1130829" cy="592426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74BA2BF3-1501-599E-44CF-0531B336B80C}"/>
              </a:ext>
            </a:extLst>
          </p:cNvPr>
          <p:cNvCxnSpPr>
            <a:cxnSpLocks/>
            <a:stCxn id="152" idx="2"/>
          </p:cNvCxnSpPr>
          <p:nvPr/>
        </p:nvCxnSpPr>
        <p:spPr>
          <a:xfrm flipH="1">
            <a:off x="4447293" y="3858179"/>
            <a:ext cx="2476" cy="340734"/>
          </a:xfrm>
          <a:prstGeom prst="line">
            <a:avLst/>
          </a:prstGeom>
          <a:noFill/>
          <a:ln w="15875" cap="flat" cmpd="sng" algn="ctr">
            <a:solidFill>
              <a:sysClr val="windowText" lastClr="000000"/>
            </a:solidFill>
            <a:prstDash val="sysDash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B2854382-FF14-32D1-F034-992234EBB512}"/>
                  </a:ext>
                </a:extLst>
              </p:cNvPr>
              <p:cNvSpPr txBox="1"/>
              <p:nvPr/>
            </p:nvSpPr>
            <p:spPr>
              <a:xfrm>
                <a:off x="4407772" y="3906926"/>
                <a:ext cx="290731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0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B2854382-FF14-32D1-F034-992234EBB5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7772" y="3906926"/>
                <a:ext cx="290731" cy="25391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Rectangle: Rounded Corners 40">
                <a:extLst>
                  <a:ext uri="{FF2B5EF4-FFF2-40B4-BE49-F238E27FC236}">
                    <a16:creationId xmlns:a16="http://schemas.microsoft.com/office/drawing/2014/main" id="{D7777D1F-3E3D-AE8F-2ECA-741958B04A65}"/>
                  </a:ext>
                </a:extLst>
              </p:cNvPr>
              <p:cNvSpPr/>
              <p:nvPr/>
            </p:nvSpPr>
            <p:spPr>
              <a:xfrm>
                <a:off x="4142802" y="3591254"/>
                <a:ext cx="613934" cy="266925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sSub>
                        <m:sSubPr>
                          <m:ctrlP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|</m:t>
                      </m:r>
                      <m:sSub>
                        <m:sSubPr>
                          <m:ctrlP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kumimoji="0" lang="en-US" sz="1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F0502020204030204" pitchFamily="18" charset="0"/>
                                  <a:ea typeface="+mn-ea"/>
                                  <a:cs typeface="+mn-cs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0" lang="en-US" sz="1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F0502020204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2" name="Rectangle: Rounded Corners 40">
                <a:extLst>
                  <a:ext uri="{FF2B5EF4-FFF2-40B4-BE49-F238E27FC236}">
                    <a16:creationId xmlns:a16="http://schemas.microsoft.com/office/drawing/2014/main" id="{D7777D1F-3E3D-AE8F-2ECA-741958B04A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2802" y="3591254"/>
                <a:ext cx="613934" cy="266925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Rectangle: Rounded Corners 33">
                <a:extLst>
                  <a:ext uri="{FF2B5EF4-FFF2-40B4-BE49-F238E27FC236}">
                    <a16:creationId xmlns:a16="http://schemas.microsoft.com/office/drawing/2014/main" id="{46971D88-8B12-F163-487B-6AD6C71EC057}"/>
                  </a:ext>
                </a:extLst>
              </p:cNvPr>
              <p:cNvSpPr/>
              <p:nvPr/>
            </p:nvSpPr>
            <p:spPr>
              <a:xfrm>
                <a:off x="3501921" y="4190659"/>
                <a:ext cx="1170006" cy="398885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sSub>
                        <m:sSubPr>
                          <m:ctrlP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3" name="Rectangle: Rounded Corners 33">
                <a:extLst>
                  <a:ext uri="{FF2B5EF4-FFF2-40B4-BE49-F238E27FC236}">
                    <a16:creationId xmlns:a16="http://schemas.microsoft.com/office/drawing/2014/main" id="{46971D88-8B12-F163-487B-6AD6C71EC0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1921" y="4190659"/>
                <a:ext cx="1170006" cy="398885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FA1F23EA-B31B-13EB-7AFA-D2E3F87B34C8}"/>
              </a:ext>
            </a:extLst>
          </p:cNvPr>
          <p:cNvCxnSpPr>
            <a:cxnSpLocks/>
            <a:stCxn id="176" idx="2"/>
          </p:cNvCxnSpPr>
          <p:nvPr/>
        </p:nvCxnSpPr>
        <p:spPr>
          <a:xfrm flipH="1">
            <a:off x="3744814" y="3857227"/>
            <a:ext cx="2476" cy="340734"/>
          </a:xfrm>
          <a:prstGeom prst="line">
            <a:avLst/>
          </a:prstGeom>
          <a:noFill/>
          <a:ln w="15875" cap="flat" cmpd="sng" algn="ctr">
            <a:solidFill>
              <a:sysClr val="windowText" lastClr="000000"/>
            </a:solidFill>
            <a:prstDash val="sysDash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257BA04F-7572-15DD-EE63-454C4A321026}"/>
                  </a:ext>
                </a:extLst>
              </p:cNvPr>
              <p:cNvSpPr txBox="1"/>
              <p:nvPr/>
            </p:nvSpPr>
            <p:spPr>
              <a:xfrm>
                <a:off x="3705293" y="3905974"/>
                <a:ext cx="290731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000" i="1" smtClean="0">
                              <a:solidFill>
                                <a:prstClr val="black"/>
                              </a:solidFill>
                              <a:latin typeface="Cambria Math" panose="020F0502020204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257BA04F-7572-15DD-EE63-454C4A3210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5293" y="3905974"/>
                <a:ext cx="290731" cy="25391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Rectangle: Rounded Corners 82">
                <a:extLst>
                  <a:ext uri="{FF2B5EF4-FFF2-40B4-BE49-F238E27FC236}">
                    <a16:creationId xmlns:a16="http://schemas.microsoft.com/office/drawing/2014/main" id="{FE9DEA04-2F1A-3981-1706-7F6EABC9A72A}"/>
                  </a:ext>
                </a:extLst>
              </p:cNvPr>
              <p:cNvSpPr/>
              <p:nvPr/>
            </p:nvSpPr>
            <p:spPr>
              <a:xfrm>
                <a:off x="3440323" y="3590302"/>
                <a:ext cx="613934" cy="266925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sSub>
                        <m:sSubPr>
                          <m:ctrlP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F0502020204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|</m:t>
                      </m:r>
                      <m:sSub>
                        <m:sSubPr>
                          <m:ctrlP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kumimoji="0" lang="en-US" sz="1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F0502020204030204" pitchFamily="18" charset="0"/>
                                  <a:ea typeface="+mn-ea"/>
                                  <a:cs typeface="+mn-cs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0" lang="en-US" sz="1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F0502020204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F0502020204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6" name="Rectangle: Rounded Corners 82">
                <a:extLst>
                  <a:ext uri="{FF2B5EF4-FFF2-40B4-BE49-F238E27FC236}">
                    <a16:creationId xmlns:a16="http://schemas.microsoft.com/office/drawing/2014/main" id="{FE9DEA04-2F1A-3981-1706-7F6EABC9A7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0323" y="3590302"/>
                <a:ext cx="613934" cy="266925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8" name="TextBox 177">
            <a:extLst>
              <a:ext uri="{FF2B5EF4-FFF2-40B4-BE49-F238E27FC236}">
                <a16:creationId xmlns:a16="http://schemas.microsoft.com/office/drawing/2014/main" id="{A287CECC-715A-C182-51CF-82124FA2E96E}"/>
              </a:ext>
            </a:extLst>
          </p:cNvPr>
          <p:cNvSpPr txBox="1"/>
          <p:nvPr/>
        </p:nvSpPr>
        <p:spPr>
          <a:xfrm>
            <a:off x="-67790" y="3721308"/>
            <a:ext cx="3319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Ontological representation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DEBDC39D-1643-EDCA-32DC-43E25A39D7F5}"/>
              </a:ext>
            </a:extLst>
          </p:cNvPr>
          <p:cNvSpPr txBox="1"/>
          <p:nvPr/>
        </p:nvSpPr>
        <p:spPr>
          <a:xfrm>
            <a:off x="2296533" y="5906783"/>
            <a:ext cx="78824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The quantum statistic in the</a:t>
            </a:r>
            <a:r>
              <a:rPr lang="en-US" altLang="zh-CN" sz="1600" b="1" dirty="0"/>
              <a:t> </a:t>
            </a:r>
            <a:r>
              <a:rPr lang="en-US" altLang="zh-CN" sz="1600" i="1" dirty="0"/>
              <a:t>bipartite scenario</a:t>
            </a:r>
            <a:r>
              <a:rPr lang="en-US" altLang="zh-CN" sz="1600" dirty="0"/>
              <a:t> is </a:t>
            </a:r>
            <a:r>
              <a:rPr lang="en-US" altLang="zh-CN" sz="1600" i="1" dirty="0"/>
              <a:t>classically explainable </a:t>
            </a:r>
            <a:r>
              <a:rPr lang="en-US" altLang="zh-CN" sz="1600" dirty="0"/>
              <a:t>if it admits a </a:t>
            </a:r>
            <a:r>
              <a:rPr lang="en-US" altLang="zh-CN" sz="1600" i="1" dirty="0"/>
              <a:t>local hidden variable model. </a:t>
            </a:r>
            <a:endParaRPr lang="en-US" sz="1600" i="1" dirty="0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88B513CE-8CD9-706F-CDEB-3400F6DFA33D}"/>
              </a:ext>
            </a:extLst>
          </p:cNvPr>
          <p:cNvSpPr txBox="1"/>
          <p:nvPr/>
        </p:nvSpPr>
        <p:spPr>
          <a:xfrm>
            <a:off x="0" y="416689"/>
            <a:ext cx="6458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Classical-explainable statistics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F2C50D-EA5C-FF8C-5EC2-D010502E949D}"/>
              </a:ext>
            </a:extLst>
          </p:cNvPr>
          <p:cNvSpPr txBox="1"/>
          <p:nvPr/>
        </p:nvSpPr>
        <p:spPr>
          <a:xfrm>
            <a:off x="4947079" y="1172131"/>
            <a:ext cx="22978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prstClr val="black"/>
                </a:solidFill>
                <a:latin typeface="Calibri" panose="020F0502020204030204"/>
              </a:rPr>
              <a:t>(a) Bipartite Bell circuit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DF46A6-2452-516B-EB99-40871BD54665}"/>
              </a:ext>
            </a:extLst>
          </p:cNvPr>
          <p:cNvSpPr txBox="1"/>
          <p:nvPr/>
        </p:nvSpPr>
        <p:spPr>
          <a:xfrm>
            <a:off x="4093380" y="4794429"/>
            <a:ext cx="446782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/>
              <a:t>                Local hidden variable model. </a:t>
            </a:r>
          </a:p>
        </p:txBody>
      </p:sp>
      <p:sp>
        <p:nvSpPr>
          <p:cNvPr id="20" name="Arrow: Down 81">
            <a:extLst>
              <a:ext uri="{FF2B5EF4-FFF2-40B4-BE49-F238E27FC236}">
                <a16:creationId xmlns:a16="http://schemas.microsoft.com/office/drawing/2014/main" id="{713E3EE7-5E74-35A0-70F0-7C69845B61A7}"/>
              </a:ext>
            </a:extLst>
          </p:cNvPr>
          <p:cNvSpPr/>
          <p:nvPr/>
        </p:nvSpPr>
        <p:spPr>
          <a:xfrm>
            <a:off x="3859742" y="3115273"/>
            <a:ext cx="454365" cy="284609"/>
          </a:xfrm>
          <a:prstGeom prst="downArrow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E831501-842E-5004-15A5-5DC1F00EB16D}"/>
                  </a:ext>
                </a:extLst>
              </p:cNvPr>
              <p:cNvSpPr txBox="1"/>
              <p:nvPr/>
            </p:nvSpPr>
            <p:spPr>
              <a:xfrm>
                <a:off x="6716919" y="2223946"/>
                <a:ext cx="2957861" cy="2578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CA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CA" sz="1400" b="0" i="0" smtClean="0">
                          <a:latin typeface="Cambria Math" panose="02040503050406030204" pitchFamily="18" charset="0"/>
                        </a:rPr>
                        <m:t>Tr</m:t>
                      </m:r>
                      <m:d>
                        <m:dPr>
                          <m:begChr m:val="["/>
                          <m:endChr m:val="]"/>
                          <m:ctrlPr>
                            <a:rPr lang="en-CA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sSub>
                            <m:sSubPr>
                              <m:ctrlP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CA" sz="1400" b="0" i="0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CA" sz="1400" b="0" i="0" smtClean="0"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en-CA" sz="1400" b="0" i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CA" sz="1400" b="0" i="0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CA" sz="1400" b="0" i="0" smtClean="0"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  <m:sub>
                                  <m:r>
                                    <a:rPr lang="en-CA" sz="1400" b="0" i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⊗</m:t>
                          </m:r>
                          <m:sSub>
                            <m:sSubPr>
                              <m:ctrlPr>
                                <a:rPr lang="en-CA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CA" sz="140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CA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CA" sz="1400"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en-CA" sz="1400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A" sz="140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CA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CA" sz="1400"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  <m:sub>
                                  <m:r>
                                    <a:rPr lang="en-CA" sz="1400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</m:oMath>
                  </m:oMathPara>
                </a14:m>
                <a:endParaRPr lang="en-CA" sz="1400" b="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E831501-842E-5004-15A5-5DC1F00EB1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6919" y="2223946"/>
                <a:ext cx="2957861" cy="257891"/>
              </a:xfrm>
              <a:prstGeom prst="rect">
                <a:avLst/>
              </a:prstGeom>
              <a:blipFill>
                <a:blip r:embed="rId12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865F9F6-B3D9-A051-5477-B723D0D5DDDD}"/>
                  </a:ext>
                </a:extLst>
              </p:cNvPr>
              <p:cNvSpPr txBox="1"/>
              <p:nvPr/>
            </p:nvSpPr>
            <p:spPr>
              <a:xfrm>
                <a:off x="6327292" y="3753416"/>
                <a:ext cx="3851695" cy="5483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CA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CA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400" i="1" kern="0">
                                  <a:solidFill>
                                    <a:prstClr val="black"/>
                                  </a:solidFill>
                                  <a:latin typeface="Cambria Math" panose="020F0502020204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1400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kern="0">
                                      <a:solidFill>
                                        <a:prstClr val="black"/>
                                      </a:solidFill>
                                      <a:latin typeface="Cambria Math" panose="020F0502020204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400" i="1" kern="0">
                                      <a:solidFill>
                                        <a:prstClr val="black"/>
                                      </a:solidFill>
                                      <a:latin typeface="Cambria Math" panose="020F0502020204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400" i="1" kern="0">
                                  <a:solidFill>
                                    <a:prstClr val="black"/>
                                  </a:solidFill>
                                  <a:latin typeface="Cambria Math" panose="020F0502020204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1400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kern="0">
                                      <a:solidFill>
                                        <a:prstClr val="black"/>
                                      </a:solidFill>
                                      <a:latin typeface="Cambria Math" panose="020F0502020204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400" i="1" kern="0">
                                      <a:solidFill>
                                        <a:prstClr val="black"/>
                                      </a:solidFill>
                                      <a:latin typeface="Cambria Math" panose="020F0502020204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4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CA" sz="1400" b="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865F9F6-B3D9-A051-5477-B723D0D5DD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7292" y="3753416"/>
                <a:ext cx="3851695" cy="548355"/>
              </a:xfrm>
              <a:prstGeom prst="rect">
                <a:avLst/>
              </a:prstGeom>
              <a:blipFill>
                <a:blip r:embed="rId13"/>
                <a:stretch>
                  <a:fillRect l="-658" t="-138636" r="-987" b="-193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Arrow: Down 81">
            <a:extLst>
              <a:ext uri="{FF2B5EF4-FFF2-40B4-BE49-F238E27FC236}">
                <a16:creationId xmlns:a16="http://schemas.microsoft.com/office/drawing/2014/main" id="{D2C895D6-04E1-F702-AE12-5C6919EF865A}"/>
              </a:ext>
            </a:extLst>
          </p:cNvPr>
          <p:cNvSpPr/>
          <p:nvPr/>
        </p:nvSpPr>
        <p:spPr>
          <a:xfrm>
            <a:off x="7968666" y="3140061"/>
            <a:ext cx="454365" cy="284609"/>
          </a:xfrm>
          <a:prstGeom prst="downArrow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2325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" grpId="0" animBg="1"/>
      <p:bldP spid="151" grpId="0"/>
      <p:bldP spid="152" grpId="0" animBg="1"/>
      <p:bldP spid="153" grpId="0" animBg="1"/>
      <p:bldP spid="175" grpId="0"/>
      <p:bldP spid="176" grpId="0" animBg="1"/>
      <p:bldP spid="178" grpId="0"/>
      <p:bldP spid="252" grpId="0"/>
      <p:bldP spid="10" grpId="0"/>
      <p:bldP spid="20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2A31F-545F-FFA3-E91C-FE639D463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1D18C41B-93AD-2E5A-D85D-F6EBE7DD7EE9}"/>
              </a:ext>
            </a:extLst>
          </p:cNvPr>
          <p:cNvSpPr/>
          <p:nvPr/>
        </p:nvSpPr>
        <p:spPr>
          <a:xfrm>
            <a:off x="5770264" y="3907647"/>
            <a:ext cx="5118944" cy="935904"/>
          </a:xfrm>
          <a:prstGeom prst="rect">
            <a:avLst/>
          </a:prstGeom>
          <a:ln w="254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CF5E32-BDBE-B0C2-5A58-F814088C01E2}"/>
              </a:ext>
            </a:extLst>
          </p:cNvPr>
          <p:cNvSpPr/>
          <p:nvPr/>
        </p:nvSpPr>
        <p:spPr>
          <a:xfrm>
            <a:off x="69366" y="5433082"/>
            <a:ext cx="4657060" cy="1392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59" name="Rectangle: Rounded Corners 2">
            <a:extLst>
              <a:ext uri="{FF2B5EF4-FFF2-40B4-BE49-F238E27FC236}">
                <a16:creationId xmlns:a16="http://schemas.microsoft.com/office/drawing/2014/main" id="{107EB2B8-6E30-FF40-BA78-18D32CAA4C3C}"/>
              </a:ext>
            </a:extLst>
          </p:cNvPr>
          <p:cNvSpPr/>
          <p:nvPr/>
        </p:nvSpPr>
        <p:spPr>
          <a:xfrm>
            <a:off x="2247442" y="5899922"/>
            <a:ext cx="8103388" cy="704446"/>
          </a:xfrm>
          <a:prstGeom prst="roundRect">
            <a:avLst/>
          </a:prstGeom>
          <a:solidFill>
            <a:schemeClr val="bg1"/>
          </a:solidFill>
          <a:ln w="41275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46F9D9-A644-86AA-9FD1-8DC1D21A9CC1}"/>
              </a:ext>
            </a:extLst>
          </p:cNvPr>
          <p:cNvSpPr txBox="1"/>
          <p:nvPr/>
        </p:nvSpPr>
        <p:spPr>
          <a:xfrm>
            <a:off x="-50869" y="2097500"/>
            <a:ext cx="2928720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dirty="0">
                <a:latin typeface="Arial"/>
                <a:ea typeface="ＭＳ Ｐゴシック"/>
              </a:rPr>
              <a:t>A quantum representation </a:t>
            </a:r>
            <a:r>
              <a:rPr lang="en-US" sz="2400" dirty="0">
                <a:solidFill>
                  <a:schemeClr val="bg1"/>
                </a:solidFill>
                <a:latin typeface="Arial"/>
                <a:ea typeface="ＭＳ Ｐゴシック"/>
              </a:rPr>
              <a:t>f: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4D1284B7-14CE-E8A9-7A63-01C3B11131CC}"/>
              </a:ext>
            </a:extLst>
          </p:cNvPr>
          <p:cNvSpPr txBox="1"/>
          <p:nvPr/>
        </p:nvSpPr>
        <p:spPr>
          <a:xfrm>
            <a:off x="-67790" y="3721308"/>
            <a:ext cx="3319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Ontological representation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9C1E43D0-E3DE-E175-1003-14096EB64EED}"/>
              </a:ext>
            </a:extLst>
          </p:cNvPr>
          <p:cNvSpPr txBox="1"/>
          <p:nvPr/>
        </p:nvSpPr>
        <p:spPr>
          <a:xfrm>
            <a:off x="2258458" y="5951154"/>
            <a:ext cx="81965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The quantum statistics in the</a:t>
            </a:r>
            <a:r>
              <a:rPr lang="en-US" altLang="zh-CN" sz="1600" b="1" dirty="0"/>
              <a:t> </a:t>
            </a:r>
            <a:r>
              <a:rPr lang="en-US" altLang="zh-CN" sz="1600" i="1" dirty="0"/>
              <a:t>prepare-and-measure scenario</a:t>
            </a:r>
            <a:r>
              <a:rPr lang="en-US" altLang="zh-CN" sz="1600" b="1" dirty="0"/>
              <a:t> </a:t>
            </a:r>
            <a:r>
              <a:rPr lang="en-US" altLang="zh-CN" sz="1600" dirty="0"/>
              <a:t>is </a:t>
            </a:r>
            <a:r>
              <a:rPr lang="en-US" altLang="zh-CN" sz="1600" i="1" dirty="0"/>
              <a:t>classically explainable</a:t>
            </a:r>
            <a:r>
              <a:rPr lang="en-US" altLang="zh-CN" sz="1600" dirty="0"/>
              <a:t> if it admits a </a:t>
            </a:r>
            <a:r>
              <a:rPr lang="en-US" sz="1600" i="1" dirty="0"/>
              <a:t>Generalized </a:t>
            </a:r>
            <a:r>
              <a:rPr lang="en-US" sz="1600" i="1" dirty="0" err="1"/>
              <a:t>noncontextual</a:t>
            </a:r>
            <a:r>
              <a:rPr lang="en-US" sz="1600" i="1" dirty="0"/>
              <a:t> ontological model. </a:t>
            </a: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E08017DB-BABB-273D-494F-506D8560575F}"/>
              </a:ext>
            </a:extLst>
          </p:cNvPr>
          <p:cNvSpPr txBox="1"/>
          <p:nvPr/>
        </p:nvSpPr>
        <p:spPr>
          <a:xfrm>
            <a:off x="0" y="416689"/>
            <a:ext cx="6458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Classical-explainable statistics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407E92A-791B-9B2C-7776-1A01FAACE784}"/>
                  </a:ext>
                </a:extLst>
              </p:cNvPr>
              <p:cNvSpPr txBox="1"/>
              <p:nvPr/>
            </p:nvSpPr>
            <p:spPr>
              <a:xfrm>
                <a:off x="6971985" y="2178431"/>
                <a:ext cx="2272802" cy="250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𝑎𝑏</m:t>
                      </m:r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CA" sz="1400" b="0" i="0" smtClean="0">
                          <a:latin typeface="Cambria Math" panose="02040503050406030204" pitchFamily="18" charset="0"/>
                        </a:rPr>
                        <m:t>Tr</m:t>
                      </m:r>
                      <m:d>
                        <m:dPr>
                          <m:begChr m:val="["/>
                          <m:endChr m:val="]"/>
                          <m:ctrlPr>
                            <a:rPr lang="en-CA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⊗</m:t>
                          </m:r>
                          <m:sSub>
                            <m:sSubPr>
                              <m:ctrlPr>
                                <a:rPr lang="en-CA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CA" sz="140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CA" sz="1400" b="0" i="0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  <m:r>
                                <a:rPr lang="en-CA" sz="140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CA" sz="140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A" sz="1400" b="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407E92A-791B-9B2C-7776-1A01FAACE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1985" y="2178431"/>
                <a:ext cx="2272802" cy="250646"/>
              </a:xfrm>
              <a:prstGeom prst="rect">
                <a:avLst/>
              </a:prstGeom>
              <a:blipFill>
                <a:blip r:embed="rId2"/>
                <a:stretch>
                  <a:fillRect l="-556" b="-23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22D6FC6-08F4-D2A0-EF9A-F7FE0708C597}"/>
                  </a:ext>
                </a:extLst>
              </p:cNvPr>
              <p:cNvSpPr txBox="1"/>
              <p:nvPr/>
            </p:nvSpPr>
            <p:spPr>
              <a:xfrm>
                <a:off x="5926501" y="3305719"/>
                <a:ext cx="5153398" cy="14265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𝑎𝑏</m:t>
                      </m:r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CA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sub>
                        <m:sup/>
                        <m:e>
                          <m:r>
                            <a:rPr lang="en-US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sz="1400" b="0" i="1" kern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sz="1400" b="0" i="1" kern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CA" sz="1400" b="0" i="1" kern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sz="1400" b="0" i="1" kern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CA" sz="1400" b="0" i="1" kern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sz="1400" b="0" i="1" kern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CA" sz="1400" b="0" i="1" kern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CA" sz="1400" b="0" i="1" kern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sz="1400" b="0" i="1" kern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14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CA" sz="1400" dirty="0"/>
              </a:p>
              <a:p>
                <a:endParaRPr lang="en-CA" sz="1400" b="0" dirty="0"/>
              </a:p>
              <a:p>
                <a:r>
                  <a:rPr lang="en-US" sz="1400" dirty="0"/>
                  <a:t> For every   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sSub>
                          <m:sSubPr>
                            <m:ctrlPr>
                              <a:rPr lang="en-CA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CA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CA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CA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=0⇒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CA" sz="1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CA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14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CA" sz="1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n-CA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CA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CA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CA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CA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CA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CA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)=0 </m:t>
                            </m:r>
                          </m:e>
                        </m:nary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nary>
                  </m:oMath>
                </a14:m>
                <a:r>
                  <a:rPr lang="en-CA" sz="1400" b="0" dirty="0"/>
                  <a:t>              </a:t>
                </a:r>
                <a:endParaRPr lang="en-US" sz="1400" dirty="0"/>
              </a:p>
              <a:p>
                <a:endParaRPr lang="en-US" sz="1400" dirty="0"/>
              </a:p>
              <a:p>
                <a:r>
                  <a:rPr lang="en-US" sz="1400" dirty="0"/>
                  <a:t> For every   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sSub>
                          <m:sSubPr>
                            <m:ctrlPr>
                              <a:rPr lang="en-CA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CA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CA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CA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=0⇒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CA" sz="1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CA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14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  <m:r>
                              <a:rPr lang="en-CA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CA" sz="14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CA" sz="14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e>
                                <m:r>
                                  <a:rPr lang="en-CA" sz="14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CA" sz="14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CA" sz="14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</m:d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=0 </m:t>
                            </m:r>
                          </m:e>
                        </m:nary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nary>
                  </m:oMath>
                </a14:m>
                <a:endParaRPr lang="en-CA" sz="1400" b="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22D6FC6-08F4-D2A0-EF9A-F7FE0708C5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6501" y="3305719"/>
                <a:ext cx="5153398" cy="1426544"/>
              </a:xfrm>
              <a:prstGeom prst="rect">
                <a:avLst/>
              </a:prstGeom>
              <a:blipFill>
                <a:blip r:embed="rId3"/>
                <a:stretch>
                  <a:fillRect l="-1229" t="-53982" b="-37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Arrow: Down 81">
            <a:extLst>
              <a:ext uri="{FF2B5EF4-FFF2-40B4-BE49-F238E27FC236}">
                <a16:creationId xmlns:a16="http://schemas.microsoft.com/office/drawing/2014/main" id="{6C4E56AC-EEB5-6E1C-2479-F9787732267D}"/>
              </a:ext>
            </a:extLst>
          </p:cNvPr>
          <p:cNvSpPr/>
          <p:nvPr/>
        </p:nvSpPr>
        <p:spPr>
          <a:xfrm>
            <a:off x="7968666" y="2923568"/>
            <a:ext cx="454365" cy="284609"/>
          </a:xfrm>
          <a:prstGeom prst="downArrow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B5E32F4-8282-B45C-2DE6-3998955AC5B0}"/>
              </a:ext>
            </a:extLst>
          </p:cNvPr>
          <p:cNvCxnSpPr>
            <a:cxnSpLocks/>
          </p:cNvCxnSpPr>
          <p:nvPr/>
        </p:nvCxnSpPr>
        <p:spPr>
          <a:xfrm>
            <a:off x="3784051" y="1770949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FF25250-B1A0-9D60-C8D3-9475C551FD3E}"/>
              </a:ext>
            </a:extLst>
          </p:cNvPr>
          <p:cNvCxnSpPr>
            <a:cxnSpLocks/>
          </p:cNvCxnSpPr>
          <p:nvPr/>
        </p:nvCxnSpPr>
        <p:spPr>
          <a:xfrm>
            <a:off x="3884280" y="2136434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92A3244-A5FD-ED59-3A50-E3C675F3051C}"/>
              </a:ext>
            </a:extLst>
          </p:cNvPr>
          <p:cNvCxnSpPr>
            <a:cxnSpLocks/>
          </p:cNvCxnSpPr>
          <p:nvPr/>
        </p:nvCxnSpPr>
        <p:spPr>
          <a:xfrm>
            <a:off x="3697697" y="2534608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B1E7E06-D01A-E021-E267-1AE742E28214}"/>
              </a:ext>
            </a:extLst>
          </p:cNvPr>
          <p:cNvCxnSpPr>
            <a:cxnSpLocks/>
          </p:cNvCxnSpPr>
          <p:nvPr/>
        </p:nvCxnSpPr>
        <p:spPr>
          <a:xfrm>
            <a:off x="3788829" y="2897858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8D61E43-726A-210C-46AE-92F6C433DBD8}"/>
                  </a:ext>
                </a:extLst>
              </p:cNvPr>
              <p:cNvSpPr txBox="1"/>
              <p:nvPr/>
            </p:nvSpPr>
            <p:spPr>
              <a:xfrm>
                <a:off x="3792319" y="2851363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solidFill>
                            <a:prstClr val="black"/>
                          </a:solidFill>
                          <a:latin typeface="Cambria Math" panose="020F0502020204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8D61E43-726A-210C-46AE-92F6C433DB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2319" y="2851363"/>
                <a:ext cx="204800" cy="276999"/>
              </a:xfrm>
              <a:prstGeom prst="rect">
                <a:avLst/>
              </a:prstGeom>
              <a:blipFill>
                <a:blip r:embed="rId4"/>
                <a:stretch>
                  <a:fillRect r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CC227EB-378E-C3C5-F673-B937A6C4D2D1}"/>
                  </a:ext>
                </a:extLst>
              </p:cNvPr>
              <p:cNvSpPr txBox="1"/>
              <p:nvPr/>
            </p:nvSpPr>
            <p:spPr>
              <a:xfrm>
                <a:off x="3476478" y="2443640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CC227EB-378E-C3C5-F673-B937A6C4D2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6478" y="2443640"/>
                <a:ext cx="246689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ECD16E3-CD93-3B2A-8DA6-79AE2A66D601}"/>
                  </a:ext>
                </a:extLst>
              </p:cNvPr>
              <p:cNvSpPr txBox="1"/>
              <p:nvPr/>
            </p:nvSpPr>
            <p:spPr>
              <a:xfrm>
                <a:off x="3779925" y="1667143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ECD16E3-CD93-3B2A-8DA6-79AE2A66D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9925" y="1667143"/>
                <a:ext cx="246689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6758324A-445C-C1A2-266F-E802EF739E7B}"/>
              </a:ext>
            </a:extLst>
          </p:cNvPr>
          <p:cNvGrpSpPr/>
          <p:nvPr/>
        </p:nvGrpSpPr>
        <p:grpSpPr>
          <a:xfrm>
            <a:off x="3772623" y="2170841"/>
            <a:ext cx="45719" cy="479517"/>
            <a:chOff x="6548130" y="2237014"/>
            <a:chExt cx="49658" cy="440872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2BC495C-0476-8606-25FC-FCEB910F32B0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6A727EA-C5FB-2D45-92F3-FAD29CE93890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sp>
        <p:nvSpPr>
          <p:cNvPr id="14" name="Flowchart: Delay 60">
            <a:extLst>
              <a:ext uri="{FF2B5EF4-FFF2-40B4-BE49-F238E27FC236}">
                <a16:creationId xmlns:a16="http://schemas.microsoft.com/office/drawing/2014/main" id="{6CA9EA6A-F566-1514-8831-1EC6CEBDA20D}"/>
              </a:ext>
            </a:extLst>
          </p:cNvPr>
          <p:cNvSpPr/>
          <p:nvPr/>
        </p:nvSpPr>
        <p:spPr>
          <a:xfrm rot="16200000">
            <a:off x="3629374" y="1837054"/>
            <a:ext cx="309789" cy="367797"/>
          </a:xfrm>
          <a:prstGeom prst="flowChartDelay">
            <a:avLst/>
          </a:prstGeom>
          <a:solidFill>
            <a:srgbClr val="FFC000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eaVert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Flowchart: Delay 64">
                <a:extLst>
                  <a:ext uri="{FF2B5EF4-FFF2-40B4-BE49-F238E27FC236}">
                    <a16:creationId xmlns:a16="http://schemas.microsoft.com/office/drawing/2014/main" id="{A1BA54B7-2B67-5F3D-074D-4F144B606472}"/>
                  </a:ext>
                </a:extLst>
              </p:cNvPr>
              <p:cNvSpPr/>
              <p:nvPr/>
            </p:nvSpPr>
            <p:spPr>
              <a:xfrm rot="5400000">
                <a:off x="3633217" y="2626436"/>
                <a:ext cx="309789" cy="367796"/>
              </a:xfrm>
              <a:prstGeom prst="flowChartDelay">
                <a:avLst/>
              </a:prstGeom>
              <a:solidFill>
                <a:srgbClr val="FFC000">
                  <a:lumMod val="40000"/>
                  <a:lumOff val="60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vert27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1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𝜌</m:t>
                    </m:r>
                  </m:oMath>
                </a14:m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" name="Flowchart: Delay 64">
                <a:extLst>
                  <a:ext uri="{FF2B5EF4-FFF2-40B4-BE49-F238E27FC236}">
                    <a16:creationId xmlns:a16="http://schemas.microsoft.com/office/drawing/2014/main" id="{A1BA54B7-2B67-5F3D-074D-4F144B6064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3633217" y="2626436"/>
                <a:ext cx="309789" cy="367796"/>
              </a:xfrm>
              <a:prstGeom prst="flowChartDelay">
                <a:avLst/>
              </a:prstGeom>
              <a:blipFill>
                <a:blip r:embed="rId7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6EA061D-4FB9-C1F1-87B8-DC0E4EAD931E}"/>
                  </a:ext>
                </a:extLst>
              </p:cNvPr>
              <p:cNvSpPr txBox="1"/>
              <p:nvPr/>
            </p:nvSpPr>
            <p:spPr>
              <a:xfrm>
                <a:off x="3802948" y="3962390"/>
                <a:ext cx="290731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sz="10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6EA061D-4FB9-C1F1-87B8-DC0E4EAD93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2948" y="3962390"/>
                <a:ext cx="290731" cy="24622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: Rounded Corners 29">
                <a:extLst>
                  <a:ext uri="{FF2B5EF4-FFF2-40B4-BE49-F238E27FC236}">
                    <a16:creationId xmlns:a16="http://schemas.microsoft.com/office/drawing/2014/main" id="{ADC358C7-D55E-ADB6-89A3-CB7F9101CDE3}"/>
                  </a:ext>
                </a:extLst>
              </p:cNvPr>
              <p:cNvSpPr/>
              <p:nvPr/>
            </p:nvSpPr>
            <p:spPr>
              <a:xfrm>
                <a:off x="3535901" y="4306320"/>
                <a:ext cx="495421" cy="261764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𝜆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F0502020204030204" pitchFamily="18" charset="0"/>
                          <a:ea typeface="+mn-ea"/>
                          <a:cs typeface="+mn-cs"/>
                        </a:rPr>
                        <m:t>|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F0502020204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" name="Rectangle: Rounded Corners 29">
                <a:extLst>
                  <a:ext uri="{FF2B5EF4-FFF2-40B4-BE49-F238E27FC236}">
                    <a16:creationId xmlns:a16="http://schemas.microsoft.com/office/drawing/2014/main" id="{ADC358C7-D55E-ADB6-89A3-CB7F9101CD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5901" y="4306320"/>
                <a:ext cx="495421" cy="261764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F203C8A-EE43-2E10-AD1F-AEB24DD0DDB7}"/>
              </a:ext>
            </a:extLst>
          </p:cNvPr>
          <p:cNvCxnSpPr>
            <a:cxnSpLocks/>
            <a:stCxn id="24" idx="2"/>
            <a:endCxn id="17" idx="0"/>
          </p:cNvCxnSpPr>
          <p:nvPr/>
        </p:nvCxnSpPr>
        <p:spPr>
          <a:xfrm flipH="1">
            <a:off x="3783612" y="3824622"/>
            <a:ext cx="2461" cy="481698"/>
          </a:xfrm>
          <a:prstGeom prst="line">
            <a:avLst/>
          </a:prstGeom>
          <a:noFill/>
          <a:ln w="15875" cap="flat" cmpd="sng" algn="ctr">
            <a:solidFill>
              <a:sysClr val="windowText" lastClr="000000"/>
            </a:solidFill>
            <a:prstDash val="sysDash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: Rounded Corners 32">
                <a:extLst>
                  <a:ext uri="{FF2B5EF4-FFF2-40B4-BE49-F238E27FC236}">
                    <a16:creationId xmlns:a16="http://schemas.microsoft.com/office/drawing/2014/main" id="{F387D88E-5214-AC05-2621-95F7D930EED9}"/>
                  </a:ext>
                </a:extLst>
              </p:cNvPr>
              <p:cNvSpPr/>
              <p:nvPr/>
            </p:nvSpPr>
            <p:spPr>
              <a:xfrm>
                <a:off x="3528123" y="3555447"/>
                <a:ext cx="515899" cy="269175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𝑏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|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F0502020204030204" pitchFamily="18" charset="0"/>
                          <a:ea typeface="+mn-ea"/>
                          <a:cs typeface="+mn-cs"/>
                        </a:rPr>
                        <m:t>𝑦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𝜆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4" name="Rectangle: Rounded Corners 32">
                <a:extLst>
                  <a:ext uri="{FF2B5EF4-FFF2-40B4-BE49-F238E27FC236}">
                    <a16:creationId xmlns:a16="http://schemas.microsoft.com/office/drawing/2014/main" id="{F387D88E-5214-AC05-2621-95F7D930EE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8123" y="3555447"/>
                <a:ext cx="515899" cy="269175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A082793-E4C1-5728-1C89-51D892AC022A}"/>
                  </a:ext>
                </a:extLst>
              </p:cNvPr>
              <p:cNvSpPr txBox="1"/>
              <p:nvPr/>
            </p:nvSpPr>
            <p:spPr>
              <a:xfrm>
                <a:off x="3867799" y="2085976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200" i="1">
                          <a:solidFill>
                            <a:prstClr val="black"/>
                          </a:solidFill>
                          <a:latin typeface="Cambria Math" panose="020F0502020204030204" pitchFamily="18" charset="0"/>
                        </a:rPr>
                        <m:t>y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A082793-E4C1-5728-1C89-51D892AC0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7799" y="2085976"/>
                <a:ext cx="204800" cy="276999"/>
              </a:xfrm>
              <a:prstGeom prst="rect">
                <a:avLst/>
              </a:prstGeom>
              <a:blipFill>
                <a:blip r:embed="rId11"/>
                <a:stretch>
                  <a:fillRect r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Arrow: Down 81">
            <a:extLst>
              <a:ext uri="{FF2B5EF4-FFF2-40B4-BE49-F238E27FC236}">
                <a16:creationId xmlns:a16="http://schemas.microsoft.com/office/drawing/2014/main" id="{BEAC2E8F-043D-57A4-45D6-11F6E56E8772}"/>
              </a:ext>
            </a:extLst>
          </p:cNvPr>
          <p:cNvSpPr/>
          <p:nvPr/>
        </p:nvSpPr>
        <p:spPr>
          <a:xfrm>
            <a:off x="3572249" y="3121933"/>
            <a:ext cx="454365" cy="284609"/>
          </a:xfrm>
          <a:prstGeom prst="downArrow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36E94F-A41C-7805-F82B-C8773BF3AF42}"/>
              </a:ext>
            </a:extLst>
          </p:cNvPr>
          <p:cNvSpPr txBox="1"/>
          <p:nvPr/>
        </p:nvSpPr>
        <p:spPr>
          <a:xfrm>
            <a:off x="4129938" y="5050061"/>
            <a:ext cx="4186889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/>
              <a:t>Generalized </a:t>
            </a:r>
            <a:r>
              <a:rPr lang="en-US" sz="1600" dirty="0" err="1"/>
              <a:t>noncontextual</a:t>
            </a:r>
            <a:r>
              <a:rPr lang="en-US" sz="1600" dirty="0"/>
              <a:t> ontological model.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800E482-0056-7592-8A81-3FE5F530507A}"/>
              </a:ext>
            </a:extLst>
          </p:cNvPr>
          <p:cNvSpPr txBox="1"/>
          <p:nvPr/>
        </p:nvSpPr>
        <p:spPr>
          <a:xfrm>
            <a:off x="4655870" y="1235979"/>
            <a:ext cx="28802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prstClr val="black"/>
                </a:solidFill>
                <a:latin typeface="Calibri" panose="020F0502020204030204"/>
              </a:rPr>
              <a:t>(b) Prepare-and-measure circuit</a:t>
            </a:r>
          </a:p>
        </p:txBody>
      </p:sp>
    </p:spTree>
    <p:extLst>
      <p:ext uri="{BB962C8B-B14F-4D97-AF65-F5344CB8AC3E}">
        <p14:creationId xmlns:p14="http://schemas.microsoft.com/office/powerpoint/2010/main" val="1231883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259" grpId="0" animBg="1"/>
      <p:bldP spid="178" grpId="0"/>
      <p:bldP spid="252" grpId="0"/>
      <p:bldP spid="23" grpId="0" animBg="1"/>
      <p:bldP spid="16" grpId="0"/>
      <p:bldP spid="17" grpId="0" animBg="1"/>
      <p:bldP spid="24" grpId="0" animBg="1"/>
      <p:bldP spid="26" grpId="0" animBg="1"/>
      <p:bldP spid="2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5500E-2111-63DA-EDA2-D86582B94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4475FCF-4BCF-8F21-01E1-644F592A6463}"/>
              </a:ext>
            </a:extLst>
          </p:cNvPr>
          <p:cNvSpPr/>
          <p:nvPr/>
        </p:nvSpPr>
        <p:spPr>
          <a:xfrm>
            <a:off x="69366" y="5433082"/>
            <a:ext cx="4657060" cy="1392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59" name="Rectangle: Rounded Corners 2">
            <a:extLst>
              <a:ext uri="{FF2B5EF4-FFF2-40B4-BE49-F238E27FC236}">
                <a16:creationId xmlns:a16="http://schemas.microsoft.com/office/drawing/2014/main" id="{8963BD1B-7246-6FBE-0360-864E1B13FF37}"/>
              </a:ext>
            </a:extLst>
          </p:cNvPr>
          <p:cNvSpPr/>
          <p:nvPr/>
        </p:nvSpPr>
        <p:spPr>
          <a:xfrm>
            <a:off x="2673953" y="5930612"/>
            <a:ext cx="7569439" cy="739731"/>
          </a:xfrm>
          <a:prstGeom prst="roundRect">
            <a:avLst/>
          </a:prstGeom>
          <a:solidFill>
            <a:schemeClr val="bg1"/>
          </a:solidFill>
          <a:ln w="41275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1D6A8D85-3853-35B1-3091-9666AB08394E}"/>
              </a:ext>
            </a:extLst>
          </p:cNvPr>
          <p:cNvCxnSpPr>
            <a:cxnSpLocks/>
          </p:cNvCxnSpPr>
          <p:nvPr/>
        </p:nvCxnSpPr>
        <p:spPr>
          <a:xfrm>
            <a:off x="8784940" y="1620793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230334B3-2E31-7E76-F066-444C92F50F01}"/>
              </a:ext>
            </a:extLst>
          </p:cNvPr>
          <p:cNvCxnSpPr>
            <a:cxnSpLocks/>
          </p:cNvCxnSpPr>
          <p:nvPr/>
        </p:nvCxnSpPr>
        <p:spPr>
          <a:xfrm>
            <a:off x="8885169" y="1986278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2DF44503-A7A3-A76E-7A41-0946AA153AF8}"/>
              </a:ext>
            </a:extLst>
          </p:cNvPr>
          <p:cNvCxnSpPr>
            <a:cxnSpLocks/>
          </p:cNvCxnSpPr>
          <p:nvPr/>
        </p:nvCxnSpPr>
        <p:spPr>
          <a:xfrm>
            <a:off x="8698586" y="2384452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E1ACCAF6-5300-9395-6803-98768AD3CF31}"/>
              </a:ext>
            </a:extLst>
          </p:cNvPr>
          <p:cNvCxnSpPr/>
          <p:nvPr/>
        </p:nvCxnSpPr>
        <p:spPr>
          <a:xfrm>
            <a:off x="4441194" y="1975968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A4BD6FDC-BC8B-A156-D5AC-94CA280A782F}"/>
                  </a:ext>
                </a:extLst>
              </p:cNvPr>
              <p:cNvSpPr txBox="1"/>
              <p:nvPr/>
            </p:nvSpPr>
            <p:spPr>
              <a:xfrm>
                <a:off x="4394200" y="1926161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200" i="1" smtClean="0">
                              <a:solidFill>
                                <a:prstClr val="black"/>
                              </a:solidFill>
                              <a:latin typeface="Cambria Math" panose="020F0502020204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zh-CN" sz="1200" i="1" smtClean="0">
                              <a:solidFill>
                                <a:prstClr val="black"/>
                              </a:solidFill>
                              <a:latin typeface="Cambria Math" panose="020F0502020204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A4BD6FDC-BC8B-A156-D5AC-94CA280A78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200" y="1926161"/>
                <a:ext cx="204800" cy="276999"/>
              </a:xfrm>
              <a:prstGeom prst="rect">
                <a:avLst/>
              </a:prstGeom>
              <a:blipFill>
                <a:blip r:embed="rId2"/>
                <a:stretch>
                  <a:fillRect r="-37500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A145CF0C-34FD-C728-9CA1-FC144082D178}"/>
              </a:ext>
            </a:extLst>
          </p:cNvPr>
          <p:cNvCxnSpPr/>
          <p:nvPr/>
        </p:nvCxnSpPr>
        <p:spPr>
          <a:xfrm>
            <a:off x="3830804" y="1974329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F25DB7A6-DBCA-8AB9-6A10-EB653F7FB407}"/>
                  </a:ext>
                </a:extLst>
              </p:cNvPr>
              <p:cNvSpPr txBox="1"/>
              <p:nvPr/>
            </p:nvSpPr>
            <p:spPr>
              <a:xfrm>
                <a:off x="3783810" y="1924522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200" i="1" smtClean="0">
                              <a:solidFill>
                                <a:prstClr val="black"/>
                              </a:solidFill>
                              <a:latin typeface="Cambria Math" panose="020F0502020204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zh-CN" sz="1200" i="1" smtClean="0">
                              <a:solidFill>
                                <a:prstClr val="black"/>
                              </a:solidFill>
                              <a:latin typeface="Cambria Math" panose="020F0502020204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F25DB7A6-DBCA-8AB9-6A10-EB653F7FB4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3810" y="1924522"/>
                <a:ext cx="204800" cy="276999"/>
              </a:xfrm>
              <a:prstGeom prst="rect">
                <a:avLst/>
              </a:prstGeom>
              <a:blipFill>
                <a:blip r:embed="rId3"/>
                <a:stretch>
                  <a:fillRect r="-3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0EBC9333-A6D7-5F32-DE3A-D6521743B871}"/>
              </a:ext>
            </a:extLst>
          </p:cNvPr>
          <p:cNvCxnSpPr>
            <a:cxnSpLocks/>
          </p:cNvCxnSpPr>
          <p:nvPr/>
        </p:nvCxnSpPr>
        <p:spPr>
          <a:xfrm>
            <a:off x="8789718" y="2747702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0BCC9FB7-A3BC-A388-0824-3E049E0E66CA}"/>
                  </a:ext>
                </a:extLst>
              </p:cNvPr>
              <p:cNvSpPr txBox="1"/>
              <p:nvPr/>
            </p:nvSpPr>
            <p:spPr>
              <a:xfrm>
                <a:off x="8793208" y="2701207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solidFill>
                            <a:prstClr val="black"/>
                          </a:solidFill>
                          <a:latin typeface="Cambria Math" panose="020F0502020204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0BCC9FB7-A3BC-A388-0824-3E049E0E6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3208" y="2701207"/>
                <a:ext cx="204800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2C64AC11-32D6-7C7F-9449-E5A7395C40A5}"/>
                  </a:ext>
                </a:extLst>
              </p:cNvPr>
              <p:cNvSpPr txBox="1"/>
              <p:nvPr/>
            </p:nvSpPr>
            <p:spPr>
              <a:xfrm>
                <a:off x="3708440" y="1463214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2C64AC11-32D6-7C7F-9449-E5A7395C40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8440" y="1463214"/>
                <a:ext cx="246689" cy="276999"/>
              </a:xfrm>
              <a:prstGeom prst="rect">
                <a:avLst/>
              </a:prstGeom>
              <a:blipFill>
                <a:blip r:embed="rId5"/>
                <a:stretch>
                  <a:fillRect r="-38095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0" name="Group 119">
            <a:extLst>
              <a:ext uri="{FF2B5EF4-FFF2-40B4-BE49-F238E27FC236}">
                <a16:creationId xmlns:a16="http://schemas.microsoft.com/office/drawing/2014/main" id="{579AB317-47C9-71D8-F28D-6B3FA4A9DF4F}"/>
              </a:ext>
            </a:extLst>
          </p:cNvPr>
          <p:cNvGrpSpPr/>
          <p:nvPr/>
        </p:nvGrpSpPr>
        <p:grpSpPr>
          <a:xfrm>
            <a:off x="4335940" y="1984634"/>
            <a:ext cx="45719" cy="210912"/>
            <a:chOff x="6548130" y="2237014"/>
            <a:chExt cx="49658" cy="440872"/>
          </a:xfrm>
        </p:grpSpPr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831D2011-A002-964C-B7B3-6DA02959182C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1E8EAA05-9862-068F-DE75-62F257E037FC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sp>
        <p:nvSpPr>
          <p:cNvPr id="123" name="Flowchart: Delay 9">
            <a:extLst>
              <a:ext uri="{FF2B5EF4-FFF2-40B4-BE49-F238E27FC236}">
                <a16:creationId xmlns:a16="http://schemas.microsoft.com/office/drawing/2014/main" id="{74A8833D-97AE-27FA-E27D-FCB8D5D6B251}"/>
              </a:ext>
            </a:extLst>
          </p:cNvPr>
          <p:cNvSpPr/>
          <p:nvPr/>
        </p:nvSpPr>
        <p:spPr>
          <a:xfrm rot="16200000">
            <a:off x="4211516" y="1645841"/>
            <a:ext cx="309789" cy="367797"/>
          </a:xfrm>
          <a:prstGeom prst="flowChartDelay">
            <a:avLst/>
          </a:prstGeom>
          <a:solidFill>
            <a:srgbClr val="FFC000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eaVert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5642957E-2462-D454-B57C-BF016B7CB7BC}"/>
                  </a:ext>
                </a:extLst>
              </p:cNvPr>
              <p:cNvSpPr txBox="1"/>
              <p:nvPr/>
            </p:nvSpPr>
            <p:spPr>
              <a:xfrm>
                <a:off x="4341432" y="1463214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5642957E-2462-D454-B57C-BF016B7CB7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1432" y="1463214"/>
                <a:ext cx="246689" cy="276999"/>
              </a:xfrm>
              <a:prstGeom prst="rect">
                <a:avLst/>
              </a:prstGeom>
              <a:blipFill>
                <a:blip r:embed="rId6"/>
                <a:stretch>
                  <a:fillRect r="-38095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5" name="Group 124">
            <a:extLst>
              <a:ext uri="{FF2B5EF4-FFF2-40B4-BE49-F238E27FC236}">
                <a16:creationId xmlns:a16="http://schemas.microsoft.com/office/drawing/2014/main" id="{25D0F1D6-4165-059B-9713-44076366B94F}"/>
              </a:ext>
            </a:extLst>
          </p:cNvPr>
          <p:cNvGrpSpPr/>
          <p:nvPr/>
        </p:nvGrpSpPr>
        <p:grpSpPr>
          <a:xfrm>
            <a:off x="3720718" y="1984634"/>
            <a:ext cx="45719" cy="210912"/>
            <a:chOff x="6548130" y="2237014"/>
            <a:chExt cx="49658" cy="440872"/>
          </a:xfrm>
        </p:grpSpPr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C52F18B7-2477-4388-B979-17B8F18AC2DD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8DE09619-1F3F-CA6E-3385-67A365CAF17F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sp>
        <p:nvSpPr>
          <p:cNvPr id="128" name="Flowchart: Delay 17">
            <a:extLst>
              <a:ext uri="{FF2B5EF4-FFF2-40B4-BE49-F238E27FC236}">
                <a16:creationId xmlns:a16="http://schemas.microsoft.com/office/drawing/2014/main" id="{73F44751-AE4E-AAB3-A6C8-2FBA716FE75D}"/>
              </a:ext>
            </a:extLst>
          </p:cNvPr>
          <p:cNvSpPr/>
          <p:nvPr/>
        </p:nvSpPr>
        <p:spPr>
          <a:xfrm rot="16200000">
            <a:off x="3584855" y="1645841"/>
            <a:ext cx="309789" cy="367797"/>
          </a:xfrm>
          <a:prstGeom prst="flowChartDelay">
            <a:avLst/>
          </a:prstGeom>
          <a:solidFill>
            <a:srgbClr val="FFC000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eaVert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71BEE1B2-CFA3-C800-B2CE-D32628B72CDC}"/>
              </a:ext>
            </a:extLst>
          </p:cNvPr>
          <p:cNvCxnSpPr>
            <a:cxnSpLocks/>
          </p:cNvCxnSpPr>
          <p:nvPr/>
        </p:nvCxnSpPr>
        <p:spPr>
          <a:xfrm>
            <a:off x="3739532" y="1560686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046FE261-1DFD-C209-8EAF-6589E814CD57}"/>
              </a:ext>
            </a:extLst>
          </p:cNvPr>
          <p:cNvCxnSpPr>
            <a:cxnSpLocks/>
          </p:cNvCxnSpPr>
          <p:nvPr/>
        </p:nvCxnSpPr>
        <p:spPr>
          <a:xfrm>
            <a:off x="4366410" y="1560686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220142ED-4E35-D978-F339-50E120980B35}"/>
                  </a:ext>
                </a:extLst>
              </p:cNvPr>
              <p:cNvSpPr txBox="1"/>
              <p:nvPr/>
            </p:nvSpPr>
            <p:spPr>
              <a:xfrm>
                <a:off x="8477367" y="2293484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220142ED-4E35-D978-F339-50E120980B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7367" y="2293484"/>
                <a:ext cx="246689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B5CD6F40-FB30-16B8-CDAD-B9EDC0BF920B}"/>
                  </a:ext>
                </a:extLst>
              </p:cNvPr>
              <p:cNvSpPr txBox="1"/>
              <p:nvPr/>
            </p:nvSpPr>
            <p:spPr>
              <a:xfrm>
                <a:off x="8780814" y="1516987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B5CD6F40-FB30-16B8-CDAD-B9EDC0BF9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0814" y="1516987"/>
                <a:ext cx="246689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3" name="Group 132">
            <a:extLst>
              <a:ext uri="{FF2B5EF4-FFF2-40B4-BE49-F238E27FC236}">
                <a16:creationId xmlns:a16="http://schemas.microsoft.com/office/drawing/2014/main" id="{5A3A919A-4BD0-1E2C-3D28-C6264DFFD0FD}"/>
              </a:ext>
            </a:extLst>
          </p:cNvPr>
          <p:cNvGrpSpPr/>
          <p:nvPr/>
        </p:nvGrpSpPr>
        <p:grpSpPr>
          <a:xfrm>
            <a:off x="8773512" y="2020685"/>
            <a:ext cx="45719" cy="479517"/>
            <a:chOff x="6548130" y="2237014"/>
            <a:chExt cx="49658" cy="440872"/>
          </a:xfrm>
        </p:grpSpPr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DDD33512-2818-6AD1-ABD6-ABB9493F6E80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4570CEEB-CA90-39A4-24F6-2795D116FDC5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sp>
        <p:nvSpPr>
          <p:cNvPr id="136" name="Flowchart: Delay 60">
            <a:extLst>
              <a:ext uri="{FF2B5EF4-FFF2-40B4-BE49-F238E27FC236}">
                <a16:creationId xmlns:a16="http://schemas.microsoft.com/office/drawing/2014/main" id="{FC5BE730-DA67-0FA7-6166-487B181FC339}"/>
              </a:ext>
            </a:extLst>
          </p:cNvPr>
          <p:cNvSpPr/>
          <p:nvPr/>
        </p:nvSpPr>
        <p:spPr>
          <a:xfrm rot="16200000">
            <a:off x="8630263" y="1686898"/>
            <a:ext cx="309789" cy="367797"/>
          </a:xfrm>
          <a:prstGeom prst="flowChartDelay">
            <a:avLst/>
          </a:prstGeom>
          <a:solidFill>
            <a:srgbClr val="FFC000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eaVert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Flowchart: Delay 64">
                <a:extLst>
                  <a:ext uri="{FF2B5EF4-FFF2-40B4-BE49-F238E27FC236}">
                    <a16:creationId xmlns:a16="http://schemas.microsoft.com/office/drawing/2014/main" id="{7127E048-D86D-5FFC-188E-79FD4ECBA57C}"/>
                  </a:ext>
                </a:extLst>
              </p:cNvPr>
              <p:cNvSpPr/>
              <p:nvPr/>
            </p:nvSpPr>
            <p:spPr>
              <a:xfrm rot="5400000">
                <a:off x="8634106" y="2476280"/>
                <a:ext cx="309789" cy="367796"/>
              </a:xfrm>
              <a:prstGeom prst="flowChartDelay">
                <a:avLst/>
              </a:prstGeom>
              <a:solidFill>
                <a:srgbClr val="FFC000">
                  <a:lumMod val="40000"/>
                  <a:lumOff val="60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vert27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1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𝜌</m:t>
                    </m:r>
                  </m:oMath>
                </a14:m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37" name="Flowchart: Delay 64">
                <a:extLst>
                  <a:ext uri="{FF2B5EF4-FFF2-40B4-BE49-F238E27FC236}">
                    <a16:creationId xmlns:a16="http://schemas.microsoft.com/office/drawing/2014/main" id="{7127E048-D86D-5FFC-188E-79FD4ECBA5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8634106" y="2476280"/>
                <a:ext cx="309789" cy="367796"/>
              </a:xfrm>
              <a:prstGeom prst="flowChartDelay">
                <a:avLst/>
              </a:prstGeom>
              <a:blipFill>
                <a:blip r:embed="rId9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" name="TextBox 137">
            <a:extLst>
              <a:ext uri="{FF2B5EF4-FFF2-40B4-BE49-F238E27FC236}">
                <a16:creationId xmlns:a16="http://schemas.microsoft.com/office/drawing/2014/main" id="{ED731422-904E-FD49-0161-911FF7FAA6DC}"/>
              </a:ext>
            </a:extLst>
          </p:cNvPr>
          <p:cNvSpPr txBox="1"/>
          <p:nvPr/>
        </p:nvSpPr>
        <p:spPr>
          <a:xfrm>
            <a:off x="7494570" y="1155601"/>
            <a:ext cx="28802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prstClr val="black"/>
                </a:solidFill>
                <a:latin typeface="Calibri" panose="020F0502020204030204"/>
              </a:rPr>
              <a:t>(b) Prepare-and-measure circuit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Rectangle: Rounded Corners 10">
                <a:extLst>
                  <a:ext uri="{FF2B5EF4-FFF2-40B4-BE49-F238E27FC236}">
                    <a16:creationId xmlns:a16="http://schemas.microsoft.com/office/drawing/2014/main" id="{9275500C-4D30-FECA-3CD3-FA0B4A5374D6}"/>
                  </a:ext>
                </a:extLst>
              </p:cNvPr>
              <p:cNvSpPr/>
              <p:nvPr/>
            </p:nvSpPr>
            <p:spPr>
              <a:xfrm>
                <a:off x="3510184" y="2186569"/>
                <a:ext cx="1130829" cy="592426"/>
              </a:xfrm>
              <a:prstGeom prst="roundRect">
                <a:avLst/>
              </a:prstGeom>
              <a:solidFill>
                <a:srgbClr val="FFC000">
                  <a:lumMod val="40000"/>
                  <a:lumOff val="60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𝜌</m:t>
                          </m:r>
                        </m:e>
                        <m:sup>
                          <m:sSub>
                            <m:sSubPr>
                              <m:ctrlPr>
                                <a:rPr kumimoji="0" lang="en-US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𝐵</m:t>
                              </m:r>
                            </m:e>
                            <m:sub>
                              <m:r>
                                <a:rPr kumimoji="0" lang="en-US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0" lang="en-US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𝐵</m:t>
                              </m:r>
                            </m:e>
                            <m:sub>
                              <m:r>
                                <a:rPr kumimoji="0" lang="en-US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45" name="Rectangle: Rounded Corners 10">
                <a:extLst>
                  <a:ext uri="{FF2B5EF4-FFF2-40B4-BE49-F238E27FC236}">
                    <a16:creationId xmlns:a16="http://schemas.microsoft.com/office/drawing/2014/main" id="{9275500C-4D30-FECA-3CD3-FA0B4A5374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0184" y="2186569"/>
                <a:ext cx="1130829" cy="592426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E7A323C7-6BB2-5D91-AC17-61473B2F4ED9}"/>
                  </a:ext>
                </a:extLst>
              </p:cNvPr>
              <p:cNvSpPr txBox="1"/>
              <p:nvPr/>
            </p:nvSpPr>
            <p:spPr>
              <a:xfrm>
                <a:off x="8838567" y="4031534"/>
                <a:ext cx="290731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sz="10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E7A323C7-6BB2-5D91-AC17-61473B2F4E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8567" y="4031534"/>
                <a:ext cx="290731" cy="24622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Rectangle: Rounded Corners 29">
                <a:extLst>
                  <a:ext uri="{FF2B5EF4-FFF2-40B4-BE49-F238E27FC236}">
                    <a16:creationId xmlns:a16="http://schemas.microsoft.com/office/drawing/2014/main" id="{3FBF8132-57A3-59BA-43BE-83ED751C5A12}"/>
                  </a:ext>
                </a:extLst>
              </p:cNvPr>
              <p:cNvSpPr/>
              <p:nvPr/>
            </p:nvSpPr>
            <p:spPr>
              <a:xfrm>
                <a:off x="8571520" y="4375464"/>
                <a:ext cx="495421" cy="261764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𝜆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F0502020204030204" pitchFamily="18" charset="0"/>
                          <a:ea typeface="+mn-ea"/>
                          <a:cs typeface="+mn-cs"/>
                        </a:rPr>
                        <m:t>|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F0502020204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47" name="Rectangle: Rounded Corners 29">
                <a:extLst>
                  <a:ext uri="{FF2B5EF4-FFF2-40B4-BE49-F238E27FC236}">
                    <a16:creationId xmlns:a16="http://schemas.microsoft.com/office/drawing/2014/main" id="{3FBF8132-57A3-59BA-43BE-83ED751C5A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1520" y="4375464"/>
                <a:ext cx="495421" cy="261764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7F8B9ACB-E4BB-174B-C18D-2F01611C2235}"/>
              </a:ext>
            </a:extLst>
          </p:cNvPr>
          <p:cNvCxnSpPr>
            <a:cxnSpLocks/>
            <a:stCxn id="149" idx="2"/>
            <a:endCxn id="147" idx="0"/>
          </p:cNvCxnSpPr>
          <p:nvPr/>
        </p:nvCxnSpPr>
        <p:spPr>
          <a:xfrm flipH="1">
            <a:off x="8819231" y="3893766"/>
            <a:ext cx="2461" cy="481698"/>
          </a:xfrm>
          <a:prstGeom prst="line">
            <a:avLst/>
          </a:prstGeom>
          <a:noFill/>
          <a:ln w="15875" cap="flat" cmpd="sng" algn="ctr">
            <a:solidFill>
              <a:sysClr val="windowText" lastClr="000000"/>
            </a:solidFill>
            <a:prstDash val="sysDash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Rectangle: Rounded Corners 32">
                <a:extLst>
                  <a:ext uri="{FF2B5EF4-FFF2-40B4-BE49-F238E27FC236}">
                    <a16:creationId xmlns:a16="http://schemas.microsoft.com/office/drawing/2014/main" id="{68829F57-1F65-FFE3-6D4A-5CF5BFC7CE9A}"/>
                  </a:ext>
                </a:extLst>
              </p:cNvPr>
              <p:cNvSpPr/>
              <p:nvPr/>
            </p:nvSpPr>
            <p:spPr>
              <a:xfrm>
                <a:off x="8563742" y="3624591"/>
                <a:ext cx="515899" cy="269175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𝑏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|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F0502020204030204" pitchFamily="18" charset="0"/>
                          <a:ea typeface="+mn-ea"/>
                          <a:cs typeface="+mn-cs"/>
                        </a:rPr>
                        <m:t>𝑦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𝜆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49" name="Rectangle: Rounded Corners 32">
                <a:extLst>
                  <a:ext uri="{FF2B5EF4-FFF2-40B4-BE49-F238E27FC236}">
                    <a16:creationId xmlns:a16="http://schemas.microsoft.com/office/drawing/2014/main" id="{68829F57-1F65-FFE3-6D4A-5CF5BFC7CE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3742" y="3624591"/>
                <a:ext cx="515899" cy="269175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6FFFD5EE-3C13-440D-C1B9-B4EBC8D163C1}"/>
              </a:ext>
            </a:extLst>
          </p:cNvPr>
          <p:cNvCxnSpPr>
            <a:cxnSpLocks/>
            <a:stCxn id="152" idx="2"/>
          </p:cNvCxnSpPr>
          <p:nvPr/>
        </p:nvCxnSpPr>
        <p:spPr>
          <a:xfrm flipH="1">
            <a:off x="4455556" y="3856805"/>
            <a:ext cx="2476" cy="340734"/>
          </a:xfrm>
          <a:prstGeom prst="line">
            <a:avLst/>
          </a:prstGeom>
          <a:noFill/>
          <a:ln w="15875" cap="flat" cmpd="sng" algn="ctr">
            <a:solidFill>
              <a:sysClr val="windowText" lastClr="000000"/>
            </a:solidFill>
            <a:prstDash val="sysDash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720620CC-7970-E577-DEEF-AA324E97B72E}"/>
                  </a:ext>
                </a:extLst>
              </p:cNvPr>
              <p:cNvSpPr txBox="1"/>
              <p:nvPr/>
            </p:nvSpPr>
            <p:spPr>
              <a:xfrm>
                <a:off x="4416035" y="3905552"/>
                <a:ext cx="290731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0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720620CC-7970-E577-DEEF-AA324E97B7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6035" y="3905552"/>
                <a:ext cx="290731" cy="25391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Rectangle: Rounded Corners 40">
                <a:extLst>
                  <a:ext uri="{FF2B5EF4-FFF2-40B4-BE49-F238E27FC236}">
                    <a16:creationId xmlns:a16="http://schemas.microsoft.com/office/drawing/2014/main" id="{D0085DF8-388D-4F18-D878-A24B60EB42D1}"/>
                  </a:ext>
                </a:extLst>
              </p:cNvPr>
              <p:cNvSpPr/>
              <p:nvPr/>
            </p:nvSpPr>
            <p:spPr>
              <a:xfrm>
                <a:off x="4151065" y="3589880"/>
                <a:ext cx="613934" cy="266925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sSub>
                        <m:sSubPr>
                          <m:ctrlP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|</m:t>
                      </m:r>
                      <m:sSub>
                        <m:sSubPr>
                          <m:ctrlP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kumimoji="0" lang="en-US" sz="1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F0502020204030204" pitchFamily="18" charset="0"/>
                                  <a:ea typeface="+mn-ea"/>
                                  <a:cs typeface="+mn-cs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0" lang="en-US" sz="1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F0502020204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2" name="Rectangle: Rounded Corners 40">
                <a:extLst>
                  <a:ext uri="{FF2B5EF4-FFF2-40B4-BE49-F238E27FC236}">
                    <a16:creationId xmlns:a16="http://schemas.microsoft.com/office/drawing/2014/main" id="{D0085DF8-388D-4F18-D878-A24B60EB42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065" y="3589880"/>
                <a:ext cx="613934" cy="266925"/>
              </a:xfrm>
              <a:prstGeom prst="roundRect">
                <a:avLst/>
              </a:prstGeom>
              <a:blipFill>
                <a:blip r:embed="rId15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Rectangle: Rounded Corners 33">
                <a:extLst>
                  <a:ext uri="{FF2B5EF4-FFF2-40B4-BE49-F238E27FC236}">
                    <a16:creationId xmlns:a16="http://schemas.microsoft.com/office/drawing/2014/main" id="{025BC000-3B43-8F8B-7CB3-F9DC7779B202}"/>
                  </a:ext>
                </a:extLst>
              </p:cNvPr>
              <p:cNvSpPr/>
              <p:nvPr/>
            </p:nvSpPr>
            <p:spPr>
              <a:xfrm>
                <a:off x="3510184" y="4189285"/>
                <a:ext cx="1170006" cy="398885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sSub>
                        <m:sSubPr>
                          <m:ctrlP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3" name="Rectangle: Rounded Corners 33">
                <a:extLst>
                  <a:ext uri="{FF2B5EF4-FFF2-40B4-BE49-F238E27FC236}">
                    <a16:creationId xmlns:a16="http://schemas.microsoft.com/office/drawing/2014/main" id="{025BC000-3B43-8F8B-7CB3-F9DC7779B2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0184" y="4189285"/>
                <a:ext cx="1170006" cy="398885"/>
              </a:xfrm>
              <a:prstGeom prst="roundRect">
                <a:avLst/>
              </a:prstGeom>
              <a:blipFill>
                <a:blip r:embed="rId16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4FB66A23-DCDC-CB4E-7DBF-8365382EB32F}"/>
                  </a:ext>
                </a:extLst>
              </p:cNvPr>
              <p:cNvSpPr txBox="1"/>
              <p:nvPr/>
            </p:nvSpPr>
            <p:spPr>
              <a:xfrm>
                <a:off x="8868688" y="1935820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200" i="1">
                          <a:solidFill>
                            <a:prstClr val="black"/>
                          </a:solidFill>
                          <a:latin typeface="Cambria Math" panose="020F0502020204030204" pitchFamily="18" charset="0"/>
                        </a:rPr>
                        <m:t>y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4FB66A23-DCDC-CB4E-7DBF-8365382EB3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8688" y="1935820"/>
                <a:ext cx="204800" cy="276999"/>
              </a:xfrm>
              <a:prstGeom prst="rect">
                <a:avLst/>
              </a:prstGeom>
              <a:blipFill>
                <a:blip r:embed="rId17"/>
                <a:stretch>
                  <a:fillRect r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76B9AED7-B1C1-B213-BBDA-F7EAD2FA8CBE}"/>
              </a:ext>
            </a:extLst>
          </p:cNvPr>
          <p:cNvCxnSpPr>
            <a:cxnSpLocks/>
            <a:stCxn id="176" idx="2"/>
          </p:cNvCxnSpPr>
          <p:nvPr/>
        </p:nvCxnSpPr>
        <p:spPr>
          <a:xfrm flipH="1">
            <a:off x="3753077" y="3855853"/>
            <a:ext cx="2476" cy="340734"/>
          </a:xfrm>
          <a:prstGeom prst="line">
            <a:avLst/>
          </a:prstGeom>
          <a:noFill/>
          <a:ln w="15875" cap="flat" cmpd="sng" algn="ctr">
            <a:solidFill>
              <a:sysClr val="windowText" lastClr="000000"/>
            </a:solidFill>
            <a:prstDash val="sysDash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87FE8C30-2336-17D2-F7BA-2355E9952C83}"/>
                  </a:ext>
                </a:extLst>
              </p:cNvPr>
              <p:cNvSpPr txBox="1"/>
              <p:nvPr/>
            </p:nvSpPr>
            <p:spPr>
              <a:xfrm>
                <a:off x="3713556" y="3904600"/>
                <a:ext cx="290731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000" i="1" smtClean="0">
                              <a:solidFill>
                                <a:prstClr val="black"/>
                              </a:solidFill>
                              <a:latin typeface="Cambria Math" panose="020F0502020204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87FE8C30-2336-17D2-F7BA-2355E9952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3556" y="3904600"/>
                <a:ext cx="290731" cy="25391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Rectangle: Rounded Corners 82">
                <a:extLst>
                  <a:ext uri="{FF2B5EF4-FFF2-40B4-BE49-F238E27FC236}">
                    <a16:creationId xmlns:a16="http://schemas.microsoft.com/office/drawing/2014/main" id="{E1FDD976-FB26-83DE-B026-B595F65A72A6}"/>
                  </a:ext>
                </a:extLst>
              </p:cNvPr>
              <p:cNvSpPr/>
              <p:nvPr/>
            </p:nvSpPr>
            <p:spPr>
              <a:xfrm>
                <a:off x="3448586" y="3588928"/>
                <a:ext cx="613934" cy="266925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sSub>
                        <m:sSubPr>
                          <m:ctrlP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F0502020204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|</m:t>
                      </m:r>
                      <m:sSub>
                        <m:sSubPr>
                          <m:ctrlP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kumimoji="0" lang="en-US" sz="1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F0502020204030204" pitchFamily="18" charset="0"/>
                                  <a:ea typeface="+mn-ea"/>
                                  <a:cs typeface="+mn-cs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0" lang="en-US" sz="1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F0502020204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F0502020204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6" name="Rectangle: Rounded Corners 82">
                <a:extLst>
                  <a:ext uri="{FF2B5EF4-FFF2-40B4-BE49-F238E27FC236}">
                    <a16:creationId xmlns:a16="http://schemas.microsoft.com/office/drawing/2014/main" id="{E1FDD976-FB26-83DE-B026-B595F65A72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8586" y="3588928"/>
                <a:ext cx="613934" cy="266925"/>
              </a:xfrm>
              <a:prstGeom prst="roundRect">
                <a:avLst/>
              </a:prstGeom>
              <a:blipFill>
                <a:blip r:embed="rId19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2" name="TextBox 251">
            <a:extLst>
              <a:ext uri="{FF2B5EF4-FFF2-40B4-BE49-F238E27FC236}">
                <a16:creationId xmlns:a16="http://schemas.microsoft.com/office/drawing/2014/main" id="{8191AA56-75C3-41C6-6E9A-DFB8640A9A2F}"/>
              </a:ext>
            </a:extLst>
          </p:cNvPr>
          <p:cNvSpPr txBox="1"/>
          <p:nvPr/>
        </p:nvSpPr>
        <p:spPr>
          <a:xfrm>
            <a:off x="2738356" y="6010100"/>
            <a:ext cx="74406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Definition: A statistic is </a:t>
            </a:r>
            <a:r>
              <a:rPr lang="en-US" sz="1600" i="1" dirty="0"/>
              <a:t>classically explainable</a:t>
            </a:r>
            <a:r>
              <a:rPr lang="en-US" sz="1600" dirty="0"/>
              <a:t> if it can be mapped to an ontological representation, where the map is </a:t>
            </a:r>
            <a:r>
              <a:rPr lang="en-US" sz="1600" i="1" dirty="0">
                <a:solidFill>
                  <a:srgbClr val="0070C0"/>
                </a:solidFill>
              </a:rPr>
              <a:t>linear</a:t>
            </a:r>
            <a:r>
              <a:rPr lang="en-US" sz="1600" i="1" dirty="0"/>
              <a:t> and </a:t>
            </a:r>
            <a:r>
              <a:rPr lang="en-US" sz="1600" i="1" dirty="0">
                <a:solidFill>
                  <a:srgbClr val="0070C0"/>
                </a:solidFill>
              </a:rPr>
              <a:t>diagram-</a:t>
            </a:r>
            <a:r>
              <a:rPr lang="en-US" sz="1600" i="1" dirty="0" err="1">
                <a:solidFill>
                  <a:srgbClr val="0070C0"/>
                </a:solidFill>
              </a:rPr>
              <a:t>perserving</a:t>
            </a:r>
            <a:r>
              <a:rPr lang="en-US" sz="1600" i="1" dirty="0">
                <a:solidFill>
                  <a:srgbClr val="0070C0"/>
                </a:solidFill>
              </a:rPr>
              <a:t>.</a:t>
            </a:r>
            <a:r>
              <a:rPr lang="en-US" sz="1600" dirty="0">
                <a:solidFill>
                  <a:srgbClr val="0070C0"/>
                </a:solidFill>
              </a:rPr>
              <a:t> </a:t>
            </a:r>
            <a:endParaRPr lang="en-US" sz="1600" dirty="0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D3E008E8-E579-8F4B-C320-4D75EA417C89}"/>
              </a:ext>
            </a:extLst>
          </p:cNvPr>
          <p:cNvSpPr txBox="1"/>
          <p:nvPr/>
        </p:nvSpPr>
        <p:spPr>
          <a:xfrm>
            <a:off x="0" y="416689"/>
            <a:ext cx="6458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Classical-explainable statistics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3634DE-9108-D434-2939-219E23381919}"/>
              </a:ext>
            </a:extLst>
          </p:cNvPr>
          <p:cNvSpPr txBox="1"/>
          <p:nvPr/>
        </p:nvSpPr>
        <p:spPr>
          <a:xfrm>
            <a:off x="3026549" y="1114651"/>
            <a:ext cx="22978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prstClr val="black"/>
                </a:solidFill>
                <a:latin typeface="Calibri" panose="020F0502020204030204"/>
              </a:rPr>
              <a:t>(a) Bipartite Bell circuit </a:t>
            </a:r>
          </a:p>
        </p:txBody>
      </p:sp>
      <p:sp>
        <p:nvSpPr>
          <p:cNvPr id="17" name="Arrow: Down 81">
            <a:extLst>
              <a:ext uri="{FF2B5EF4-FFF2-40B4-BE49-F238E27FC236}">
                <a16:creationId xmlns:a16="http://schemas.microsoft.com/office/drawing/2014/main" id="{3B897549-744C-E9D5-D95B-8B04EF04D542}"/>
              </a:ext>
            </a:extLst>
          </p:cNvPr>
          <p:cNvSpPr/>
          <p:nvPr/>
        </p:nvSpPr>
        <p:spPr>
          <a:xfrm>
            <a:off x="8589239" y="3138651"/>
            <a:ext cx="454365" cy="284609"/>
          </a:xfrm>
          <a:prstGeom prst="downArrow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04BA58-4C9E-82D0-D402-D42F210C141A}"/>
              </a:ext>
            </a:extLst>
          </p:cNvPr>
          <p:cNvSpPr txBox="1"/>
          <p:nvPr/>
        </p:nvSpPr>
        <p:spPr>
          <a:xfrm>
            <a:off x="2402552" y="4831101"/>
            <a:ext cx="3497026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/>
              <a:t>                Local causal model. </a:t>
            </a:r>
          </a:p>
          <a:p>
            <a:r>
              <a:rPr lang="en-US" sz="1600" dirty="0"/>
              <a:t>               </a:t>
            </a:r>
            <a:r>
              <a:rPr lang="en-US" sz="1600" dirty="0">
                <a:solidFill>
                  <a:srgbClr val="0070C0"/>
                </a:solidFill>
              </a:rPr>
              <a:t>(diagram-</a:t>
            </a:r>
            <a:r>
              <a:rPr lang="en-US" sz="1600" dirty="0" err="1">
                <a:solidFill>
                  <a:srgbClr val="0070C0"/>
                </a:solidFill>
              </a:rPr>
              <a:t>perserving</a:t>
            </a:r>
            <a:r>
              <a:rPr lang="en-US" sz="1600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4A4D87-AA21-661D-4B97-B5A0564C23A5}"/>
              </a:ext>
            </a:extLst>
          </p:cNvPr>
          <p:cNvSpPr txBox="1"/>
          <p:nvPr/>
        </p:nvSpPr>
        <p:spPr>
          <a:xfrm>
            <a:off x="6980043" y="4821352"/>
            <a:ext cx="4186889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/>
              <a:t>Generalized </a:t>
            </a:r>
            <a:r>
              <a:rPr lang="en-US" sz="1600" dirty="0" err="1"/>
              <a:t>noncontextual</a:t>
            </a:r>
            <a:r>
              <a:rPr lang="en-US" sz="1600" dirty="0"/>
              <a:t> ontological model. </a:t>
            </a:r>
          </a:p>
          <a:p>
            <a:r>
              <a:rPr lang="en-US" sz="1600" dirty="0"/>
              <a:t>                               </a:t>
            </a:r>
            <a:r>
              <a:rPr lang="en-US" sz="1600" dirty="0">
                <a:solidFill>
                  <a:srgbClr val="0070C0"/>
                </a:solidFill>
              </a:rPr>
              <a:t>(linear)</a:t>
            </a:r>
            <a:endParaRPr lang="en-US" sz="1600" dirty="0"/>
          </a:p>
        </p:txBody>
      </p:sp>
      <p:sp>
        <p:nvSpPr>
          <p:cNvPr id="20" name="Arrow: Down 81">
            <a:extLst>
              <a:ext uri="{FF2B5EF4-FFF2-40B4-BE49-F238E27FC236}">
                <a16:creationId xmlns:a16="http://schemas.microsoft.com/office/drawing/2014/main" id="{F64C7B76-7A75-9EA3-9351-059D04EE3630}"/>
              </a:ext>
            </a:extLst>
          </p:cNvPr>
          <p:cNvSpPr/>
          <p:nvPr/>
        </p:nvSpPr>
        <p:spPr>
          <a:xfrm>
            <a:off x="3859742" y="2983069"/>
            <a:ext cx="454365" cy="284609"/>
          </a:xfrm>
          <a:prstGeom prst="downArrow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321A1D-A698-A951-4D53-17C3AFB78261}"/>
              </a:ext>
            </a:extLst>
          </p:cNvPr>
          <p:cNvSpPr txBox="1"/>
          <p:nvPr/>
        </p:nvSpPr>
        <p:spPr>
          <a:xfrm>
            <a:off x="-50869" y="2097500"/>
            <a:ext cx="2928720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dirty="0">
                <a:latin typeface="Arial"/>
                <a:ea typeface="ＭＳ Ｐゴシック"/>
              </a:rPr>
              <a:t>A quantum representation </a:t>
            </a:r>
            <a:r>
              <a:rPr lang="en-US" sz="2400" dirty="0">
                <a:solidFill>
                  <a:schemeClr val="bg1"/>
                </a:solidFill>
                <a:latin typeface="Arial"/>
                <a:ea typeface="ＭＳ Ｐゴシック"/>
              </a:rPr>
              <a:t>f: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7A2709-88BC-36A1-EAAB-877386E08FBD}"/>
              </a:ext>
            </a:extLst>
          </p:cNvPr>
          <p:cNvSpPr txBox="1"/>
          <p:nvPr/>
        </p:nvSpPr>
        <p:spPr>
          <a:xfrm>
            <a:off x="-67790" y="3721308"/>
            <a:ext cx="3319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Ontological representation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74DCD32-6AA2-15F8-F2D8-E8810C94D650}"/>
              </a:ext>
            </a:extLst>
          </p:cNvPr>
          <p:cNvCxnSpPr>
            <a:cxnSpLocks/>
          </p:cNvCxnSpPr>
          <p:nvPr/>
        </p:nvCxnSpPr>
        <p:spPr>
          <a:xfrm>
            <a:off x="4764999" y="5433082"/>
            <a:ext cx="559392" cy="3879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DF60FEA-91E9-AF1E-51A6-F26D103092D5}"/>
              </a:ext>
            </a:extLst>
          </p:cNvPr>
          <p:cNvCxnSpPr>
            <a:cxnSpLocks/>
          </p:cNvCxnSpPr>
          <p:nvPr/>
        </p:nvCxnSpPr>
        <p:spPr>
          <a:xfrm flipH="1">
            <a:off x="8020280" y="5393014"/>
            <a:ext cx="495534" cy="4280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6705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" grpId="0" animBg="1"/>
      <p:bldP spid="138" grpId="0"/>
      <p:bldP spid="146" grpId="0"/>
      <p:bldP spid="147" grpId="0" animBg="1"/>
      <p:bldP spid="149" grpId="0" animBg="1"/>
      <p:bldP spid="151" grpId="0"/>
      <p:bldP spid="152" grpId="0" animBg="1"/>
      <p:bldP spid="153" grpId="0" animBg="1"/>
      <p:bldP spid="175" grpId="0"/>
      <p:bldP spid="176" grpId="0" animBg="1"/>
      <p:bldP spid="252" grpId="0"/>
      <p:bldP spid="10" grpId="0"/>
      <p:bldP spid="17" grpId="0" animBg="1"/>
      <p:bldP spid="20" grpId="0" animBg="1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5D424-78E7-A2CA-FB3A-C1B51366D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9B635E2-8477-A6B8-68FF-B85727F00479}"/>
              </a:ext>
            </a:extLst>
          </p:cNvPr>
          <p:cNvSpPr/>
          <p:nvPr/>
        </p:nvSpPr>
        <p:spPr>
          <a:xfrm>
            <a:off x="146928" y="5295912"/>
            <a:ext cx="4657060" cy="1392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59" name="Rectangle: Rounded Corners 2">
            <a:extLst>
              <a:ext uri="{FF2B5EF4-FFF2-40B4-BE49-F238E27FC236}">
                <a16:creationId xmlns:a16="http://schemas.microsoft.com/office/drawing/2014/main" id="{D89A5C96-D881-83B9-F45D-CA1C58DE0BE1}"/>
              </a:ext>
            </a:extLst>
          </p:cNvPr>
          <p:cNvSpPr/>
          <p:nvPr/>
        </p:nvSpPr>
        <p:spPr>
          <a:xfrm>
            <a:off x="758790" y="5178804"/>
            <a:ext cx="10674417" cy="877215"/>
          </a:xfrm>
          <a:prstGeom prst="roundRect">
            <a:avLst/>
          </a:prstGeom>
          <a:solidFill>
            <a:schemeClr val="bg1"/>
          </a:solidFill>
          <a:ln w="41275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FA50D5F-962A-EE1F-43A0-959B1CCCCF79}"/>
              </a:ext>
            </a:extLst>
          </p:cNvPr>
          <p:cNvSpPr txBox="1"/>
          <p:nvPr/>
        </p:nvSpPr>
        <p:spPr>
          <a:xfrm>
            <a:off x="629923" y="1930645"/>
            <a:ext cx="2539575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dirty="0">
                <a:latin typeface="Arial"/>
                <a:ea typeface="ＭＳ Ｐゴシック"/>
              </a:rPr>
              <a:t>A quantum circuit </a:t>
            </a:r>
            <a:r>
              <a:rPr lang="en-US" sz="2400" dirty="0">
                <a:solidFill>
                  <a:schemeClr val="bg1"/>
                </a:solidFill>
                <a:latin typeface="Arial"/>
                <a:ea typeface="ＭＳ Ｐゴシック"/>
              </a:rPr>
              <a:t>f: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68FEE31-5C07-8B09-22DA-F70BAA3B1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7846" y="879360"/>
            <a:ext cx="4873576" cy="4061313"/>
          </a:xfrm>
          <a:prstGeom prst="rect">
            <a:avLst/>
          </a:prstGeom>
        </p:spPr>
      </p:pic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E67D2EB1-CD95-FDF7-BE5F-0947317E2E38}"/>
              </a:ext>
            </a:extLst>
          </p:cNvPr>
          <p:cNvCxnSpPr/>
          <p:nvPr/>
        </p:nvCxnSpPr>
        <p:spPr>
          <a:xfrm>
            <a:off x="6781463" y="2409862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2A775DE1-98CF-5281-4D69-986B6E426EE8}"/>
                  </a:ext>
                </a:extLst>
              </p:cNvPr>
              <p:cNvSpPr txBox="1"/>
              <p:nvPr/>
            </p:nvSpPr>
            <p:spPr>
              <a:xfrm>
                <a:off x="6752403" y="2393852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solidFill>
                            <a:prstClr val="black"/>
                          </a:solidFill>
                          <a:latin typeface="Cambria Math" panose="020F0502020204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2A775DE1-98CF-5281-4D69-986B6E426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2403" y="2393852"/>
                <a:ext cx="204800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EF2B8F37-E19D-45F7-5157-0E05AA8A03EC}"/>
              </a:ext>
            </a:extLst>
          </p:cNvPr>
          <p:cNvCxnSpPr>
            <a:cxnSpLocks/>
          </p:cNvCxnSpPr>
          <p:nvPr/>
        </p:nvCxnSpPr>
        <p:spPr>
          <a:xfrm>
            <a:off x="3801303" y="1678809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D01690AC-375F-80B9-D7C8-A2D480EBD959}"/>
              </a:ext>
            </a:extLst>
          </p:cNvPr>
          <p:cNvCxnSpPr/>
          <p:nvPr/>
        </p:nvCxnSpPr>
        <p:spPr>
          <a:xfrm>
            <a:off x="3901532" y="2044294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6131996D-77F4-3B21-5538-048645DA4EFA}"/>
              </a:ext>
            </a:extLst>
          </p:cNvPr>
          <p:cNvCxnSpPr/>
          <p:nvPr/>
        </p:nvCxnSpPr>
        <p:spPr>
          <a:xfrm>
            <a:off x="3714949" y="2442468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7C5076F9-BA3D-000C-7BB1-5AE7DF7445F3}"/>
              </a:ext>
            </a:extLst>
          </p:cNvPr>
          <p:cNvCxnSpPr/>
          <p:nvPr/>
        </p:nvCxnSpPr>
        <p:spPr>
          <a:xfrm>
            <a:off x="5537717" y="2096240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E9F03989-2861-8F05-0AFC-B894C08E0A98}"/>
                  </a:ext>
                </a:extLst>
              </p:cNvPr>
              <p:cNvSpPr txBox="1"/>
              <p:nvPr/>
            </p:nvSpPr>
            <p:spPr>
              <a:xfrm>
                <a:off x="5490723" y="2046433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200" i="1" smtClean="0">
                              <a:solidFill>
                                <a:prstClr val="black"/>
                              </a:solidFill>
                              <a:latin typeface="Cambria Math" panose="020F0502020204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zh-CN" sz="1200" i="1" smtClean="0">
                              <a:solidFill>
                                <a:prstClr val="black"/>
                              </a:solidFill>
                              <a:latin typeface="Cambria Math" panose="020F0502020204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E9F03989-2861-8F05-0AFC-B894C08E0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0723" y="2046433"/>
                <a:ext cx="204800" cy="276999"/>
              </a:xfrm>
              <a:prstGeom prst="rect">
                <a:avLst/>
              </a:prstGeom>
              <a:blipFill>
                <a:blip r:embed="rId4"/>
                <a:stretch>
                  <a:fillRect r="-35294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34CBF2A5-CCDE-B85C-8BBD-85296A883333}"/>
              </a:ext>
            </a:extLst>
          </p:cNvPr>
          <p:cNvCxnSpPr/>
          <p:nvPr/>
        </p:nvCxnSpPr>
        <p:spPr>
          <a:xfrm>
            <a:off x="4927327" y="2094601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C6F38CFA-F081-93D6-1917-064E1440C407}"/>
                  </a:ext>
                </a:extLst>
              </p:cNvPr>
              <p:cNvSpPr txBox="1"/>
              <p:nvPr/>
            </p:nvSpPr>
            <p:spPr>
              <a:xfrm>
                <a:off x="4880333" y="2044794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200" i="1" smtClean="0">
                              <a:solidFill>
                                <a:prstClr val="black"/>
                              </a:solidFill>
                              <a:latin typeface="Cambria Math" panose="020F0502020204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zh-CN" sz="1200" i="1" smtClean="0">
                              <a:solidFill>
                                <a:prstClr val="black"/>
                              </a:solidFill>
                              <a:latin typeface="Cambria Math" panose="020F0502020204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C6F38CFA-F081-93D6-1917-064E1440C4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0333" y="2044794"/>
                <a:ext cx="204800" cy="276999"/>
              </a:xfrm>
              <a:prstGeom prst="rect">
                <a:avLst/>
              </a:prstGeom>
              <a:blipFill>
                <a:blip r:embed="rId5"/>
                <a:stretch>
                  <a:fillRect r="-29412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F060ECA0-8BFF-EDF5-97C4-F1C1C95B6CCB}"/>
              </a:ext>
            </a:extLst>
          </p:cNvPr>
          <p:cNvCxnSpPr/>
          <p:nvPr/>
        </p:nvCxnSpPr>
        <p:spPr>
          <a:xfrm>
            <a:off x="3806081" y="2805718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3E53EDE1-5142-4202-D162-E5C65465F3C7}"/>
                  </a:ext>
                </a:extLst>
              </p:cNvPr>
              <p:cNvSpPr txBox="1"/>
              <p:nvPr/>
            </p:nvSpPr>
            <p:spPr>
              <a:xfrm>
                <a:off x="3809571" y="2759223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solidFill>
                            <a:prstClr val="black"/>
                          </a:solidFill>
                          <a:latin typeface="Cambria Math" panose="020F0502020204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3E53EDE1-5142-4202-D162-E5C65465F3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571" y="2759223"/>
                <a:ext cx="204800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43D52487-938B-7354-4C9C-B2AB2C5DC477}"/>
                  </a:ext>
                </a:extLst>
              </p:cNvPr>
              <p:cNvSpPr txBox="1"/>
              <p:nvPr/>
            </p:nvSpPr>
            <p:spPr>
              <a:xfrm>
                <a:off x="4804963" y="1583486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43D52487-938B-7354-4C9C-B2AB2C5DC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4963" y="1583486"/>
                <a:ext cx="246689" cy="276999"/>
              </a:xfrm>
              <a:prstGeom prst="rect">
                <a:avLst/>
              </a:prstGeom>
              <a:blipFill>
                <a:blip r:embed="rId7"/>
                <a:stretch>
                  <a:fillRect r="-45000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0" name="Group 119">
            <a:extLst>
              <a:ext uri="{FF2B5EF4-FFF2-40B4-BE49-F238E27FC236}">
                <a16:creationId xmlns:a16="http://schemas.microsoft.com/office/drawing/2014/main" id="{0684AEAB-17F5-EF7E-01B4-2C1D74AADA5D}"/>
              </a:ext>
            </a:extLst>
          </p:cNvPr>
          <p:cNvGrpSpPr/>
          <p:nvPr/>
        </p:nvGrpSpPr>
        <p:grpSpPr>
          <a:xfrm>
            <a:off x="5432463" y="2104906"/>
            <a:ext cx="45719" cy="210912"/>
            <a:chOff x="6548130" y="2237014"/>
            <a:chExt cx="49658" cy="440872"/>
          </a:xfrm>
        </p:grpSpPr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3ADDC33A-F570-A4E0-F1DF-A230B19EF0C9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6C43F89-A28A-0C37-96AE-375E0D706B31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sp>
        <p:nvSpPr>
          <p:cNvPr id="123" name="Flowchart: Delay 9">
            <a:extLst>
              <a:ext uri="{FF2B5EF4-FFF2-40B4-BE49-F238E27FC236}">
                <a16:creationId xmlns:a16="http://schemas.microsoft.com/office/drawing/2014/main" id="{1060C35A-649C-8E51-D11B-4608A52A74DE}"/>
              </a:ext>
            </a:extLst>
          </p:cNvPr>
          <p:cNvSpPr/>
          <p:nvPr/>
        </p:nvSpPr>
        <p:spPr>
          <a:xfrm rot="16200000">
            <a:off x="5308039" y="1766113"/>
            <a:ext cx="309789" cy="367797"/>
          </a:xfrm>
          <a:prstGeom prst="flowChartDelay">
            <a:avLst/>
          </a:prstGeom>
          <a:solidFill>
            <a:srgbClr val="FFC000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eaVert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15A95533-ACB8-F95E-D672-5BA7A8E0B6C3}"/>
                  </a:ext>
                </a:extLst>
              </p:cNvPr>
              <p:cNvSpPr txBox="1"/>
              <p:nvPr/>
            </p:nvSpPr>
            <p:spPr>
              <a:xfrm>
                <a:off x="5437955" y="1583486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15A95533-ACB8-F95E-D672-5BA7A8E0B6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7955" y="1583486"/>
                <a:ext cx="246689" cy="276999"/>
              </a:xfrm>
              <a:prstGeom prst="rect">
                <a:avLst/>
              </a:prstGeom>
              <a:blipFill>
                <a:blip r:embed="rId8"/>
                <a:stretch>
                  <a:fillRect r="-45000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5" name="Group 124">
            <a:extLst>
              <a:ext uri="{FF2B5EF4-FFF2-40B4-BE49-F238E27FC236}">
                <a16:creationId xmlns:a16="http://schemas.microsoft.com/office/drawing/2014/main" id="{30BA08BD-5141-3F85-D098-7F9C4B04F455}"/>
              </a:ext>
            </a:extLst>
          </p:cNvPr>
          <p:cNvGrpSpPr/>
          <p:nvPr/>
        </p:nvGrpSpPr>
        <p:grpSpPr>
          <a:xfrm>
            <a:off x="4817241" y="2104906"/>
            <a:ext cx="45719" cy="210912"/>
            <a:chOff x="6548130" y="2237014"/>
            <a:chExt cx="49658" cy="440872"/>
          </a:xfrm>
        </p:grpSpPr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A1FB8F42-0E37-C039-EF69-955C9480132A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1758EF2B-C9EE-F4DC-EE25-F332A8F8CAD3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sp>
        <p:nvSpPr>
          <p:cNvPr id="128" name="Flowchart: Delay 17">
            <a:extLst>
              <a:ext uri="{FF2B5EF4-FFF2-40B4-BE49-F238E27FC236}">
                <a16:creationId xmlns:a16="http://schemas.microsoft.com/office/drawing/2014/main" id="{A1DFF7D0-5219-03A4-2B86-58CD1189330A}"/>
              </a:ext>
            </a:extLst>
          </p:cNvPr>
          <p:cNvSpPr/>
          <p:nvPr/>
        </p:nvSpPr>
        <p:spPr>
          <a:xfrm rot="16200000">
            <a:off x="4681378" y="1766113"/>
            <a:ext cx="309789" cy="367797"/>
          </a:xfrm>
          <a:prstGeom prst="flowChartDelay">
            <a:avLst/>
          </a:prstGeom>
          <a:solidFill>
            <a:srgbClr val="FFC000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eaVert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613A56C6-2B20-192B-70FC-2029D2313365}"/>
              </a:ext>
            </a:extLst>
          </p:cNvPr>
          <p:cNvCxnSpPr>
            <a:cxnSpLocks/>
          </p:cNvCxnSpPr>
          <p:nvPr/>
        </p:nvCxnSpPr>
        <p:spPr>
          <a:xfrm>
            <a:off x="4836055" y="1680958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B25DC958-9A57-CBB4-02C0-83A238A51F8D}"/>
              </a:ext>
            </a:extLst>
          </p:cNvPr>
          <p:cNvCxnSpPr>
            <a:cxnSpLocks/>
          </p:cNvCxnSpPr>
          <p:nvPr/>
        </p:nvCxnSpPr>
        <p:spPr>
          <a:xfrm>
            <a:off x="5462933" y="1680958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1FB04401-EAC5-3D1F-0725-D6A14B250EC3}"/>
                  </a:ext>
                </a:extLst>
              </p:cNvPr>
              <p:cNvSpPr txBox="1"/>
              <p:nvPr/>
            </p:nvSpPr>
            <p:spPr>
              <a:xfrm>
                <a:off x="3493730" y="2351500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1FB04401-EAC5-3D1F-0725-D6A14B250E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3730" y="2351500"/>
                <a:ext cx="246689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A21B357B-47EE-8CD8-7E96-1DDA955B82B8}"/>
                  </a:ext>
                </a:extLst>
              </p:cNvPr>
              <p:cNvSpPr txBox="1"/>
              <p:nvPr/>
            </p:nvSpPr>
            <p:spPr>
              <a:xfrm>
                <a:off x="3797177" y="1575003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A21B357B-47EE-8CD8-7E96-1DDA955B82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7177" y="1575003"/>
                <a:ext cx="246689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3" name="Group 132">
            <a:extLst>
              <a:ext uri="{FF2B5EF4-FFF2-40B4-BE49-F238E27FC236}">
                <a16:creationId xmlns:a16="http://schemas.microsoft.com/office/drawing/2014/main" id="{602F757C-1253-5934-47A8-6024935BF363}"/>
              </a:ext>
            </a:extLst>
          </p:cNvPr>
          <p:cNvGrpSpPr/>
          <p:nvPr/>
        </p:nvGrpSpPr>
        <p:grpSpPr>
          <a:xfrm>
            <a:off x="3789875" y="2078701"/>
            <a:ext cx="45719" cy="479517"/>
            <a:chOff x="6548130" y="2237014"/>
            <a:chExt cx="49658" cy="440872"/>
          </a:xfrm>
        </p:grpSpPr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10A3B94A-4BB6-C399-0C0C-70291ABA6C49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701552AC-3D8D-0C0D-B846-7AA8B28A84DE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sp>
        <p:nvSpPr>
          <p:cNvPr id="136" name="Flowchart: Delay 60">
            <a:extLst>
              <a:ext uri="{FF2B5EF4-FFF2-40B4-BE49-F238E27FC236}">
                <a16:creationId xmlns:a16="http://schemas.microsoft.com/office/drawing/2014/main" id="{F5ECD548-4CE8-E3AC-70ED-EE6B9457325B}"/>
              </a:ext>
            </a:extLst>
          </p:cNvPr>
          <p:cNvSpPr/>
          <p:nvPr/>
        </p:nvSpPr>
        <p:spPr>
          <a:xfrm rot="16200000">
            <a:off x="3646626" y="1744914"/>
            <a:ext cx="309789" cy="367797"/>
          </a:xfrm>
          <a:prstGeom prst="flowChartDelay">
            <a:avLst/>
          </a:prstGeom>
          <a:solidFill>
            <a:srgbClr val="FFC000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eaVert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Flowchart: Delay 64">
                <a:extLst>
                  <a:ext uri="{FF2B5EF4-FFF2-40B4-BE49-F238E27FC236}">
                    <a16:creationId xmlns:a16="http://schemas.microsoft.com/office/drawing/2014/main" id="{7A39BEB7-5220-4333-615C-9BC58D0FF07A}"/>
                  </a:ext>
                </a:extLst>
              </p:cNvPr>
              <p:cNvSpPr/>
              <p:nvPr/>
            </p:nvSpPr>
            <p:spPr>
              <a:xfrm rot="5400000">
                <a:off x="3650469" y="2534296"/>
                <a:ext cx="309789" cy="367796"/>
              </a:xfrm>
              <a:prstGeom prst="flowChartDelay">
                <a:avLst/>
              </a:prstGeom>
              <a:solidFill>
                <a:srgbClr val="FFC000">
                  <a:lumMod val="40000"/>
                  <a:lumOff val="60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vert27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1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𝜌</m:t>
                    </m:r>
                  </m:oMath>
                </a14:m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37" name="Flowchart: Delay 64">
                <a:extLst>
                  <a:ext uri="{FF2B5EF4-FFF2-40B4-BE49-F238E27FC236}">
                    <a16:creationId xmlns:a16="http://schemas.microsoft.com/office/drawing/2014/main" id="{7A39BEB7-5220-4333-615C-9BC58D0FF0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3650469" y="2534296"/>
                <a:ext cx="309789" cy="367796"/>
              </a:xfrm>
              <a:prstGeom prst="flowChartDelay">
                <a:avLst/>
              </a:prstGeom>
              <a:blipFill>
                <a:blip r:embed="rId11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" name="TextBox 137">
            <a:extLst>
              <a:ext uri="{FF2B5EF4-FFF2-40B4-BE49-F238E27FC236}">
                <a16:creationId xmlns:a16="http://schemas.microsoft.com/office/drawing/2014/main" id="{2E5EA1CD-3852-B964-4CE2-BBDB873089B5}"/>
              </a:ext>
            </a:extLst>
          </p:cNvPr>
          <p:cNvSpPr txBox="1"/>
          <p:nvPr/>
        </p:nvSpPr>
        <p:spPr>
          <a:xfrm>
            <a:off x="3298007" y="4663674"/>
            <a:ext cx="1209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(a)</a:t>
            </a:r>
            <a:r>
              <a:rPr lang="zh-CN" altLang="en-US" sz="1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PM circuit 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9295090D-44CF-03F6-BBAE-B745983E0E4D}"/>
              </a:ext>
            </a:extLst>
          </p:cNvPr>
          <p:cNvSpPr txBox="1"/>
          <p:nvPr/>
        </p:nvSpPr>
        <p:spPr>
          <a:xfrm>
            <a:off x="4477947" y="4652781"/>
            <a:ext cx="15208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(b) Bipartite  circuit </a:t>
            </a:r>
          </a:p>
        </p:txBody>
      </p: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A4DB1492-C4F4-7393-789D-677CA6B1A286}"/>
              </a:ext>
            </a:extLst>
          </p:cNvPr>
          <p:cNvGrpSpPr/>
          <p:nvPr/>
        </p:nvGrpSpPr>
        <p:grpSpPr>
          <a:xfrm>
            <a:off x="6518133" y="2021471"/>
            <a:ext cx="45719" cy="742253"/>
            <a:chOff x="6548130" y="2237014"/>
            <a:chExt cx="49658" cy="440872"/>
          </a:xfrm>
        </p:grpSpPr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8F41DDB3-FB76-38C2-692E-DC4759C6F822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59225498-655A-FFA0-CEE4-D30AFB2C0B08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Rectangle: Rounded Corners 111">
                <a:extLst>
                  <a:ext uri="{FF2B5EF4-FFF2-40B4-BE49-F238E27FC236}">
                    <a16:creationId xmlns:a16="http://schemas.microsoft.com/office/drawing/2014/main" id="{F9462B5B-CEF2-183F-3F8E-D0D2EEA238D6}"/>
                  </a:ext>
                </a:extLst>
              </p:cNvPr>
              <p:cNvSpPr/>
              <p:nvPr/>
            </p:nvSpPr>
            <p:spPr>
              <a:xfrm>
                <a:off x="6214963" y="2216517"/>
                <a:ext cx="684759" cy="240007"/>
              </a:xfrm>
              <a:prstGeom prst="roundRect">
                <a:avLst/>
              </a:prstGeom>
              <a:solidFill>
                <a:srgbClr val="FFC000">
                  <a:lumMod val="40000"/>
                  <a:lumOff val="60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7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16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ℰ</m:t>
                      </m:r>
                    </m:oMath>
                  </m:oMathPara>
                </a14:m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43" name="Rectangle: Rounded Corners 111">
                <a:extLst>
                  <a:ext uri="{FF2B5EF4-FFF2-40B4-BE49-F238E27FC236}">
                    <a16:creationId xmlns:a16="http://schemas.microsoft.com/office/drawing/2014/main" id="{F9462B5B-CEF2-183F-3F8E-D0D2EEA238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4963" y="2216517"/>
                <a:ext cx="684759" cy="240007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4" name="TextBox 143">
            <a:extLst>
              <a:ext uri="{FF2B5EF4-FFF2-40B4-BE49-F238E27FC236}">
                <a16:creationId xmlns:a16="http://schemas.microsoft.com/office/drawing/2014/main" id="{6AB4B015-8BDE-9ED7-5AAD-F06494240B12}"/>
              </a:ext>
            </a:extLst>
          </p:cNvPr>
          <p:cNvSpPr txBox="1"/>
          <p:nvPr/>
        </p:nvSpPr>
        <p:spPr>
          <a:xfrm>
            <a:off x="5918732" y="4647231"/>
            <a:ext cx="12606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(c) PTM  circuit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Rectangle: Rounded Corners 10">
                <a:extLst>
                  <a:ext uri="{FF2B5EF4-FFF2-40B4-BE49-F238E27FC236}">
                    <a16:creationId xmlns:a16="http://schemas.microsoft.com/office/drawing/2014/main" id="{D9824CEF-3693-0D71-F710-6D7F4B1162FF}"/>
                  </a:ext>
                </a:extLst>
              </p:cNvPr>
              <p:cNvSpPr/>
              <p:nvPr/>
            </p:nvSpPr>
            <p:spPr>
              <a:xfrm>
                <a:off x="4606707" y="2306841"/>
                <a:ext cx="1130829" cy="592426"/>
              </a:xfrm>
              <a:prstGeom prst="roundRect">
                <a:avLst/>
              </a:prstGeom>
              <a:solidFill>
                <a:srgbClr val="FFC000">
                  <a:lumMod val="40000"/>
                  <a:lumOff val="60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𝜌</m:t>
                          </m:r>
                        </m:e>
                        <m:sup>
                          <m:sSub>
                            <m:sSubPr>
                              <m:ctrlPr>
                                <a:rPr kumimoji="0" lang="en-US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𝐵</m:t>
                              </m:r>
                            </m:e>
                            <m:sub>
                              <m:r>
                                <a:rPr kumimoji="0" lang="en-US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0" lang="en-US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𝐵</m:t>
                              </m:r>
                            </m:e>
                            <m:sub>
                              <m:r>
                                <a:rPr kumimoji="0" lang="en-US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45" name="Rectangle: Rounded Corners 10">
                <a:extLst>
                  <a:ext uri="{FF2B5EF4-FFF2-40B4-BE49-F238E27FC236}">
                    <a16:creationId xmlns:a16="http://schemas.microsoft.com/office/drawing/2014/main" id="{D9824CEF-3693-0D71-F710-6D7F4B1162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6707" y="2306841"/>
                <a:ext cx="1130829" cy="592426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DDBAC9D1-5CB6-7960-1D48-DCD720F82F89}"/>
                  </a:ext>
                </a:extLst>
              </p:cNvPr>
              <p:cNvSpPr txBox="1"/>
              <p:nvPr/>
            </p:nvSpPr>
            <p:spPr>
              <a:xfrm>
                <a:off x="3820200" y="3870250"/>
                <a:ext cx="290731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sz="10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DDBAC9D1-5CB6-7960-1D48-DCD720F82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0200" y="3870250"/>
                <a:ext cx="290731" cy="24622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Rectangle: Rounded Corners 29">
                <a:extLst>
                  <a:ext uri="{FF2B5EF4-FFF2-40B4-BE49-F238E27FC236}">
                    <a16:creationId xmlns:a16="http://schemas.microsoft.com/office/drawing/2014/main" id="{FBD81D25-33E8-91EF-04F8-0587017D949D}"/>
                  </a:ext>
                </a:extLst>
              </p:cNvPr>
              <p:cNvSpPr/>
              <p:nvPr/>
            </p:nvSpPr>
            <p:spPr>
              <a:xfrm>
                <a:off x="3553153" y="4214180"/>
                <a:ext cx="495421" cy="261764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𝜆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F0502020204030204" pitchFamily="18" charset="0"/>
                          <a:ea typeface="+mn-ea"/>
                          <a:cs typeface="+mn-cs"/>
                        </a:rPr>
                        <m:t>|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F0502020204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47" name="Rectangle: Rounded Corners 29">
                <a:extLst>
                  <a:ext uri="{FF2B5EF4-FFF2-40B4-BE49-F238E27FC236}">
                    <a16:creationId xmlns:a16="http://schemas.microsoft.com/office/drawing/2014/main" id="{FBD81D25-33E8-91EF-04F8-0587017D94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3153" y="4214180"/>
                <a:ext cx="495421" cy="261764"/>
              </a:xfrm>
              <a:prstGeom prst="roundRect">
                <a:avLst/>
              </a:prstGeom>
              <a:blipFill>
                <a:blip r:embed="rId15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D6A0E494-C081-DD38-BDCC-F72BC548DF4C}"/>
              </a:ext>
            </a:extLst>
          </p:cNvPr>
          <p:cNvCxnSpPr>
            <a:cxnSpLocks/>
            <a:stCxn id="149" idx="2"/>
            <a:endCxn id="147" idx="0"/>
          </p:cNvCxnSpPr>
          <p:nvPr/>
        </p:nvCxnSpPr>
        <p:spPr>
          <a:xfrm flipH="1">
            <a:off x="3800864" y="3732482"/>
            <a:ext cx="2461" cy="481698"/>
          </a:xfrm>
          <a:prstGeom prst="line">
            <a:avLst/>
          </a:prstGeom>
          <a:noFill/>
          <a:ln w="15875" cap="flat" cmpd="sng" algn="ctr">
            <a:solidFill>
              <a:sysClr val="windowText" lastClr="000000"/>
            </a:solidFill>
            <a:prstDash val="sysDash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Rectangle: Rounded Corners 32">
                <a:extLst>
                  <a:ext uri="{FF2B5EF4-FFF2-40B4-BE49-F238E27FC236}">
                    <a16:creationId xmlns:a16="http://schemas.microsoft.com/office/drawing/2014/main" id="{30FEFA42-F2A7-07F1-25AF-302BE7B7F94E}"/>
                  </a:ext>
                </a:extLst>
              </p:cNvPr>
              <p:cNvSpPr/>
              <p:nvPr/>
            </p:nvSpPr>
            <p:spPr>
              <a:xfrm>
                <a:off x="3545375" y="3463307"/>
                <a:ext cx="515899" cy="269175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𝑏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|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F0502020204030204" pitchFamily="18" charset="0"/>
                          <a:ea typeface="+mn-ea"/>
                          <a:cs typeface="+mn-cs"/>
                        </a:rPr>
                        <m:t>𝑦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𝜆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49" name="Rectangle: Rounded Corners 32">
                <a:extLst>
                  <a:ext uri="{FF2B5EF4-FFF2-40B4-BE49-F238E27FC236}">
                    <a16:creationId xmlns:a16="http://schemas.microsoft.com/office/drawing/2014/main" id="{30FEFA42-F2A7-07F1-25AF-302BE7B7F9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5375" y="3463307"/>
                <a:ext cx="515899" cy="269175"/>
              </a:xfrm>
              <a:prstGeom prst="roundRect">
                <a:avLst/>
              </a:prstGeom>
              <a:blipFill>
                <a:blip r:embed="rId16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CB22DAEA-2BCA-C440-0D26-1483D328E563}"/>
              </a:ext>
            </a:extLst>
          </p:cNvPr>
          <p:cNvCxnSpPr>
            <a:cxnSpLocks/>
            <a:stCxn id="152" idx="2"/>
          </p:cNvCxnSpPr>
          <p:nvPr/>
        </p:nvCxnSpPr>
        <p:spPr>
          <a:xfrm flipH="1">
            <a:off x="5515311" y="3739243"/>
            <a:ext cx="2476" cy="340734"/>
          </a:xfrm>
          <a:prstGeom prst="line">
            <a:avLst/>
          </a:prstGeom>
          <a:noFill/>
          <a:ln w="15875" cap="flat" cmpd="sng" algn="ctr">
            <a:solidFill>
              <a:sysClr val="windowText" lastClr="000000"/>
            </a:solidFill>
            <a:prstDash val="sysDash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FE9ED5C2-BACF-DE94-BFC5-5E1A82A35A32}"/>
                  </a:ext>
                </a:extLst>
              </p:cNvPr>
              <p:cNvSpPr txBox="1"/>
              <p:nvPr/>
            </p:nvSpPr>
            <p:spPr>
              <a:xfrm>
                <a:off x="5475790" y="3787990"/>
                <a:ext cx="290731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0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FE9ED5C2-BACF-DE94-BFC5-5E1A82A35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5790" y="3787990"/>
                <a:ext cx="290731" cy="25391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Rectangle: Rounded Corners 40">
                <a:extLst>
                  <a:ext uri="{FF2B5EF4-FFF2-40B4-BE49-F238E27FC236}">
                    <a16:creationId xmlns:a16="http://schemas.microsoft.com/office/drawing/2014/main" id="{6A41ADA7-61C2-9EBB-04AA-CD28EC194CB2}"/>
                  </a:ext>
                </a:extLst>
              </p:cNvPr>
              <p:cNvSpPr/>
              <p:nvPr/>
            </p:nvSpPr>
            <p:spPr>
              <a:xfrm>
                <a:off x="5210820" y="3472318"/>
                <a:ext cx="613934" cy="266925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sSub>
                        <m:sSubPr>
                          <m:ctrlP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|</m:t>
                      </m:r>
                      <m:sSub>
                        <m:sSubPr>
                          <m:ctrlP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kumimoji="0" lang="en-US" sz="1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F0502020204030204" pitchFamily="18" charset="0"/>
                                  <a:ea typeface="+mn-ea"/>
                                  <a:cs typeface="+mn-cs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0" lang="en-US" sz="1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F0502020204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2" name="Rectangle: Rounded Corners 40">
                <a:extLst>
                  <a:ext uri="{FF2B5EF4-FFF2-40B4-BE49-F238E27FC236}">
                    <a16:creationId xmlns:a16="http://schemas.microsoft.com/office/drawing/2014/main" id="{6A41ADA7-61C2-9EBB-04AA-CD28EC194C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0820" y="3472318"/>
                <a:ext cx="613934" cy="266925"/>
              </a:xfrm>
              <a:prstGeom prst="roundRect">
                <a:avLst/>
              </a:prstGeom>
              <a:blipFill>
                <a:blip r:embed="rId18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Rectangle: Rounded Corners 33">
                <a:extLst>
                  <a:ext uri="{FF2B5EF4-FFF2-40B4-BE49-F238E27FC236}">
                    <a16:creationId xmlns:a16="http://schemas.microsoft.com/office/drawing/2014/main" id="{6C19E53A-631D-5E02-FF5F-E871BE6BD3F5}"/>
                  </a:ext>
                </a:extLst>
              </p:cNvPr>
              <p:cNvSpPr/>
              <p:nvPr/>
            </p:nvSpPr>
            <p:spPr>
              <a:xfrm>
                <a:off x="4569939" y="4071723"/>
                <a:ext cx="1170006" cy="398885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sSub>
                        <m:sSubPr>
                          <m:ctrlP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3" name="Rectangle: Rounded Corners 33">
                <a:extLst>
                  <a:ext uri="{FF2B5EF4-FFF2-40B4-BE49-F238E27FC236}">
                    <a16:creationId xmlns:a16="http://schemas.microsoft.com/office/drawing/2014/main" id="{6C19E53A-631D-5E02-FF5F-E871BE6BD3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9939" y="4071723"/>
                <a:ext cx="1170006" cy="398885"/>
              </a:xfrm>
              <a:prstGeom prst="roundRect">
                <a:avLst/>
              </a:prstGeom>
              <a:blipFill>
                <a:blip r:embed="rId19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4" name="Arrow: Down 81">
            <a:extLst>
              <a:ext uri="{FF2B5EF4-FFF2-40B4-BE49-F238E27FC236}">
                <a16:creationId xmlns:a16="http://schemas.microsoft.com/office/drawing/2014/main" id="{FA626565-D6D2-33F9-2A45-C51D60BEE6C6}"/>
              </a:ext>
            </a:extLst>
          </p:cNvPr>
          <p:cNvSpPr/>
          <p:nvPr/>
        </p:nvSpPr>
        <p:spPr>
          <a:xfrm>
            <a:off x="4920835" y="3004517"/>
            <a:ext cx="473903" cy="277000"/>
          </a:xfrm>
          <a:prstGeom prst="downArrow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9EDB7AC5-DF60-C895-059A-673471AD1542}"/>
                  </a:ext>
                </a:extLst>
              </p:cNvPr>
              <p:cNvSpPr txBox="1"/>
              <p:nvPr/>
            </p:nvSpPr>
            <p:spPr>
              <a:xfrm>
                <a:off x="3885051" y="1993836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200" i="1">
                          <a:solidFill>
                            <a:prstClr val="black"/>
                          </a:solidFill>
                          <a:latin typeface="Cambria Math" panose="020F0502020204030204" pitchFamily="18" charset="0"/>
                        </a:rPr>
                        <m:t>y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9EDB7AC5-DF60-C895-059A-673471AD15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5051" y="1993836"/>
                <a:ext cx="204800" cy="276999"/>
              </a:xfrm>
              <a:prstGeom prst="rect">
                <a:avLst/>
              </a:prstGeom>
              <a:blipFill>
                <a:blip r:embed="rId20"/>
                <a:stretch>
                  <a:fillRect r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66A16130-0C1D-E997-2F62-602B4839BF28}"/>
              </a:ext>
            </a:extLst>
          </p:cNvPr>
          <p:cNvCxnSpPr/>
          <p:nvPr/>
        </p:nvCxnSpPr>
        <p:spPr>
          <a:xfrm>
            <a:off x="6419706" y="2497864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B9CF3E6C-8CCC-FB15-11AC-C3281F2AF7C3}"/>
              </a:ext>
            </a:extLst>
          </p:cNvPr>
          <p:cNvCxnSpPr/>
          <p:nvPr/>
        </p:nvCxnSpPr>
        <p:spPr>
          <a:xfrm>
            <a:off x="6548938" y="2848414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CC258F0D-FD58-9DAB-7D52-782567089665}"/>
                  </a:ext>
                </a:extLst>
              </p:cNvPr>
              <p:cNvSpPr txBox="1"/>
              <p:nvPr/>
            </p:nvSpPr>
            <p:spPr>
              <a:xfrm>
                <a:off x="6552428" y="2801919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solidFill>
                            <a:prstClr val="black"/>
                          </a:solidFill>
                          <a:latin typeface="Cambria Math" panose="020F0502020204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CC258F0D-FD58-9DAB-7D52-7825670896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2428" y="2801919"/>
                <a:ext cx="204800" cy="276999"/>
              </a:xfrm>
              <a:prstGeom prst="rect">
                <a:avLst/>
              </a:prstGeom>
              <a:blipFill>
                <a:blip r:embed="rId21"/>
                <a:stretch>
                  <a:fillRect r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42A6D486-CD7D-F531-81D2-D2775C70F256}"/>
                  </a:ext>
                </a:extLst>
              </p:cNvPr>
              <p:cNvSpPr txBox="1"/>
              <p:nvPr/>
            </p:nvSpPr>
            <p:spPr>
              <a:xfrm>
                <a:off x="6153851" y="2396741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42A6D486-CD7D-F531-81D2-D2775C70F2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3851" y="2396741"/>
                <a:ext cx="246689" cy="276999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Flowchart: Delay 28">
                <a:extLst>
                  <a:ext uri="{FF2B5EF4-FFF2-40B4-BE49-F238E27FC236}">
                    <a16:creationId xmlns:a16="http://schemas.microsoft.com/office/drawing/2014/main" id="{E4785A93-FD23-34C8-BD77-CF84BDE49652}"/>
                  </a:ext>
                </a:extLst>
              </p:cNvPr>
              <p:cNvSpPr/>
              <p:nvPr/>
            </p:nvSpPr>
            <p:spPr>
              <a:xfrm rot="5400000">
                <a:off x="6393326" y="2576992"/>
                <a:ext cx="309789" cy="367796"/>
              </a:xfrm>
              <a:prstGeom prst="flowChartDelay">
                <a:avLst/>
              </a:prstGeom>
              <a:solidFill>
                <a:srgbClr val="FFC000">
                  <a:lumMod val="40000"/>
                  <a:lumOff val="60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vert27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1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𝜌</m:t>
                    </m:r>
                  </m:oMath>
                </a14:m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60" name="Flowchart: Delay 28">
                <a:extLst>
                  <a:ext uri="{FF2B5EF4-FFF2-40B4-BE49-F238E27FC236}">
                    <a16:creationId xmlns:a16="http://schemas.microsoft.com/office/drawing/2014/main" id="{E4785A93-FD23-34C8-BD77-CF84BDE496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6393326" y="2576992"/>
                <a:ext cx="309789" cy="367796"/>
              </a:xfrm>
              <a:prstGeom prst="flowChartDelay">
                <a:avLst/>
              </a:prstGeom>
              <a:blipFill>
                <a:blip r:embed="rId23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849D0746-005F-7F37-6B88-8B99A0D092B9}"/>
              </a:ext>
            </a:extLst>
          </p:cNvPr>
          <p:cNvCxnSpPr>
            <a:cxnSpLocks/>
          </p:cNvCxnSpPr>
          <p:nvPr/>
        </p:nvCxnSpPr>
        <p:spPr>
          <a:xfrm>
            <a:off x="6534796" y="1675229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5273EEEC-3B1E-C80A-A7E1-BC8E8411CEE3}"/>
              </a:ext>
            </a:extLst>
          </p:cNvPr>
          <p:cNvCxnSpPr/>
          <p:nvPr/>
        </p:nvCxnSpPr>
        <p:spPr>
          <a:xfrm>
            <a:off x="6635025" y="2015314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AF171A8E-A6BD-D942-1898-C416E609733B}"/>
                  </a:ext>
                </a:extLst>
              </p:cNvPr>
              <p:cNvSpPr txBox="1"/>
              <p:nvPr/>
            </p:nvSpPr>
            <p:spPr>
              <a:xfrm>
                <a:off x="6530670" y="1571423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AF171A8E-A6BD-D942-1898-C416E60973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0670" y="1571423"/>
                <a:ext cx="246689" cy="27699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4" name="Flowchart: Delay 48">
            <a:extLst>
              <a:ext uri="{FF2B5EF4-FFF2-40B4-BE49-F238E27FC236}">
                <a16:creationId xmlns:a16="http://schemas.microsoft.com/office/drawing/2014/main" id="{8FF719A7-A4A2-DED4-B74C-C7CED829BC8C}"/>
              </a:ext>
            </a:extLst>
          </p:cNvPr>
          <p:cNvSpPr/>
          <p:nvPr/>
        </p:nvSpPr>
        <p:spPr>
          <a:xfrm rot="16200000">
            <a:off x="6380119" y="1741334"/>
            <a:ext cx="309789" cy="367797"/>
          </a:xfrm>
          <a:prstGeom prst="flowChartDelay">
            <a:avLst/>
          </a:prstGeom>
          <a:solidFill>
            <a:srgbClr val="FFC000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eaVert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902AB78B-DF8A-7442-B400-2295D2841364}"/>
                  </a:ext>
                </a:extLst>
              </p:cNvPr>
              <p:cNvSpPr txBox="1"/>
              <p:nvPr/>
            </p:nvSpPr>
            <p:spPr>
              <a:xfrm>
                <a:off x="6658455" y="1957807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200" i="1">
                          <a:solidFill>
                            <a:prstClr val="black"/>
                          </a:solidFill>
                          <a:latin typeface="Cambria Math" panose="020F0502020204030204" pitchFamily="18" charset="0"/>
                        </a:rPr>
                        <m:t>y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902AB78B-DF8A-7442-B400-2295D28413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8455" y="1957807"/>
                <a:ext cx="204800" cy="276999"/>
              </a:xfrm>
              <a:prstGeom prst="rect">
                <a:avLst/>
              </a:prstGeom>
              <a:blipFill>
                <a:blip r:embed="rId25"/>
                <a:stretch>
                  <a:fillRect r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AF229A69-C484-E5B5-63FA-AE382193CEFD}"/>
                  </a:ext>
                </a:extLst>
              </p:cNvPr>
              <p:cNvSpPr txBox="1"/>
              <p:nvPr/>
            </p:nvSpPr>
            <p:spPr>
              <a:xfrm>
                <a:off x="6219659" y="1998128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AF229A69-C484-E5B5-63FA-AE382193CE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9659" y="1998128"/>
                <a:ext cx="246689" cy="276999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64E3270A-83ED-CAE0-2FBF-CEB131F17A91}"/>
              </a:ext>
            </a:extLst>
          </p:cNvPr>
          <p:cNvCxnSpPr>
            <a:cxnSpLocks/>
          </p:cNvCxnSpPr>
          <p:nvPr/>
        </p:nvCxnSpPr>
        <p:spPr>
          <a:xfrm>
            <a:off x="6283079" y="2104422"/>
            <a:ext cx="0" cy="116998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CB0890F1-9A56-7486-B47C-E5EC62B3E95C}"/>
                  </a:ext>
                </a:extLst>
              </p:cNvPr>
              <p:cNvSpPr txBox="1"/>
              <p:nvPr/>
            </p:nvSpPr>
            <p:spPr>
              <a:xfrm>
                <a:off x="6568423" y="3594651"/>
                <a:ext cx="257948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10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sz="10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CB0890F1-9A56-7486-B47C-E5EC62B3E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8423" y="3594651"/>
                <a:ext cx="257948" cy="246221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7E609B48-D9C4-326A-FE17-2B31D406BECC}"/>
              </a:ext>
            </a:extLst>
          </p:cNvPr>
          <p:cNvCxnSpPr>
            <a:cxnSpLocks/>
          </p:cNvCxnSpPr>
          <p:nvPr/>
        </p:nvCxnSpPr>
        <p:spPr>
          <a:xfrm>
            <a:off x="6564706" y="3600695"/>
            <a:ext cx="9456" cy="712193"/>
          </a:xfrm>
          <a:prstGeom prst="line">
            <a:avLst/>
          </a:prstGeom>
          <a:noFill/>
          <a:ln w="15875" cap="flat" cmpd="sng" algn="ctr">
            <a:solidFill>
              <a:sysClr val="windowText" lastClr="000000"/>
            </a:solidFill>
            <a:prstDash val="sysDash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Rectangle: Rounded Corners 72">
                <a:extLst>
                  <a:ext uri="{FF2B5EF4-FFF2-40B4-BE49-F238E27FC236}">
                    <a16:creationId xmlns:a16="http://schemas.microsoft.com/office/drawing/2014/main" id="{3C1C466F-1277-A95B-D117-550570501BE0}"/>
                  </a:ext>
                </a:extLst>
              </p:cNvPr>
              <p:cNvSpPr/>
              <p:nvPr/>
            </p:nvSpPr>
            <p:spPr>
              <a:xfrm>
                <a:off x="6215882" y="3830658"/>
                <a:ext cx="716560" cy="253915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F0502020204030204" pitchFamily="18" charset="0"/>
                          <a:ea typeface="+mn-ea"/>
                          <a:cs typeface="+mn-cs"/>
                        </a:rPr>
                        <m:t>𝑐</m:t>
                      </m:r>
                      <m:sSup>
                        <m:sSupPr>
                          <m:ctrlP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p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′</m:t>
                          </m:r>
                        </m:sup>
                      </m:sSup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|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F0502020204030204" pitchFamily="18" charset="0"/>
                          <a:ea typeface="+mn-ea"/>
                          <a:cs typeface="+mn-cs"/>
                        </a:rPr>
                        <m:t>𝑧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𝜆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0" name="Rectangle: Rounded Corners 72">
                <a:extLst>
                  <a:ext uri="{FF2B5EF4-FFF2-40B4-BE49-F238E27FC236}">
                    <a16:creationId xmlns:a16="http://schemas.microsoft.com/office/drawing/2014/main" id="{3C1C466F-1277-A95B-D117-550570501B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5882" y="3830658"/>
                <a:ext cx="716560" cy="253915"/>
              </a:xfrm>
              <a:prstGeom prst="roundRect">
                <a:avLst/>
              </a:prstGeom>
              <a:blipFill>
                <a:blip r:embed="rId28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99BBB8CB-AEB1-86EF-8348-978BAF9037FC}"/>
                  </a:ext>
                </a:extLst>
              </p:cNvPr>
              <p:cNvSpPr txBox="1"/>
              <p:nvPr/>
            </p:nvSpPr>
            <p:spPr>
              <a:xfrm>
                <a:off x="6557405" y="4055404"/>
                <a:ext cx="290731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sz="10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99BBB8CB-AEB1-86EF-8348-978BAF9037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7405" y="4055404"/>
                <a:ext cx="290731" cy="246221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Rectangle: Rounded Corners 74">
                <a:extLst>
                  <a:ext uri="{FF2B5EF4-FFF2-40B4-BE49-F238E27FC236}">
                    <a16:creationId xmlns:a16="http://schemas.microsoft.com/office/drawing/2014/main" id="{BA8DE282-B2EC-8637-9C90-0D9133BEC42E}"/>
                  </a:ext>
                </a:extLst>
              </p:cNvPr>
              <p:cNvSpPr/>
              <p:nvPr/>
            </p:nvSpPr>
            <p:spPr>
              <a:xfrm>
                <a:off x="6299454" y="3321980"/>
                <a:ext cx="515899" cy="269175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𝑏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|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F0502020204030204" pitchFamily="18" charset="0"/>
                          <a:ea typeface="+mn-ea"/>
                          <a:cs typeface="+mn-cs"/>
                        </a:rPr>
                        <m:t>𝑦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𝜆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2" name="Rectangle: Rounded Corners 74">
                <a:extLst>
                  <a:ext uri="{FF2B5EF4-FFF2-40B4-BE49-F238E27FC236}">
                    <a16:creationId xmlns:a16="http://schemas.microsoft.com/office/drawing/2014/main" id="{BA8DE282-B2EC-8637-9C90-0D9133BEC4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9454" y="3321980"/>
                <a:ext cx="515899" cy="269175"/>
              </a:xfrm>
              <a:prstGeom prst="roundRect">
                <a:avLst/>
              </a:prstGeom>
              <a:blipFill>
                <a:blip r:embed="rId30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Rectangle: Rounded Corners 75">
                <a:extLst>
                  <a:ext uri="{FF2B5EF4-FFF2-40B4-BE49-F238E27FC236}">
                    <a16:creationId xmlns:a16="http://schemas.microsoft.com/office/drawing/2014/main" id="{EA015443-8448-CF4D-093B-AA75057AE079}"/>
                  </a:ext>
                </a:extLst>
              </p:cNvPr>
              <p:cNvSpPr/>
              <p:nvPr/>
            </p:nvSpPr>
            <p:spPr>
              <a:xfrm>
                <a:off x="6335549" y="4275869"/>
                <a:ext cx="515899" cy="261764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F0502020204030204" pitchFamily="18" charset="0"/>
                          <a:ea typeface="+mn-ea"/>
                          <a:cs typeface="+mn-cs"/>
                        </a:rPr>
                        <m:t>𝜆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F0502020204030204" pitchFamily="18" charset="0"/>
                          <a:ea typeface="+mn-ea"/>
                          <a:cs typeface="+mn-cs"/>
                        </a:rPr>
                        <m:t>|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F0502020204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3" name="Rectangle: Rounded Corners 75">
                <a:extLst>
                  <a:ext uri="{FF2B5EF4-FFF2-40B4-BE49-F238E27FC236}">
                    <a16:creationId xmlns:a16="http://schemas.microsoft.com/office/drawing/2014/main" id="{EA015443-8448-CF4D-093B-AA75057AE0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5549" y="4275869"/>
                <a:ext cx="515899" cy="261764"/>
              </a:xfrm>
              <a:prstGeom prst="roundRect">
                <a:avLst/>
              </a:prstGeom>
              <a:blipFill>
                <a:blip r:embed="rId31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22DB7BB3-D055-A35D-3AD6-8BD37DEA38DE}"/>
              </a:ext>
            </a:extLst>
          </p:cNvPr>
          <p:cNvCxnSpPr>
            <a:cxnSpLocks/>
            <a:stCxn id="176" idx="2"/>
          </p:cNvCxnSpPr>
          <p:nvPr/>
        </p:nvCxnSpPr>
        <p:spPr>
          <a:xfrm flipH="1">
            <a:off x="4812832" y="3738291"/>
            <a:ext cx="2476" cy="340734"/>
          </a:xfrm>
          <a:prstGeom prst="line">
            <a:avLst/>
          </a:prstGeom>
          <a:noFill/>
          <a:ln w="15875" cap="flat" cmpd="sng" algn="ctr">
            <a:solidFill>
              <a:sysClr val="windowText" lastClr="000000"/>
            </a:solidFill>
            <a:prstDash val="sysDash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C256DFE2-C152-8361-CCFB-8344ABE5A81D}"/>
                  </a:ext>
                </a:extLst>
              </p:cNvPr>
              <p:cNvSpPr txBox="1"/>
              <p:nvPr/>
            </p:nvSpPr>
            <p:spPr>
              <a:xfrm>
                <a:off x="4773311" y="3787038"/>
                <a:ext cx="290731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000" i="1" smtClean="0">
                              <a:solidFill>
                                <a:prstClr val="black"/>
                              </a:solidFill>
                              <a:latin typeface="Cambria Math" panose="020F0502020204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C256DFE2-C152-8361-CCFB-8344ABE5A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3311" y="3787038"/>
                <a:ext cx="290731" cy="253916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Rectangle: Rounded Corners 82">
                <a:extLst>
                  <a:ext uri="{FF2B5EF4-FFF2-40B4-BE49-F238E27FC236}">
                    <a16:creationId xmlns:a16="http://schemas.microsoft.com/office/drawing/2014/main" id="{8761F1A5-82E6-A6FC-7408-C6380D139F1C}"/>
                  </a:ext>
                </a:extLst>
              </p:cNvPr>
              <p:cNvSpPr/>
              <p:nvPr/>
            </p:nvSpPr>
            <p:spPr>
              <a:xfrm>
                <a:off x="4508341" y="3471366"/>
                <a:ext cx="613934" cy="266925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sSub>
                        <m:sSubPr>
                          <m:ctrlP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F0502020204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|</m:t>
                      </m:r>
                      <m:sSub>
                        <m:sSubPr>
                          <m:ctrlP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kumimoji="0" lang="en-US" sz="1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F0502020204030204" pitchFamily="18" charset="0"/>
                                  <a:ea typeface="+mn-ea"/>
                                  <a:cs typeface="+mn-cs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0" lang="en-US" sz="1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F0502020204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F0502020204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6" name="Rectangle: Rounded Corners 82">
                <a:extLst>
                  <a:ext uri="{FF2B5EF4-FFF2-40B4-BE49-F238E27FC236}">
                    <a16:creationId xmlns:a16="http://schemas.microsoft.com/office/drawing/2014/main" id="{8761F1A5-82E6-A6FC-7408-C6380D139F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8341" y="3471366"/>
                <a:ext cx="613934" cy="266925"/>
              </a:xfrm>
              <a:prstGeom prst="roundRect">
                <a:avLst/>
              </a:prstGeom>
              <a:blipFill>
                <a:blip r:embed="rId33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8" name="TextBox 177">
            <a:extLst>
              <a:ext uri="{FF2B5EF4-FFF2-40B4-BE49-F238E27FC236}">
                <a16:creationId xmlns:a16="http://schemas.microsoft.com/office/drawing/2014/main" id="{C6B5CDD5-5A01-33D8-3319-3A3CDC106751}"/>
              </a:ext>
            </a:extLst>
          </p:cNvPr>
          <p:cNvSpPr txBox="1"/>
          <p:nvPr/>
        </p:nvSpPr>
        <p:spPr>
          <a:xfrm>
            <a:off x="368277" y="4040118"/>
            <a:ext cx="3319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Ontological representation</a:t>
            </a:r>
          </a:p>
        </p:txBody>
      </p:sp>
      <p:sp>
        <p:nvSpPr>
          <p:cNvPr id="179" name="Arrow: Down 81">
            <a:extLst>
              <a:ext uri="{FF2B5EF4-FFF2-40B4-BE49-F238E27FC236}">
                <a16:creationId xmlns:a16="http://schemas.microsoft.com/office/drawing/2014/main" id="{BE37B996-D9FF-E8BF-7346-B9EE4D195851}"/>
              </a:ext>
            </a:extLst>
          </p:cNvPr>
          <p:cNvSpPr/>
          <p:nvPr/>
        </p:nvSpPr>
        <p:spPr>
          <a:xfrm>
            <a:off x="1582280" y="3172160"/>
            <a:ext cx="473903" cy="277000"/>
          </a:xfrm>
          <a:prstGeom prst="downArrow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07323570-3EFD-A4D2-3AED-CBA3AD91341A}"/>
              </a:ext>
            </a:extLst>
          </p:cNvPr>
          <p:cNvSpPr txBox="1"/>
          <p:nvPr/>
        </p:nvSpPr>
        <p:spPr>
          <a:xfrm>
            <a:off x="956840" y="5306787"/>
            <a:ext cx="10313415" cy="599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Definition: A quantum circuit is </a:t>
            </a:r>
            <a:r>
              <a:rPr lang="en-US" sz="1600" i="1" dirty="0"/>
              <a:t>classically explainable</a:t>
            </a:r>
            <a:r>
              <a:rPr lang="en-US" sz="1600" dirty="0"/>
              <a:t> if it can be mapped to an ontological representation, where the map is </a:t>
            </a:r>
            <a:r>
              <a:rPr lang="en-US" sz="1600" i="1" dirty="0">
                <a:solidFill>
                  <a:srgbClr val="0070C0"/>
                </a:solidFill>
              </a:rPr>
              <a:t>linear</a:t>
            </a:r>
            <a:r>
              <a:rPr lang="en-US" sz="1600" i="1" dirty="0"/>
              <a:t> and </a:t>
            </a:r>
            <a:r>
              <a:rPr lang="en-US" sz="1600" i="1" dirty="0">
                <a:solidFill>
                  <a:srgbClr val="0070C0"/>
                </a:solidFill>
              </a:rPr>
              <a:t>diagram-</a:t>
            </a:r>
            <a:r>
              <a:rPr lang="en-US" sz="1600" i="1" dirty="0" err="1">
                <a:solidFill>
                  <a:srgbClr val="0070C0"/>
                </a:solidFill>
              </a:rPr>
              <a:t>perserving</a:t>
            </a:r>
            <a:r>
              <a:rPr lang="en-US" sz="1600" i="1" dirty="0">
                <a:solidFill>
                  <a:srgbClr val="0070C0"/>
                </a:solidFill>
              </a:rPr>
              <a:t>.</a:t>
            </a:r>
            <a:r>
              <a:rPr lang="en-US" sz="1600" dirty="0">
                <a:solidFill>
                  <a:srgbClr val="0070C0"/>
                </a:solidFill>
              </a:rPr>
              <a:t> </a:t>
            </a:r>
            <a:endParaRPr lang="en-US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A77528-A279-AE74-461A-5AC7542B7607}"/>
              </a:ext>
            </a:extLst>
          </p:cNvPr>
          <p:cNvSpPr txBox="1"/>
          <p:nvPr/>
        </p:nvSpPr>
        <p:spPr>
          <a:xfrm>
            <a:off x="0" y="416689"/>
            <a:ext cx="6458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Classical-explainable statistics</a:t>
            </a:r>
          </a:p>
        </p:txBody>
      </p:sp>
    </p:spTree>
    <p:extLst>
      <p:ext uri="{BB962C8B-B14F-4D97-AF65-F5344CB8AC3E}">
        <p14:creationId xmlns:p14="http://schemas.microsoft.com/office/powerpoint/2010/main" val="3921553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" grpId="0" animBg="1"/>
      <p:bldP spid="138" grpId="0"/>
      <p:bldP spid="139" grpId="0"/>
      <p:bldP spid="144" grpId="0"/>
      <p:bldP spid="146" grpId="0"/>
      <p:bldP spid="147" grpId="0" animBg="1"/>
      <p:bldP spid="149" grpId="0" animBg="1"/>
      <p:bldP spid="151" grpId="0"/>
      <p:bldP spid="152" grpId="0" animBg="1"/>
      <p:bldP spid="153" grpId="0" animBg="1"/>
      <p:bldP spid="154" grpId="0" animBg="1"/>
      <p:bldP spid="168" grpId="0"/>
      <p:bldP spid="170" grpId="0" animBg="1"/>
      <p:bldP spid="171" grpId="0"/>
      <p:bldP spid="172" grpId="0" animBg="1"/>
      <p:bldP spid="173" grpId="0" animBg="1"/>
      <p:bldP spid="175" grpId="0"/>
      <p:bldP spid="176" grpId="0" animBg="1"/>
      <p:bldP spid="178" grpId="0"/>
      <p:bldP spid="179" grpId="0" animBg="1"/>
      <p:bldP spid="25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C8B6-A4DC-6DEA-3AE1-0702F1E80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FD8638C-B7EA-1BAF-8AFE-29A81BD906D2}"/>
              </a:ext>
            </a:extLst>
          </p:cNvPr>
          <p:cNvSpPr/>
          <p:nvPr/>
        </p:nvSpPr>
        <p:spPr>
          <a:xfrm>
            <a:off x="219653" y="5465135"/>
            <a:ext cx="4657060" cy="1392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EBEBDDB-9AAE-24EA-2213-BD286044C727}"/>
              </a:ext>
            </a:extLst>
          </p:cNvPr>
          <p:cNvCxnSpPr>
            <a:cxnSpLocks/>
          </p:cNvCxnSpPr>
          <p:nvPr/>
        </p:nvCxnSpPr>
        <p:spPr>
          <a:xfrm>
            <a:off x="2945217" y="3691582"/>
            <a:ext cx="0" cy="160276"/>
          </a:xfrm>
          <a:prstGeom prst="line">
            <a:avLst/>
          </a:prstGeom>
          <a:noFill/>
          <a:ln w="158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29FF753-2D73-6E30-8E0F-057558031747}"/>
                  </a:ext>
                </a:extLst>
              </p:cNvPr>
              <p:cNvSpPr txBox="1"/>
              <p:nvPr/>
            </p:nvSpPr>
            <p:spPr>
              <a:xfrm>
                <a:off x="2950194" y="3665457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solidFill>
                            <a:prstClr val="black"/>
                          </a:solidFill>
                          <a:latin typeface="Cambria Math" panose="020F0502020204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29FF753-2D73-6E30-8E0F-0575580317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0194" y="3665457"/>
                <a:ext cx="204800" cy="276999"/>
              </a:xfrm>
              <a:prstGeom prst="rect">
                <a:avLst/>
              </a:prstGeom>
              <a:blipFill>
                <a:blip r:embed="rId2"/>
                <a:stretch>
                  <a:fillRect r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DD1593-896D-84CA-0E03-33725E2A1E59}"/>
                  </a:ext>
                </a:extLst>
              </p:cNvPr>
              <p:cNvSpPr txBox="1"/>
              <p:nvPr/>
            </p:nvSpPr>
            <p:spPr>
              <a:xfrm>
                <a:off x="1394233" y="3189581"/>
                <a:ext cx="191478" cy="274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solidFill>
                            <a:prstClr val="black"/>
                          </a:solidFill>
                          <a:latin typeface="Cambria Math" panose="020F0502020204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DD1593-896D-84CA-0E03-33725E2A1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4233" y="3189581"/>
                <a:ext cx="191478" cy="274656"/>
              </a:xfrm>
              <a:prstGeom prst="rect">
                <a:avLst/>
              </a:prstGeom>
              <a:blipFill>
                <a:blip r:embed="rId3"/>
                <a:stretch>
                  <a:fillRect r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C6D5096D-9585-AC23-4C94-C3FB012E5988}"/>
              </a:ext>
            </a:extLst>
          </p:cNvPr>
          <p:cNvGrpSpPr/>
          <p:nvPr/>
        </p:nvGrpSpPr>
        <p:grpSpPr>
          <a:xfrm>
            <a:off x="1154460" y="2824288"/>
            <a:ext cx="45719" cy="611897"/>
            <a:chOff x="6548130" y="2237014"/>
            <a:chExt cx="49658" cy="440872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3FF29D6-3C78-F792-C8A7-E6C12D062B71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9FEB592-9F7D-C337-58F9-9F0CD9CFDD3F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: Rounded Corners 129">
                <a:extLst>
                  <a:ext uri="{FF2B5EF4-FFF2-40B4-BE49-F238E27FC236}">
                    <a16:creationId xmlns:a16="http://schemas.microsoft.com/office/drawing/2014/main" id="{1FA1EF40-1682-3AE2-3E13-31B567D72F3C}"/>
                  </a:ext>
                </a:extLst>
              </p:cNvPr>
              <p:cNvSpPr/>
              <p:nvPr/>
            </p:nvSpPr>
            <p:spPr>
              <a:xfrm>
                <a:off x="851290" y="3019334"/>
                <a:ext cx="684759" cy="240007"/>
              </a:xfrm>
              <a:prstGeom prst="roundRect">
                <a:avLst/>
              </a:prstGeom>
              <a:solidFill>
                <a:srgbClr val="FFC000">
                  <a:lumMod val="40000"/>
                  <a:lumOff val="60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7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16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ℰ</m:t>
                      </m:r>
                    </m:oMath>
                  </m:oMathPara>
                </a14:m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Rectangle: Rounded Corners 129">
                <a:extLst>
                  <a:ext uri="{FF2B5EF4-FFF2-40B4-BE49-F238E27FC236}">
                    <a16:creationId xmlns:a16="http://schemas.microsoft.com/office/drawing/2014/main" id="{1FA1EF40-1682-3AE2-3E13-31B567D72F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290" y="3019334"/>
                <a:ext cx="684759" cy="240007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23DAED1-AAE6-C1FE-BC05-4AF183D3F520}"/>
              </a:ext>
            </a:extLst>
          </p:cNvPr>
          <p:cNvCxnSpPr>
            <a:cxnSpLocks/>
          </p:cNvCxnSpPr>
          <p:nvPr/>
        </p:nvCxnSpPr>
        <p:spPr>
          <a:xfrm>
            <a:off x="1400801" y="3259341"/>
            <a:ext cx="0" cy="116998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4467196-3CC6-0D1A-82F2-965287FC30DA}"/>
              </a:ext>
            </a:extLst>
          </p:cNvPr>
          <p:cNvSpPr txBox="1"/>
          <p:nvPr/>
        </p:nvSpPr>
        <p:spPr>
          <a:xfrm>
            <a:off x="2255315" y="3846502"/>
            <a:ext cx="14157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Ontological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3206552-01B8-46DC-381E-DDC400C5CCCC}"/>
                  </a:ext>
                </a:extLst>
              </p:cNvPr>
              <p:cNvSpPr txBox="1"/>
              <p:nvPr/>
            </p:nvSpPr>
            <p:spPr>
              <a:xfrm>
                <a:off x="2691562" y="2838313"/>
                <a:ext cx="257948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10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sz="10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3206552-01B8-46DC-381E-DDC400C5CC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1562" y="2838313"/>
                <a:ext cx="257948" cy="24622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4539088-8BB1-4BE6-6DAA-A2CBB9411EF7}"/>
              </a:ext>
            </a:extLst>
          </p:cNvPr>
          <p:cNvCxnSpPr>
            <a:cxnSpLocks/>
          </p:cNvCxnSpPr>
          <p:nvPr/>
        </p:nvCxnSpPr>
        <p:spPr>
          <a:xfrm>
            <a:off x="2934102" y="2822772"/>
            <a:ext cx="9456" cy="712193"/>
          </a:xfrm>
          <a:prstGeom prst="line">
            <a:avLst/>
          </a:prstGeom>
          <a:noFill/>
          <a:ln w="158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: Rounded Corners 137">
                <a:extLst>
                  <a:ext uri="{FF2B5EF4-FFF2-40B4-BE49-F238E27FC236}">
                    <a16:creationId xmlns:a16="http://schemas.microsoft.com/office/drawing/2014/main" id="{3375CA60-4E24-4426-2CF6-14B1B9027BB6}"/>
                  </a:ext>
                </a:extLst>
              </p:cNvPr>
              <p:cNvSpPr/>
              <p:nvPr/>
            </p:nvSpPr>
            <p:spPr>
              <a:xfrm>
                <a:off x="2585278" y="3052736"/>
                <a:ext cx="716560" cy="198494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sSup>
                        <m:sSupPr>
                          <m:ctrlP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p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′</m:t>
                          </m:r>
                        </m:sup>
                      </m:sSup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|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F0502020204030204" pitchFamily="18" charset="0"/>
                          <a:ea typeface="+mn-ea"/>
                          <a:cs typeface="+mn-cs"/>
                        </a:rPr>
                        <m:t>𝑧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𝜆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" name="Rectangle: Rounded Corners 137">
                <a:extLst>
                  <a:ext uri="{FF2B5EF4-FFF2-40B4-BE49-F238E27FC236}">
                    <a16:creationId xmlns:a16="http://schemas.microsoft.com/office/drawing/2014/main" id="{3375CA60-4E24-4426-2CF6-14B1B9027B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5278" y="3052736"/>
                <a:ext cx="716560" cy="198494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793E334-7B61-7D24-A882-605D2EA56856}"/>
                  </a:ext>
                </a:extLst>
              </p:cNvPr>
              <p:cNvSpPr txBox="1"/>
              <p:nvPr/>
            </p:nvSpPr>
            <p:spPr>
              <a:xfrm>
                <a:off x="2672479" y="3257602"/>
                <a:ext cx="290731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sz="10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793E334-7B61-7D24-A882-605D2EA568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2479" y="3257602"/>
                <a:ext cx="290731" cy="2462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: Rounded Corners 139">
                <a:extLst>
                  <a:ext uri="{FF2B5EF4-FFF2-40B4-BE49-F238E27FC236}">
                    <a16:creationId xmlns:a16="http://schemas.microsoft.com/office/drawing/2014/main" id="{D9F914AE-E858-F0DD-9FB9-241AF0843A0C}"/>
                  </a:ext>
                </a:extLst>
              </p:cNvPr>
              <p:cNvSpPr/>
              <p:nvPr/>
            </p:nvSpPr>
            <p:spPr>
              <a:xfrm>
                <a:off x="2678375" y="2578982"/>
                <a:ext cx="515899" cy="269175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𝑏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|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𝜆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" name="Rectangle: Rounded Corners 139">
                <a:extLst>
                  <a:ext uri="{FF2B5EF4-FFF2-40B4-BE49-F238E27FC236}">
                    <a16:creationId xmlns:a16="http://schemas.microsoft.com/office/drawing/2014/main" id="{D9F914AE-E858-F0DD-9FB9-241AF0843A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8375" y="2578982"/>
                <a:ext cx="515899" cy="269175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: Rounded Corners 140">
                <a:extLst>
                  <a:ext uri="{FF2B5EF4-FFF2-40B4-BE49-F238E27FC236}">
                    <a16:creationId xmlns:a16="http://schemas.microsoft.com/office/drawing/2014/main" id="{DDEE1094-8298-96BC-E9C8-E009BA8AECBB}"/>
                  </a:ext>
                </a:extLst>
              </p:cNvPr>
              <p:cNvSpPr/>
              <p:nvPr/>
            </p:nvSpPr>
            <p:spPr>
              <a:xfrm>
                <a:off x="2692245" y="3463021"/>
                <a:ext cx="515899" cy="261764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F0502020204030204" pitchFamily="18" charset="0"/>
                          <a:ea typeface="+mn-ea"/>
                          <a:cs typeface="+mn-cs"/>
                        </a:rPr>
                        <m:t>𝜆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F0502020204030204" pitchFamily="18" charset="0"/>
                          <a:ea typeface="+mn-ea"/>
                          <a:cs typeface="+mn-cs"/>
                        </a:rPr>
                        <m:t>|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F0502020204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8" name="Rectangle: Rounded Corners 140">
                <a:extLst>
                  <a:ext uri="{FF2B5EF4-FFF2-40B4-BE49-F238E27FC236}">
                    <a16:creationId xmlns:a16="http://schemas.microsoft.com/office/drawing/2014/main" id="{DDEE1094-8298-96BC-E9C8-E009BA8AEC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2245" y="3463021"/>
                <a:ext cx="515899" cy="261764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BB39CCE-EF8F-00B5-3374-41C9EEAF0618}"/>
              </a:ext>
            </a:extLst>
          </p:cNvPr>
          <p:cNvCxnSpPr/>
          <p:nvPr/>
        </p:nvCxnSpPr>
        <p:spPr>
          <a:xfrm>
            <a:off x="1182870" y="3696525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Flowchart: Delay 145">
                <a:extLst>
                  <a:ext uri="{FF2B5EF4-FFF2-40B4-BE49-F238E27FC236}">
                    <a16:creationId xmlns:a16="http://schemas.microsoft.com/office/drawing/2014/main" id="{F7BE17AA-F91B-3571-9BFC-AC5BD1EB870C}"/>
                  </a:ext>
                </a:extLst>
              </p:cNvPr>
              <p:cNvSpPr/>
              <p:nvPr/>
            </p:nvSpPr>
            <p:spPr>
              <a:xfrm rot="5400000">
                <a:off x="1048411" y="3402988"/>
                <a:ext cx="276999" cy="343393"/>
              </a:xfrm>
              <a:prstGeom prst="flowChartDelay">
                <a:avLst/>
              </a:prstGeom>
              <a:solidFill>
                <a:srgbClr val="FFC000">
                  <a:lumMod val="40000"/>
                  <a:lumOff val="60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vert27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05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F0502020204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105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𝜌</m:t>
                      </m:r>
                    </m:oMath>
                  </m:oMathPara>
                </a14:m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0" name="Flowchart: Delay 145">
                <a:extLst>
                  <a:ext uri="{FF2B5EF4-FFF2-40B4-BE49-F238E27FC236}">
                    <a16:creationId xmlns:a16="http://schemas.microsoft.com/office/drawing/2014/main" id="{F7BE17AA-F91B-3571-9BFC-AC5BD1EB87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048411" y="3402988"/>
                <a:ext cx="276999" cy="343393"/>
              </a:xfrm>
              <a:prstGeom prst="flowChartDelay">
                <a:avLst/>
              </a:prstGeom>
              <a:blipFill>
                <a:blip r:embed="rId10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EE1F99A-EFFE-F6F9-7514-82BCCE87EDD8}"/>
                  </a:ext>
                </a:extLst>
              </p:cNvPr>
              <p:cNvSpPr txBox="1"/>
              <p:nvPr/>
            </p:nvSpPr>
            <p:spPr>
              <a:xfrm>
                <a:off x="1159055" y="3645749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solidFill>
                            <a:prstClr val="black"/>
                          </a:solidFill>
                          <a:latin typeface="Cambria Math" panose="020F0502020204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EE1F99A-EFFE-F6F9-7514-82BCCE87E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9055" y="3645749"/>
                <a:ext cx="204800" cy="276999"/>
              </a:xfrm>
              <a:prstGeom prst="rect">
                <a:avLst/>
              </a:prstGeom>
              <a:blipFill>
                <a:blip r:embed="rId11"/>
                <a:stretch>
                  <a:fillRect r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1B40438-4029-1998-D0DF-DD18A9624F71}"/>
                  </a:ext>
                </a:extLst>
              </p:cNvPr>
              <p:cNvSpPr txBox="1"/>
              <p:nvPr/>
            </p:nvSpPr>
            <p:spPr>
              <a:xfrm>
                <a:off x="1138110" y="2349661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1B40438-4029-1998-D0DF-DD18A9624F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110" y="2349661"/>
                <a:ext cx="246689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Flowchart: Delay 150">
            <a:extLst>
              <a:ext uri="{FF2B5EF4-FFF2-40B4-BE49-F238E27FC236}">
                <a16:creationId xmlns:a16="http://schemas.microsoft.com/office/drawing/2014/main" id="{F17AEC27-0307-CC8B-F237-46DA36D42E88}"/>
              </a:ext>
            </a:extLst>
          </p:cNvPr>
          <p:cNvSpPr/>
          <p:nvPr/>
        </p:nvSpPr>
        <p:spPr>
          <a:xfrm rot="16200000">
            <a:off x="1033648" y="2523795"/>
            <a:ext cx="283818" cy="343393"/>
          </a:xfrm>
          <a:prstGeom prst="flowChartDelay">
            <a:avLst/>
          </a:prstGeom>
          <a:solidFill>
            <a:srgbClr val="FFC000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eaVert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BEE27E9-C321-673A-EFFB-F54E2D185F15}"/>
              </a:ext>
            </a:extLst>
          </p:cNvPr>
          <p:cNvCxnSpPr>
            <a:cxnSpLocks/>
          </p:cNvCxnSpPr>
          <p:nvPr/>
        </p:nvCxnSpPr>
        <p:spPr>
          <a:xfrm>
            <a:off x="1163138" y="2439976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D7117CD-32DE-2E69-D808-16C0ED3F0791}"/>
              </a:ext>
            </a:extLst>
          </p:cNvPr>
          <p:cNvSpPr txBox="1"/>
          <p:nvPr/>
        </p:nvSpPr>
        <p:spPr>
          <a:xfrm>
            <a:off x="626101" y="3845788"/>
            <a:ext cx="14157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Quantum circuit</a:t>
            </a:r>
          </a:p>
        </p:txBody>
      </p:sp>
      <p:sp>
        <p:nvSpPr>
          <p:cNvPr id="26" name="Arrow: Right 157">
            <a:extLst>
              <a:ext uri="{FF2B5EF4-FFF2-40B4-BE49-F238E27FC236}">
                <a16:creationId xmlns:a16="http://schemas.microsoft.com/office/drawing/2014/main" id="{019A2E20-005A-00C0-53D6-B368055E5E34}"/>
              </a:ext>
            </a:extLst>
          </p:cNvPr>
          <p:cNvSpPr/>
          <p:nvPr/>
        </p:nvSpPr>
        <p:spPr>
          <a:xfrm>
            <a:off x="1913263" y="2940636"/>
            <a:ext cx="394729" cy="426178"/>
          </a:xfrm>
          <a:prstGeom prst="rightArrow">
            <a:avLst/>
          </a:prstGeom>
          <a:solidFill>
            <a:srgbClr val="A5A5A5"/>
          </a:solidFill>
          <a:ln w="12700" cap="flat" cmpd="sng" algn="ctr">
            <a:solidFill>
              <a:srgbClr val="A5A5A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1D72103-FCBD-4FCD-997A-BBF77F8E2766}"/>
              </a:ext>
            </a:extLst>
          </p:cNvPr>
          <p:cNvSpPr txBox="1"/>
          <p:nvPr/>
        </p:nvSpPr>
        <p:spPr>
          <a:xfrm>
            <a:off x="1775534" y="2629016"/>
            <a:ext cx="9063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Linear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4DB3E98-1E3C-DF3E-58B1-7B0A264C8A39}"/>
                  </a:ext>
                </a:extLst>
              </p:cNvPr>
              <p:cNvSpPr txBox="1"/>
              <p:nvPr/>
            </p:nvSpPr>
            <p:spPr>
              <a:xfrm>
                <a:off x="3089676" y="3188365"/>
                <a:ext cx="191478" cy="274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solidFill>
                            <a:prstClr val="black"/>
                          </a:solidFill>
                          <a:latin typeface="Cambria Math" panose="020F0502020204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4DB3E98-1E3C-DF3E-58B1-7B0A264C8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9676" y="3188365"/>
                <a:ext cx="191478" cy="274656"/>
              </a:xfrm>
              <a:prstGeom prst="rect">
                <a:avLst/>
              </a:prstGeom>
              <a:blipFill>
                <a:blip r:embed="rId13"/>
                <a:stretch>
                  <a:fillRect r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847BF53-8A48-B1E2-D5E5-208A29AB740D}"/>
              </a:ext>
            </a:extLst>
          </p:cNvPr>
          <p:cNvCxnSpPr>
            <a:cxnSpLocks/>
          </p:cNvCxnSpPr>
          <p:nvPr/>
        </p:nvCxnSpPr>
        <p:spPr>
          <a:xfrm>
            <a:off x="3132740" y="3255382"/>
            <a:ext cx="0" cy="116998"/>
          </a:xfrm>
          <a:prstGeom prst="line">
            <a:avLst/>
          </a:prstGeom>
          <a:noFill/>
          <a:ln w="158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6B1B710-ED3A-6C5D-FA88-0993BB545492}"/>
                  </a:ext>
                </a:extLst>
              </p:cNvPr>
              <p:cNvSpPr txBox="1"/>
              <p:nvPr/>
            </p:nvSpPr>
            <p:spPr>
              <a:xfrm>
                <a:off x="2916498" y="2367122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6B1B710-ED3A-6C5D-FA88-0993BB5454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6498" y="2367122"/>
                <a:ext cx="246689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7ADC408-E20B-4206-63AF-D6A0D70CEFEF}"/>
              </a:ext>
            </a:extLst>
          </p:cNvPr>
          <p:cNvCxnSpPr>
            <a:cxnSpLocks/>
          </p:cNvCxnSpPr>
          <p:nvPr/>
        </p:nvCxnSpPr>
        <p:spPr>
          <a:xfrm>
            <a:off x="2936498" y="2467147"/>
            <a:ext cx="0" cy="114159"/>
          </a:xfrm>
          <a:prstGeom prst="line">
            <a:avLst/>
          </a:prstGeom>
          <a:noFill/>
          <a:ln w="158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04C653F-547A-2AC4-41B7-47B747607A22}"/>
                  </a:ext>
                </a:extLst>
              </p:cNvPr>
              <p:cNvSpPr txBox="1"/>
              <p:nvPr/>
            </p:nvSpPr>
            <p:spPr>
              <a:xfrm>
                <a:off x="3991740" y="1149917"/>
                <a:ext cx="7674015" cy="48495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itchFamily="2" charset="2"/>
                  <a:buChar char="q"/>
                </a:pPr>
                <a:r>
                  <a:rPr lang="en-US" sz="1400" dirty="0"/>
                  <a:t>The quantum circuit predict statistics. </a:t>
                </a:r>
              </a:p>
              <a:p>
                <a:endParaRPr lang="en-CA" sz="1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CA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𝑥𝑧</m:t>
                          </m:r>
                        </m:e>
                      </m:d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CA" sz="1400" b="0" i="0" smtClean="0">
                          <a:latin typeface="Cambria Math" panose="02040503050406030204" pitchFamily="18" charset="0"/>
                        </a:rPr>
                        <m:t>tr</m:t>
                      </m:r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CA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sSub>
                        <m:sSubPr>
                          <m:ctrlPr>
                            <a:rPr lang="en-CA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ℰ</m:t>
                          </m:r>
                        </m:e>
                        <m:sub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CA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en-US" sz="1400" dirty="0"/>
              </a:p>
              <a:p>
                <a:endParaRPr lang="en-US" sz="1400" dirty="0"/>
              </a:p>
              <a:p>
                <a:pPr marL="285750" indent="-285750">
                  <a:buFont typeface="Wingdings" pitchFamily="2" charset="2"/>
                  <a:buChar char="q"/>
                </a:pPr>
                <a:r>
                  <a:rPr lang="en-US" sz="1400" dirty="0"/>
                  <a:t>It is classically explainable, if it can be reproduced by mapping all the </a:t>
                </a:r>
                <a:r>
                  <a:rPr lang="en-US" sz="1400" i="1" dirty="0"/>
                  <a:t>physical process </a:t>
                </a:r>
                <a:r>
                  <a:rPr lang="en-US" sz="1400" dirty="0"/>
                  <a:t>to the </a:t>
                </a:r>
                <a:r>
                  <a:rPr lang="en-US" sz="1400" i="1" dirty="0"/>
                  <a:t>ontological process, </a:t>
                </a:r>
                <a:r>
                  <a:rPr lang="en-US" sz="1400" dirty="0"/>
                  <a:t>where</a:t>
                </a:r>
                <a:r>
                  <a:rPr lang="en-US" sz="1400" i="1" dirty="0"/>
                  <a:t> </a:t>
                </a:r>
                <a:r>
                  <a:rPr lang="en-US" sz="1400" dirty="0">
                    <a:solidFill>
                      <a:srgbClr val="0070C0"/>
                    </a:solidFill>
                  </a:rPr>
                  <a:t>diagram-preservation implies</a:t>
                </a:r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CA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𝑥𝑧</m:t>
                          </m:r>
                        </m:e>
                      </m:d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CA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/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p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p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endChr m:val="|"/>
                              <m:ctrlP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1400" dirty="0"/>
              </a:p>
              <a:p>
                <a:r>
                  <a:rPr lang="en-US" sz="1400" dirty="0"/>
                  <a:t>     And </a:t>
                </a:r>
                <a:r>
                  <a:rPr lang="en-US" sz="1400" dirty="0">
                    <a:solidFill>
                      <a:srgbClr val="0070C0"/>
                    </a:solidFill>
                  </a:rPr>
                  <a:t>linearity</a:t>
                </a:r>
                <a:r>
                  <a:rPr lang="en-US" sz="1400" dirty="0"/>
                  <a:t> implies :</a:t>
                </a:r>
              </a:p>
              <a:p>
                <a:r>
                  <a:rPr lang="en-US" sz="1400" dirty="0"/>
                  <a:t>  </a:t>
                </a:r>
              </a:p>
              <a:p>
                <a:r>
                  <a:rPr lang="en-US" sz="1400" dirty="0"/>
                  <a:t>     For every   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sSub>
                          <m:sSubPr>
                            <m:ctrlPr>
                              <a:rPr lang="en-CA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CA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=0⇒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CA" sz="1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CA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CA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14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CA" sz="1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n-CA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CA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CA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CA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CA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CA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)=0 </m:t>
                            </m:r>
                          </m:e>
                        </m:nary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nary>
                  </m:oMath>
                </a14:m>
                <a:r>
                  <a:rPr lang="en-CA" sz="1400" b="0" dirty="0"/>
                  <a:t>              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     For every   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  <m:sSub>
                          <m:sSubPr>
                            <m:ctrlPr>
                              <a:rPr lang="en-CA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ℰ</m:t>
                            </m:r>
                          </m:e>
                          <m:sub>
                            <m:r>
                              <a:rPr lang="en-CA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sub>
                        </m:sSub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=0⇒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CA" sz="1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CA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14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  <m:r>
                              <a:rPr lang="en-CA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CA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CA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CA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′|</m:t>
                            </m:r>
                            <m:r>
                              <a:rPr lang="en-CA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CA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CA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)=0 </m:t>
                            </m:r>
                          </m:e>
                        </m:nary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nary>
                  </m:oMath>
                </a14:m>
                <a:endParaRPr lang="en-US" sz="1400" dirty="0"/>
              </a:p>
              <a:p>
                <a:endParaRPr lang="en-US" sz="1400" dirty="0"/>
              </a:p>
              <a:p>
                <a:r>
                  <a:rPr lang="en-US" sz="1400" dirty="0"/>
                  <a:t>     For every   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sSub>
                          <m:sSubPr>
                            <m:ctrlPr>
                              <a:rPr lang="en-CA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CA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=0⇒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CA" sz="1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CA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14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  <m:r>
                              <a:rPr lang="en-CA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CA" sz="14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CA" sz="14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CA" sz="14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sz="14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p>
                                    <m:r>
                                      <a:rPr lang="en-CA" sz="14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=0 </m:t>
                            </m:r>
                          </m:e>
                        </m:nary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∀</m:t>
                        </m:r>
                        <m:sSup>
                          <m:sSup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nary>
                  </m:oMath>
                </a14:m>
                <a:endParaRPr lang="en-US" sz="1600" dirty="0"/>
              </a:p>
              <a:p>
                <a:r>
                  <a:rPr lang="en-US" sz="1600" dirty="0"/>
                  <a:t>   </a:t>
                </a:r>
              </a:p>
              <a:p>
                <a:r>
                  <a:rPr lang="en-US" sz="1600" dirty="0"/>
                  <a:t>    </a:t>
                </a:r>
                <a:r>
                  <a:rPr lang="en-US" sz="1400" dirty="0"/>
                  <a:t>Moreover </a:t>
                </a:r>
                <a:r>
                  <a:rPr lang="en-US" sz="1400" dirty="0">
                    <a:solidFill>
                      <a:srgbClr val="0070C0"/>
                    </a:solidFill>
                  </a:rPr>
                  <a:t>linearity + diagram-preservation </a:t>
                </a:r>
                <a:r>
                  <a:rPr lang="en-US" sz="1400" dirty="0"/>
                  <a:t>together imply: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     For every   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sSub>
                          <m:sSubPr>
                            <m:ctrlPr>
                              <a:rPr lang="en-CA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CA" sz="14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14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ℰ</m:t>
                                </m:r>
                              </m:e>
                              <m:sub>
                                <m:r>
                                  <a:rPr lang="en-CA" sz="14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  <m:r>
                              <a:rPr lang="en-CA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CA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CA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CA" sz="1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=0⇒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CA" sz="1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CA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14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CA" sz="1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CA" sz="14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CA" sz="14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sub>
                              <m:sup/>
                              <m:e>
                                <m:r>
                                  <a:rPr lang="en-CA" sz="14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CA" sz="14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CA" sz="1400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CA" sz="1400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p>
                                        <m:r>
                                          <a:rPr lang="en-CA" sz="1400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  <m:e>
                                    <m:r>
                                      <a:rPr lang="en-CA" sz="14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  <m:r>
                                      <a:rPr lang="en-CA" sz="14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d>
                                <m:r>
                                  <a:rPr lang="en-CA" sz="14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CA" sz="14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sz="14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e>
                                    <m:r>
                                      <a:rPr lang="en-CA" sz="14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nary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=0 </m:t>
                            </m:r>
                          </m:e>
                        </m:nary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nary>
                  </m:oMath>
                </a14:m>
                <a:endParaRPr lang="en-CA" sz="1400" b="0" dirty="0"/>
              </a:p>
              <a:p>
                <a:endParaRPr lang="en-US" sz="1400" dirty="0"/>
              </a:p>
              <a:p>
                <a:r>
                  <a:rPr lang="en-US" sz="1400" dirty="0"/>
                  <a:t>     For every   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sSubSup>
                          <m:sSubSupPr>
                            <m:ctrlPr>
                              <a:rPr lang="en-CA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CA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ℰ</m:t>
                            </m:r>
                          </m:e>
                          <m:sub>
                            <m:r>
                              <a:rPr lang="en-CA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  <m:sup>
                            <m:r>
                              <a:rPr lang="en-CA" sz="1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†</m:t>
                            </m:r>
                          </m:sup>
                        </m:sSubSup>
                        <m:r>
                          <a:rPr lang="en-CA" sz="1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CA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CA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CA" sz="1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=0⇒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CA" sz="1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CA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14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CA" sz="14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sSup>
                                  <m:sSupPr>
                                    <m:ctrlPr>
                                      <a:rPr lang="en-CA" sz="14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sz="14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p>
                                    <m:r>
                                      <a:rPr lang="en-CA" sz="14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  <m:sup/>
                              <m:e>
                                <m:r>
                                  <a:rPr lang="en-CA" sz="14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CA" sz="14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CA" sz="1400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CA" sz="1400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p>
                                        <m:r>
                                          <a:rPr lang="en-CA" sz="1400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  <m:e>
                                    <m:r>
                                      <a:rPr lang="en-CA" sz="14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  <m:r>
                                      <a:rPr lang="en-CA" sz="14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d>
                                <m:r>
                                  <a:rPr lang="en-CA" sz="14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CA" sz="14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sz="14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e>
                                    <m:sSup>
                                      <m:sSupPr>
                                        <m:ctrlPr>
                                          <a:rPr lang="en-CA" sz="1400" b="0" i="1" smtClean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CA" sz="1400" b="0" i="1" smtClean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p>
                                        <m:r>
                                          <a:rPr lang="en-CA" sz="1400" b="0" i="1" smtClean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nary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=0 </m:t>
                            </m:r>
                          </m:e>
                        </m:nary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nary>
                  </m:oMath>
                </a14:m>
                <a:r>
                  <a:rPr lang="en-US" sz="1400" dirty="0"/>
                  <a:t> </a:t>
                </a:r>
                <a:endParaRPr lang="en-US" sz="16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04C653F-547A-2AC4-41B7-47B747607A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1740" y="1149917"/>
                <a:ext cx="7674015" cy="4849533"/>
              </a:xfrm>
              <a:prstGeom prst="rect">
                <a:avLst/>
              </a:prstGeom>
              <a:blipFill>
                <a:blip r:embed="rId15"/>
                <a:stretch>
                  <a:fillRect l="-165" t="-261" b="-93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561F92D-91C0-2BE1-59D5-311AD24EB2D3}"/>
              </a:ext>
            </a:extLst>
          </p:cNvPr>
          <p:cNvSpPr txBox="1"/>
          <p:nvPr/>
        </p:nvSpPr>
        <p:spPr>
          <a:xfrm>
            <a:off x="0" y="416689"/>
            <a:ext cx="6458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Classical-explainable statistics</a:t>
            </a:r>
          </a:p>
        </p:txBody>
      </p:sp>
    </p:spTree>
    <p:extLst>
      <p:ext uri="{BB962C8B-B14F-4D97-AF65-F5344CB8AC3E}">
        <p14:creationId xmlns:p14="http://schemas.microsoft.com/office/powerpoint/2010/main" val="2460582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72CFA-422C-1716-D0DE-8D14211C7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D216979-2CFF-30D9-6918-91C0E6CBFC1E}"/>
              </a:ext>
            </a:extLst>
          </p:cNvPr>
          <p:cNvSpPr txBox="1"/>
          <p:nvPr/>
        </p:nvSpPr>
        <p:spPr>
          <a:xfrm>
            <a:off x="0" y="416689"/>
            <a:ext cx="6458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Towards making the definition….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C96A19-1310-70FD-81DE-63E4094409BD}"/>
              </a:ext>
            </a:extLst>
          </p:cNvPr>
          <p:cNvSpPr/>
          <p:nvPr/>
        </p:nvSpPr>
        <p:spPr>
          <a:xfrm>
            <a:off x="425294" y="5153101"/>
            <a:ext cx="4657060" cy="1392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232BFA-F51B-A286-ECDA-31415EE0FC14}"/>
              </a:ext>
            </a:extLst>
          </p:cNvPr>
          <p:cNvSpPr txBox="1"/>
          <p:nvPr/>
        </p:nvSpPr>
        <p:spPr>
          <a:xfrm>
            <a:off x="425294" y="1860347"/>
            <a:ext cx="1176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2">
                    <a:lumMod val="90000"/>
                  </a:schemeClr>
                </a:solidFill>
              </a:rPr>
              <a:t>When is a set of statistics classically explainable?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4302F6-64AB-18DA-1C2D-2D7C7D772B6C}"/>
              </a:ext>
            </a:extLst>
          </p:cNvPr>
          <p:cNvSpPr txBox="1"/>
          <p:nvPr/>
        </p:nvSpPr>
        <p:spPr>
          <a:xfrm>
            <a:off x="2045208" y="4621484"/>
            <a:ext cx="90913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When is a single process classical?</a:t>
            </a:r>
          </a:p>
        </p:txBody>
      </p:sp>
      <p:sp>
        <p:nvSpPr>
          <p:cNvPr id="5" name="Left Arrow 4">
            <a:extLst>
              <a:ext uri="{FF2B5EF4-FFF2-40B4-BE49-F238E27FC236}">
                <a16:creationId xmlns:a16="http://schemas.microsoft.com/office/drawing/2014/main" id="{02816FCA-74F9-F82B-8D0C-864E52CD86A4}"/>
              </a:ext>
            </a:extLst>
          </p:cNvPr>
          <p:cNvSpPr/>
          <p:nvPr/>
        </p:nvSpPr>
        <p:spPr>
          <a:xfrm rot="16200000">
            <a:off x="5423546" y="3391100"/>
            <a:ext cx="1461571" cy="608682"/>
          </a:xfrm>
          <a:prstGeom prst="leftArrow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FFAD67-1782-61B8-F4B8-26CC1FA40D47}"/>
              </a:ext>
            </a:extLst>
          </p:cNvPr>
          <p:cNvSpPr txBox="1"/>
          <p:nvPr/>
        </p:nvSpPr>
        <p:spPr>
          <a:xfrm>
            <a:off x="2666509" y="5568336"/>
            <a:ext cx="8328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Answer:  If it always admits classical-explainable statistics.  But…..</a:t>
            </a:r>
          </a:p>
        </p:txBody>
      </p:sp>
    </p:spTree>
    <p:extLst>
      <p:ext uri="{BB962C8B-B14F-4D97-AF65-F5344CB8AC3E}">
        <p14:creationId xmlns:p14="http://schemas.microsoft.com/office/powerpoint/2010/main" val="2420710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EA57F-8022-3FFE-D7FF-B1ED34422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: Rounded Corners 2">
            <a:extLst>
              <a:ext uri="{FF2B5EF4-FFF2-40B4-BE49-F238E27FC236}">
                <a16:creationId xmlns:a16="http://schemas.microsoft.com/office/drawing/2014/main" id="{179E52DC-6798-EDDB-9715-E116B53A0935}"/>
              </a:ext>
            </a:extLst>
          </p:cNvPr>
          <p:cNvSpPr/>
          <p:nvPr/>
        </p:nvSpPr>
        <p:spPr>
          <a:xfrm>
            <a:off x="310914" y="3797888"/>
            <a:ext cx="11078608" cy="747658"/>
          </a:xfrm>
          <a:prstGeom prst="roundRect">
            <a:avLst/>
          </a:prstGeom>
          <a:solidFill>
            <a:schemeClr val="bg1"/>
          </a:solidFill>
          <a:ln w="41275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47" name="Rectangle: Rounded Corners 2">
            <a:extLst>
              <a:ext uri="{FF2B5EF4-FFF2-40B4-BE49-F238E27FC236}">
                <a16:creationId xmlns:a16="http://schemas.microsoft.com/office/drawing/2014/main" id="{8F0BA29C-CA8E-2200-F256-B9EE1FBD522A}"/>
              </a:ext>
            </a:extLst>
          </p:cNvPr>
          <p:cNvSpPr/>
          <p:nvPr/>
        </p:nvSpPr>
        <p:spPr>
          <a:xfrm>
            <a:off x="236751" y="956600"/>
            <a:ext cx="11078608" cy="747658"/>
          </a:xfrm>
          <a:prstGeom prst="roundRect">
            <a:avLst/>
          </a:prstGeom>
          <a:solidFill>
            <a:schemeClr val="bg1"/>
          </a:solidFill>
          <a:ln w="41275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2EB111-1606-7231-30CF-A48B6BCB0BE5}"/>
              </a:ext>
            </a:extLst>
          </p:cNvPr>
          <p:cNvSpPr/>
          <p:nvPr/>
        </p:nvSpPr>
        <p:spPr>
          <a:xfrm>
            <a:off x="236751" y="5362421"/>
            <a:ext cx="4657060" cy="1392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3BA3C4-9A17-034E-7548-5CC8D8A44360}"/>
              </a:ext>
            </a:extLst>
          </p:cNvPr>
          <p:cNvSpPr txBox="1"/>
          <p:nvPr/>
        </p:nvSpPr>
        <p:spPr>
          <a:xfrm>
            <a:off x="357964" y="995052"/>
            <a:ext cx="10720332" cy="66504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>
                <a:latin typeface="Arial"/>
                <a:ea typeface="ＭＳ Ｐゴシック"/>
              </a:rPr>
              <a:t>Definition:   A </a:t>
            </a:r>
            <a:r>
              <a:rPr lang="en-US" i="1" dirty="0">
                <a:latin typeface="Arial"/>
                <a:ea typeface="ＭＳ Ｐゴシック"/>
              </a:rPr>
              <a:t>quantum process</a:t>
            </a:r>
            <a:r>
              <a:rPr lang="en-US" dirty="0">
                <a:latin typeface="Arial"/>
                <a:ea typeface="ＭＳ Ｐゴシック"/>
              </a:rPr>
              <a:t> is </a:t>
            </a:r>
            <a:r>
              <a:rPr lang="en-US" dirty="0">
                <a:solidFill>
                  <a:srgbClr val="0070C0"/>
                </a:solidFill>
                <a:latin typeface="Arial"/>
                <a:ea typeface="ＭＳ Ｐゴシック"/>
              </a:rPr>
              <a:t>classical</a:t>
            </a:r>
            <a:r>
              <a:rPr lang="en-US" dirty="0">
                <a:latin typeface="Arial"/>
                <a:ea typeface="ＭＳ Ｐゴシック"/>
              </a:rPr>
              <a:t> if it always generates classically explainable statistics when  </a:t>
            </a:r>
          </a:p>
          <a:p>
            <a:r>
              <a:rPr lang="en-US" dirty="0">
                <a:latin typeface="Arial"/>
                <a:ea typeface="ＭＳ Ｐゴシック"/>
              </a:rPr>
              <a:t>using nontrivially* in quantum circuits.</a:t>
            </a:r>
            <a:endParaRPr lang="en-US" dirty="0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8B2E0C5-1F41-0F3D-C949-F1AA29A6BEB0}"/>
              </a:ext>
            </a:extLst>
          </p:cNvPr>
          <p:cNvGrpSpPr/>
          <p:nvPr/>
        </p:nvGrpSpPr>
        <p:grpSpPr>
          <a:xfrm>
            <a:off x="3695569" y="1806430"/>
            <a:ext cx="1543819" cy="1774540"/>
            <a:chOff x="2768765" y="3749257"/>
            <a:chExt cx="1543819" cy="1774540"/>
          </a:xfrm>
        </p:grpSpPr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1C228199-3CDE-C550-8992-6EB41817BD58}"/>
                </a:ext>
              </a:extLst>
            </p:cNvPr>
            <p:cNvGrpSpPr/>
            <p:nvPr/>
          </p:nvGrpSpPr>
          <p:grpSpPr>
            <a:xfrm>
              <a:off x="3855991" y="4380061"/>
              <a:ext cx="69706" cy="731097"/>
              <a:chOff x="6548130" y="2237014"/>
              <a:chExt cx="49658" cy="440872"/>
            </a:xfrm>
          </p:grpSpPr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47474D83-E7C4-73D1-0FF5-0EDBF47AF5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48130" y="2237014"/>
                <a:ext cx="0" cy="440872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cxn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630C57AB-D711-D38A-126B-CA801E347B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97788" y="2237014"/>
                <a:ext cx="0" cy="440872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Flowchart: Delay 254">
                  <a:extLst>
                    <a:ext uri="{FF2B5EF4-FFF2-40B4-BE49-F238E27FC236}">
                      <a16:creationId xmlns:a16="http://schemas.microsoft.com/office/drawing/2014/main" id="{FCD8E353-0218-E617-784D-11EF6180E9A7}"/>
                    </a:ext>
                  </a:extLst>
                </p:cNvPr>
                <p:cNvSpPr/>
                <p:nvPr/>
              </p:nvSpPr>
              <p:spPr>
                <a:xfrm rot="5400000">
                  <a:off x="3643445" y="4871373"/>
                  <a:ext cx="472321" cy="560762"/>
                </a:xfrm>
                <a:prstGeom prst="flowChartDelay">
                  <a:avLst/>
                </a:prstGeom>
                <a:solidFill>
                  <a:srgbClr val="4472C4">
                    <a:lumMod val="60000"/>
                    <a:lumOff val="40000"/>
                  </a:srgbClr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vert27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8FAADD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</a:t>
                  </a:r>
                  <a14:m>
                    <m:oMath xmlns:m="http://schemas.openxmlformats.org/officeDocument/2006/math">
                      <m:r>
                        <a:rPr kumimoji="0" 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8FAAD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sSup>
                        <m:sSupPr>
                          <m:ctrlPr>
                            <a:rPr kumimoji="0" lang="en-US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8FAAD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8FAAD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𝜌</m:t>
                          </m:r>
                        </m:e>
                        <m:sup>
                          <m:r>
                            <a:rPr kumimoji="0" lang="en-US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8FAAD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𝐵</m:t>
                          </m:r>
                        </m:sup>
                      </m:sSup>
                    </m:oMath>
                  </a14:m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8FAADD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5" name="Flowchart: Delay 254">
                  <a:extLst>
                    <a:ext uri="{FF2B5EF4-FFF2-40B4-BE49-F238E27FC236}">
                      <a16:creationId xmlns:a16="http://schemas.microsoft.com/office/drawing/2014/main" id="{31B412D1-B3E6-7CC5-DF55-DDDE5AC6D8A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3643445" y="4871373"/>
                  <a:ext cx="472321" cy="560762"/>
                </a:xfrm>
                <a:prstGeom prst="flowChartDelay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E1BCFB6B-1955-DD0B-EB2F-B51C30391EC9}"/>
                </a:ext>
              </a:extLst>
            </p:cNvPr>
            <p:cNvGrpSpPr/>
            <p:nvPr/>
          </p:nvGrpSpPr>
          <p:grpSpPr>
            <a:xfrm>
              <a:off x="3137019" y="4374295"/>
              <a:ext cx="69706" cy="731097"/>
              <a:chOff x="6548130" y="2237014"/>
              <a:chExt cx="49658" cy="440872"/>
            </a:xfrm>
          </p:grpSpPr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6CDB7666-1482-FA4B-17F0-118EFC96F8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48130" y="2237014"/>
                <a:ext cx="0" cy="440872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BC220A1F-D5D3-C4E3-64DB-B5947E1A83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97788" y="2237014"/>
                <a:ext cx="0" cy="440872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cxnSp>
        </p:grp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C25AA52B-7C32-E192-7FEA-971E104CA8B0}"/>
                </a:ext>
              </a:extLst>
            </p:cNvPr>
            <p:cNvCxnSpPr/>
            <p:nvPr/>
          </p:nvCxnSpPr>
          <p:spPr>
            <a:xfrm>
              <a:off x="3161728" y="5279432"/>
              <a:ext cx="0" cy="244365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Flowchart: Delay 249">
                  <a:extLst>
                    <a:ext uri="{FF2B5EF4-FFF2-40B4-BE49-F238E27FC236}">
                      <a16:creationId xmlns:a16="http://schemas.microsoft.com/office/drawing/2014/main" id="{C108D61E-3B1B-C451-4A12-BC8BA3E97A17}"/>
                    </a:ext>
                  </a:extLst>
                </p:cNvPr>
                <p:cNvSpPr/>
                <p:nvPr/>
              </p:nvSpPr>
              <p:spPr>
                <a:xfrm rot="5400000">
                  <a:off x="2924473" y="4865607"/>
                  <a:ext cx="472321" cy="560762"/>
                </a:xfrm>
                <a:prstGeom prst="flowChartDelay">
                  <a:avLst/>
                </a:prstGeom>
                <a:solidFill>
                  <a:srgbClr val="FFC000">
                    <a:lumMod val="40000"/>
                    <a:lumOff val="60000"/>
                  </a:srgbClr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vert27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8FAADD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kumimoji="0" lang="en-US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206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206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𝜌</m:t>
                          </m:r>
                        </m:e>
                        <m:sup>
                          <m:r>
                            <a:rPr kumimoji="0" lang="en-US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206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𝐴</m:t>
                          </m:r>
                        </m:sup>
                      </m:sSup>
                    </m:oMath>
                  </a14:m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8FAADD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79" name="Flowchart: Delay 249">
                  <a:extLst>
                    <a:ext uri="{FF2B5EF4-FFF2-40B4-BE49-F238E27FC236}">
                      <a16:creationId xmlns:a16="http://schemas.microsoft.com/office/drawing/2014/main" id="{C108D61E-3B1B-C451-4A12-BC8BA3E97A1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924473" y="4865607"/>
                  <a:ext cx="472321" cy="560762"/>
                </a:xfrm>
                <a:prstGeom prst="flowChartDelay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Flowchart: Delay 348">
                  <a:extLst>
                    <a:ext uri="{FF2B5EF4-FFF2-40B4-BE49-F238E27FC236}">
                      <a16:creationId xmlns:a16="http://schemas.microsoft.com/office/drawing/2014/main" id="{22514B3F-842D-F66D-841F-C46EBD291E50}"/>
                    </a:ext>
                  </a:extLst>
                </p:cNvPr>
                <p:cNvSpPr/>
                <p:nvPr/>
              </p:nvSpPr>
              <p:spPr>
                <a:xfrm rot="16200000">
                  <a:off x="3306129" y="3479828"/>
                  <a:ext cx="469087" cy="1318967"/>
                </a:xfrm>
                <a:prstGeom prst="flowChartDelay">
                  <a:avLst/>
                </a:prstGeom>
                <a:solidFill>
                  <a:srgbClr val="4472C4">
                    <a:lumMod val="60000"/>
                    <a:lumOff val="40000"/>
                  </a:srgbClr>
                </a:solidFill>
                <a:ln w="15875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vert="eaVert" rtlCol="0"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0" lang="en-US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8FAADD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0" lang="en-US" sz="1800" b="0" i="0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8FAADD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M</m:t>
                            </m:r>
                          </m:e>
                          <m:sup>
                            <m:r>
                              <a:rPr kumimoji="0" lang="en-US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8FAADD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𝐴𝐵</m:t>
                            </m:r>
                          </m:sup>
                        </m:sSup>
                      </m:oMath>
                    </m:oMathPara>
                  </a14:m>
                  <a:endParaRPr kumimoji="0" lang="en-US" sz="9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8FAADD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8" name="Flowchart: Delay 348">
                  <a:extLst>
                    <a:ext uri="{FF2B5EF4-FFF2-40B4-BE49-F238E27FC236}">
                      <a16:creationId xmlns:a16="http://schemas.microsoft.com/office/drawing/2014/main" id="{ADD84688-442C-F7BA-F7B6-9F16584D3C4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3306129" y="3479828"/>
                  <a:ext cx="469087" cy="1318967"/>
                </a:xfrm>
                <a:prstGeom prst="flowChartDelay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5875">
                  <a:solidFill>
                    <a:schemeClr val="tx1"/>
                  </a:solidFill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CB9C8D61-1CC3-8E49-DFA9-E5736A4574EC}"/>
                </a:ext>
              </a:extLst>
            </p:cNvPr>
            <p:cNvCxnSpPr>
              <a:cxnSpLocks/>
            </p:cNvCxnSpPr>
            <p:nvPr/>
          </p:nvCxnSpPr>
          <p:spPr>
            <a:xfrm>
              <a:off x="2768765" y="3749257"/>
              <a:ext cx="1543819" cy="0"/>
            </a:xfrm>
            <a:prstGeom prst="line">
              <a:avLst/>
            </a:prstGeom>
            <a:noFill/>
            <a:ln w="19050" cap="flat" cmpd="sng" algn="ctr">
              <a:solidFill>
                <a:srgbClr val="4472C4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ADDCA706-AB37-D6BB-D2F7-75266C9C0A51}"/>
                </a:ext>
              </a:extLst>
            </p:cNvPr>
            <p:cNvCxnSpPr>
              <a:cxnSpLocks/>
            </p:cNvCxnSpPr>
            <p:nvPr/>
          </p:nvCxnSpPr>
          <p:spPr>
            <a:xfrm>
              <a:off x="2816551" y="4600740"/>
              <a:ext cx="702881" cy="0"/>
            </a:xfrm>
            <a:prstGeom prst="line">
              <a:avLst/>
            </a:prstGeom>
            <a:noFill/>
            <a:ln w="19050" cap="flat" cmpd="sng" algn="ctr">
              <a:solidFill>
                <a:srgbClr val="4472C4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43FB6CDD-DB0A-0465-FE57-7E3B7BED9A62}"/>
                </a:ext>
              </a:extLst>
            </p:cNvPr>
            <p:cNvCxnSpPr>
              <a:cxnSpLocks/>
            </p:cNvCxnSpPr>
            <p:nvPr/>
          </p:nvCxnSpPr>
          <p:spPr>
            <a:xfrm>
              <a:off x="3543071" y="5488228"/>
              <a:ext cx="702881" cy="0"/>
            </a:xfrm>
            <a:prstGeom prst="line">
              <a:avLst/>
            </a:prstGeom>
            <a:noFill/>
            <a:ln w="19050" cap="flat" cmpd="sng" algn="ctr">
              <a:solidFill>
                <a:srgbClr val="4472C4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12E8CFCC-F49B-4325-F781-29279E55A7B0}"/>
                </a:ext>
              </a:extLst>
            </p:cNvPr>
            <p:cNvCxnSpPr>
              <a:cxnSpLocks/>
            </p:cNvCxnSpPr>
            <p:nvPr/>
          </p:nvCxnSpPr>
          <p:spPr>
            <a:xfrm>
              <a:off x="4287756" y="3825853"/>
              <a:ext cx="0" cy="1667544"/>
            </a:xfrm>
            <a:prstGeom prst="line">
              <a:avLst/>
            </a:prstGeom>
            <a:noFill/>
            <a:ln w="19050" cap="flat" cmpd="sng" algn="ctr">
              <a:solidFill>
                <a:srgbClr val="4472C4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B9614349-3FC5-E553-70DF-9E0F57DDCC77}"/>
                </a:ext>
              </a:extLst>
            </p:cNvPr>
            <p:cNvCxnSpPr>
              <a:cxnSpLocks/>
            </p:cNvCxnSpPr>
            <p:nvPr/>
          </p:nvCxnSpPr>
          <p:spPr>
            <a:xfrm>
              <a:off x="2777660" y="3804937"/>
              <a:ext cx="0" cy="819669"/>
            </a:xfrm>
            <a:prstGeom prst="line">
              <a:avLst/>
            </a:prstGeom>
            <a:noFill/>
            <a:ln w="19050" cap="flat" cmpd="sng" algn="ctr">
              <a:solidFill>
                <a:srgbClr val="4472C4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E2A480B-09AD-4139-68CC-B37B19644CA3}"/>
                </a:ext>
              </a:extLst>
            </p:cNvPr>
            <p:cNvCxnSpPr>
              <a:cxnSpLocks/>
            </p:cNvCxnSpPr>
            <p:nvPr/>
          </p:nvCxnSpPr>
          <p:spPr>
            <a:xfrm>
              <a:off x="3544972" y="4648844"/>
              <a:ext cx="0" cy="819669"/>
            </a:xfrm>
            <a:prstGeom prst="line">
              <a:avLst/>
            </a:prstGeom>
            <a:noFill/>
            <a:ln w="19050" cap="flat" cmpd="sng" algn="ctr">
              <a:solidFill>
                <a:srgbClr val="4472C4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82EB7E27-1311-496A-5476-B458EC307D89}"/>
              </a:ext>
            </a:extLst>
          </p:cNvPr>
          <p:cNvGrpSpPr/>
          <p:nvPr/>
        </p:nvGrpSpPr>
        <p:grpSpPr>
          <a:xfrm>
            <a:off x="6737253" y="1990610"/>
            <a:ext cx="702881" cy="1667539"/>
            <a:chOff x="6344782" y="3503886"/>
            <a:chExt cx="371640" cy="1058726"/>
          </a:xfrm>
        </p:grpSpPr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47C5755A-8BC4-42B4-CFF0-43104D72991B}"/>
                </a:ext>
              </a:extLst>
            </p:cNvPr>
            <p:cNvCxnSpPr>
              <a:cxnSpLocks/>
            </p:cNvCxnSpPr>
            <p:nvPr/>
          </p:nvCxnSpPr>
          <p:spPr>
            <a:xfrm>
              <a:off x="6517035" y="3808669"/>
              <a:ext cx="0" cy="479517"/>
            </a:xfrm>
            <a:prstGeom prst="line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52632130-C2BE-A6BB-746D-1FEC675BE14D}"/>
                </a:ext>
              </a:extLst>
            </p:cNvPr>
            <p:cNvCxnSpPr>
              <a:cxnSpLocks/>
            </p:cNvCxnSpPr>
            <p:nvPr/>
          </p:nvCxnSpPr>
          <p:spPr>
            <a:xfrm>
              <a:off x="6562754" y="3808669"/>
              <a:ext cx="0" cy="479517"/>
            </a:xfrm>
            <a:prstGeom prst="line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Flowchart: Delay 93">
                  <a:extLst>
                    <a:ext uri="{FF2B5EF4-FFF2-40B4-BE49-F238E27FC236}">
                      <a16:creationId xmlns:a16="http://schemas.microsoft.com/office/drawing/2014/main" id="{65CE4854-6D10-F405-2E9E-3E378EB71737}"/>
                    </a:ext>
                  </a:extLst>
                </p:cNvPr>
                <p:cNvSpPr/>
                <p:nvPr/>
              </p:nvSpPr>
              <p:spPr>
                <a:xfrm rot="16200000">
                  <a:off x="6373786" y="3474882"/>
                  <a:ext cx="309789" cy="367797"/>
                </a:xfrm>
                <a:prstGeom prst="flowChartDelay">
                  <a:avLst/>
                </a:prstGeom>
                <a:solidFill>
                  <a:srgbClr val="4472C4">
                    <a:lumMod val="60000"/>
                    <a:lumOff val="40000"/>
                  </a:srgbClr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eaVert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0" lang="en-US" sz="20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0" lang="en-US" sz="2000" b="0" i="0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M</m:t>
                            </m:r>
                          </m:e>
                          <m:sup>
                            <m:r>
                              <a:rPr kumimoji="0" lang="en-US" sz="20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𝐴</m:t>
                            </m:r>
                          </m:sup>
                        </m:sSup>
                      </m:oMath>
                    </m:oMathPara>
                  </a14:m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08" name="Flowchart: Delay 93">
                  <a:extLst>
                    <a:ext uri="{FF2B5EF4-FFF2-40B4-BE49-F238E27FC236}">
                      <a16:creationId xmlns:a16="http://schemas.microsoft.com/office/drawing/2014/main" id="{65CE4854-6D10-F405-2E9E-3E378EB7173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6373786" y="3474882"/>
                  <a:ext cx="309789" cy="367797"/>
                </a:xfrm>
                <a:prstGeom prst="flowChartDelay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EE0368FE-4D6D-33F0-5416-8DD7F55E68A9}"/>
                </a:ext>
              </a:extLst>
            </p:cNvPr>
            <p:cNvCxnSpPr/>
            <p:nvPr/>
          </p:nvCxnSpPr>
          <p:spPr>
            <a:xfrm>
              <a:off x="6433493" y="4039086"/>
              <a:ext cx="0" cy="160276"/>
            </a:xfrm>
            <a:prstGeom prst="line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2372F698-6CE0-B78E-27A7-6B06283AF5E1}"/>
                </a:ext>
              </a:extLst>
            </p:cNvPr>
            <p:cNvCxnSpPr/>
            <p:nvPr/>
          </p:nvCxnSpPr>
          <p:spPr>
            <a:xfrm>
              <a:off x="6533241" y="4402336"/>
              <a:ext cx="0" cy="160276"/>
            </a:xfrm>
            <a:prstGeom prst="line">
              <a:avLst/>
            </a:prstGeom>
            <a:noFill/>
            <a:ln w="158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Flowchart: Delay 122">
                  <a:extLst>
                    <a:ext uri="{FF2B5EF4-FFF2-40B4-BE49-F238E27FC236}">
                      <a16:creationId xmlns:a16="http://schemas.microsoft.com/office/drawing/2014/main" id="{580DF354-B84B-6262-E6B5-EC26700692B1}"/>
                    </a:ext>
                  </a:extLst>
                </p:cNvPr>
                <p:cNvSpPr/>
                <p:nvPr/>
              </p:nvSpPr>
              <p:spPr>
                <a:xfrm rot="5400000">
                  <a:off x="6377629" y="4130914"/>
                  <a:ext cx="309789" cy="367796"/>
                </a:xfrm>
                <a:prstGeom prst="flowChartDelay">
                  <a:avLst/>
                </a:prstGeom>
                <a:solidFill>
                  <a:srgbClr val="FFC000">
                    <a:lumMod val="40000"/>
                    <a:lumOff val="60000"/>
                  </a:srgbClr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vert27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kumimoji="0" lang="en-CA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𝜌</m:t>
                          </m:r>
                        </m:e>
                        <m:sup>
                          <m:r>
                            <a:rPr kumimoji="0" lang="en-CA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𝐴</m:t>
                          </m:r>
                        </m:sup>
                      </m:sSup>
                    </m:oMath>
                  </a14:m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11" name="Flowchart: Delay 122">
                  <a:extLst>
                    <a:ext uri="{FF2B5EF4-FFF2-40B4-BE49-F238E27FC236}">
                      <a16:creationId xmlns:a16="http://schemas.microsoft.com/office/drawing/2014/main" id="{580DF354-B84B-6262-E6B5-EC26700692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6377629" y="4130914"/>
                  <a:ext cx="309789" cy="367796"/>
                </a:xfrm>
                <a:prstGeom prst="flowChartDelay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4" name="TextBox 133">
            <a:extLst>
              <a:ext uri="{FF2B5EF4-FFF2-40B4-BE49-F238E27FC236}">
                <a16:creationId xmlns:a16="http://schemas.microsoft.com/office/drawing/2014/main" id="{7F59EDD3-FFD1-B8AF-3DE3-63181DAB3399}"/>
              </a:ext>
            </a:extLst>
          </p:cNvPr>
          <p:cNvSpPr txBox="1"/>
          <p:nvPr/>
        </p:nvSpPr>
        <p:spPr>
          <a:xfrm>
            <a:off x="8138325" y="2318502"/>
            <a:ext cx="29399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/>
                <a:ea typeface="ＭＳ Ｐゴシック"/>
              </a:rPr>
              <a:t>* </a:t>
            </a:r>
            <a:r>
              <a:rPr lang="en-US" sz="1400" dirty="0"/>
              <a:t>No new quantum system is introduced. </a:t>
            </a:r>
          </a:p>
        </p:txBody>
      </p:sp>
      <p:sp>
        <p:nvSpPr>
          <p:cNvPr id="135" name="Right Arrow 134">
            <a:extLst>
              <a:ext uri="{FF2B5EF4-FFF2-40B4-BE49-F238E27FC236}">
                <a16:creationId xmlns:a16="http://schemas.microsoft.com/office/drawing/2014/main" id="{BF81F3DE-1830-60CF-0403-4E32E242A02C}"/>
              </a:ext>
            </a:extLst>
          </p:cNvPr>
          <p:cNvSpPr/>
          <p:nvPr/>
        </p:nvSpPr>
        <p:spPr>
          <a:xfrm>
            <a:off x="5625296" y="2580112"/>
            <a:ext cx="505427" cy="268174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D2F5D05D-20B6-6262-38A8-EE3A81AA4D93}"/>
              </a:ext>
            </a:extLst>
          </p:cNvPr>
          <p:cNvSpPr txBox="1"/>
          <p:nvPr/>
        </p:nvSpPr>
        <p:spPr>
          <a:xfrm>
            <a:off x="357964" y="3867299"/>
            <a:ext cx="1137340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>
                <a:latin typeface="Arial"/>
                <a:ea typeface="ＭＳ Ｐゴシック"/>
              </a:rPr>
              <a:t>Theorem:   A </a:t>
            </a:r>
            <a:r>
              <a:rPr lang="en-US" i="1" dirty="0">
                <a:latin typeface="Arial"/>
                <a:ea typeface="ＭＳ Ｐゴシック"/>
              </a:rPr>
              <a:t>quantum process</a:t>
            </a:r>
            <a:r>
              <a:rPr lang="en-US" dirty="0">
                <a:latin typeface="Arial"/>
                <a:ea typeface="ＭＳ Ｐゴシック"/>
              </a:rPr>
              <a:t> is </a:t>
            </a:r>
            <a:r>
              <a:rPr lang="en-US" dirty="0">
                <a:solidFill>
                  <a:srgbClr val="0070C0"/>
                </a:solidFill>
                <a:latin typeface="Arial"/>
                <a:ea typeface="ＭＳ Ｐゴシック"/>
              </a:rPr>
              <a:t>nonclassical</a:t>
            </a:r>
            <a:r>
              <a:rPr lang="en-US" dirty="0">
                <a:latin typeface="Arial"/>
                <a:ea typeface="ＭＳ Ｐゴシック"/>
              </a:rPr>
              <a:t> if and only if it can be used in some quantum experiment to generate a proof of the failure of noncontextuality with </a:t>
            </a:r>
            <a:r>
              <a:rPr lang="en-US" i="1" u="sng" dirty="0">
                <a:latin typeface="Arial"/>
                <a:ea typeface="ＭＳ Ｐゴシック"/>
              </a:rPr>
              <a:t>factorizing dual process</a:t>
            </a:r>
            <a:r>
              <a:rPr lang="en-US" dirty="0">
                <a:latin typeface="Arial"/>
                <a:ea typeface="ＭＳ Ｐゴシック"/>
              </a:rPr>
              <a:t>*</a:t>
            </a:r>
            <a:endParaRPr lang="en-US" dirty="0"/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90875274-F908-56C0-A6E8-8DC9F0051661}"/>
              </a:ext>
            </a:extLst>
          </p:cNvPr>
          <p:cNvCxnSpPr/>
          <p:nvPr/>
        </p:nvCxnSpPr>
        <p:spPr>
          <a:xfrm flipV="1">
            <a:off x="3232455" y="3211732"/>
            <a:ext cx="431509" cy="22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104948E1-93DA-CEC2-64DC-F2E760D621BA}"/>
              </a:ext>
            </a:extLst>
          </p:cNvPr>
          <p:cNvSpPr txBox="1"/>
          <p:nvPr/>
        </p:nvSpPr>
        <p:spPr>
          <a:xfrm>
            <a:off x="1577232" y="3105189"/>
            <a:ext cx="17704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Process to be certified 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26AD204D-D348-7ADA-6CB9-4EC93B9F6D6F}"/>
              </a:ext>
            </a:extLst>
          </p:cNvPr>
          <p:cNvSpPr txBox="1"/>
          <p:nvPr/>
        </p:nvSpPr>
        <p:spPr>
          <a:xfrm>
            <a:off x="2068554" y="2035300"/>
            <a:ext cx="17704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Dual process</a:t>
            </a:r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8173D46B-ABB0-E39B-A88A-855A07049F52}"/>
              </a:ext>
            </a:extLst>
          </p:cNvPr>
          <p:cNvCxnSpPr>
            <a:cxnSpLocks/>
          </p:cNvCxnSpPr>
          <p:nvPr/>
        </p:nvCxnSpPr>
        <p:spPr>
          <a:xfrm>
            <a:off x="3191936" y="2202159"/>
            <a:ext cx="435028" cy="15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4" name="Picture 143">
            <a:extLst>
              <a:ext uri="{FF2B5EF4-FFF2-40B4-BE49-F238E27FC236}">
                <a16:creationId xmlns:a16="http://schemas.microsoft.com/office/drawing/2014/main" id="{5509730B-5976-7955-87C3-C636F5EE27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02924" y="4676705"/>
            <a:ext cx="3347404" cy="2154385"/>
          </a:xfrm>
          <a:prstGeom prst="rect">
            <a:avLst/>
          </a:prstGeom>
        </p:spPr>
      </p:pic>
      <p:sp>
        <p:nvSpPr>
          <p:cNvPr id="145" name="TextBox 144">
            <a:extLst>
              <a:ext uri="{FF2B5EF4-FFF2-40B4-BE49-F238E27FC236}">
                <a16:creationId xmlns:a16="http://schemas.microsoft.com/office/drawing/2014/main" id="{3C387CEB-4D08-F430-F833-BC889E5DC2D3}"/>
              </a:ext>
            </a:extLst>
          </p:cNvPr>
          <p:cNvSpPr txBox="1"/>
          <p:nvPr/>
        </p:nvSpPr>
        <p:spPr>
          <a:xfrm>
            <a:off x="6458673" y="5465836"/>
            <a:ext cx="54863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/>
                <a:ea typeface="ＭＳ Ｐゴシック"/>
              </a:rPr>
              <a:t>* e.g., </a:t>
            </a:r>
            <a:r>
              <a:rPr lang="en-US" sz="1400" dirty="0"/>
              <a:t>The factorizing dual of a bipartite state is a product measurement.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EC2D73-43F2-9488-03F8-B478C4EF25F7}"/>
              </a:ext>
            </a:extLst>
          </p:cNvPr>
          <p:cNvSpPr txBox="1"/>
          <p:nvPr/>
        </p:nvSpPr>
        <p:spPr>
          <a:xfrm>
            <a:off x="0" y="416689"/>
            <a:ext cx="6458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Classical quantum processes</a:t>
            </a:r>
          </a:p>
        </p:txBody>
      </p:sp>
    </p:spTree>
    <p:extLst>
      <p:ext uri="{BB962C8B-B14F-4D97-AF65-F5344CB8AC3E}">
        <p14:creationId xmlns:p14="http://schemas.microsoft.com/office/powerpoint/2010/main" val="2663982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" grpId="0" animBg="1"/>
      <p:bldP spid="147" grpId="0" animBg="1"/>
      <p:bldP spid="4" grpId="0"/>
      <p:bldP spid="134" grpId="0"/>
      <p:bldP spid="135" grpId="0" animBg="1"/>
      <p:bldP spid="136" grpId="0"/>
      <p:bldP spid="139" grpId="0"/>
      <p:bldP spid="140" grpId="0"/>
      <p:bldP spid="14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25DD5-C97D-33E2-619E-BE0D599A3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E1458AE-F903-2746-DA0C-FF3B5A8917F2}"/>
              </a:ext>
            </a:extLst>
          </p:cNvPr>
          <p:cNvSpPr/>
          <p:nvPr/>
        </p:nvSpPr>
        <p:spPr>
          <a:xfrm>
            <a:off x="68329" y="5365376"/>
            <a:ext cx="4657060" cy="1392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15032DE2-1914-FD38-D096-201FA77E7B48}"/>
              </a:ext>
            </a:extLst>
          </p:cNvPr>
          <p:cNvSpPr txBox="1"/>
          <p:nvPr/>
        </p:nvSpPr>
        <p:spPr>
          <a:xfrm>
            <a:off x="68840" y="412612"/>
            <a:ext cx="8321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Defining classicality:  What we want? 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2C2BD275-C570-A935-65EF-70394B73C887}"/>
              </a:ext>
            </a:extLst>
          </p:cNvPr>
          <p:cNvSpPr/>
          <p:nvPr/>
        </p:nvSpPr>
        <p:spPr>
          <a:xfrm>
            <a:off x="4804571" y="2014063"/>
            <a:ext cx="2420470" cy="1049141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Subject to experimental test</a:t>
            </a: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82A77018-2A57-435C-2F21-6918A4932894}"/>
              </a:ext>
            </a:extLst>
          </p:cNvPr>
          <p:cNvSpPr/>
          <p:nvPr/>
        </p:nvSpPr>
        <p:spPr>
          <a:xfrm>
            <a:off x="8152604" y="2014062"/>
            <a:ext cx="2420470" cy="1049141"/>
          </a:xfrm>
          <a:prstGeom prst="rect">
            <a:avLst/>
          </a:prstGeom>
          <a:ln w="25400"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Constitute a resource</a:t>
            </a: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196AC43C-8CAE-FA27-91D6-84951D4E40C7}"/>
              </a:ext>
            </a:extLst>
          </p:cNvPr>
          <p:cNvSpPr/>
          <p:nvPr/>
        </p:nvSpPr>
        <p:spPr>
          <a:xfrm>
            <a:off x="1456538" y="2014063"/>
            <a:ext cx="2420470" cy="1049141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Applicable to all quantum processes</a:t>
            </a: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C5C17C38-ECB1-2E5D-B7E5-276CBDC22AD6}"/>
              </a:ext>
            </a:extLst>
          </p:cNvPr>
          <p:cNvSpPr/>
          <p:nvPr/>
        </p:nvSpPr>
        <p:spPr>
          <a:xfrm>
            <a:off x="1456538" y="3794797"/>
            <a:ext cx="2420470" cy="1049141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Invariant under different views</a:t>
            </a:r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491D8DEC-350C-03FD-7F67-FA9D460C698B}"/>
              </a:ext>
            </a:extLst>
          </p:cNvPr>
          <p:cNvSpPr/>
          <p:nvPr/>
        </p:nvSpPr>
        <p:spPr>
          <a:xfrm>
            <a:off x="4804571" y="3794796"/>
            <a:ext cx="2420470" cy="1049141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Connect to other notions of classicality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5A6A8A8-5D1F-C422-9BD8-C24E017E7749}"/>
              </a:ext>
            </a:extLst>
          </p:cNvPr>
          <p:cNvCxnSpPr>
            <a:cxnSpLocks/>
          </p:cNvCxnSpPr>
          <p:nvPr/>
        </p:nvCxnSpPr>
        <p:spPr>
          <a:xfrm>
            <a:off x="7343085" y="3063203"/>
            <a:ext cx="809519" cy="365797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1CF6808-2ED6-B031-5CC8-AA6CA42615CE}"/>
              </a:ext>
            </a:extLst>
          </p:cNvPr>
          <p:cNvCxnSpPr>
            <a:cxnSpLocks/>
          </p:cNvCxnSpPr>
          <p:nvPr/>
        </p:nvCxnSpPr>
        <p:spPr>
          <a:xfrm flipV="1">
            <a:off x="7343084" y="3779474"/>
            <a:ext cx="809520" cy="322148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1821FAB9-B8F5-F55D-EE97-B30E4702A88D}"/>
              </a:ext>
            </a:extLst>
          </p:cNvPr>
          <p:cNvSpPr/>
          <p:nvPr/>
        </p:nvSpPr>
        <p:spPr>
          <a:xfrm>
            <a:off x="8270647" y="3364626"/>
            <a:ext cx="3508977" cy="838362"/>
          </a:xfrm>
          <a:prstGeom prst="rect">
            <a:avLst/>
          </a:prstGeom>
          <a:ln w="254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New test for entanglement, steering, incompatibility and etc.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86FB6BF-6F7C-7D6D-A21B-E1CED78FF392}"/>
              </a:ext>
            </a:extLst>
          </p:cNvPr>
          <p:cNvCxnSpPr>
            <a:cxnSpLocks/>
          </p:cNvCxnSpPr>
          <p:nvPr/>
        </p:nvCxnSpPr>
        <p:spPr>
          <a:xfrm flipH="1">
            <a:off x="1665652" y="4843937"/>
            <a:ext cx="524565" cy="62488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BFBDC3C-E1EB-F797-BE40-F636D3A6253D}"/>
              </a:ext>
            </a:extLst>
          </p:cNvPr>
          <p:cNvCxnSpPr>
            <a:cxnSpLocks/>
          </p:cNvCxnSpPr>
          <p:nvPr/>
        </p:nvCxnSpPr>
        <p:spPr>
          <a:xfrm flipH="1">
            <a:off x="1105736" y="2959763"/>
            <a:ext cx="350802" cy="2509054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DDB8C7E0-7FE0-032D-90A2-26C28D5CD1DB}"/>
              </a:ext>
            </a:extLst>
          </p:cNvPr>
          <p:cNvSpPr/>
          <p:nvPr/>
        </p:nvSpPr>
        <p:spPr>
          <a:xfrm>
            <a:off x="68328" y="5566489"/>
            <a:ext cx="3236911" cy="819779"/>
          </a:xfrm>
          <a:prstGeom prst="rect">
            <a:avLst/>
          </a:prstGeom>
          <a:ln w="254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 clear connection among different types of processes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8820272-AC96-CE2C-67C4-A8F71261433D}"/>
              </a:ext>
            </a:extLst>
          </p:cNvPr>
          <p:cNvCxnSpPr>
            <a:cxnSpLocks/>
          </p:cNvCxnSpPr>
          <p:nvPr/>
        </p:nvCxnSpPr>
        <p:spPr>
          <a:xfrm flipH="1">
            <a:off x="5892114" y="4843937"/>
            <a:ext cx="392313" cy="62488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70CB982-38EA-4D4B-F996-F738CB2B255C}"/>
              </a:ext>
            </a:extLst>
          </p:cNvPr>
          <p:cNvCxnSpPr>
            <a:cxnSpLocks/>
          </p:cNvCxnSpPr>
          <p:nvPr/>
        </p:nvCxnSpPr>
        <p:spPr>
          <a:xfrm>
            <a:off x="3846960" y="3116559"/>
            <a:ext cx="1087543" cy="2352258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08418CE7-B465-DCF5-7F7F-4151A1DF896B}"/>
              </a:ext>
            </a:extLst>
          </p:cNvPr>
          <p:cNvSpPr/>
          <p:nvPr/>
        </p:nvSpPr>
        <p:spPr>
          <a:xfrm>
            <a:off x="4229700" y="5555500"/>
            <a:ext cx="3393971" cy="819779"/>
          </a:xfrm>
          <a:prstGeom prst="rect">
            <a:avLst/>
          </a:prstGeom>
          <a:ln w="254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 clear hierarchy of classicality for</a:t>
            </a:r>
            <a:r>
              <a:rPr lang="zh-CN" altLang="en-US" dirty="0"/>
              <a:t> </a:t>
            </a:r>
            <a:r>
              <a:rPr lang="en-US" dirty="0"/>
              <a:t>the same type of processes</a:t>
            </a:r>
          </a:p>
        </p:txBody>
      </p:sp>
      <p:pic>
        <p:nvPicPr>
          <p:cNvPr id="4" name="Graphic 3" descr="Checkmark with solid fill">
            <a:extLst>
              <a:ext uri="{FF2B5EF4-FFF2-40B4-BE49-F238E27FC236}">
                <a16:creationId xmlns:a16="http://schemas.microsoft.com/office/drawing/2014/main" id="{A6685F5D-B5DD-B072-BEE7-EAB6AC6814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3336" y="1484240"/>
            <a:ext cx="914400" cy="914400"/>
          </a:xfrm>
          <a:prstGeom prst="rect">
            <a:avLst/>
          </a:prstGeom>
        </p:spPr>
      </p:pic>
      <p:pic>
        <p:nvPicPr>
          <p:cNvPr id="6" name="Graphic 5" descr="Checkmark with solid fill">
            <a:extLst>
              <a:ext uri="{FF2B5EF4-FFF2-40B4-BE49-F238E27FC236}">
                <a16:creationId xmlns:a16="http://schemas.microsoft.com/office/drawing/2014/main" id="{4133147C-15B2-2C9F-2BAA-289E62F40D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4427" y="148424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969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4" grpId="0" animBg="1"/>
      <p:bldP spid="2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7E7C9-FDEF-CE39-F04B-CB64DE8B8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9B676A4-13F3-239C-9F15-5DF52DD272E2}"/>
              </a:ext>
            </a:extLst>
          </p:cNvPr>
          <p:cNvSpPr/>
          <p:nvPr/>
        </p:nvSpPr>
        <p:spPr>
          <a:xfrm>
            <a:off x="236751" y="5362421"/>
            <a:ext cx="4657060" cy="1392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FEC0A93-F707-B789-25B3-3538D5392568}"/>
                  </a:ext>
                </a:extLst>
              </p:cNvPr>
              <p:cNvSpPr txBox="1"/>
              <p:nvPr/>
            </p:nvSpPr>
            <p:spPr>
              <a:xfrm>
                <a:off x="11287262" y="2423243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FEC0A93-F707-B789-25B3-3538D53925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7262" y="2423243"/>
                <a:ext cx="246689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AC19A16-4400-56C9-6B7C-155C553DA156}"/>
              </a:ext>
            </a:extLst>
          </p:cNvPr>
          <p:cNvCxnSpPr/>
          <p:nvPr/>
        </p:nvCxnSpPr>
        <p:spPr>
          <a:xfrm>
            <a:off x="11408553" y="2886183"/>
            <a:ext cx="0" cy="160276"/>
          </a:xfrm>
          <a:prstGeom prst="line">
            <a:avLst/>
          </a:prstGeom>
          <a:noFill/>
          <a:ln w="158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C91E31F-20CB-2938-5790-636AF580A356}"/>
                  </a:ext>
                </a:extLst>
              </p:cNvPr>
              <p:cNvSpPr txBox="1"/>
              <p:nvPr/>
            </p:nvSpPr>
            <p:spPr>
              <a:xfrm>
                <a:off x="11385430" y="2833668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200" i="1">
                          <a:solidFill>
                            <a:prstClr val="black"/>
                          </a:solidFill>
                          <a:latin typeface="Cambria Math" panose="020F0502020204030204" pitchFamily="18" charset="0"/>
                        </a:rPr>
                        <m:t>y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C91E31F-20CB-2938-5790-636AF580A3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5430" y="2833668"/>
                <a:ext cx="204800" cy="276999"/>
              </a:xfrm>
              <a:prstGeom prst="rect">
                <a:avLst/>
              </a:prstGeom>
              <a:blipFill>
                <a:blip r:embed="rId3"/>
                <a:stretch>
                  <a:fillRect r="-11765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146ACD2-9B7D-8C4A-24EF-A9D605D7C797}"/>
              </a:ext>
            </a:extLst>
          </p:cNvPr>
          <p:cNvCxnSpPr>
            <a:cxnSpLocks/>
          </p:cNvCxnSpPr>
          <p:nvPr/>
        </p:nvCxnSpPr>
        <p:spPr>
          <a:xfrm>
            <a:off x="9715653" y="2484329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EC2CF46-4D75-2B65-9308-FDF3327753A3}"/>
              </a:ext>
            </a:extLst>
          </p:cNvPr>
          <p:cNvCxnSpPr/>
          <p:nvPr/>
        </p:nvCxnSpPr>
        <p:spPr>
          <a:xfrm>
            <a:off x="9815882" y="2849814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B7E31A4-7770-FD9B-F6CB-4523F9953AAE}"/>
                  </a:ext>
                </a:extLst>
              </p:cNvPr>
              <p:cNvSpPr txBox="1"/>
              <p:nvPr/>
            </p:nvSpPr>
            <p:spPr>
              <a:xfrm>
                <a:off x="9711527" y="2380523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B7E31A4-7770-FD9B-F6CB-4523F9953A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1527" y="2380523"/>
                <a:ext cx="246689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C079B611-302C-5E84-F724-1C99AB532A26}"/>
              </a:ext>
            </a:extLst>
          </p:cNvPr>
          <p:cNvGrpSpPr/>
          <p:nvPr/>
        </p:nvGrpSpPr>
        <p:grpSpPr>
          <a:xfrm>
            <a:off x="9704225" y="2884221"/>
            <a:ext cx="45719" cy="479517"/>
            <a:chOff x="6548130" y="2237014"/>
            <a:chExt cx="49658" cy="440872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338D1614-DBCE-A507-A705-AA59A4412E62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474008C7-A888-1446-6510-61D085299E3E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sp>
        <p:nvSpPr>
          <p:cNvPr id="52" name="Flowchart: Delay 88">
            <a:extLst>
              <a:ext uri="{FF2B5EF4-FFF2-40B4-BE49-F238E27FC236}">
                <a16:creationId xmlns:a16="http://schemas.microsoft.com/office/drawing/2014/main" id="{53F9A2A3-83FD-76BE-EC23-E46BF9E6B127}"/>
              </a:ext>
            </a:extLst>
          </p:cNvPr>
          <p:cNvSpPr/>
          <p:nvPr/>
        </p:nvSpPr>
        <p:spPr>
          <a:xfrm rot="16200000">
            <a:off x="9560976" y="2550434"/>
            <a:ext cx="309789" cy="367797"/>
          </a:xfrm>
          <a:prstGeom prst="flowChartDelay">
            <a:avLst/>
          </a:prstGeom>
          <a:solidFill>
            <a:srgbClr val="FFC000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eaVert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Flowchart: Delay 89">
                <a:extLst>
                  <a:ext uri="{FF2B5EF4-FFF2-40B4-BE49-F238E27FC236}">
                    <a16:creationId xmlns:a16="http://schemas.microsoft.com/office/drawing/2014/main" id="{68575A88-33E4-C857-4907-002E42A153A0}"/>
                  </a:ext>
                </a:extLst>
              </p:cNvPr>
              <p:cNvSpPr/>
              <p:nvPr/>
            </p:nvSpPr>
            <p:spPr>
              <a:xfrm rot="5400000">
                <a:off x="9564819" y="3324576"/>
                <a:ext cx="309789" cy="367796"/>
              </a:xfrm>
              <a:prstGeom prst="flowChartDelay">
                <a:avLst/>
              </a:prstGeom>
              <a:solidFill>
                <a:srgbClr val="8FAADD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vert27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1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𝜌</m:t>
                    </m:r>
                  </m:oMath>
                </a14:m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3" name="Flowchart: Delay 89">
                <a:extLst>
                  <a:ext uri="{FF2B5EF4-FFF2-40B4-BE49-F238E27FC236}">
                    <a16:creationId xmlns:a16="http://schemas.microsoft.com/office/drawing/2014/main" id="{68575A88-33E4-C857-4907-002E42A153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9564819" y="3324576"/>
                <a:ext cx="309789" cy="367796"/>
              </a:xfrm>
              <a:prstGeom prst="flowChartDelay">
                <a:avLst/>
              </a:prstGeom>
              <a:blipFill>
                <a:blip r:embed="rId5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101846D-CC00-288D-2EA7-1F7A04A11F75}"/>
                  </a:ext>
                </a:extLst>
              </p:cNvPr>
              <p:cNvSpPr txBox="1"/>
              <p:nvPr/>
            </p:nvSpPr>
            <p:spPr>
              <a:xfrm>
                <a:off x="9799401" y="2799356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200" i="1">
                          <a:solidFill>
                            <a:prstClr val="black"/>
                          </a:solidFill>
                          <a:latin typeface="Cambria Math" panose="020F0502020204030204" pitchFamily="18" charset="0"/>
                        </a:rPr>
                        <m:t>y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101846D-CC00-288D-2EA7-1F7A04A11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9401" y="2799356"/>
                <a:ext cx="204800" cy="276999"/>
              </a:xfrm>
              <a:prstGeom prst="rect">
                <a:avLst/>
              </a:prstGeom>
              <a:blipFill>
                <a:blip r:embed="rId3"/>
                <a:stretch>
                  <a:fillRect r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D3A18DF-D27F-820C-3369-9419BB17CB10}"/>
                  </a:ext>
                </a:extLst>
              </p:cNvPr>
              <p:cNvSpPr txBox="1"/>
              <p:nvPr/>
            </p:nvSpPr>
            <p:spPr>
              <a:xfrm>
                <a:off x="11083476" y="2962699"/>
                <a:ext cx="29073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sz="14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D3A18DF-D27F-820C-3369-9419BB17CB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83476" y="2962699"/>
                <a:ext cx="290731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: Rounded Corners 93">
                <a:extLst>
                  <a:ext uri="{FF2B5EF4-FFF2-40B4-BE49-F238E27FC236}">
                    <a16:creationId xmlns:a16="http://schemas.microsoft.com/office/drawing/2014/main" id="{31FE3BA1-8A6C-A178-EA54-CBE73F5CD380}"/>
                  </a:ext>
                </a:extLst>
              </p:cNvPr>
              <p:cNvSpPr/>
              <p:nvPr/>
            </p:nvSpPr>
            <p:spPr>
              <a:xfrm>
                <a:off x="11057282" y="3352029"/>
                <a:ext cx="495421" cy="261764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𝜆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F0502020204030204" pitchFamily="18" charset="0"/>
                          <a:ea typeface="+mn-ea"/>
                          <a:cs typeface="+mn-cs"/>
                        </a:rPr>
                        <m:t>|</m:t>
                      </m:r>
                      <m:r>
                        <a:rPr kumimoji="0" lang="en-CA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𝜌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6" name="Rectangle: Rounded Corners 93">
                <a:extLst>
                  <a:ext uri="{FF2B5EF4-FFF2-40B4-BE49-F238E27FC236}">
                    <a16:creationId xmlns:a16="http://schemas.microsoft.com/office/drawing/2014/main" id="{31FE3BA1-8A6C-A178-EA54-CBE73F5CD3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7282" y="3352029"/>
                <a:ext cx="495421" cy="261764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5DA35C4-81BE-DB44-9BC1-02DB29456D59}"/>
              </a:ext>
            </a:extLst>
          </p:cNvPr>
          <p:cNvCxnSpPr>
            <a:cxnSpLocks/>
            <a:stCxn id="58" idx="2"/>
            <a:endCxn id="56" idx="0"/>
          </p:cNvCxnSpPr>
          <p:nvPr/>
        </p:nvCxnSpPr>
        <p:spPr>
          <a:xfrm>
            <a:off x="11304863" y="2910390"/>
            <a:ext cx="130" cy="441639"/>
          </a:xfrm>
          <a:prstGeom prst="line">
            <a:avLst/>
          </a:prstGeom>
          <a:noFill/>
          <a:ln w="158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: Rounded Corners 95">
                <a:extLst>
                  <a:ext uri="{FF2B5EF4-FFF2-40B4-BE49-F238E27FC236}">
                    <a16:creationId xmlns:a16="http://schemas.microsoft.com/office/drawing/2014/main" id="{49912DE8-C67C-F40F-FD76-C9B86B0A1566}"/>
                  </a:ext>
                </a:extLst>
              </p:cNvPr>
              <p:cNvSpPr/>
              <p:nvPr/>
            </p:nvSpPr>
            <p:spPr>
              <a:xfrm>
                <a:off x="11046913" y="2641215"/>
                <a:ext cx="515899" cy="269175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𝑏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|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F0502020204030204" pitchFamily="18" charset="0"/>
                          <a:ea typeface="+mn-ea"/>
                          <a:cs typeface="+mn-cs"/>
                        </a:rPr>
                        <m:t>𝑦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𝜆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8" name="Rectangle: Rounded Corners 95">
                <a:extLst>
                  <a:ext uri="{FF2B5EF4-FFF2-40B4-BE49-F238E27FC236}">
                    <a16:creationId xmlns:a16="http://schemas.microsoft.com/office/drawing/2014/main" id="{49912DE8-C67C-F40F-FD76-C9B86B0A15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6913" y="2641215"/>
                <a:ext cx="515899" cy="269175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Arrow: Right 96">
            <a:extLst>
              <a:ext uri="{FF2B5EF4-FFF2-40B4-BE49-F238E27FC236}">
                <a16:creationId xmlns:a16="http://schemas.microsoft.com/office/drawing/2014/main" id="{F25A3384-7EEE-AAC4-6A6D-2C4B5C5BDF92}"/>
              </a:ext>
            </a:extLst>
          </p:cNvPr>
          <p:cNvSpPr/>
          <p:nvPr/>
        </p:nvSpPr>
        <p:spPr>
          <a:xfrm>
            <a:off x="10358254" y="2901407"/>
            <a:ext cx="394729" cy="426178"/>
          </a:xfrm>
          <a:prstGeom prst="rightArrow">
            <a:avLst/>
          </a:prstGeom>
          <a:solidFill>
            <a:srgbClr val="A5A5A5"/>
          </a:solidFill>
          <a:ln w="12700" cap="flat" cmpd="sng" algn="ctr">
            <a:solidFill>
              <a:srgbClr val="A5A5A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32C4BAF-0789-43AE-FC43-00A615AF018A}"/>
              </a:ext>
            </a:extLst>
          </p:cNvPr>
          <p:cNvSpPr txBox="1"/>
          <p:nvPr/>
        </p:nvSpPr>
        <p:spPr>
          <a:xfrm>
            <a:off x="10221939" y="2579437"/>
            <a:ext cx="9063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Linear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7383AE3-D70C-D429-8013-6D8490145B9F}"/>
              </a:ext>
            </a:extLst>
          </p:cNvPr>
          <p:cNvSpPr txBox="1"/>
          <p:nvPr/>
        </p:nvSpPr>
        <p:spPr>
          <a:xfrm>
            <a:off x="10651255" y="3740417"/>
            <a:ext cx="14157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Ontological model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4036359-9E08-D36D-5893-3BCFA8AB111F}"/>
              </a:ext>
            </a:extLst>
          </p:cNvPr>
          <p:cNvSpPr txBox="1"/>
          <p:nvPr/>
        </p:nvSpPr>
        <p:spPr>
          <a:xfrm>
            <a:off x="9091149" y="3744361"/>
            <a:ext cx="14157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Quantum circuit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C3DA5A3-230D-DF5D-FA2D-7A3CF2B25706}"/>
              </a:ext>
            </a:extLst>
          </p:cNvPr>
          <p:cNvCxnSpPr>
            <a:cxnSpLocks/>
          </p:cNvCxnSpPr>
          <p:nvPr/>
        </p:nvCxnSpPr>
        <p:spPr>
          <a:xfrm>
            <a:off x="11291388" y="2527049"/>
            <a:ext cx="0" cy="114159"/>
          </a:xfrm>
          <a:prstGeom prst="line">
            <a:avLst/>
          </a:prstGeom>
          <a:noFill/>
          <a:ln w="158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CF5E5232-280B-8A7E-94F1-F662B04304EE}"/>
                  </a:ext>
                </a:extLst>
              </p:cNvPr>
              <p:cNvSpPr txBox="1"/>
              <p:nvPr/>
            </p:nvSpPr>
            <p:spPr>
              <a:xfrm>
                <a:off x="9492155" y="2974262"/>
                <a:ext cx="16601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CF5E5232-280B-8A7E-94F1-F662B04304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2155" y="2974262"/>
                <a:ext cx="166012" cy="276999"/>
              </a:xfrm>
              <a:prstGeom prst="rect">
                <a:avLst/>
              </a:prstGeom>
              <a:blipFill>
                <a:blip r:embed="rId9"/>
                <a:stretch>
                  <a:fillRect r="-3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7" name="Picture 66">
            <a:extLst>
              <a:ext uri="{FF2B5EF4-FFF2-40B4-BE49-F238E27FC236}">
                <a16:creationId xmlns:a16="http://schemas.microsoft.com/office/drawing/2014/main" id="{69AF2318-12E2-42CD-18DE-0EEEDDC2ACF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1759085"/>
            <a:ext cx="9087903" cy="3680886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BBAF23EF-BE3D-8E6A-DD0F-35EF5C5E5153}"/>
              </a:ext>
            </a:extLst>
          </p:cNvPr>
          <p:cNvSpPr txBox="1"/>
          <p:nvPr/>
        </p:nvSpPr>
        <p:spPr>
          <a:xfrm>
            <a:off x="0" y="416690"/>
            <a:ext cx="8403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Example 1:  classical measurements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D77AE6-99DC-F5C0-91DD-E2C1CB8AB2B8}"/>
              </a:ext>
            </a:extLst>
          </p:cNvPr>
          <p:cNvSpPr txBox="1"/>
          <p:nvPr/>
        </p:nvSpPr>
        <p:spPr>
          <a:xfrm>
            <a:off x="9232769" y="479797"/>
            <a:ext cx="2836972" cy="377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800" i="0" dirty="0">
                <a:effectLst/>
              </a:rPr>
              <a:t>arXiv:2504.02944 (2025)</a:t>
            </a:r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DDFFD9F-8B47-50B2-8320-7D4E904A46E8}"/>
              </a:ext>
            </a:extLst>
          </p:cNvPr>
          <p:cNvCxnSpPr/>
          <p:nvPr/>
        </p:nvCxnSpPr>
        <p:spPr>
          <a:xfrm>
            <a:off x="7294898" y="5247519"/>
            <a:ext cx="671331" cy="2546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5BCDCE0-853D-4783-2CE6-45E295FE5351}"/>
              </a:ext>
            </a:extLst>
          </p:cNvPr>
          <p:cNvSpPr txBox="1"/>
          <p:nvPr/>
        </p:nvSpPr>
        <p:spPr>
          <a:xfrm>
            <a:off x="8065621" y="5431995"/>
            <a:ext cx="33202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Contextuality without incompatibility</a:t>
            </a:r>
          </a:p>
        </p:txBody>
      </p:sp>
    </p:spTree>
    <p:extLst>
      <p:ext uri="{BB962C8B-B14F-4D97-AF65-F5344CB8AC3E}">
        <p14:creationId xmlns:p14="http://schemas.microsoft.com/office/powerpoint/2010/main" val="646475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D5450-208A-1162-9C3F-5C873A47F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83BC0F8-46BF-5C9B-2054-98A78A25A4DD}"/>
              </a:ext>
            </a:extLst>
          </p:cNvPr>
          <p:cNvSpPr/>
          <p:nvPr/>
        </p:nvSpPr>
        <p:spPr>
          <a:xfrm>
            <a:off x="219653" y="5465135"/>
            <a:ext cx="4657060" cy="1392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31C4ACF-39C2-2C55-2B45-1E862F80DD52}"/>
                  </a:ext>
                </a:extLst>
              </p:cNvPr>
              <p:cNvSpPr txBox="1"/>
              <p:nvPr/>
            </p:nvSpPr>
            <p:spPr>
              <a:xfrm>
                <a:off x="3991740" y="1149917"/>
                <a:ext cx="7674015" cy="28144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itchFamily="2" charset="2"/>
                  <a:buChar char="q"/>
                </a:pPr>
                <a:r>
                  <a:rPr lang="en-US" sz="1400" dirty="0"/>
                  <a:t>The quantum circuit predict statistics. </a:t>
                </a:r>
              </a:p>
              <a:p>
                <a:endParaRPr lang="en-CA" sz="1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CA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𝑎𝑏</m:t>
                          </m:r>
                        </m:e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e>
                      </m:d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CA" sz="1400" b="0" i="0" smtClean="0">
                          <a:latin typeface="Cambria Math" panose="02040503050406030204" pitchFamily="18" charset="0"/>
                        </a:rPr>
                        <m:t>tr</m:t>
                      </m:r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CA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⊗</m:t>
                      </m:r>
                      <m:sSub>
                        <m:sSubPr>
                          <m:ctrlPr>
                            <a:rPr lang="en-CA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1400" dirty="0"/>
              </a:p>
              <a:p>
                <a:endParaRPr lang="en-US" sz="1400" dirty="0"/>
              </a:p>
              <a:p>
                <a:pPr marL="285750" indent="-285750">
                  <a:buFont typeface="Wingdings" pitchFamily="2" charset="2"/>
                  <a:buChar char="q"/>
                </a:pPr>
                <a:r>
                  <a:rPr lang="en-US" sz="1400" dirty="0"/>
                  <a:t>It is </a:t>
                </a:r>
                <a:r>
                  <a:rPr lang="en-US" sz="1400" i="1" dirty="0"/>
                  <a:t>classically explainable</a:t>
                </a:r>
                <a:r>
                  <a:rPr lang="en-US" sz="1400" dirty="0"/>
                  <a:t>, if it can be reproduced by</a:t>
                </a:r>
              </a:p>
              <a:p>
                <a:pPr marL="285750" indent="-285750">
                  <a:buFont typeface="Wingdings" pitchFamily="2" charset="2"/>
                  <a:buChar char="q"/>
                </a:pPr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4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CA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400" i="1">
                              <a:latin typeface="Cambria Math" panose="02040503050406030204" pitchFamily="18" charset="0"/>
                            </a:rPr>
                            <m:t>𝑎𝑏</m:t>
                          </m:r>
                        </m:e>
                        <m:e>
                          <m:r>
                            <a:rPr lang="en-CA" sz="1400" i="1">
                              <a:latin typeface="Cambria Math" panose="02040503050406030204" pitchFamily="18" charset="0"/>
                            </a:rPr>
                            <m:t>𝑥𝑦</m:t>
                          </m:r>
                        </m:e>
                      </m:d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CA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CA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CA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CA" sz="1400" i="1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  <m:r>
                                <a:rPr lang="en-CA" sz="1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CA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140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CA" sz="1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1400" dirty="0"/>
              </a:p>
              <a:p>
                <a:r>
                  <a:rPr lang="en-US" sz="1400" dirty="0"/>
                  <a:t>       Where each ontological processes and composition ontological processes should satisfy :</a:t>
                </a:r>
              </a:p>
              <a:p>
                <a:r>
                  <a:rPr lang="en-US" sz="1400" dirty="0"/>
                  <a:t>  </a:t>
                </a:r>
              </a:p>
              <a:p>
                <a:r>
                  <a:rPr lang="en-US" sz="1400" dirty="0"/>
                  <a:t>     </a:t>
                </a:r>
                <a:endParaRPr lang="en-CA" sz="1400" b="0" dirty="0"/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31C4ACF-39C2-2C55-2B45-1E862F80DD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1740" y="1149917"/>
                <a:ext cx="7674015" cy="2814425"/>
              </a:xfrm>
              <a:prstGeom prst="rect">
                <a:avLst/>
              </a:prstGeom>
              <a:blipFill>
                <a:blip r:embed="rId2"/>
                <a:stretch>
                  <a:fillRect l="-165" t="-450" b="-58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18102BDC-BBD1-D0F2-2093-FB0C1FDDF288}"/>
              </a:ext>
            </a:extLst>
          </p:cNvPr>
          <p:cNvCxnSpPr>
            <a:cxnSpLocks/>
          </p:cNvCxnSpPr>
          <p:nvPr/>
        </p:nvCxnSpPr>
        <p:spPr>
          <a:xfrm>
            <a:off x="1174087" y="2953571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E68BACD-1965-0EE9-0934-3BEEB68AA78E}"/>
                  </a:ext>
                </a:extLst>
              </p:cNvPr>
              <p:cNvSpPr txBox="1"/>
              <p:nvPr/>
            </p:nvSpPr>
            <p:spPr>
              <a:xfrm>
                <a:off x="1127093" y="2903764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altLang="zh-CN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E68BACD-1965-0EE9-0934-3BEEB68AA7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093" y="2903764"/>
                <a:ext cx="204800" cy="276999"/>
              </a:xfrm>
              <a:prstGeom prst="rect">
                <a:avLst/>
              </a:prstGeom>
              <a:blipFill>
                <a:blip r:embed="rId3"/>
                <a:stretch>
                  <a:fillRect r="-17647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3BFEB748-62F0-8ED0-9FE0-45DC04EAF4C1}"/>
              </a:ext>
            </a:extLst>
          </p:cNvPr>
          <p:cNvCxnSpPr>
            <a:cxnSpLocks/>
          </p:cNvCxnSpPr>
          <p:nvPr/>
        </p:nvCxnSpPr>
        <p:spPr>
          <a:xfrm>
            <a:off x="563697" y="2951932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B752F540-8A75-25AC-D4C7-00379D873317}"/>
                  </a:ext>
                </a:extLst>
              </p:cNvPr>
              <p:cNvSpPr txBox="1"/>
              <p:nvPr/>
            </p:nvSpPr>
            <p:spPr>
              <a:xfrm>
                <a:off x="516703" y="2902125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altLang="zh-CN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B752F540-8A75-25AC-D4C7-00379D8733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703" y="2902125"/>
                <a:ext cx="204800" cy="276999"/>
              </a:xfrm>
              <a:prstGeom prst="rect">
                <a:avLst/>
              </a:prstGeom>
              <a:blipFill>
                <a:blip r:embed="rId4"/>
                <a:stretch>
                  <a:fillRect r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0A362022-0DFA-67F0-E035-D1B9EE51818A}"/>
                  </a:ext>
                </a:extLst>
              </p:cNvPr>
              <p:cNvSpPr txBox="1"/>
              <p:nvPr/>
            </p:nvSpPr>
            <p:spPr>
              <a:xfrm>
                <a:off x="441333" y="2440817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0A362022-0DFA-67F0-E035-D1B9EE518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333" y="2440817"/>
                <a:ext cx="246689" cy="276999"/>
              </a:xfrm>
              <a:prstGeom prst="rect">
                <a:avLst/>
              </a:prstGeom>
              <a:blipFill>
                <a:blip r:embed="rId5"/>
                <a:stretch>
                  <a:fillRect r="-14286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C7D1FFC7-77AA-E6F2-11CA-CAC4A7E14AF8}"/>
              </a:ext>
            </a:extLst>
          </p:cNvPr>
          <p:cNvGrpSpPr/>
          <p:nvPr/>
        </p:nvGrpSpPr>
        <p:grpSpPr>
          <a:xfrm>
            <a:off x="1068833" y="2962237"/>
            <a:ext cx="45719" cy="210912"/>
            <a:chOff x="6548130" y="2237014"/>
            <a:chExt cx="49658" cy="440872"/>
          </a:xfrm>
        </p:grpSpPr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EEDBDEC1-B3B0-9FE4-349B-1BDE7E84B464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95CA5150-712E-CDA1-7659-CF5CBC2AFAE8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sp>
        <p:nvSpPr>
          <p:cNvPr id="99" name="Flowchart: Delay 9">
            <a:extLst>
              <a:ext uri="{FF2B5EF4-FFF2-40B4-BE49-F238E27FC236}">
                <a16:creationId xmlns:a16="http://schemas.microsoft.com/office/drawing/2014/main" id="{20E3F5E8-D377-4B11-9E56-D005FF48E772}"/>
              </a:ext>
            </a:extLst>
          </p:cNvPr>
          <p:cNvSpPr/>
          <p:nvPr/>
        </p:nvSpPr>
        <p:spPr>
          <a:xfrm rot="16200000">
            <a:off x="944409" y="2623444"/>
            <a:ext cx="309789" cy="367797"/>
          </a:xfrm>
          <a:prstGeom prst="flowChartDelay">
            <a:avLst/>
          </a:prstGeom>
          <a:solidFill>
            <a:srgbClr val="FFC000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eaVert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1C0C5822-9C8E-47A1-9DE4-552C7BC0A8D3}"/>
                  </a:ext>
                </a:extLst>
              </p:cNvPr>
              <p:cNvSpPr txBox="1"/>
              <p:nvPr/>
            </p:nvSpPr>
            <p:spPr>
              <a:xfrm>
                <a:off x="1074325" y="2440817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1C0C5822-9C8E-47A1-9DE4-552C7BC0A8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325" y="2440817"/>
                <a:ext cx="246689" cy="276999"/>
              </a:xfrm>
              <a:prstGeom prst="rect">
                <a:avLst/>
              </a:prstGeom>
              <a:blipFill>
                <a:blip r:embed="rId6"/>
                <a:stretch>
                  <a:fillRect r="-14286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1" name="Group 100">
            <a:extLst>
              <a:ext uri="{FF2B5EF4-FFF2-40B4-BE49-F238E27FC236}">
                <a16:creationId xmlns:a16="http://schemas.microsoft.com/office/drawing/2014/main" id="{49145E56-A135-CBE8-A552-6223AB5CE6A0}"/>
              </a:ext>
            </a:extLst>
          </p:cNvPr>
          <p:cNvGrpSpPr/>
          <p:nvPr/>
        </p:nvGrpSpPr>
        <p:grpSpPr>
          <a:xfrm>
            <a:off x="453611" y="2962237"/>
            <a:ext cx="45719" cy="210912"/>
            <a:chOff x="6548130" y="2237014"/>
            <a:chExt cx="49658" cy="440872"/>
          </a:xfrm>
        </p:grpSpPr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80E2BA13-325E-D1B5-7F8A-A3B81C75073F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786CAF78-240F-CF21-6E30-9D52F3FDAF1B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sp>
        <p:nvSpPr>
          <p:cNvPr id="104" name="Flowchart: Delay 17">
            <a:extLst>
              <a:ext uri="{FF2B5EF4-FFF2-40B4-BE49-F238E27FC236}">
                <a16:creationId xmlns:a16="http://schemas.microsoft.com/office/drawing/2014/main" id="{0BEA65CC-1C91-FB27-8C4B-211F0A8C3E49}"/>
              </a:ext>
            </a:extLst>
          </p:cNvPr>
          <p:cNvSpPr/>
          <p:nvPr/>
        </p:nvSpPr>
        <p:spPr>
          <a:xfrm rot="16200000">
            <a:off x="317748" y="2623444"/>
            <a:ext cx="309789" cy="367797"/>
          </a:xfrm>
          <a:prstGeom prst="flowChartDelay">
            <a:avLst/>
          </a:prstGeom>
          <a:solidFill>
            <a:srgbClr val="FFC000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eaVert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dirty="0">
                <a:solidFill>
                  <a:prstClr val="black"/>
                </a:solidFill>
                <a:latin typeface="Calibri" panose="020F0502020204030204"/>
              </a:rPr>
              <a:t>N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1AF42BA-E2B0-AA91-3F5D-E71231281580}"/>
              </a:ext>
            </a:extLst>
          </p:cNvPr>
          <p:cNvCxnSpPr>
            <a:cxnSpLocks/>
          </p:cNvCxnSpPr>
          <p:nvPr/>
        </p:nvCxnSpPr>
        <p:spPr>
          <a:xfrm>
            <a:off x="472425" y="2538289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93BBA908-2C57-A5AB-282B-72740075F83E}"/>
              </a:ext>
            </a:extLst>
          </p:cNvPr>
          <p:cNvCxnSpPr>
            <a:cxnSpLocks/>
          </p:cNvCxnSpPr>
          <p:nvPr/>
        </p:nvCxnSpPr>
        <p:spPr>
          <a:xfrm>
            <a:off x="1099303" y="2538289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Rectangle: Rounded Corners 10">
                <a:extLst>
                  <a:ext uri="{FF2B5EF4-FFF2-40B4-BE49-F238E27FC236}">
                    <a16:creationId xmlns:a16="http://schemas.microsoft.com/office/drawing/2014/main" id="{F2A91265-3E59-AFDB-C45D-375CBBF037B2}"/>
                  </a:ext>
                </a:extLst>
              </p:cNvPr>
              <p:cNvSpPr/>
              <p:nvPr/>
            </p:nvSpPr>
            <p:spPr>
              <a:xfrm>
                <a:off x="288744" y="3179124"/>
                <a:ext cx="994458" cy="406232"/>
              </a:xfrm>
              <a:prstGeom prst="roundRect">
                <a:avLst/>
              </a:prstGeom>
              <a:solidFill>
                <a:srgbClr val="FFC000">
                  <a:lumMod val="40000"/>
                  <a:lumOff val="60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CA" sz="18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𝜌</m:t>
                      </m:r>
                    </m:oMath>
                  </m:oMathPara>
                </a14:m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7" name="Rectangle: Rounded Corners 10">
                <a:extLst>
                  <a:ext uri="{FF2B5EF4-FFF2-40B4-BE49-F238E27FC236}">
                    <a16:creationId xmlns:a16="http://schemas.microsoft.com/office/drawing/2014/main" id="{F2A91265-3E59-AFDB-C45D-375CBBF037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44" y="3179124"/>
                <a:ext cx="994458" cy="406232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ECC87D8C-A760-BE10-1748-8CD0D8574B92}"/>
              </a:ext>
            </a:extLst>
          </p:cNvPr>
          <p:cNvCxnSpPr>
            <a:cxnSpLocks/>
            <a:stCxn id="110" idx="2"/>
          </p:cNvCxnSpPr>
          <p:nvPr/>
        </p:nvCxnSpPr>
        <p:spPr>
          <a:xfrm flipH="1">
            <a:off x="3200233" y="2862155"/>
            <a:ext cx="2476" cy="340734"/>
          </a:xfrm>
          <a:prstGeom prst="line">
            <a:avLst/>
          </a:prstGeom>
          <a:noFill/>
          <a:ln w="15875" cap="flat" cmpd="sng" algn="ctr">
            <a:solidFill>
              <a:sysClr val="windowText" lastClr="000000"/>
            </a:solidFill>
            <a:prstDash val="sysDash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BF99FF34-CF80-7B9A-6C26-F160DC2D27BE}"/>
                  </a:ext>
                </a:extLst>
              </p:cNvPr>
              <p:cNvSpPr txBox="1"/>
              <p:nvPr/>
            </p:nvSpPr>
            <p:spPr>
              <a:xfrm>
                <a:off x="3160712" y="2910902"/>
                <a:ext cx="290731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0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BF99FF34-CF80-7B9A-6C26-F160DC2D27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0712" y="2910902"/>
                <a:ext cx="290731" cy="25391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Rectangle: Rounded Corners 109">
                <a:extLst>
                  <a:ext uri="{FF2B5EF4-FFF2-40B4-BE49-F238E27FC236}">
                    <a16:creationId xmlns:a16="http://schemas.microsoft.com/office/drawing/2014/main" id="{C39E4337-0F42-2D09-525A-F4D6B66EBA2B}"/>
                  </a:ext>
                </a:extLst>
              </p:cNvPr>
              <p:cNvSpPr/>
              <p:nvPr/>
            </p:nvSpPr>
            <p:spPr>
              <a:xfrm>
                <a:off x="2895742" y="2595230"/>
                <a:ext cx="613934" cy="266925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CA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𝑏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|</m:t>
                      </m:r>
                      <m:sSub>
                        <m:sSubPr>
                          <m:ctrlP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  <m:r>
                            <a:rPr kumimoji="0" lang="en-CA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0" name="Rectangle: Rounded Corners 109">
                <a:extLst>
                  <a:ext uri="{FF2B5EF4-FFF2-40B4-BE49-F238E27FC236}">
                    <a16:creationId xmlns:a16="http://schemas.microsoft.com/office/drawing/2014/main" id="{C39E4337-0F42-2D09-525A-F4D6B66EBA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742" y="2595230"/>
                <a:ext cx="613934" cy="266925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Rectangle: Rounded Corners 110">
                <a:extLst>
                  <a:ext uri="{FF2B5EF4-FFF2-40B4-BE49-F238E27FC236}">
                    <a16:creationId xmlns:a16="http://schemas.microsoft.com/office/drawing/2014/main" id="{C9371CCA-2560-55C2-4E53-2466D236AD21}"/>
                  </a:ext>
                </a:extLst>
              </p:cNvPr>
              <p:cNvSpPr/>
              <p:nvPr/>
            </p:nvSpPr>
            <p:spPr>
              <a:xfrm>
                <a:off x="2254861" y="3194635"/>
                <a:ext cx="1170006" cy="398885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sSub>
                        <m:sSubPr>
                          <m:ctrlP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1" name="Rectangle: Rounded Corners 110">
                <a:extLst>
                  <a:ext uri="{FF2B5EF4-FFF2-40B4-BE49-F238E27FC236}">
                    <a16:creationId xmlns:a16="http://schemas.microsoft.com/office/drawing/2014/main" id="{C9371CCA-2560-55C2-4E53-2466D236AD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4861" y="3194635"/>
                <a:ext cx="1170006" cy="398885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DB891064-D314-8984-0369-BFA5FB84B92B}"/>
              </a:ext>
            </a:extLst>
          </p:cNvPr>
          <p:cNvCxnSpPr>
            <a:cxnSpLocks/>
            <a:stCxn id="114" idx="2"/>
          </p:cNvCxnSpPr>
          <p:nvPr/>
        </p:nvCxnSpPr>
        <p:spPr>
          <a:xfrm flipH="1">
            <a:off x="2497754" y="2861203"/>
            <a:ext cx="2476" cy="340734"/>
          </a:xfrm>
          <a:prstGeom prst="line">
            <a:avLst/>
          </a:prstGeom>
          <a:noFill/>
          <a:ln w="15875" cap="flat" cmpd="sng" algn="ctr">
            <a:solidFill>
              <a:sysClr val="windowText" lastClr="000000"/>
            </a:solidFill>
            <a:prstDash val="sysDash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CB414810-0470-C782-07BA-28065B3A3D1D}"/>
                  </a:ext>
                </a:extLst>
              </p:cNvPr>
              <p:cNvSpPr txBox="1"/>
              <p:nvPr/>
            </p:nvSpPr>
            <p:spPr>
              <a:xfrm>
                <a:off x="2458233" y="2909950"/>
                <a:ext cx="290731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000" i="1" smtClean="0">
                              <a:solidFill>
                                <a:prstClr val="black"/>
                              </a:solidFill>
                              <a:latin typeface="Cambria Math" panose="020F0502020204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CB414810-0470-C782-07BA-28065B3A3D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8233" y="2909950"/>
                <a:ext cx="290731" cy="25391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Rectangle: Rounded Corners 114">
                <a:extLst>
                  <a:ext uri="{FF2B5EF4-FFF2-40B4-BE49-F238E27FC236}">
                    <a16:creationId xmlns:a16="http://schemas.microsoft.com/office/drawing/2014/main" id="{9B370491-FB9A-ACA2-9B53-74E0E13B025A}"/>
                  </a:ext>
                </a:extLst>
              </p:cNvPr>
              <p:cNvSpPr/>
              <p:nvPr/>
            </p:nvSpPr>
            <p:spPr>
              <a:xfrm>
                <a:off x="2193263" y="2594278"/>
                <a:ext cx="613934" cy="266925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CA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|</m:t>
                      </m:r>
                      <m:sSub>
                        <m:sSubPr>
                          <m:ctrlP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CA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F0502020204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4" name="Rectangle: Rounded Corners 114">
                <a:extLst>
                  <a:ext uri="{FF2B5EF4-FFF2-40B4-BE49-F238E27FC236}">
                    <a16:creationId xmlns:a16="http://schemas.microsoft.com/office/drawing/2014/main" id="{9B370491-FB9A-ACA2-9B53-74E0E13B02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3263" y="2594278"/>
                <a:ext cx="613934" cy="266925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TextBox 114">
            <a:extLst>
              <a:ext uri="{FF2B5EF4-FFF2-40B4-BE49-F238E27FC236}">
                <a16:creationId xmlns:a16="http://schemas.microsoft.com/office/drawing/2014/main" id="{26C002E6-02E0-2536-5D03-25FCD3FCF157}"/>
              </a:ext>
            </a:extLst>
          </p:cNvPr>
          <p:cNvSpPr txBox="1"/>
          <p:nvPr/>
        </p:nvSpPr>
        <p:spPr>
          <a:xfrm>
            <a:off x="2203652" y="3743534"/>
            <a:ext cx="14157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Ontological model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1C2D2898-ACAB-D71F-6167-9A3D4C60A8B3}"/>
              </a:ext>
            </a:extLst>
          </p:cNvPr>
          <p:cNvSpPr txBox="1"/>
          <p:nvPr/>
        </p:nvSpPr>
        <p:spPr>
          <a:xfrm>
            <a:off x="219653" y="3730240"/>
            <a:ext cx="14157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Quantum circuit</a:t>
            </a:r>
          </a:p>
        </p:txBody>
      </p:sp>
      <p:sp>
        <p:nvSpPr>
          <p:cNvPr id="117" name="Arrow: Right 117">
            <a:extLst>
              <a:ext uri="{FF2B5EF4-FFF2-40B4-BE49-F238E27FC236}">
                <a16:creationId xmlns:a16="http://schemas.microsoft.com/office/drawing/2014/main" id="{4192AED8-7CB6-65D3-19DD-52D6C1E7325B}"/>
              </a:ext>
            </a:extLst>
          </p:cNvPr>
          <p:cNvSpPr/>
          <p:nvPr/>
        </p:nvSpPr>
        <p:spPr>
          <a:xfrm>
            <a:off x="1608807" y="2974785"/>
            <a:ext cx="394729" cy="426178"/>
          </a:xfrm>
          <a:prstGeom prst="rightArrow">
            <a:avLst/>
          </a:prstGeom>
          <a:solidFill>
            <a:srgbClr val="A5A5A5"/>
          </a:solidFill>
          <a:ln w="12700" cap="flat" cmpd="sng" algn="ctr">
            <a:solidFill>
              <a:srgbClr val="A5A5A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ABD110A7-9E07-5ED0-93E0-933881E06710}"/>
              </a:ext>
            </a:extLst>
          </p:cNvPr>
          <p:cNvSpPr txBox="1"/>
          <p:nvPr/>
        </p:nvSpPr>
        <p:spPr>
          <a:xfrm>
            <a:off x="1388541" y="2505468"/>
            <a:ext cx="906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Linear</a:t>
            </a:r>
          </a:p>
          <a:p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Diag. Pres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53B37082-9552-50DC-7072-E0834CA7C6EB}"/>
                  </a:ext>
                </a:extLst>
              </p:cNvPr>
              <p:cNvSpPr txBox="1"/>
              <p:nvPr/>
            </p:nvSpPr>
            <p:spPr>
              <a:xfrm>
                <a:off x="4101505" y="3617892"/>
                <a:ext cx="4282707" cy="8178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altLang="zh-CN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CA" altLang="zh-CN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{{</m:t>
                    </m:r>
                    <m:sSub>
                      <m:sSubPr>
                        <m:ctrlP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CA" altLang="zh-CN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}|</m:t>
                    </m:r>
                    <m:nary>
                      <m:naryPr>
                        <m:chr m:val="∑"/>
                        <m:supHide m:val="on"/>
                        <m:ctrlP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sSub>
                          <m:sSubPr>
                            <m:ctrlP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nary>
                    <m:r>
                      <a:rPr lang="en-US" sz="120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sz="1200" b="0" i="1" smtClean="0">
                        <a:latin typeface="Cambria Math" panose="02040503050406030204" pitchFamily="18" charset="0"/>
                      </a:rPr>
                      <m:t>=0}  </m:t>
                    </m:r>
                  </m:oMath>
                </a14:m>
                <a:endParaRPr lang="en-CA" sz="1200" dirty="0"/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US" altLang="zh-CN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CA" altLang="zh-CN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{{</m:t>
                    </m:r>
                    <m:sSub>
                      <m:sSubPr>
                        <m:ctrlP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CA" altLang="zh-CN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}|</m:t>
                    </m:r>
                    <m:nary>
                      <m:naryPr>
                        <m:chr m:val="∑"/>
                        <m:supHide m:val="on"/>
                        <m:ctrlP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sSub>
                          <m:sSubPr>
                            <m:ctrlP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</m:nary>
                    <m:r>
                      <a:rPr lang="en-US" sz="1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sz="1200" i="1">
                        <a:latin typeface="Cambria Math" panose="02040503050406030204" pitchFamily="18" charset="0"/>
                      </a:rPr>
                      <m:t>=0}</m:t>
                    </m:r>
                  </m:oMath>
                </a14:m>
                <a:endParaRPr lang="en-US" sz="1200" dirty="0"/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  <m:r>
                          <a:rPr lang="en-CA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r>
                          <m:rPr>
                            <m:sty m:val="p"/>
                          </m:rPr>
                          <a:rPr lang="en-CA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1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CA" altLang="zh-CN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{{</m:t>
                    </m:r>
                    <m:sSub>
                      <m:sSubPr>
                        <m:ctrlP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CA" altLang="zh-CN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}|</m:t>
                    </m:r>
                    <m:nary>
                      <m:naryPr>
                        <m:chr m:val="∑"/>
                        <m:supHide m:val="on"/>
                        <m:ctrlP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CA" sz="1200">
                                <a:latin typeface="Cambria Math" panose="02040503050406030204" pitchFamily="18" charset="0"/>
                              </a:rPr>
                              <m:t>tr</m:t>
                            </m:r>
                            <m:r>
                              <a:rPr lang="en-CA" sz="1200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CA" sz="1200">
                            <a:latin typeface="Cambria Math" panose="02040503050406030204" pitchFamily="18" charset="0"/>
                          </a:rPr>
                          <m:t>⊗</m:t>
                        </m:r>
                        <m:r>
                          <m:rPr>
                            <m:sty m:val="p"/>
                          </m:rPr>
                          <a:rPr lang="en-CA" sz="1200">
                            <a:latin typeface="Cambria Math" panose="02040503050406030204" pitchFamily="18" charset="0"/>
                          </a:rPr>
                          <m:t>Iρ</m:t>
                        </m:r>
                        <m:r>
                          <a:rPr lang="en-CA" sz="1200" i="1"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a:rPr lang="en-CA" sz="12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  <m:r>
                          <a:rPr lang="en-CA" sz="1200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nary>
                  </m:oMath>
                </a14:m>
                <a:endParaRPr lang="en-US" sz="1200" dirty="0"/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  <m:r>
                          <a:rPr lang="en-CA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r>
                          <m:rPr>
                            <m:sty m:val="p"/>
                          </m:rPr>
                          <a:rPr lang="en-CA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CA" altLang="zh-CN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{{</m:t>
                    </m:r>
                    <m:sSub>
                      <m:sSubPr>
                        <m:ctrlP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CA" altLang="zh-CN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}|</m:t>
                    </m:r>
                    <m:nary>
                      <m:naryPr>
                        <m:chr m:val="∑"/>
                        <m:supHide m:val="on"/>
                        <m:ctrlPr>
                          <a:rPr lang="en-CA" altLang="zh-CN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CA" sz="1200">
                            <a:latin typeface="Cambria Math" panose="02040503050406030204" pitchFamily="18" charset="0"/>
                          </a:rPr>
                          <m:t>tr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CA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CA" sz="1200"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CA" sz="1200" i="1">
                                <a:latin typeface="Cambria Math" panose="02040503050406030204" pitchFamily="18" charset="0"/>
                              </a:rPr>
                              <m:t>⊗</m:t>
                            </m:r>
                            <m:sSub>
                              <m:sSubPr>
                                <m:ctrlPr>
                                  <a:rPr lang="en-CA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1200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CA" sz="12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CA" sz="12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CA" sz="1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  <m:r>
                              <a:rPr lang="en-CA" sz="12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</m:d>
                        <m:r>
                          <a:rPr lang="en-CA" sz="12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  <m:r>
                          <a:rPr lang="en-CA" sz="1200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nary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53B37082-9552-50DC-7072-E0834CA7C6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1505" y="3617892"/>
                <a:ext cx="4282707" cy="817853"/>
              </a:xfrm>
              <a:prstGeom prst="rect">
                <a:avLst/>
              </a:prstGeom>
              <a:blipFill>
                <a:blip r:embed="rId13"/>
                <a:stretch>
                  <a:fillRect l="-2077" t="-36364" b="-5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B2512BF5-BB91-1591-4C05-71B2CE0BC9E3}"/>
                  </a:ext>
                </a:extLst>
              </p:cNvPr>
              <p:cNvSpPr txBox="1"/>
              <p:nvPr/>
            </p:nvSpPr>
            <p:spPr>
              <a:xfrm>
                <a:off x="8218039" y="3622445"/>
                <a:ext cx="4014589" cy="8133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CA" altLang="zh-CN" sz="12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altLang="zh-CN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supHide m:val="on"/>
                        <m:ctrlPr>
                          <a:rPr lang="en-CA" altLang="zh-CN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nary>
                    <m:r>
                      <a:rPr lang="en-CA" sz="12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CA" sz="1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sz="12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CA" sz="12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CA" sz="1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CA" sz="12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CA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2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CA" sz="1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sz="1200" i="1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endParaRPr lang="en-US" sz="1200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CA" altLang="zh-CN" sz="1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altLang="zh-CN" sz="1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supHide m:val="on"/>
                        <m:ctrlP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CA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</m:nary>
                    <m:r>
                      <a:rPr lang="en-CA" sz="12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CA" sz="1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sz="12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CA" sz="12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CA" sz="1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CA" sz="12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CA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2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CA" sz="1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sz="1200" i="1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endParaRPr lang="en-CA" sz="1200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CA" altLang="zh-CN" sz="12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altLang="zh-CN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supHide m:val="on"/>
                        <m:ctrlP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nary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/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𝑝</m:t>
                        </m:r>
                        <m:sSub>
                          <m:sSubPr>
                            <m:ctrlPr>
                              <a:rPr lang="en-CA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CA" sz="1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CA" sz="12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CA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2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CA" sz="1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CA" sz="1200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CA" sz="12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CA" sz="1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CA" sz="12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CA" sz="12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CA" sz="1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CA" sz="12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CA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2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CA" sz="1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CA" sz="1200" i="1">
                            <a:latin typeface="Cambria Math" panose="02040503050406030204" pitchFamily="18" charset="0"/>
                          </a:rPr>
                          <m:t>)=</m:t>
                        </m:r>
                      </m:e>
                    </m:nary>
                    <m:r>
                      <a:rPr lang="en-CA" sz="12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1200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CA" altLang="zh-CN" sz="12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altLang="zh-CN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supHide m:val="on"/>
                        <m:ctrlP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CA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</m:nary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CA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CA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  <m:sup/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𝑝</m:t>
                        </m:r>
                        <m:sSub>
                          <m:sSubPr>
                            <m:ctrlPr>
                              <a:rPr lang="en-CA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CA" sz="1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CA" sz="12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CA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2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CA" sz="1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CA" sz="1200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CA" sz="12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CA" sz="1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CA" sz="12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CA" sz="12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CA" sz="12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CA" sz="12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CA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2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CA" sz="1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CA" sz="1200" i="1">
                            <a:latin typeface="Cambria Math" panose="02040503050406030204" pitchFamily="18" charset="0"/>
                          </a:rPr>
                          <m:t>)=</m:t>
                        </m:r>
                      </m:e>
                    </m:nary>
                    <m:r>
                      <a:rPr lang="en-CA" sz="12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B2512BF5-BB91-1591-4C05-71B2CE0BC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8039" y="3622445"/>
                <a:ext cx="4014589" cy="813300"/>
              </a:xfrm>
              <a:prstGeom prst="rect">
                <a:avLst/>
              </a:prstGeom>
              <a:blipFill>
                <a:blip r:embed="rId14"/>
                <a:stretch>
                  <a:fillRect l="-2524" t="-38462" b="-5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Right Arrow 121">
            <a:extLst>
              <a:ext uri="{FF2B5EF4-FFF2-40B4-BE49-F238E27FC236}">
                <a16:creationId xmlns:a16="http://schemas.microsoft.com/office/drawing/2014/main" id="{66DA4ED4-DA52-4A4D-9482-E517AFD3AC5C}"/>
              </a:ext>
            </a:extLst>
          </p:cNvPr>
          <p:cNvSpPr/>
          <p:nvPr/>
        </p:nvSpPr>
        <p:spPr>
          <a:xfrm>
            <a:off x="7488512" y="3780167"/>
            <a:ext cx="509286" cy="406135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1C1EAB07-C8FB-AE13-335F-278F33A77BC2}"/>
                  </a:ext>
                </a:extLst>
              </p:cNvPr>
              <p:cNvSpPr/>
              <p:nvPr/>
            </p:nvSpPr>
            <p:spPr>
              <a:xfrm>
                <a:off x="288744" y="4999336"/>
                <a:ext cx="11414374" cy="634961"/>
              </a:xfrm>
              <a:prstGeom prst="rect">
                <a:avLst/>
              </a:prstGeom>
              <a:ln w="50800">
                <a:solidFill>
                  <a:srgbClr val="0070C0"/>
                </a:solidFill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600" dirty="0"/>
                  <a:t>A bipartite state is classical if it generates statistics that are classical relative to</a:t>
                </a:r>
                <a:r>
                  <a:rPr lang="en-US" sz="16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6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16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6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CA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CA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6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CA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CA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6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  <m:r>
                          <a:rPr lang="en-CA" sz="16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r>
                          <m:rPr>
                            <m:sty m:val="p"/>
                          </m:rPr>
                          <a:rPr lang="en-CA" sz="16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CA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CA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6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  <m:r>
                          <a:rPr lang="en-CA" sz="16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r>
                          <m:rPr>
                            <m:sty m:val="p"/>
                          </m:rPr>
                          <a:rPr lang="en-CA" sz="16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CA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1C1EAB07-C8FB-AE13-335F-278F33A77B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44" y="4999336"/>
                <a:ext cx="11414374" cy="63496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508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4" name="TextBox 123">
            <a:extLst>
              <a:ext uri="{FF2B5EF4-FFF2-40B4-BE49-F238E27FC236}">
                <a16:creationId xmlns:a16="http://schemas.microsoft.com/office/drawing/2014/main" id="{FA8909E1-8008-4A03-6735-C047CBBCDFD2}"/>
              </a:ext>
            </a:extLst>
          </p:cNvPr>
          <p:cNvSpPr txBox="1"/>
          <p:nvPr/>
        </p:nvSpPr>
        <p:spPr>
          <a:xfrm>
            <a:off x="0" y="397103"/>
            <a:ext cx="119137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Example 2:  classical bipartite state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93C1B8-D114-B9D1-0D7B-C8E21EF85FDC}"/>
              </a:ext>
            </a:extLst>
          </p:cNvPr>
          <p:cNvSpPr txBox="1"/>
          <p:nvPr/>
        </p:nvSpPr>
        <p:spPr>
          <a:xfrm>
            <a:off x="9733767" y="2604429"/>
            <a:ext cx="21219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(diagram-preservation)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D4427E-FC6C-4D37-C7C5-20AC9FF6BE47}"/>
              </a:ext>
            </a:extLst>
          </p:cNvPr>
          <p:cNvSpPr txBox="1"/>
          <p:nvPr/>
        </p:nvSpPr>
        <p:spPr>
          <a:xfrm>
            <a:off x="11068621" y="3806095"/>
            <a:ext cx="10720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(linearity)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1940E30-84EF-5274-4042-C8FE85BC2F0E}"/>
                  </a:ext>
                </a:extLst>
              </p:cNvPr>
              <p:cNvSpPr/>
              <p:nvPr/>
            </p:nvSpPr>
            <p:spPr>
              <a:xfrm>
                <a:off x="288744" y="5978139"/>
                <a:ext cx="11414374" cy="634961"/>
              </a:xfrm>
              <a:prstGeom prst="rect">
                <a:avLst/>
              </a:prstGeom>
              <a:ln w="50800">
                <a:solidFill>
                  <a:srgbClr val="0070C0"/>
                </a:solidFill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600" dirty="0"/>
                  <a:t>What about a bipartite state that generates statistics that are classical relative to</a:t>
                </a:r>
                <a:r>
                  <a:rPr lang="en-US" sz="16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  <m:r>
                          <a:rPr lang="en-CA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⊂</m:t>
                        </m:r>
                        <m:r>
                          <a:rPr lang="en-CA" sz="16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16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6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CA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CA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6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CA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CA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6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  <m:r>
                          <a:rPr lang="en-CA" sz="16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r>
                          <m:rPr>
                            <m:sty m:val="p"/>
                          </m:rPr>
                          <a:rPr lang="en-CA" sz="16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CA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CA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6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  <m:r>
                          <a:rPr lang="en-CA" sz="16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r>
                          <m:rPr>
                            <m:sty m:val="p"/>
                          </m:rPr>
                          <a:rPr lang="en-CA" sz="16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CA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?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1940E30-84EF-5274-4042-C8FE85BC2F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44" y="5978139"/>
                <a:ext cx="11414374" cy="63496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508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2561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0"/>
      <p:bldP spid="121" grpId="0"/>
      <p:bldP spid="122" grpId="0" animBg="1"/>
      <p:bldP spid="123" grpId="0" animBg="1"/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A966C-7B24-7638-CB92-B88CD9407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C210E94-8902-BE28-6B4D-077D5F55550F}"/>
              </a:ext>
            </a:extLst>
          </p:cNvPr>
          <p:cNvSpPr/>
          <p:nvPr/>
        </p:nvSpPr>
        <p:spPr>
          <a:xfrm>
            <a:off x="108857" y="5390246"/>
            <a:ext cx="4657060" cy="1392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5FAEBA-1C35-4F07-3BBA-3B3AE967E303}"/>
              </a:ext>
            </a:extLst>
          </p:cNvPr>
          <p:cNvSpPr txBox="1"/>
          <p:nvPr/>
        </p:nvSpPr>
        <p:spPr>
          <a:xfrm>
            <a:off x="0" y="397103"/>
            <a:ext cx="44236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Nonclassical bipartite state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EA88DE2-1C0F-E0AB-D5B8-5A6559AD4D03}"/>
                  </a:ext>
                </a:extLst>
              </p:cNvPr>
              <p:cNvSpPr txBox="1"/>
              <p:nvPr/>
            </p:nvSpPr>
            <p:spPr>
              <a:xfrm>
                <a:off x="141650" y="899018"/>
                <a:ext cx="12083143" cy="6155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 </a:t>
                </a:r>
              </a:p>
              <a:p>
                <a:pPr marL="285750" indent="-285750">
                  <a:buFont typeface="Wingdings" pitchFamily="2" charset="2"/>
                  <a:buChar char="§"/>
                </a:pPr>
                <a:r>
                  <a:rPr lang="en-US" sz="1400" dirty="0">
                    <a:solidFill>
                      <a:schemeClr val="tx1"/>
                    </a:solidFill>
                  </a:rPr>
                  <a:t>Classical relative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triv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                                                               </a:t>
                </a:r>
                <a:r>
                  <a:rPr lang="en-US" sz="7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sz="1400" dirty="0"/>
                  <a:t>     Local states </a:t>
                </a:r>
              </a:p>
              <a:p>
                <a:endParaRPr lang="en-US" sz="14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4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Classical relative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CA" sz="1400" b="0" i="0" smtClean="0">
                        <a:latin typeface="Cambria Math" panose="02040503050406030204" pitchFamily="18" charset="0"/>
                      </a:rPr>
                      <m:t>                                                                       </m:t>
                    </m:r>
                    <m:r>
                      <a:rPr lang="en-CA" sz="1400" i="1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sz="1400" dirty="0"/>
                  <a:t>     B</a:t>
                </a:r>
                <a:r>
                  <a:rPr lang="en-US" sz="1400" dirty="0">
                    <a:sym typeface="Wingdings" pitchFamily="2" charset="2"/>
                  </a:rPr>
                  <a:t> A </a:t>
                </a:r>
                <a:r>
                  <a:rPr lang="en-US" sz="1400" dirty="0" err="1">
                    <a:sym typeface="Wingdings" pitchFamily="2" charset="2"/>
                  </a:rPr>
                  <a:t>un</a:t>
                </a:r>
                <a:r>
                  <a:rPr lang="en-US" sz="1400" dirty="0" err="1"/>
                  <a:t>steerable</a:t>
                </a:r>
                <a:r>
                  <a:rPr lang="en-US" sz="1400" dirty="0"/>
                  <a:t> states.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4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4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Classical relative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sub>
                    </m:sSub>
                  </m:oMath>
                </a14:m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CA" sz="1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                                                                      </m:t>
                    </m:r>
                    <m:r>
                      <a:rPr lang="en-CA" sz="1400" i="1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sz="1400" dirty="0"/>
                  <a:t>     A</a:t>
                </a:r>
                <a:r>
                  <a:rPr lang="en-US" sz="1400" dirty="0">
                    <a:sym typeface="Wingdings" pitchFamily="2" charset="2"/>
                  </a:rPr>
                  <a:t> B </a:t>
                </a:r>
                <a:r>
                  <a:rPr lang="en-US" sz="1400" dirty="0" err="1">
                    <a:sym typeface="Wingdings" pitchFamily="2" charset="2"/>
                  </a:rPr>
                  <a:t>un</a:t>
                </a:r>
                <a:r>
                  <a:rPr lang="en-US" sz="1400" dirty="0" err="1"/>
                  <a:t>steerable</a:t>
                </a:r>
                <a:r>
                  <a:rPr lang="en-US" sz="1400" dirty="0"/>
                  <a:t> states.  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4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4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Classical relative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1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CA" sz="1400" b="0" i="0" smtClean="0">
                        <a:latin typeface="Cambria Math" panose="02040503050406030204" pitchFamily="18" charset="0"/>
                      </a:rPr>
                      <m:t>                                                       </m:t>
                    </m:r>
                    <m:r>
                      <a:rPr lang="en-CA" sz="1400" i="1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sz="1400" dirty="0"/>
                  <a:t>     unsteerable states.  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400" dirty="0"/>
              </a:p>
              <a:p>
                <a:r>
                  <a:rPr lang="en-US" sz="1400" dirty="0"/>
                  <a:t> 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Classical relative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CA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CA" sz="14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sz="1400" b="0" i="0" smtClean="0">
                        <a:latin typeface="Cambria Math" panose="02040503050406030204" pitchFamily="18" charset="0"/>
                      </a:rPr>
                      <m:t>                                                           </m:t>
                    </m:r>
                    <m:r>
                      <a:rPr lang="en-CA" sz="1400" i="1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sz="1400" dirty="0"/>
                  <a:t>     separable states. 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4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4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Classical relative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CA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CA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  <m: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CA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                                 </m:t>
                    </m:r>
                    <m:r>
                      <a:rPr lang="en-CA" sz="1400" i="1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CA" sz="1400" dirty="0">
                    <a:ea typeface="Cambria Math" panose="02040503050406030204" pitchFamily="18" charset="0"/>
                  </a:rPr>
                  <a:t>     </a:t>
                </a:r>
                <a:r>
                  <a:rPr lang="en-US" sz="1400" dirty="0"/>
                  <a:t>only generated classical preparations in A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400" dirty="0"/>
              </a:p>
              <a:p>
                <a:endParaRPr lang="en-US" sz="14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Classical relative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CA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CA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  <m: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CA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CA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                                 </m:t>
                    </m:r>
                    <m:r>
                      <a:rPr lang="en-CA" sz="1400" i="1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sz="1400" dirty="0"/>
                  <a:t>     only generated classical preparations in B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4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4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Classical relative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CA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CA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  <m: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CA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/>
                  <a:t>and</a:t>
                </a:r>
                <a:r>
                  <a:rPr lang="en-US" sz="1400" dirty="0">
                    <a:solidFill>
                      <a:srgbClr val="00B050"/>
                    </a:solidFill>
                  </a:rPr>
                  <a:t> 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CA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CA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  <m: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CA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CA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CA" sz="1400" i="1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sz="1400" dirty="0"/>
                  <a:t>     only generated classical preparations in both A and B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4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4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Classical relative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CA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CA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  <m: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CA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∪</m:t>
                    </m:r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  <m: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CA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CA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                 </m:t>
                    </m:r>
                    <m:r>
                      <a:rPr lang="en-CA" sz="1400" i="1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sz="1400" dirty="0"/>
                  <a:t>     nonclassical</a:t>
                </a:r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EA88DE2-1C0F-E0AB-D5B8-5A6559AD4D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50" y="899018"/>
                <a:ext cx="12083143" cy="6155531"/>
              </a:xfrm>
              <a:prstGeom prst="rect">
                <a:avLst/>
              </a:prstGeom>
              <a:blipFill>
                <a:blip r:embed="rId3"/>
                <a:stretch>
                  <a:fillRect l="-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424E79AE-1816-8D23-FE23-61738564EA7F}"/>
              </a:ext>
            </a:extLst>
          </p:cNvPr>
          <p:cNvGrpSpPr/>
          <p:nvPr/>
        </p:nvGrpSpPr>
        <p:grpSpPr>
          <a:xfrm>
            <a:off x="9358532" y="3068329"/>
            <a:ext cx="2446725" cy="2163723"/>
            <a:chOff x="9604536" y="3578095"/>
            <a:chExt cx="2518624" cy="2416854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698E823-CEC9-2D57-F121-DF4E3C31BB63}"/>
                </a:ext>
              </a:extLst>
            </p:cNvPr>
            <p:cNvSpPr/>
            <p:nvPr/>
          </p:nvSpPr>
          <p:spPr>
            <a:xfrm>
              <a:off x="9604536" y="3578095"/>
              <a:ext cx="2518624" cy="2416854"/>
            </a:xfrm>
            <a:prstGeom prst="ellipse">
              <a:avLst/>
            </a:prstGeom>
            <a:solidFill>
              <a:srgbClr val="9B4ED6">
                <a:alpha val="90167"/>
              </a:srgbClr>
            </a:solidFill>
            <a:ln w="19050">
              <a:solidFill>
                <a:schemeClr val="tx1">
                  <a:alpha val="87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b="0" dirty="0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FBBACBA-5E37-C9F5-963A-406301CD0BE5}"/>
                </a:ext>
              </a:extLst>
            </p:cNvPr>
            <p:cNvGrpSpPr/>
            <p:nvPr/>
          </p:nvGrpSpPr>
          <p:grpSpPr>
            <a:xfrm>
              <a:off x="9822432" y="4005394"/>
              <a:ext cx="2090576" cy="1968469"/>
              <a:chOff x="6148486" y="2322710"/>
              <a:chExt cx="2346779" cy="2128546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F1002EAF-088E-7816-F1A3-73F86902B105}"/>
                  </a:ext>
                </a:extLst>
              </p:cNvPr>
              <p:cNvSpPr/>
              <p:nvPr/>
            </p:nvSpPr>
            <p:spPr>
              <a:xfrm>
                <a:off x="6148486" y="2322710"/>
                <a:ext cx="2346779" cy="2115392"/>
              </a:xfrm>
              <a:prstGeom prst="ellipse">
                <a:avLst/>
              </a:prstGeom>
              <a:solidFill>
                <a:srgbClr val="F0C679"/>
              </a:solidFill>
              <a:ln w="19050">
                <a:solidFill>
                  <a:schemeClr val="tx1">
                    <a:alpha val="87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b="0" dirty="0">
                  <a:solidFill>
                    <a:srgbClr val="F8CBAD"/>
                  </a:solidFill>
                </a:endParaRPr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B5BD8444-0C78-F0E4-20D5-D881295CA77D}"/>
                  </a:ext>
                </a:extLst>
              </p:cNvPr>
              <p:cNvSpPr/>
              <p:nvPr/>
            </p:nvSpPr>
            <p:spPr>
              <a:xfrm>
                <a:off x="6405850" y="2733177"/>
                <a:ext cx="1855011" cy="1718079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tx1">
                    <a:alpha val="87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b="0" dirty="0">
                  <a:solidFill>
                    <a:srgbClr val="F8CBAD"/>
                  </a:solidFill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0A04CD1F-9007-1600-BA4A-9F05AD7FAE29}"/>
                  </a:ext>
                </a:extLst>
              </p:cNvPr>
              <p:cNvSpPr/>
              <p:nvPr/>
            </p:nvSpPr>
            <p:spPr>
              <a:xfrm>
                <a:off x="6609190" y="3194011"/>
                <a:ext cx="1416678" cy="1242157"/>
              </a:xfrm>
              <a:prstGeom prst="ellipse">
                <a:avLst/>
              </a:prstGeom>
              <a:solidFill>
                <a:srgbClr val="FA9576"/>
              </a:solidFill>
              <a:ln w="19050">
                <a:solidFill>
                  <a:schemeClr val="tx1">
                    <a:alpha val="87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b="0" dirty="0">
                  <a:solidFill>
                    <a:srgbClr val="F8CBAD"/>
                  </a:solidFill>
                </a:endParaRPr>
              </a:p>
            </p:txBody>
          </p:sp>
        </p:grpSp>
        <p:sp>
          <p:nvSpPr>
            <p:cNvPr id="9" name="Oval 73">
              <a:extLst>
                <a:ext uri="{FF2B5EF4-FFF2-40B4-BE49-F238E27FC236}">
                  <a16:creationId xmlns:a16="http://schemas.microsoft.com/office/drawing/2014/main" id="{25F16234-11D5-6C5A-6835-DD9FF28B4715}"/>
                </a:ext>
              </a:extLst>
            </p:cNvPr>
            <p:cNvSpPr/>
            <p:nvPr/>
          </p:nvSpPr>
          <p:spPr>
            <a:xfrm>
              <a:off x="10314984" y="5060838"/>
              <a:ext cx="1053941" cy="658378"/>
            </a:xfrm>
            <a:custGeom>
              <a:avLst/>
              <a:gdLst>
                <a:gd name="connsiteX0" fmla="*/ 0 w 1135096"/>
                <a:gd name="connsiteY0" fmla="*/ 534045 h 1068090"/>
                <a:gd name="connsiteX1" fmla="*/ 567548 w 1135096"/>
                <a:gd name="connsiteY1" fmla="*/ 0 h 1068090"/>
                <a:gd name="connsiteX2" fmla="*/ 1135096 w 1135096"/>
                <a:gd name="connsiteY2" fmla="*/ 534045 h 1068090"/>
                <a:gd name="connsiteX3" fmla="*/ 567548 w 1135096"/>
                <a:gd name="connsiteY3" fmla="*/ 1068090 h 1068090"/>
                <a:gd name="connsiteX4" fmla="*/ 0 w 1135096"/>
                <a:gd name="connsiteY4" fmla="*/ 534045 h 1068090"/>
                <a:gd name="connsiteX0" fmla="*/ 13 w 1135109"/>
                <a:gd name="connsiteY0" fmla="*/ 111945 h 645990"/>
                <a:gd name="connsiteX1" fmla="*/ 554772 w 1135109"/>
                <a:gd name="connsiteY1" fmla="*/ 198157 h 645990"/>
                <a:gd name="connsiteX2" fmla="*/ 1135109 w 1135109"/>
                <a:gd name="connsiteY2" fmla="*/ 111945 h 645990"/>
                <a:gd name="connsiteX3" fmla="*/ 567561 w 1135109"/>
                <a:gd name="connsiteY3" fmla="*/ 645990 h 645990"/>
                <a:gd name="connsiteX4" fmla="*/ 13 w 1135109"/>
                <a:gd name="connsiteY4" fmla="*/ 111945 h 645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109" h="645990">
                  <a:moveTo>
                    <a:pt x="13" y="111945"/>
                  </a:moveTo>
                  <a:cubicBezTo>
                    <a:pt x="-2118" y="37306"/>
                    <a:pt x="241324" y="198157"/>
                    <a:pt x="554772" y="198157"/>
                  </a:cubicBezTo>
                  <a:cubicBezTo>
                    <a:pt x="868220" y="198157"/>
                    <a:pt x="1135109" y="-183000"/>
                    <a:pt x="1135109" y="111945"/>
                  </a:cubicBezTo>
                  <a:cubicBezTo>
                    <a:pt x="1135109" y="406890"/>
                    <a:pt x="881009" y="645990"/>
                    <a:pt x="567561" y="645990"/>
                  </a:cubicBezTo>
                  <a:cubicBezTo>
                    <a:pt x="254113" y="645990"/>
                    <a:pt x="2144" y="186584"/>
                    <a:pt x="13" y="111945"/>
                  </a:cubicBezTo>
                  <a:close/>
                </a:path>
              </a:pathLst>
            </a:custGeom>
            <a:solidFill>
              <a:srgbClr val="F66565"/>
            </a:solidFill>
            <a:ln w="19050">
              <a:solidFill>
                <a:schemeClr val="tx1">
                  <a:alpha val="87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b="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595B523-9DC6-87B0-E24A-22633369A095}"/>
                </a:ext>
              </a:extLst>
            </p:cNvPr>
            <p:cNvSpPr txBox="1"/>
            <p:nvPr/>
          </p:nvSpPr>
          <p:spPr>
            <a:xfrm>
              <a:off x="10511798" y="5245300"/>
              <a:ext cx="83506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Classical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9D796B6A-AAF4-FFC5-B308-C26AF5E54E89}"/>
                    </a:ext>
                  </a:extLst>
                </p:cNvPr>
                <p:cNvSpPr txBox="1"/>
                <p:nvPr/>
              </p:nvSpPr>
              <p:spPr>
                <a:xfrm>
                  <a:off x="10314984" y="4902862"/>
                  <a:ext cx="1135096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CA" sz="1200" b="0" i="0" spc="-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Separable</m:t>
                        </m:r>
                      </m:oMath>
                    </m:oMathPara>
                  </a14:m>
                  <a:endParaRPr lang="en-US" sz="1200" spc="-1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9D796B6A-AAF4-FFC5-B308-C26AF5E54E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14984" y="4902862"/>
                  <a:ext cx="1135096" cy="276999"/>
                </a:xfrm>
                <a:prstGeom prst="rect">
                  <a:avLst/>
                </a:prstGeom>
                <a:blipFill>
                  <a:blip r:embed="rId4"/>
                  <a:stretch>
                    <a:fillRect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96FD23D-7767-12B1-FF0D-6CFB10EB512A}"/>
                    </a:ext>
                  </a:extLst>
                </p:cNvPr>
                <p:cNvSpPr txBox="1"/>
                <p:nvPr/>
              </p:nvSpPr>
              <p:spPr>
                <a:xfrm>
                  <a:off x="10151380" y="4509523"/>
                  <a:ext cx="1427063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CA" sz="1200" i="0" spc="-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m:rPr>
                            <m:sty m:val="p"/>
                          </m:rPr>
                          <a:rPr lang="en-CA" sz="1200" b="0" i="0" spc="-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nsteerable</m:t>
                        </m:r>
                      </m:oMath>
                    </m:oMathPara>
                  </a14:m>
                  <a:endParaRPr lang="en-US" sz="1200" spc="-1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96FD23D-7767-12B1-FF0D-6CFB10EB51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1380" y="4509523"/>
                  <a:ext cx="1427063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A779413-258D-8DE8-1EF2-0C88805C36E2}"/>
                    </a:ext>
                  </a:extLst>
                </p:cNvPr>
                <p:cNvSpPr txBox="1"/>
                <p:nvPr/>
              </p:nvSpPr>
              <p:spPr>
                <a:xfrm>
                  <a:off x="10225497" y="4097340"/>
                  <a:ext cx="1276702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CA" sz="12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Local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A779413-258D-8DE8-1EF2-0C88805C36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25497" y="4097340"/>
                  <a:ext cx="1276702" cy="276999"/>
                </a:xfrm>
                <a:prstGeom prst="rect">
                  <a:avLst/>
                </a:prstGeom>
                <a:blipFill>
                  <a:blip r:embed="rId6"/>
                  <a:stretch>
                    <a:fillRect b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D48F763-1C79-C8BD-9F06-8A4C5A849CF2}"/>
                </a:ext>
              </a:extLst>
            </p:cNvPr>
            <p:cNvSpPr txBox="1"/>
            <p:nvPr/>
          </p:nvSpPr>
          <p:spPr>
            <a:xfrm>
              <a:off x="10096174" y="3688974"/>
              <a:ext cx="15600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All quantum states</a:t>
              </a:r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175B056-CFA7-A0BA-504C-FED35881C8A0}"/>
              </a:ext>
            </a:extLst>
          </p:cNvPr>
          <p:cNvCxnSpPr>
            <a:cxnSpLocks/>
          </p:cNvCxnSpPr>
          <p:nvPr/>
        </p:nvCxnSpPr>
        <p:spPr>
          <a:xfrm>
            <a:off x="9746646" y="1543971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1700FE9-D4A9-53EF-D8B4-7F99A255137B}"/>
                  </a:ext>
                </a:extLst>
              </p:cNvPr>
              <p:cNvSpPr txBox="1"/>
              <p:nvPr/>
            </p:nvSpPr>
            <p:spPr>
              <a:xfrm>
                <a:off x="9699652" y="1494164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altLang="zh-CN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1700FE9-D4A9-53EF-D8B4-7F99A25513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9652" y="1494164"/>
                <a:ext cx="204800" cy="276999"/>
              </a:xfrm>
              <a:prstGeom prst="rect">
                <a:avLst/>
              </a:prstGeom>
              <a:blipFill>
                <a:blip r:embed="rId7"/>
                <a:stretch>
                  <a:fillRect r="-17647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365FD62-F771-2596-532D-ACC654DA4F66}"/>
              </a:ext>
            </a:extLst>
          </p:cNvPr>
          <p:cNvCxnSpPr>
            <a:cxnSpLocks/>
          </p:cNvCxnSpPr>
          <p:nvPr/>
        </p:nvCxnSpPr>
        <p:spPr>
          <a:xfrm>
            <a:off x="9136256" y="1542332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F71244B-1AF0-B2BD-CDC8-E5BD1EAEC9C8}"/>
                  </a:ext>
                </a:extLst>
              </p:cNvPr>
              <p:cNvSpPr txBox="1"/>
              <p:nvPr/>
            </p:nvSpPr>
            <p:spPr>
              <a:xfrm>
                <a:off x="9089262" y="1492525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altLang="zh-CN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F71244B-1AF0-B2BD-CDC8-E5BD1EAEC9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9262" y="1492525"/>
                <a:ext cx="204800" cy="276999"/>
              </a:xfrm>
              <a:prstGeom prst="rect">
                <a:avLst/>
              </a:prstGeom>
              <a:blipFill>
                <a:blip r:embed="rId8"/>
                <a:stretch>
                  <a:fillRect r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168C86F-2DF0-83F6-8BC2-7F46E9CEFA15}"/>
                  </a:ext>
                </a:extLst>
              </p:cNvPr>
              <p:cNvSpPr txBox="1"/>
              <p:nvPr/>
            </p:nvSpPr>
            <p:spPr>
              <a:xfrm>
                <a:off x="9013892" y="1031217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168C86F-2DF0-83F6-8BC2-7F46E9CEFA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3892" y="1031217"/>
                <a:ext cx="246689" cy="276999"/>
              </a:xfrm>
              <a:prstGeom prst="rect">
                <a:avLst/>
              </a:prstGeom>
              <a:blipFill>
                <a:blip r:embed="rId9"/>
                <a:stretch>
                  <a:fillRect r="-14286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DD9EA624-8B68-957B-9F60-656A5FB2EBC1}"/>
              </a:ext>
            </a:extLst>
          </p:cNvPr>
          <p:cNvGrpSpPr/>
          <p:nvPr/>
        </p:nvGrpSpPr>
        <p:grpSpPr>
          <a:xfrm>
            <a:off x="9641392" y="1552637"/>
            <a:ext cx="45719" cy="210912"/>
            <a:chOff x="6548130" y="2237014"/>
            <a:chExt cx="49658" cy="440872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9412156-D7A2-2D8B-4A52-A29AB75DD8D1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975B55F-26E1-7FD7-DA7E-61A763E6444C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sp>
        <p:nvSpPr>
          <p:cNvPr id="27" name="Flowchart: Delay 9">
            <a:extLst>
              <a:ext uri="{FF2B5EF4-FFF2-40B4-BE49-F238E27FC236}">
                <a16:creationId xmlns:a16="http://schemas.microsoft.com/office/drawing/2014/main" id="{2C5998C7-DAA0-9D21-BA78-9494F39AC560}"/>
              </a:ext>
            </a:extLst>
          </p:cNvPr>
          <p:cNvSpPr/>
          <p:nvPr/>
        </p:nvSpPr>
        <p:spPr>
          <a:xfrm rot="16200000">
            <a:off x="9516968" y="1213844"/>
            <a:ext cx="309789" cy="367797"/>
          </a:xfrm>
          <a:prstGeom prst="flowChartDelay">
            <a:avLst/>
          </a:prstGeom>
          <a:solidFill>
            <a:srgbClr val="FFC000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eaVert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588F8E4-C570-0FBE-3A71-3211C24569F4}"/>
                  </a:ext>
                </a:extLst>
              </p:cNvPr>
              <p:cNvSpPr txBox="1"/>
              <p:nvPr/>
            </p:nvSpPr>
            <p:spPr>
              <a:xfrm>
                <a:off x="9646884" y="1031217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588F8E4-C570-0FBE-3A71-3211C24569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6884" y="1031217"/>
                <a:ext cx="246689" cy="276999"/>
              </a:xfrm>
              <a:prstGeom prst="rect">
                <a:avLst/>
              </a:prstGeom>
              <a:blipFill>
                <a:blip r:embed="rId10"/>
                <a:stretch>
                  <a:fillRect r="-14286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C7F0756F-9386-2C7F-DD8B-0070AD251DFD}"/>
              </a:ext>
            </a:extLst>
          </p:cNvPr>
          <p:cNvGrpSpPr/>
          <p:nvPr/>
        </p:nvGrpSpPr>
        <p:grpSpPr>
          <a:xfrm>
            <a:off x="9026170" y="1552637"/>
            <a:ext cx="45719" cy="210912"/>
            <a:chOff x="6548130" y="2237014"/>
            <a:chExt cx="49658" cy="440872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30E3757-4330-0CF2-CA4D-DAA0C43DB930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4F9AACD-C33C-E727-B110-4F9F5D81AD3E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sp>
        <p:nvSpPr>
          <p:cNvPr id="32" name="Flowchart: Delay 17">
            <a:extLst>
              <a:ext uri="{FF2B5EF4-FFF2-40B4-BE49-F238E27FC236}">
                <a16:creationId xmlns:a16="http://schemas.microsoft.com/office/drawing/2014/main" id="{6DB665AC-994E-5B85-5E5E-9FE9374E7A04}"/>
              </a:ext>
            </a:extLst>
          </p:cNvPr>
          <p:cNvSpPr/>
          <p:nvPr/>
        </p:nvSpPr>
        <p:spPr>
          <a:xfrm rot="16200000">
            <a:off x="8890307" y="1213844"/>
            <a:ext cx="309789" cy="367797"/>
          </a:xfrm>
          <a:prstGeom prst="flowChartDelay">
            <a:avLst/>
          </a:prstGeom>
          <a:solidFill>
            <a:srgbClr val="FFC000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eaVert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dirty="0">
                <a:solidFill>
                  <a:prstClr val="black"/>
                </a:solidFill>
                <a:latin typeface="Calibri" panose="020F0502020204030204"/>
              </a:rPr>
              <a:t>N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11DB486-D756-BBA8-3296-E16DA7776D45}"/>
              </a:ext>
            </a:extLst>
          </p:cNvPr>
          <p:cNvCxnSpPr>
            <a:cxnSpLocks/>
          </p:cNvCxnSpPr>
          <p:nvPr/>
        </p:nvCxnSpPr>
        <p:spPr>
          <a:xfrm>
            <a:off x="9044984" y="1128689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B05F981-E7D5-E896-13AA-B5B761DB6400}"/>
              </a:ext>
            </a:extLst>
          </p:cNvPr>
          <p:cNvCxnSpPr>
            <a:cxnSpLocks/>
          </p:cNvCxnSpPr>
          <p:nvPr/>
        </p:nvCxnSpPr>
        <p:spPr>
          <a:xfrm>
            <a:off x="9671862" y="1128689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: Rounded Corners 10">
                <a:extLst>
                  <a:ext uri="{FF2B5EF4-FFF2-40B4-BE49-F238E27FC236}">
                    <a16:creationId xmlns:a16="http://schemas.microsoft.com/office/drawing/2014/main" id="{8EC7EA39-3781-12DB-0369-B78D1617BCA1}"/>
                  </a:ext>
                </a:extLst>
              </p:cNvPr>
              <p:cNvSpPr/>
              <p:nvPr/>
            </p:nvSpPr>
            <p:spPr>
              <a:xfrm>
                <a:off x="8861303" y="1769524"/>
                <a:ext cx="994458" cy="406232"/>
              </a:xfrm>
              <a:prstGeom prst="roundRect">
                <a:avLst/>
              </a:prstGeom>
              <a:solidFill>
                <a:srgbClr val="FFC000">
                  <a:lumMod val="40000"/>
                  <a:lumOff val="60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CA" sz="18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𝜌</m:t>
                      </m:r>
                    </m:oMath>
                  </m:oMathPara>
                </a14:m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5" name="Rectangle: Rounded Corners 10">
                <a:extLst>
                  <a:ext uri="{FF2B5EF4-FFF2-40B4-BE49-F238E27FC236}">
                    <a16:creationId xmlns:a16="http://schemas.microsoft.com/office/drawing/2014/main" id="{8EC7EA39-3781-12DB-0369-B78D1617BC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1303" y="1769524"/>
                <a:ext cx="994458" cy="406232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88E40F0-8678-DE1E-C62F-5B1961B493DB}"/>
              </a:ext>
            </a:extLst>
          </p:cNvPr>
          <p:cNvCxnSpPr>
            <a:cxnSpLocks/>
            <a:stCxn id="38" idx="2"/>
          </p:cNvCxnSpPr>
          <p:nvPr/>
        </p:nvCxnSpPr>
        <p:spPr>
          <a:xfrm flipH="1">
            <a:off x="11772792" y="1452555"/>
            <a:ext cx="2476" cy="340734"/>
          </a:xfrm>
          <a:prstGeom prst="line">
            <a:avLst/>
          </a:prstGeom>
          <a:noFill/>
          <a:ln w="15875" cap="flat" cmpd="sng" algn="ctr">
            <a:solidFill>
              <a:sysClr val="windowText" lastClr="000000"/>
            </a:solidFill>
            <a:prstDash val="sysDash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92D1EB4-97C7-7371-F677-FCE1F0F09372}"/>
                  </a:ext>
                </a:extLst>
              </p:cNvPr>
              <p:cNvSpPr txBox="1"/>
              <p:nvPr/>
            </p:nvSpPr>
            <p:spPr>
              <a:xfrm>
                <a:off x="11733271" y="1501302"/>
                <a:ext cx="290731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0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92D1EB4-97C7-7371-F677-FCE1F0F093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33271" y="1501302"/>
                <a:ext cx="290731" cy="25391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: Rounded Corners 109">
                <a:extLst>
                  <a:ext uri="{FF2B5EF4-FFF2-40B4-BE49-F238E27FC236}">
                    <a16:creationId xmlns:a16="http://schemas.microsoft.com/office/drawing/2014/main" id="{DB5DE6D6-9CD6-BF4C-E301-2604D854F593}"/>
                  </a:ext>
                </a:extLst>
              </p:cNvPr>
              <p:cNvSpPr/>
              <p:nvPr/>
            </p:nvSpPr>
            <p:spPr>
              <a:xfrm>
                <a:off x="11468301" y="1185630"/>
                <a:ext cx="613934" cy="266925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CA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𝑏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|</m:t>
                      </m:r>
                      <m:sSub>
                        <m:sSubPr>
                          <m:ctrlP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  <m:r>
                            <a:rPr kumimoji="0" lang="en-CA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8" name="Rectangle: Rounded Corners 109">
                <a:extLst>
                  <a:ext uri="{FF2B5EF4-FFF2-40B4-BE49-F238E27FC236}">
                    <a16:creationId xmlns:a16="http://schemas.microsoft.com/office/drawing/2014/main" id="{DB5DE6D6-9CD6-BF4C-E301-2604D854F5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8301" y="1185630"/>
                <a:ext cx="613934" cy="266925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: Rounded Corners 110">
                <a:extLst>
                  <a:ext uri="{FF2B5EF4-FFF2-40B4-BE49-F238E27FC236}">
                    <a16:creationId xmlns:a16="http://schemas.microsoft.com/office/drawing/2014/main" id="{FC8937E2-742A-867B-110A-19E8158C821F}"/>
                  </a:ext>
                </a:extLst>
              </p:cNvPr>
              <p:cNvSpPr/>
              <p:nvPr/>
            </p:nvSpPr>
            <p:spPr>
              <a:xfrm>
                <a:off x="10827420" y="1785035"/>
                <a:ext cx="1170006" cy="398885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sSub>
                        <m:sSubPr>
                          <m:ctrlP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9" name="Rectangle: Rounded Corners 110">
                <a:extLst>
                  <a:ext uri="{FF2B5EF4-FFF2-40B4-BE49-F238E27FC236}">
                    <a16:creationId xmlns:a16="http://schemas.microsoft.com/office/drawing/2014/main" id="{FC8937E2-742A-867B-110A-19E8158C82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7420" y="1785035"/>
                <a:ext cx="1170006" cy="398885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90C7E4C-52DE-E4E9-25A1-170282BFC114}"/>
              </a:ext>
            </a:extLst>
          </p:cNvPr>
          <p:cNvCxnSpPr>
            <a:cxnSpLocks/>
            <a:stCxn id="42" idx="2"/>
          </p:cNvCxnSpPr>
          <p:nvPr/>
        </p:nvCxnSpPr>
        <p:spPr>
          <a:xfrm flipH="1">
            <a:off x="11070313" y="1451603"/>
            <a:ext cx="2476" cy="340734"/>
          </a:xfrm>
          <a:prstGeom prst="line">
            <a:avLst/>
          </a:prstGeom>
          <a:noFill/>
          <a:ln w="15875" cap="flat" cmpd="sng" algn="ctr">
            <a:solidFill>
              <a:sysClr val="windowText" lastClr="000000"/>
            </a:solidFill>
            <a:prstDash val="sysDash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1C0E5AC-B83E-058C-2CEB-7EA80572E940}"/>
                  </a:ext>
                </a:extLst>
              </p:cNvPr>
              <p:cNvSpPr txBox="1"/>
              <p:nvPr/>
            </p:nvSpPr>
            <p:spPr>
              <a:xfrm>
                <a:off x="11030792" y="1500350"/>
                <a:ext cx="290731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000" i="1" smtClean="0">
                              <a:solidFill>
                                <a:prstClr val="black"/>
                              </a:solidFill>
                              <a:latin typeface="Cambria Math" panose="020F0502020204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1C0E5AC-B83E-058C-2CEB-7EA80572E9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30792" y="1500350"/>
                <a:ext cx="290731" cy="25391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: Rounded Corners 114">
                <a:extLst>
                  <a:ext uri="{FF2B5EF4-FFF2-40B4-BE49-F238E27FC236}">
                    <a16:creationId xmlns:a16="http://schemas.microsoft.com/office/drawing/2014/main" id="{7D76F76E-081A-F783-8248-8AD27C1B14A5}"/>
                  </a:ext>
                </a:extLst>
              </p:cNvPr>
              <p:cNvSpPr/>
              <p:nvPr/>
            </p:nvSpPr>
            <p:spPr>
              <a:xfrm>
                <a:off x="10765822" y="1184678"/>
                <a:ext cx="613934" cy="266925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CA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|</m:t>
                      </m:r>
                      <m:sSub>
                        <m:sSubPr>
                          <m:ctrlP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CA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F0502020204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2" name="Rectangle: Rounded Corners 114">
                <a:extLst>
                  <a:ext uri="{FF2B5EF4-FFF2-40B4-BE49-F238E27FC236}">
                    <a16:creationId xmlns:a16="http://schemas.microsoft.com/office/drawing/2014/main" id="{7D76F76E-081A-F783-8248-8AD27C1B14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5822" y="1184678"/>
                <a:ext cx="613934" cy="266925"/>
              </a:xfrm>
              <a:prstGeom prst="roundRect">
                <a:avLst/>
              </a:prstGeom>
              <a:blipFill>
                <a:blip r:embed="rId16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F5BB8BD9-3981-8A96-A830-279C47FD337B}"/>
              </a:ext>
            </a:extLst>
          </p:cNvPr>
          <p:cNvSpPr txBox="1"/>
          <p:nvPr/>
        </p:nvSpPr>
        <p:spPr>
          <a:xfrm>
            <a:off x="10776211" y="2333934"/>
            <a:ext cx="14157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Ontological model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697D139-D019-F11C-B932-4178D0F655E7}"/>
              </a:ext>
            </a:extLst>
          </p:cNvPr>
          <p:cNvSpPr txBox="1"/>
          <p:nvPr/>
        </p:nvSpPr>
        <p:spPr>
          <a:xfrm>
            <a:off x="8792212" y="2320640"/>
            <a:ext cx="14157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Quantum circuit</a:t>
            </a:r>
          </a:p>
        </p:txBody>
      </p:sp>
      <p:sp>
        <p:nvSpPr>
          <p:cNvPr id="45" name="Arrow: Right 117">
            <a:extLst>
              <a:ext uri="{FF2B5EF4-FFF2-40B4-BE49-F238E27FC236}">
                <a16:creationId xmlns:a16="http://schemas.microsoft.com/office/drawing/2014/main" id="{CF6A2165-1E00-B38F-C255-538A77033889}"/>
              </a:ext>
            </a:extLst>
          </p:cNvPr>
          <p:cNvSpPr/>
          <p:nvPr/>
        </p:nvSpPr>
        <p:spPr>
          <a:xfrm>
            <a:off x="10181366" y="1565185"/>
            <a:ext cx="394729" cy="426178"/>
          </a:xfrm>
          <a:prstGeom prst="rightArrow">
            <a:avLst/>
          </a:prstGeom>
          <a:solidFill>
            <a:srgbClr val="A5A5A5"/>
          </a:solidFill>
          <a:ln w="12700" cap="flat" cmpd="sng" algn="ctr">
            <a:solidFill>
              <a:srgbClr val="A5A5A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FA8CCA1-9606-46D2-F070-5ABD053302CD}"/>
              </a:ext>
            </a:extLst>
          </p:cNvPr>
          <p:cNvSpPr txBox="1"/>
          <p:nvPr/>
        </p:nvSpPr>
        <p:spPr>
          <a:xfrm>
            <a:off x="9961100" y="1095868"/>
            <a:ext cx="906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Linear</a:t>
            </a:r>
          </a:p>
          <a:p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Diag. Pres</a:t>
            </a:r>
          </a:p>
        </p:txBody>
      </p:sp>
    </p:spTree>
    <p:extLst>
      <p:ext uri="{BB962C8B-B14F-4D97-AF65-F5344CB8AC3E}">
        <p14:creationId xmlns:p14="http://schemas.microsoft.com/office/powerpoint/2010/main" val="1439363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EC9F9-DC89-0DA2-1638-993A3E7D2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1754DA-E244-7D01-0CE9-06635B677E77}"/>
              </a:ext>
            </a:extLst>
          </p:cNvPr>
          <p:cNvSpPr/>
          <p:nvPr/>
        </p:nvSpPr>
        <p:spPr>
          <a:xfrm>
            <a:off x="108857" y="4276774"/>
            <a:ext cx="9816545" cy="2506337"/>
          </a:xfrm>
          <a:prstGeom prst="rect">
            <a:avLst/>
          </a:prstGeom>
          <a:ln w="31750">
            <a:solidFill>
              <a:schemeClr val="dk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F87880-C6E4-F3E8-741C-1377FC31136C}"/>
              </a:ext>
            </a:extLst>
          </p:cNvPr>
          <p:cNvSpPr/>
          <p:nvPr/>
        </p:nvSpPr>
        <p:spPr>
          <a:xfrm>
            <a:off x="108857" y="5390246"/>
            <a:ext cx="4657060" cy="1392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36F0CB-5C3A-FCDF-CCE7-DA7C1AF2A986}"/>
              </a:ext>
            </a:extLst>
          </p:cNvPr>
          <p:cNvSpPr txBox="1"/>
          <p:nvPr/>
        </p:nvSpPr>
        <p:spPr>
          <a:xfrm>
            <a:off x="0" y="397103"/>
            <a:ext cx="44236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Nonclassical bipartite state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3AA051B-DBC3-6E74-CCCB-3D61D2982796}"/>
                  </a:ext>
                </a:extLst>
              </p:cNvPr>
              <p:cNvSpPr txBox="1"/>
              <p:nvPr/>
            </p:nvSpPr>
            <p:spPr>
              <a:xfrm>
                <a:off x="141650" y="899018"/>
                <a:ext cx="12083143" cy="6155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 </a:t>
                </a:r>
              </a:p>
              <a:p>
                <a:pPr marL="285750" indent="-285750">
                  <a:buFont typeface="Wingdings" pitchFamily="2" charset="2"/>
                  <a:buChar char="§"/>
                </a:pPr>
                <a:r>
                  <a:rPr lang="en-US" sz="1400" dirty="0">
                    <a:solidFill>
                      <a:schemeClr val="tx1"/>
                    </a:solidFill>
                  </a:rPr>
                  <a:t>Classical relative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triv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                                                               </a:t>
                </a:r>
                <a:r>
                  <a:rPr lang="en-US" sz="7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sz="1400" dirty="0"/>
                  <a:t>     Local states </a:t>
                </a:r>
              </a:p>
              <a:p>
                <a:endParaRPr lang="en-US" sz="14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4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Classical relative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CA" sz="1400" b="0" i="0" smtClean="0">
                        <a:latin typeface="Cambria Math" panose="02040503050406030204" pitchFamily="18" charset="0"/>
                      </a:rPr>
                      <m:t>                                                                       </m:t>
                    </m:r>
                    <m:r>
                      <a:rPr lang="en-CA" sz="1400" i="1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sz="1400" dirty="0"/>
                  <a:t>     B</a:t>
                </a:r>
                <a:r>
                  <a:rPr lang="en-US" sz="1400" dirty="0">
                    <a:sym typeface="Wingdings" pitchFamily="2" charset="2"/>
                  </a:rPr>
                  <a:t> A </a:t>
                </a:r>
                <a:r>
                  <a:rPr lang="en-US" sz="1400" dirty="0" err="1">
                    <a:sym typeface="Wingdings" pitchFamily="2" charset="2"/>
                  </a:rPr>
                  <a:t>un</a:t>
                </a:r>
                <a:r>
                  <a:rPr lang="en-US" sz="1400" dirty="0" err="1"/>
                  <a:t>steerable</a:t>
                </a:r>
                <a:r>
                  <a:rPr lang="en-US" sz="1400" dirty="0"/>
                  <a:t> states.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4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4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Classical relative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sub>
                    </m:sSub>
                  </m:oMath>
                </a14:m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CA" sz="1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                                                                      </m:t>
                    </m:r>
                    <m:r>
                      <a:rPr lang="en-CA" sz="1400" i="1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sz="1400" dirty="0"/>
                  <a:t>     A</a:t>
                </a:r>
                <a:r>
                  <a:rPr lang="en-US" sz="1400" dirty="0">
                    <a:sym typeface="Wingdings" pitchFamily="2" charset="2"/>
                  </a:rPr>
                  <a:t> B </a:t>
                </a:r>
                <a:r>
                  <a:rPr lang="en-US" sz="1400" dirty="0" err="1">
                    <a:sym typeface="Wingdings" pitchFamily="2" charset="2"/>
                  </a:rPr>
                  <a:t>un</a:t>
                </a:r>
                <a:r>
                  <a:rPr lang="en-US" sz="1400" dirty="0" err="1"/>
                  <a:t>steerable</a:t>
                </a:r>
                <a:r>
                  <a:rPr lang="en-US" sz="1400" dirty="0"/>
                  <a:t> states.  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4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4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Classical relative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1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CA" sz="1400" b="0" i="0" smtClean="0">
                        <a:latin typeface="Cambria Math" panose="02040503050406030204" pitchFamily="18" charset="0"/>
                      </a:rPr>
                      <m:t>                                                       </m:t>
                    </m:r>
                    <m:r>
                      <a:rPr lang="en-CA" sz="1400" i="1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sz="1400" dirty="0"/>
                  <a:t>     unsteerable states.  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400" dirty="0"/>
              </a:p>
              <a:p>
                <a:r>
                  <a:rPr lang="en-US" sz="1400" dirty="0"/>
                  <a:t> 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Classical relative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CA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CA" sz="14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sz="1400" b="0" i="0" smtClean="0">
                        <a:latin typeface="Cambria Math" panose="02040503050406030204" pitchFamily="18" charset="0"/>
                      </a:rPr>
                      <m:t>                                                           </m:t>
                    </m:r>
                    <m:r>
                      <a:rPr lang="en-CA" sz="1400" i="1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sz="1400" dirty="0"/>
                  <a:t>     separable states. 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4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4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Classical relative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CA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CA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  <m: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CA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                                 </m:t>
                    </m:r>
                    <m:r>
                      <a:rPr lang="en-CA" sz="1400" i="1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CA" sz="1400" dirty="0">
                    <a:ea typeface="Cambria Math" panose="02040503050406030204" pitchFamily="18" charset="0"/>
                  </a:rPr>
                  <a:t>     </a:t>
                </a:r>
                <a:r>
                  <a:rPr lang="en-US" sz="1400" dirty="0"/>
                  <a:t>only generated classical preparations in A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400" dirty="0"/>
              </a:p>
              <a:p>
                <a:endParaRPr lang="en-US" sz="14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Classical relative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CA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CA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  <m: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CA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CA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                                 </m:t>
                    </m:r>
                    <m:r>
                      <a:rPr lang="en-CA" sz="1400" i="1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sz="1400" dirty="0"/>
                  <a:t>     only generated classical preparations in B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4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4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Classical relative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CA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CA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  <m: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CA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/>
                  <a:t>and</a:t>
                </a:r>
                <a:r>
                  <a:rPr lang="en-US" sz="1400" dirty="0">
                    <a:solidFill>
                      <a:srgbClr val="00B050"/>
                    </a:solidFill>
                  </a:rPr>
                  <a:t> 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CA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CA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  <m: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CA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CA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CA" sz="1400" i="1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sz="1400" dirty="0"/>
                  <a:t>     only generated classical preparations in both A and B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4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4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Classical relative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CA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CA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  <m: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CA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∪</m:t>
                    </m:r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  <m: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r>
                          <m:rPr>
                            <m:sty m:val="p"/>
                          </m:rPr>
                          <a:rPr lang="en-CA" sz="1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CA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CA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                 </m:t>
                    </m:r>
                    <m:r>
                      <a:rPr lang="en-CA" sz="1400" i="1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sz="1400" dirty="0"/>
                  <a:t>     nonclassical</a:t>
                </a:r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3AA051B-DBC3-6E74-CCCB-3D61D29827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50" y="899018"/>
                <a:ext cx="12083143" cy="6155531"/>
              </a:xfrm>
              <a:prstGeom prst="rect">
                <a:avLst/>
              </a:prstGeom>
              <a:blipFill>
                <a:blip r:embed="rId3"/>
                <a:stretch>
                  <a:fillRect l="-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DC214CCE-49AA-5E98-EB91-AB9EFB958D48}"/>
              </a:ext>
            </a:extLst>
          </p:cNvPr>
          <p:cNvGrpSpPr/>
          <p:nvPr/>
        </p:nvGrpSpPr>
        <p:grpSpPr>
          <a:xfrm>
            <a:off x="9358532" y="3068329"/>
            <a:ext cx="2446725" cy="2163723"/>
            <a:chOff x="9604536" y="3578095"/>
            <a:chExt cx="2518624" cy="2416854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ED6BBE9-90D5-DEF7-3702-398A4FEAACD1}"/>
                </a:ext>
              </a:extLst>
            </p:cNvPr>
            <p:cNvSpPr/>
            <p:nvPr/>
          </p:nvSpPr>
          <p:spPr>
            <a:xfrm>
              <a:off x="9604536" y="3578095"/>
              <a:ext cx="2518624" cy="2416854"/>
            </a:xfrm>
            <a:prstGeom prst="ellipse">
              <a:avLst/>
            </a:prstGeom>
            <a:solidFill>
              <a:srgbClr val="9B4ED6">
                <a:alpha val="90167"/>
              </a:srgbClr>
            </a:solidFill>
            <a:ln w="19050">
              <a:solidFill>
                <a:schemeClr val="tx1">
                  <a:alpha val="87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b="0" dirty="0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AE40335-2AF0-E51E-E4EC-A447CF6A3F61}"/>
                </a:ext>
              </a:extLst>
            </p:cNvPr>
            <p:cNvGrpSpPr/>
            <p:nvPr/>
          </p:nvGrpSpPr>
          <p:grpSpPr>
            <a:xfrm>
              <a:off x="9822432" y="4005394"/>
              <a:ext cx="2090576" cy="1968469"/>
              <a:chOff x="6148486" y="2322710"/>
              <a:chExt cx="2346779" cy="2128546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F663E288-8947-EBD0-39D4-C2F2E10D9AF8}"/>
                  </a:ext>
                </a:extLst>
              </p:cNvPr>
              <p:cNvSpPr/>
              <p:nvPr/>
            </p:nvSpPr>
            <p:spPr>
              <a:xfrm>
                <a:off x="6148486" y="2322710"/>
                <a:ext cx="2346779" cy="2115392"/>
              </a:xfrm>
              <a:prstGeom prst="ellipse">
                <a:avLst/>
              </a:prstGeom>
              <a:solidFill>
                <a:srgbClr val="F0C679"/>
              </a:solidFill>
              <a:ln w="19050">
                <a:solidFill>
                  <a:schemeClr val="tx1">
                    <a:alpha val="87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b="0" dirty="0">
                  <a:solidFill>
                    <a:srgbClr val="F8CBAD"/>
                  </a:solidFill>
                </a:endParaRPr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B348F963-0DCF-3D6E-6C40-93292397DFB8}"/>
                  </a:ext>
                </a:extLst>
              </p:cNvPr>
              <p:cNvSpPr/>
              <p:nvPr/>
            </p:nvSpPr>
            <p:spPr>
              <a:xfrm>
                <a:off x="6405850" y="2733177"/>
                <a:ext cx="1855011" cy="1718079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tx1">
                    <a:alpha val="87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b="0" dirty="0">
                  <a:solidFill>
                    <a:srgbClr val="F8CBAD"/>
                  </a:solidFill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9C00CD77-3FFE-53AE-6C7F-1868801D6425}"/>
                  </a:ext>
                </a:extLst>
              </p:cNvPr>
              <p:cNvSpPr/>
              <p:nvPr/>
            </p:nvSpPr>
            <p:spPr>
              <a:xfrm>
                <a:off x="6609190" y="3194011"/>
                <a:ext cx="1416678" cy="1242157"/>
              </a:xfrm>
              <a:prstGeom prst="ellipse">
                <a:avLst/>
              </a:prstGeom>
              <a:solidFill>
                <a:srgbClr val="FA9576"/>
              </a:solidFill>
              <a:ln w="19050">
                <a:solidFill>
                  <a:schemeClr val="tx1">
                    <a:alpha val="87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b="0" dirty="0">
                  <a:solidFill>
                    <a:srgbClr val="F8CBAD"/>
                  </a:solidFill>
                </a:endParaRPr>
              </a:p>
            </p:txBody>
          </p:sp>
        </p:grpSp>
        <p:sp>
          <p:nvSpPr>
            <p:cNvPr id="9" name="Oval 73">
              <a:extLst>
                <a:ext uri="{FF2B5EF4-FFF2-40B4-BE49-F238E27FC236}">
                  <a16:creationId xmlns:a16="http://schemas.microsoft.com/office/drawing/2014/main" id="{515AA67E-7072-71CB-54DA-0E965C9D83B5}"/>
                </a:ext>
              </a:extLst>
            </p:cNvPr>
            <p:cNvSpPr/>
            <p:nvPr/>
          </p:nvSpPr>
          <p:spPr>
            <a:xfrm>
              <a:off x="10314984" y="5060838"/>
              <a:ext cx="1053941" cy="658378"/>
            </a:xfrm>
            <a:custGeom>
              <a:avLst/>
              <a:gdLst>
                <a:gd name="connsiteX0" fmla="*/ 0 w 1135096"/>
                <a:gd name="connsiteY0" fmla="*/ 534045 h 1068090"/>
                <a:gd name="connsiteX1" fmla="*/ 567548 w 1135096"/>
                <a:gd name="connsiteY1" fmla="*/ 0 h 1068090"/>
                <a:gd name="connsiteX2" fmla="*/ 1135096 w 1135096"/>
                <a:gd name="connsiteY2" fmla="*/ 534045 h 1068090"/>
                <a:gd name="connsiteX3" fmla="*/ 567548 w 1135096"/>
                <a:gd name="connsiteY3" fmla="*/ 1068090 h 1068090"/>
                <a:gd name="connsiteX4" fmla="*/ 0 w 1135096"/>
                <a:gd name="connsiteY4" fmla="*/ 534045 h 1068090"/>
                <a:gd name="connsiteX0" fmla="*/ 13 w 1135109"/>
                <a:gd name="connsiteY0" fmla="*/ 111945 h 645990"/>
                <a:gd name="connsiteX1" fmla="*/ 554772 w 1135109"/>
                <a:gd name="connsiteY1" fmla="*/ 198157 h 645990"/>
                <a:gd name="connsiteX2" fmla="*/ 1135109 w 1135109"/>
                <a:gd name="connsiteY2" fmla="*/ 111945 h 645990"/>
                <a:gd name="connsiteX3" fmla="*/ 567561 w 1135109"/>
                <a:gd name="connsiteY3" fmla="*/ 645990 h 645990"/>
                <a:gd name="connsiteX4" fmla="*/ 13 w 1135109"/>
                <a:gd name="connsiteY4" fmla="*/ 111945 h 645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109" h="645990">
                  <a:moveTo>
                    <a:pt x="13" y="111945"/>
                  </a:moveTo>
                  <a:cubicBezTo>
                    <a:pt x="-2118" y="37306"/>
                    <a:pt x="241324" y="198157"/>
                    <a:pt x="554772" y="198157"/>
                  </a:cubicBezTo>
                  <a:cubicBezTo>
                    <a:pt x="868220" y="198157"/>
                    <a:pt x="1135109" y="-183000"/>
                    <a:pt x="1135109" y="111945"/>
                  </a:cubicBezTo>
                  <a:cubicBezTo>
                    <a:pt x="1135109" y="406890"/>
                    <a:pt x="881009" y="645990"/>
                    <a:pt x="567561" y="645990"/>
                  </a:cubicBezTo>
                  <a:cubicBezTo>
                    <a:pt x="254113" y="645990"/>
                    <a:pt x="2144" y="186584"/>
                    <a:pt x="13" y="111945"/>
                  </a:cubicBezTo>
                  <a:close/>
                </a:path>
              </a:pathLst>
            </a:custGeom>
            <a:solidFill>
              <a:srgbClr val="F66565"/>
            </a:solidFill>
            <a:ln w="19050">
              <a:solidFill>
                <a:schemeClr val="tx1">
                  <a:alpha val="87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b="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E23C2D6-22D7-2091-9F7F-0F19F49969EC}"/>
                </a:ext>
              </a:extLst>
            </p:cNvPr>
            <p:cNvSpPr txBox="1"/>
            <p:nvPr/>
          </p:nvSpPr>
          <p:spPr>
            <a:xfrm>
              <a:off x="10511798" y="5245300"/>
              <a:ext cx="83506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Classical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65FBB2A6-955E-0E4A-9510-D15FE192A73C}"/>
                    </a:ext>
                  </a:extLst>
                </p:cNvPr>
                <p:cNvSpPr txBox="1"/>
                <p:nvPr/>
              </p:nvSpPr>
              <p:spPr>
                <a:xfrm>
                  <a:off x="10314984" y="4902862"/>
                  <a:ext cx="1135096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CA" sz="1200" b="0" i="0" spc="-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Separable</m:t>
                        </m:r>
                      </m:oMath>
                    </m:oMathPara>
                  </a14:m>
                  <a:endParaRPr lang="en-US" sz="1200" spc="-1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65FBB2A6-955E-0E4A-9510-D15FE192A7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14984" y="4902862"/>
                  <a:ext cx="1135096" cy="276999"/>
                </a:xfrm>
                <a:prstGeom prst="rect">
                  <a:avLst/>
                </a:prstGeom>
                <a:blipFill>
                  <a:blip r:embed="rId4"/>
                  <a:stretch>
                    <a:fillRect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0EC3B14-07C0-DFC8-E33B-EF792867A3B9}"/>
                    </a:ext>
                  </a:extLst>
                </p:cNvPr>
                <p:cNvSpPr txBox="1"/>
                <p:nvPr/>
              </p:nvSpPr>
              <p:spPr>
                <a:xfrm>
                  <a:off x="10151380" y="4509523"/>
                  <a:ext cx="1427063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CA" sz="1200" i="0" spc="-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m:rPr>
                            <m:sty m:val="p"/>
                          </m:rPr>
                          <a:rPr lang="en-CA" sz="1200" b="0" i="0" spc="-1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nsteerable</m:t>
                        </m:r>
                      </m:oMath>
                    </m:oMathPara>
                  </a14:m>
                  <a:endParaRPr lang="en-US" sz="1200" spc="-1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0EC3B14-07C0-DFC8-E33B-EF792867A3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1380" y="4509523"/>
                  <a:ext cx="1427063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42C4620-57DB-C6D5-3BBF-5477108FE79F}"/>
                    </a:ext>
                  </a:extLst>
                </p:cNvPr>
                <p:cNvSpPr txBox="1"/>
                <p:nvPr/>
              </p:nvSpPr>
              <p:spPr>
                <a:xfrm>
                  <a:off x="10225497" y="4097340"/>
                  <a:ext cx="1276702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CA" sz="12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Local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42C4620-57DB-C6D5-3BBF-5477108FE7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25497" y="4097340"/>
                  <a:ext cx="1276702" cy="276999"/>
                </a:xfrm>
                <a:prstGeom prst="rect">
                  <a:avLst/>
                </a:prstGeom>
                <a:blipFill>
                  <a:blip r:embed="rId6"/>
                  <a:stretch>
                    <a:fillRect b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21BA2BA-926F-647D-1232-6F7D9EC5629C}"/>
                </a:ext>
              </a:extLst>
            </p:cNvPr>
            <p:cNvSpPr txBox="1"/>
            <p:nvPr/>
          </p:nvSpPr>
          <p:spPr>
            <a:xfrm>
              <a:off x="10096174" y="3688974"/>
              <a:ext cx="15600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All quantum states</a:t>
              </a:r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F1849DD-0FE2-343F-8626-9599585D9C4F}"/>
              </a:ext>
            </a:extLst>
          </p:cNvPr>
          <p:cNvCxnSpPr>
            <a:cxnSpLocks/>
          </p:cNvCxnSpPr>
          <p:nvPr/>
        </p:nvCxnSpPr>
        <p:spPr>
          <a:xfrm>
            <a:off x="9746646" y="1543971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CB923B0-3287-94AB-E741-14E6BD12FEF9}"/>
                  </a:ext>
                </a:extLst>
              </p:cNvPr>
              <p:cNvSpPr txBox="1"/>
              <p:nvPr/>
            </p:nvSpPr>
            <p:spPr>
              <a:xfrm>
                <a:off x="9699652" y="1494164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altLang="zh-CN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CB923B0-3287-94AB-E741-14E6BD12FE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9652" y="1494164"/>
                <a:ext cx="204800" cy="276999"/>
              </a:xfrm>
              <a:prstGeom prst="rect">
                <a:avLst/>
              </a:prstGeom>
              <a:blipFill>
                <a:blip r:embed="rId7"/>
                <a:stretch>
                  <a:fillRect r="-17647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B5A784A-F48A-FA85-7376-DB3607A1BE0F}"/>
              </a:ext>
            </a:extLst>
          </p:cNvPr>
          <p:cNvCxnSpPr>
            <a:cxnSpLocks/>
          </p:cNvCxnSpPr>
          <p:nvPr/>
        </p:nvCxnSpPr>
        <p:spPr>
          <a:xfrm>
            <a:off x="9136256" y="1542332"/>
            <a:ext cx="0" cy="160276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CC63E9F-4E38-EC9F-C8F7-045818FDEC17}"/>
                  </a:ext>
                </a:extLst>
              </p:cNvPr>
              <p:cNvSpPr txBox="1"/>
              <p:nvPr/>
            </p:nvSpPr>
            <p:spPr>
              <a:xfrm>
                <a:off x="9089262" y="1492525"/>
                <a:ext cx="2048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altLang="zh-CN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CC63E9F-4E38-EC9F-C8F7-045818FDEC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9262" y="1492525"/>
                <a:ext cx="204800" cy="276999"/>
              </a:xfrm>
              <a:prstGeom prst="rect">
                <a:avLst/>
              </a:prstGeom>
              <a:blipFill>
                <a:blip r:embed="rId8"/>
                <a:stretch>
                  <a:fillRect r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30BC638-ECBA-FA12-244E-53B59C2841F3}"/>
                  </a:ext>
                </a:extLst>
              </p:cNvPr>
              <p:cNvSpPr txBox="1"/>
              <p:nvPr/>
            </p:nvSpPr>
            <p:spPr>
              <a:xfrm>
                <a:off x="9013892" y="1031217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30BC638-ECBA-FA12-244E-53B59C2841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3892" y="1031217"/>
                <a:ext cx="246689" cy="276999"/>
              </a:xfrm>
              <a:prstGeom prst="rect">
                <a:avLst/>
              </a:prstGeom>
              <a:blipFill>
                <a:blip r:embed="rId9"/>
                <a:stretch>
                  <a:fillRect r="-14286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4774FE9D-2D40-2B8A-C340-8A0FEA3B370F}"/>
              </a:ext>
            </a:extLst>
          </p:cNvPr>
          <p:cNvGrpSpPr/>
          <p:nvPr/>
        </p:nvGrpSpPr>
        <p:grpSpPr>
          <a:xfrm>
            <a:off x="9641392" y="1552637"/>
            <a:ext cx="45719" cy="210912"/>
            <a:chOff x="6548130" y="2237014"/>
            <a:chExt cx="49658" cy="440872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672A586-BB4B-FD71-1E99-BBAEF950B243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779219F-C957-F536-FBC8-DBF1708B837A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sp>
        <p:nvSpPr>
          <p:cNvPr id="27" name="Flowchart: Delay 9">
            <a:extLst>
              <a:ext uri="{FF2B5EF4-FFF2-40B4-BE49-F238E27FC236}">
                <a16:creationId xmlns:a16="http://schemas.microsoft.com/office/drawing/2014/main" id="{FAADB090-7AF4-81CD-E66A-61FD8E2F5D3E}"/>
              </a:ext>
            </a:extLst>
          </p:cNvPr>
          <p:cNvSpPr/>
          <p:nvPr/>
        </p:nvSpPr>
        <p:spPr>
          <a:xfrm rot="16200000">
            <a:off x="9516968" y="1213844"/>
            <a:ext cx="309789" cy="367797"/>
          </a:xfrm>
          <a:prstGeom prst="flowChartDelay">
            <a:avLst/>
          </a:prstGeom>
          <a:solidFill>
            <a:srgbClr val="FFC000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eaVert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F4D4A5D-3CBD-59B6-DDDE-B7A98A5CBDF5}"/>
                  </a:ext>
                </a:extLst>
              </p:cNvPr>
              <p:cNvSpPr txBox="1"/>
              <p:nvPr/>
            </p:nvSpPr>
            <p:spPr>
              <a:xfrm>
                <a:off x="9646884" y="1031217"/>
                <a:ext cx="24668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F4D4A5D-3CBD-59B6-DDDE-B7A98A5CBD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6884" y="1031217"/>
                <a:ext cx="246689" cy="276999"/>
              </a:xfrm>
              <a:prstGeom prst="rect">
                <a:avLst/>
              </a:prstGeom>
              <a:blipFill>
                <a:blip r:embed="rId10"/>
                <a:stretch>
                  <a:fillRect r="-14286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F1E4CDB1-A45C-D820-D487-170D2FE95DCB}"/>
              </a:ext>
            </a:extLst>
          </p:cNvPr>
          <p:cNvGrpSpPr/>
          <p:nvPr/>
        </p:nvGrpSpPr>
        <p:grpSpPr>
          <a:xfrm>
            <a:off x="9026170" y="1552637"/>
            <a:ext cx="45719" cy="210912"/>
            <a:chOff x="6548130" y="2237014"/>
            <a:chExt cx="49658" cy="440872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1C82189-D630-3B31-EB2E-5C1CD8333353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D3671FD-73C2-2231-8948-CA6E29A34948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sp>
        <p:nvSpPr>
          <p:cNvPr id="32" name="Flowchart: Delay 17">
            <a:extLst>
              <a:ext uri="{FF2B5EF4-FFF2-40B4-BE49-F238E27FC236}">
                <a16:creationId xmlns:a16="http://schemas.microsoft.com/office/drawing/2014/main" id="{D7736CC8-1A67-CE38-685D-D1E5754CDD64}"/>
              </a:ext>
            </a:extLst>
          </p:cNvPr>
          <p:cNvSpPr/>
          <p:nvPr/>
        </p:nvSpPr>
        <p:spPr>
          <a:xfrm rot="16200000">
            <a:off x="8890307" y="1213844"/>
            <a:ext cx="309789" cy="367797"/>
          </a:xfrm>
          <a:prstGeom prst="flowChartDelay">
            <a:avLst/>
          </a:prstGeom>
          <a:solidFill>
            <a:srgbClr val="FFC000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eaVert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dirty="0">
                <a:solidFill>
                  <a:prstClr val="black"/>
                </a:solidFill>
                <a:latin typeface="Calibri" panose="020F0502020204030204"/>
              </a:rPr>
              <a:t>N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D5124EE-EDF2-0878-600A-03A0CB21A173}"/>
              </a:ext>
            </a:extLst>
          </p:cNvPr>
          <p:cNvCxnSpPr>
            <a:cxnSpLocks/>
          </p:cNvCxnSpPr>
          <p:nvPr/>
        </p:nvCxnSpPr>
        <p:spPr>
          <a:xfrm>
            <a:off x="9044984" y="1128689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AD239F1-32F4-317B-E494-D7797D8D6E1F}"/>
              </a:ext>
            </a:extLst>
          </p:cNvPr>
          <p:cNvCxnSpPr>
            <a:cxnSpLocks/>
          </p:cNvCxnSpPr>
          <p:nvPr/>
        </p:nvCxnSpPr>
        <p:spPr>
          <a:xfrm>
            <a:off x="9671862" y="1128689"/>
            <a:ext cx="0" cy="114159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: Rounded Corners 10">
                <a:extLst>
                  <a:ext uri="{FF2B5EF4-FFF2-40B4-BE49-F238E27FC236}">
                    <a16:creationId xmlns:a16="http://schemas.microsoft.com/office/drawing/2014/main" id="{1A7F27B2-5495-31EF-64BD-1B772F954350}"/>
                  </a:ext>
                </a:extLst>
              </p:cNvPr>
              <p:cNvSpPr/>
              <p:nvPr/>
            </p:nvSpPr>
            <p:spPr>
              <a:xfrm>
                <a:off x="8861303" y="1769524"/>
                <a:ext cx="994458" cy="406232"/>
              </a:xfrm>
              <a:prstGeom prst="roundRect">
                <a:avLst/>
              </a:prstGeom>
              <a:solidFill>
                <a:srgbClr val="FFC000">
                  <a:lumMod val="40000"/>
                  <a:lumOff val="60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CA" sz="18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𝜌</m:t>
                      </m:r>
                    </m:oMath>
                  </m:oMathPara>
                </a14:m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5" name="Rectangle: Rounded Corners 10">
                <a:extLst>
                  <a:ext uri="{FF2B5EF4-FFF2-40B4-BE49-F238E27FC236}">
                    <a16:creationId xmlns:a16="http://schemas.microsoft.com/office/drawing/2014/main" id="{1A7F27B2-5495-31EF-64BD-1B772F9543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1303" y="1769524"/>
                <a:ext cx="994458" cy="406232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DA4C7EB-5053-5422-DDD8-C4EED78B74CB}"/>
              </a:ext>
            </a:extLst>
          </p:cNvPr>
          <p:cNvCxnSpPr>
            <a:cxnSpLocks/>
            <a:stCxn id="38" idx="2"/>
          </p:cNvCxnSpPr>
          <p:nvPr/>
        </p:nvCxnSpPr>
        <p:spPr>
          <a:xfrm flipH="1">
            <a:off x="11772792" y="1452555"/>
            <a:ext cx="2476" cy="340734"/>
          </a:xfrm>
          <a:prstGeom prst="line">
            <a:avLst/>
          </a:prstGeom>
          <a:noFill/>
          <a:ln w="15875" cap="flat" cmpd="sng" algn="ctr">
            <a:solidFill>
              <a:sysClr val="windowText" lastClr="000000"/>
            </a:solidFill>
            <a:prstDash val="sysDash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088C144-881C-D2A3-7B3F-017152F74402}"/>
                  </a:ext>
                </a:extLst>
              </p:cNvPr>
              <p:cNvSpPr txBox="1"/>
              <p:nvPr/>
            </p:nvSpPr>
            <p:spPr>
              <a:xfrm>
                <a:off x="11733271" y="1501302"/>
                <a:ext cx="290731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0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088C144-881C-D2A3-7B3F-017152F744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33271" y="1501302"/>
                <a:ext cx="290731" cy="25391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: Rounded Corners 109">
                <a:extLst>
                  <a:ext uri="{FF2B5EF4-FFF2-40B4-BE49-F238E27FC236}">
                    <a16:creationId xmlns:a16="http://schemas.microsoft.com/office/drawing/2014/main" id="{FA18E7BF-07B0-537F-939C-702F528127E2}"/>
                  </a:ext>
                </a:extLst>
              </p:cNvPr>
              <p:cNvSpPr/>
              <p:nvPr/>
            </p:nvSpPr>
            <p:spPr>
              <a:xfrm>
                <a:off x="11468301" y="1185630"/>
                <a:ext cx="613934" cy="266925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CA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𝑏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|</m:t>
                      </m:r>
                      <m:sSub>
                        <m:sSubPr>
                          <m:ctrlP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  <m:r>
                            <a:rPr kumimoji="0" lang="en-CA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8" name="Rectangle: Rounded Corners 109">
                <a:extLst>
                  <a:ext uri="{FF2B5EF4-FFF2-40B4-BE49-F238E27FC236}">
                    <a16:creationId xmlns:a16="http://schemas.microsoft.com/office/drawing/2014/main" id="{FA18E7BF-07B0-537F-939C-702F528127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8301" y="1185630"/>
                <a:ext cx="613934" cy="266925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: Rounded Corners 110">
                <a:extLst>
                  <a:ext uri="{FF2B5EF4-FFF2-40B4-BE49-F238E27FC236}">
                    <a16:creationId xmlns:a16="http://schemas.microsoft.com/office/drawing/2014/main" id="{098BDE39-F58D-E789-EBA5-2B5B8A5621A1}"/>
                  </a:ext>
                </a:extLst>
              </p:cNvPr>
              <p:cNvSpPr/>
              <p:nvPr/>
            </p:nvSpPr>
            <p:spPr>
              <a:xfrm>
                <a:off x="10827420" y="1785035"/>
                <a:ext cx="1170006" cy="398885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sSub>
                        <m:sSubPr>
                          <m:ctrlP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9" name="Rectangle: Rounded Corners 110">
                <a:extLst>
                  <a:ext uri="{FF2B5EF4-FFF2-40B4-BE49-F238E27FC236}">
                    <a16:creationId xmlns:a16="http://schemas.microsoft.com/office/drawing/2014/main" id="{098BDE39-F58D-E789-EBA5-2B5B8A5621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7420" y="1785035"/>
                <a:ext cx="1170006" cy="398885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3330058-3CE0-12B3-6730-A715B60C04CC}"/>
              </a:ext>
            </a:extLst>
          </p:cNvPr>
          <p:cNvCxnSpPr>
            <a:cxnSpLocks/>
            <a:stCxn id="42" idx="2"/>
          </p:cNvCxnSpPr>
          <p:nvPr/>
        </p:nvCxnSpPr>
        <p:spPr>
          <a:xfrm flipH="1">
            <a:off x="11070313" y="1451603"/>
            <a:ext cx="2476" cy="340734"/>
          </a:xfrm>
          <a:prstGeom prst="line">
            <a:avLst/>
          </a:prstGeom>
          <a:noFill/>
          <a:ln w="15875" cap="flat" cmpd="sng" algn="ctr">
            <a:solidFill>
              <a:sysClr val="windowText" lastClr="000000"/>
            </a:solidFill>
            <a:prstDash val="sysDash"/>
            <a:miter lim="800000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C4F71BD-08D6-9AB5-7CD9-4A07BDF3CAD9}"/>
                  </a:ext>
                </a:extLst>
              </p:cNvPr>
              <p:cNvSpPr txBox="1"/>
              <p:nvPr/>
            </p:nvSpPr>
            <p:spPr>
              <a:xfrm>
                <a:off x="11030792" y="1500350"/>
                <a:ext cx="290731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000" i="1" smtClean="0">
                              <a:solidFill>
                                <a:prstClr val="black"/>
                              </a:solidFill>
                              <a:latin typeface="Cambria Math" panose="020F0502020204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0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C4F71BD-08D6-9AB5-7CD9-4A07BDF3CA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30792" y="1500350"/>
                <a:ext cx="290731" cy="25391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: Rounded Corners 114">
                <a:extLst>
                  <a:ext uri="{FF2B5EF4-FFF2-40B4-BE49-F238E27FC236}">
                    <a16:creationId xmlns:a16="http://schemas.microsoft.com/office/drawing/2014/main" id="{A8807AE4-24D0-C596-7B48-C1CA56F991E4}"/>
                  </a:ext>
                </a:extLst>
              </p:cNvPr>
              <p:cNvSpPr/>
              <p:nvPr/>
            </p:nvSpPr>
            <p:spPr>
              <a:xfrm>
                <a:off x="10765822" y="1184678"/>
                <a:ext cx="613934" cy="266925"/>
              </a:xfrm>
              <a:prstGeom prst="roundRect">
                <a:avLst/>
              </a:prstGeom>
              <a:solidFill>
                <a:srgbClr val="70AD47">
                  <a:lumMod val="40000"/>
                  <a:lumOff val="60000"/>
                  <a:alpha val="96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CA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</m:t>
                      </m:r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|</m:t>
                      </m:r>
                      <m:sSub>
                        <m:sSubPr>
                          <m:ctrlP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CA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e>
                        <m:sub>
                          <m:r>
                            <a:rPr kumimoji="0" lang="en-US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F0502020204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1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2" name="Rectangle: Rounded Corners 114">
                <a:extLst>
                  <a:ext uri="{FF2B5EF4-FFF2-40B4-BE49-F238E27FC236}">
                    <a16:creationId xmlns:a16="http://schemas.microsoft.com/office/drawing/2014/main" id="{A8807AE4-24D0-C596-7B48-C1CA56F991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5822" y="1184678"/>
                <a:ext cx="613934" cy="266925"/>
              </a:xfrm>
              <a:prstGeom prst="roundRect">
                <a:avLst/>
              </a:prstGeom>
              <a:blipFill>
                <a:blip r:embed="rId16"/>
                <a:stretch>
                  <a:fillRect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ysDash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32CAC820-79A3-7BAA-63DD-2C3B7785F26B}"/>
              </a:ext>
            </a:extLst>
          </p:cNvPr>
          <p:cNvSpPr txBox="1"/>
          <p:nvPr/>
        </p:nvSpPr>
        <p:spPr>
          <a:xfrm>
            <a:off x="10776211" y="2333934"/>
            <a:ext cx="14157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Ontological model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053B3FE-2FE5-136E-809E-B363A1C2EC9D}"/>
              </a:ext>
            </a:extLst>
          </p:cNvPr>
          <p:cNvSpPr txBox="1"/>
          <p:nvPr/>
        </p:nvSpPr>
        <p:spPr>
          <a:xfrm>
            <a:off x="8792212" y="2320640"/>
            <a:ext cx="14157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Quantum circuit</a:t>
            </a:r>
          </a:p>
        </p:txBody>
      </p:sp>
      <p:sp>
        <p:nvSpPr>
          <p:cNvPr id="45" name="Arrow: Right 117">
            <a:extLst>
              <a:ext uri="{FF2B5EF4-FFF2-40B4-BE49-F238E27FC236}">
                <a16:creationId xmlns:a16="http://schemas.microsoft.com/office/drawing/2014/main" id="{D9682DD0-F26E-9B6D-632B-705594E3FF2E}"/>
              </a:ext>
            </a:extLst>
          </p:cNvPr>
          <p:cNvSpPr/>
          <p:nvPr/>
        </p:nvSpPr>
        <p:spPr>
          <a:xfrm>
            <a:off x="10181366" y="1565185"/>
            <a:ext cx="394729" cy="426178"/>
          </a:xfrm>
          <a:prstGeom prst="rightArrow">
            <a:avLst/>
          </a:prstGeom>
          <a:solidFill>
            <a:srgbClr val="A5A5A5"/>
          </a:solidFill>
          <a:ln w="12700" cap="flat" cmpd="sng" algn="ctr">
            <a:solidFill>
              <a:srgbClr val="A5A5A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1E7E953-0F1E-7E02-B33F-81693D402ABB}"/>
              </a:ext>
            </a:extLst>
          </p:cNvPr>
          <p:cNvSpPr txBox="1"/>
          <p:nvPr/>
        </p:nvSpPr>
        <p:spPr>
          <a:xfrm>
            <a:off x="9961100" y="1095868"/>
            <a:ext cx="906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Linear</a:t>
            </a:r>
          </a:p>
          <a:p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Diag. Pres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C14889-38C9-2C29-9F44-B6E92C4322E5}"/>
              </a:ext>
            </a:extLst>
          </p:cNvPr>
          <p:cNvSpPr txBox="1"/>
          <p:nvPr/>
        </p:nvSpPr>
        <p:spPr>
          <a:xfrm>
            <a:off x="8108120" y="6376291"/>
            <a:ext cx="1729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Measure zero</a:t>
            </a:r>
          </a:p>
        </p:txBody>
      </p:sp>
    </p:spTree>
    <p:extLst>
      <p:ext uri="{BB962C8B-B14F-4D97-AF65-F5344CB8AC3E}">
        <p14:creationId xmlns:p14="http://schemas.microsoft.com/office/powerpoint/2010/main" val="495057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3F224-E306-7A82-B256-014423D55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62">
            <a:extLst>
              <a:ext uri="{FF2B5EF4-FFF2-40B4-BE49-F238E27FC236}">
                <a16:creationId xmlns:a16="http://schemas.microsoft.com/office/drawing/2014/main" id="{2F1AF663-4ADC-AA29-2438-4912F4850D6E}"/>
              </a:ext>
            </a:extLst>
          </p:cNvPr>
          <p:cNvGrpSpPr/>
          <p:nvPr/>
        </p:nvGrpSpPr>
        <p:grpSpPr>
          <a:xfrm>
            <a:off x="8882022" y="2046391"/>
            <a:ext cx="45719" cy="479517"/>
            <a:chOff x="6548130" y="2237014"/>
            <a:chExt cx="49658" cy="440872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B69F7046-FCE3-AD8D-81F8-E78C7DA8064A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0FA0B5E-61CF-EBC5-75FB-397A6DF2A754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6" name="Rectangle: Rounded Corners 2">
            <a:extLst>
              <a:ext uri="{FF2B5EF4-FFF2-40B4-BE49-F238E27FC236}">
                <a16:creationId xmlns:a16="http://schemas.microsoft.com/office/drawing/2014/main" id="{67FA68B1-127E-B9E3-C08E-0FA719ACF5EB}"/>
              </a:ext>
            </a:extLst>
          </p:cNvPr>
          <p:cNvSpPr/>
          <p:nvPr/>
        </p:nvSpPr>
        <p:spPr>
          <a:xfrm>
            <a:off x="5625476" y="575559"/>
            <a:ext cx="5669815" cy="1104235"/>
          </a:xfrm>
          <a:prstGeom prst="roundRect">
            <a:avLst/>
          </a:prstGeom>
          <a:solidFill>
            <a:schemeClr val="bg1"/>
          </a:solidFill>
          <a:ln w="41275"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8664FB-5FEC-A9E4-06B6-FD30E4D25648}"/>
              </a:ext>
            </a:extLst>
          </p:cNvPr>
          <p:cNvSpPr/>
          <p:nvPr/>
        </p:nvSpPr>
        <p:spPr>
          <a:xfrm>
            <a:off x="59928" y="5465135"/>
            <a:ext cx="4657060" cy="1392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C19661-9C63-B6C2-8CD7-FAFC3B4AA7F9}"/>
              </a:ext>
            </a:extLst>
          </p:cNvPr>
          <p:cNvSpPr txBox="1"/>
          <p:nvPr/>
        </p:nvSpPr>
        <p:spPr>
          <a:xfrm>
            <a:off x="0" y="397103"/>
            <a:ext cx="44236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Nonclassical general process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D799129-6512-5F0C-6E84-9892122059F4}"/>
              </a:ext>
            </a:extLst>
          </p:cNvPr>
          <p:cNvSpPr/>
          <p:nvPr/>
        </p:nvSpPr>
        <p:spPr>
          <a:xfrm>
            <a:off x="3738535" y="3010766"/>
            <a:ext cx="1932972" cy="787078"/>
          </a:xfrm>
          <a:prstGeom prst="roundRect">
            <a:avLst/>
          </a:prstGeom>
          <a:solidFill>
            <a:srgbClr val="FFC0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Classical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multi-meter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4557E30-BBF7-DD06-E619-352FB7F67E89}"/>
              </a:ext>
            </a:extLst>
          </p:cNvPr>
          <p:cNvSpPr/>
          <p:nvPr/>
        </p:nvSpPr>
        <p:spPr>
          <a:xfrm>
            <a:off x="5804138" y="3010766"/>
            <a:ext cx="1932972" cy="787078"/>
          </a:xfrm>
          <a:prstGeom prst="roundRect">
            <a:avLst/>
          </a:prstGeom>
          <a:solidFill>
            <a:srgbClr val="FFC0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Classical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multi-source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00DC16E-7C5B-8E2C-3A88-F284310D8152}"/>
              </a:ext>
            </a:extLst>
          </p:cNvPr>
          <p:cNvSpPr/>
          <p:nvPr/>
        </p:nvSpPr>
        <p:spPr>
          <a:xfrm>
            <a:off x="7841605" y="3010766"/>
            <a:ext cx="2041656" cy="787078"/>
          </a:xfrm>
          <a:prstGeom prst="roundRect">
            <a:avLst/>
          </a:prstGeom>
          <a:solidFill>
            <a:srgbClr val="FFC0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Classical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multipartite state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CE4A09D-2D6F-6946-7539-C36C3A4D7C24}"/>
              </a:ext>
            </a:extLst>
          </p:cNvPr>
          <p:cNvSpPr/>
          <p:nvPr/>
        </p:nvSpPr>
        <p:spPr>
          <a:xfrm>
            <a:off x="10033820" y="3010766"/>
            <a:ext cx="1932972" cy="787078"/>
          </a:xfrm>
          <a:prstGeom prst="roundRect">
            <a:avLst/>
          </a:prstGeom>
          <a:solidFill>
            <a:srgbClr val="FFC0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Classical channel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A121203-9C5A-2921-4C70-22832FDAF93E}"/>
              </a:ext>
            </a:extLst>
          </p:cNvPr>
          <p:cNvSpPr/>
          <p:nvPr/>
        </p:nvSpPr>
        <p:spPr>
          <a:xfrm>
            <a:off x="108857" y="3010766"/>
            <a:ext cx="1664280" cy="787078"/>
          </a:xfrm>
          <a:prstGeom prst="roundRect">
            <a:avLst/>
          </a:prstGeom>
          <a:solidFill>
            <a:srgbClr val="FFC0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Classical measurement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2B4DA0BF-3B1E-5616-BF08-A7043FA58BB0}"/>
              </a:ext>
            </a:extLst>
          </p:cNvPr>
          <p:cNvSpPr/>
          <p:nvPr/>
        </p:nvSpPr>
        <p:spPr>
          <a:xfrm>
            <a:off x="1923696" y="3010766"/>
            <a:ext cx="1616631" cy="787078"/>
          </a:xfrm>
          <a:prstGeom prst="roundRect">
            <a:avLst/>
          </a:prstGeom>
          <a:solidFill>
            <a:srgbClr val="FFC0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Classical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source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BBF0B260-884D-0BA4-0F21-399572B63A15}"/>
              </a:ext>
            </a:extLst>
          </p:cNvPr>
          <p:cNvSpPr/>
          <p:nvPr/>
        </p:nvSpPr>
        <p:spPr>
          <a:xfrm>
            <a:off x="3738535" y="4825927"/>
            <a:ext cx="1932972" cy="787078"/>
          </a:xfrm>
          <a:prstGeom prst="roundRect">
            <a:avLst/>
          </a:prstGeom>
          <a:solidFill>
            <a:srgbClr val="0098FF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Compatible measurements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0B14200B-3107-E487-CE28-9AF9B30DF252}"/>
              </a:ext>
            </a:extLst>
          </p:cNvPr>
          <p:cNvSpPr/>
          <p:nvPr/>
        </p:nvSpPr>
        <p:spPr>
          <a:xfrm>
            <a:off x="5804138" y="4825927"/>
            <a:ext cx="1932972" cy="787078"/>
          </a:xfrm>
          <a:prstGeom prst="roundRect">
            <a:avLst/>
          </a:prstGeom>
          <a:solidFill>
            <a:srgbClr val="0098FF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Unsteerable</a:t>
            </a:r>
            <a:r>
              <a:rPr lang="en-US" dirty="0">
                <a:solidFill>
                  <a:schemeClr val="tx1"/>
                </a:solidFill>
              </a:rPr>
              <a:t> assemblage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F9121E88-2E56-F273-849B-65714673FA22}"/>
              </a:ext>
            </a:extLst>
          </p:cNvPr>
          <p:cNvSpPr/>
          <p:nvPr/>
        </p:nvSpPr>
        <p:spPr>
          <a:xfrm>
            <a:off x="7841605" y="4825927"/>
            <a:ext cx="2041656" cy="787078"/>
          </a:xfrm>
          <a:prstGeom prst="roundRect">
            <a:avLst/>
          </a:prstGeom>
          <a:solidFill>
            <a:srgbClr val="0098FF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Multipartite separable state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5C4E6C6A-25AB-C858-40D5-E187688A7681}"/>
              </a:ext>
            </a:extLst>
          </p:cNvPr>
          <p:cNvSpPr/>
          <p:nvPr/>
        </p:nvSpPr>
        <p:spPr>
          <a:xfrm>
            <a:off x="10033820" y="4825927"/>
            <a:ext cx="1932972" cy="787078"/>
          </a:xfrm>
          <a:prstGeom prst="roundRect">
            <a:avLst/>
          </a:prstGeom>
          <a:solidFill>
            <a:srgbClr val="0098FF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Entanglement-breaking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9956C73-19C3-02A2-5D66-8FA47EFFA29C}"/>
              </a:ext>
            </a:extLst>
          </p:cNvPr>
          <p:cNvSpPr txBox="1"/>
          <p:nvPr/>
        </p:nvSpPr>
        <p:spPr>
          <a:xfrm>
            <a:off x="5606648" y="577611"/>
            <a:ext cx="5669814" cy="791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Our unified definition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400" dirty="0"/>
              <a:t>defines a strictly smaller set of classical processes for each type.</a:t>
            </a:r>
          </a:p>
        </p:txBody>
      </p:sp>
      <p:sp>
        <p:nvSpPr>
          <p:cNvPr id="71" name="Rectangle: Rounded Corners 2">
            <a:extLst>
              <a:ext uri="{FF2B5EF4-FFF2-40B4-BE49-F238E27FC236}">
                <a16:creationId xmlns:a16="http://schemas.microsoft.com/office/drawing/2014/main" id="{19AF260B-C3E8-A71D-22AA-7AFDC2E63E01}"/>
              </a:ext>
            </a:extLst>
          </p:cNvPr>
          <p:cNvSpPr/>
          <p:nvPr/>
        </p:nvSpPr>
        <p:spPr>
          <a:xfrm>
            <a:off x="5975445" y="6191116"/>
            <a:ext cx="3248512" cy="369333"/>
          </a:xfrm>
          <a:prstGeom prst="roundRect">
            <a:avLst/>
          </a:prstGeom>
          <a:solidFill>
            <a:schemeClr val="bg1"/>
          </a:solidFill>
          <a:ln w="41275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273BACD-D165-CC56-C222-75B2490D6C3D}"/>
              </a:ext>
            </a:extLst>
          </p:cNvPr>
          <p:cNvSpPr txBox="1"/>
          <p:nvPr/>
        </p:nvSpPr>
        <p:spPr>
          <a:xfrm>
            <a:off x="6036996" y="6183899"/>
            <a:ext cx="3118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Common view of classicality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DC15050-35F1-7A68-E79D-89F9992C9685}"/>
              </a:ext>
            </a:extLst>
          </p:cNvPr>
          <p:cNvGrpSpPr/>
          <p:nvPr/>
        </p:nvGrpSpPr>
        <p:grpSpPr>
          <a:xfrm>
            <a:off x="4786518" y="2603356"/>
            <a:ext cx="73178" cy="283502"/>
            <a:chOff x="6548130" y="2237014"/>
            <a:chExt cx="49658" cy="440872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CD919B60-012C-F318-7A12-A17FAD672040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F52AF8EF-AB7B-619B-D235-75ABFB6D788E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916BEEB-5EB6-AE16-6E6D-95B8CD822518}"/>
              </a:ext>
            </a:extLst>
          </p:cNvPr>
          <p:cNvCxnSpPr/>
          <p:nvPr/>
        </p:nvCxnSpPr>
        <p:spPr>
          <a:xfrm>
            <a:off x="4545516" y="2611408"/>
            <a:ext cx="0" cy="275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62963A8-4476-9FB9-2794-E538826DF269}"/>
                  </a:ext>
                </a:extLst>
              </p:cNvPr>
              <p:cNvSpPr txBox="1"/>
              <p:nvPr/>
            </p:nvSpPr>
            <p:spPr>
              <a:xfrm>
                <a:off x="4338635" y="1839893"/>
                <a:ext cx="394854" cy="3909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6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𝑏</m:t>
                      </m:r>
                    </m:oMath>
                  </m:oMathPara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62963A8-4476-9FB9-2794-E538826DF2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8635" y="1839893"/>
                <a:ext cx="394854" cy="3909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Flowchart: Delay 107">
                <a:extLst>
                  <a:ext uri="{FF2B5EF4-FFF2-40B4-BE49-F238E27FC236}">
                    <a16:creationId xmlns:a16="http://schemas.microsoft.com/office/drawing/2014/main" id="{E2CC569F-FA16-5483-8FC2-F0936F5A6BEE}"/>
                  </a:ext>
                </a:extLst>
              </p:cNvPr>
              <p:cNvSpPr/>
              <p:nvPr/>
            </p:nvSpPr>
            <p:spPr>
              <a:xfrm rot="16200000">
                <a:off x="4440911" y="2108840"/>
                <a:ext cx="487590" cy="549640"/>
              </a:xfrm>
              <a:prstGeom prst="flowChartDelay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eaVert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CA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1600" b="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0" lang="en-CA" sz="1600" b="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b</m:t>
                        </m:r>
                        <m:r>
                          <a:rPr kumimoji="0" lang="en-CA" sz="1600" b="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kumimoji="0" lang="en-CA" sz="1600" b="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y</m:t>
                        </m:r>
                      </m:sub>
                    </m:sSub>
                  </m:oMath>
                </a14:m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9" name="Flowchart: Delay 107">
                <a:extLst>
                  <a:ext uri="{FF2B5EF4-FFF2-40B4-BE49-F238E27FC236}">
                    <a16:creationId xmlns:a16="http://schemas.microsoft.com/office/drawing/2014/main" id="{E2CC569F-FA16-5483-8FC2-F0936F5A6B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440911" y="2108840"/>
                <a:ext cx="487590" cy="549640"/>
              </a:xfrm>
              <a:prstGeom prst="flowChartDelay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09820B6-6B8C-B1E2-571E-494BF762B272}"/>
              </a:ext>
            </a:extLst>
          </p:cNvPr>
          <p:cNvCxnSpPr>
            <a:cxnSpLocks/>
          </p:cNvCxnSpPr>
          <p:nvPr/>
        </p:nvCxnSpPr>
        <p:spPr>
          <a:xfrm>
            <a:off x="4664828" y="1944693"/>
            <a:ext cx="0" cy="19612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01531B3-1EB3-E114-A734-F0FBF2ECEF54}"/>
                  </a:ext>
                </a:extLst>
              </p:cNvPr>
              <p:cNvSpPr txBox="1"/>
              <p:nvPr/>
            </p:nvSpPr>
            <p:spPr>
              <a:xfrm>
                <a:off x="4192035" y="2559966"/>
                <a:ext cx="327806" cy="3385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CA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01531B3-1EB3-E114-A734-F0FBF2ECEF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2035" y="2559966"/>
                <a:ext cx="327806" cy="33855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9B26970-512F-4C47-7E83-891D6BEF9311}"/>
                  </a:ext>
                </a:extLst>
              </p:cNvPr>
              <p:cNvSpPr txBox="1"/>
              <p:nvPr/>
            </p:nvSpPr>
            <p:spPr>
              <a:xfrm>
                <a:off x="4879840" y="2584776"/>
                <a:ext cx="241001" cy="3909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CA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</m:t>
                      </m:r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9B26970-512F-4C47-7E83-891D6BEF93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9840" y="2584776"/>
                <a:ext cx="241001" cy="390963"/>
              </a:xfrm>
              <a:prstGeom prst="rect">
                <a:avLst/>
              </a:prstGeom>
              <a:blipFill>
                <a:blip r:embed="rId6"/>
                <a:stretch>
                  <a:fillRect r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966C495B-9C79-CA64-86EB-F876AE249B07}"/>
              </a:ext>
            </a:extLst>
          </p:cNvPr>
          <p:cNvGrpSpPr/>
          <p:nvPr/>
        </p:nvGrpSpPr>
        <p:grpSpPr>
          <a:xfrm>
            <a:off x="6348237" y="1898198"/>
            <a:ext cx="781616" cy="1036898"/>
            <a:chOff x="4142593" y="3611013"/>
            <a:chExt cx="534038" cy="669968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9B8179C-F4AE-BA7F-71C7-ED8A96D526D1}"/>
                </a:ext>
              </a:extLst>
            </p:cNvPr>
            <p:cNvGrpSpPr/>
            <p:nvPr/>
          </p:nvGrpSpPr>
          <p:grpSpPr>
            <a:xfrm>
              <a:off x="4462203" y="3674246"/>
              <a:ext cx="45719" cy="165022"/>
              <a:chOff x="6548130" y="2237014"/>
              <a:chExt cx="49658" cy="440872"/>
            </a:xfrm>
          </p:grpSpPr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C22CAADB-814B-141E-C7E5-888E97702C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48130" y="2237014"/>
                <a:ext cx="0" cy="440872"/>
              </a:xfrm>
              <a:prstGeom prst="line">
                <a:avLst/>
              </a:prstGeom>
              <a:ln w="19050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291A2A53-461D-3D13-E772-972219ACB5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97788" y="2237014"/>
                <a:ext cx="0" cy="440872"/>
              </a:xfrm>
              <a:prstGeom prst="line">
                <a:avLst/>
              </a:prstGeom>
              <a:ln w="19050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BC06811-A72E-AED3-0623-87D5B9D54A36}"/>
                </a:ext>
              </a:extLst>
            </p:cNvPr>
            <p:cNvCxnSpPr/>
            <p:nvPr/>
          </p:nvCxnSpPr>
          <p:spPr>
            <a:xfrm>
              <a:off x="4438885" y="4112039"/>
              <a:ext cx="0" cy="160276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1DD426E-5E82-61DC-9700-BA2126C74713}"/>
                    </a:ext>
                  </a:extLst>
                </p:cNvPr>
                <p:cNvSpPr txBox="1"/>
                <p:nvPr/>
              </p:nvSpPr>
              <p:spPr>
                <a:xfrm>
                  <a:off x="4391891" y="4062232"/>
                  <a:ext cx="204800" cy="2187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F0502020204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oMath>
                    </m:oMathPara>
                  </a14:m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1DD426E-5E82-61DC-9700-BA2126C747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91891" y="4062232"/>
                  <a:ext cx="204800" cy="21874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Flowchart: Delay 100">
                  <a:extLst>
                    <a:ext uri="{FF2B5EF4-FFF2-40B4-BE49-F238E27FC236}">
                      <a16:creationId xmlns:a16="http://schemas.microsoft.com/office/drawing/2014/main" id="{2E84C24F-E8D1-4DC2-70B6-8C6691F1A354}"/>
                    </a:ext>
                  </a:extLst>
                </p:cNvPr>
                <p:cNvSpPr/>
                <p:nvPr/>
              </p:nvSpPr>
              <p:spPr>
                <a:xfrm rot="5400000">
                  <a:off x="4299274" y="3803143"/>
                  <a:ext cx="276999" cy="343396"/>
                </a:xfrm>
                <a:prstGeom prst="flowChartDelay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vert270" rtlCol="0" anchor="ctr"/>
                <a:lstStyle/>
                <a:p>
                  <a:pPr lvl="0" algn="ctr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F0502020204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CA" sz="16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CA" sz="16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CA" sz="16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CA" sz="16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prstClr val="black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Flowchart: Delay 100">
                  <a:extLst>
                    <a:ext uri="{FF2B5EF4-FFF2-40B4-BE49-F238E27FC236}">
                      <a16:creationId xmlns:a16="http://schemas.microsoft.com/office/drawing/2014/main" id="{2E84C24F-E8D1-4DC2-70B6-8C6691F1A3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4299274" y="3803143"/>
                  <a:ext cx="276999" cy="343396"/>
                </a:xfrm>
                <a:prstGeom prst="flowChartDelay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C24BBAE9-421E-04B1-AFD8-0080DA6468D0}"/>
                    </a:ext>
                  </a:extLst>
                </p:cNvPr>
                <p:cNvSpPr txBox="1"/>
                <p:nvPr/>
              </p:nvSpPr>
              <p:spPr>
                <a:xfrm>
                  <a:off x="4142593" y="3611448"/>
                  <a:ext cx="166012" cy="2187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</m:t>
                        </m:r>
                      </m:oMath>
                    </m:oMathPara>
                  </a14:m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C24BBAE9-421E-04B1-AFD8-0080DA6468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2593" y="3611448"/>
                  <a:ext cx="166012" cy="218749"/>
                </a:xfrm>
                <a:prstGeom prst="rect">
                  <a:avLst/>
                </a:prstGeom>
                <a:blipFill>
                  <a:blip r:embed="rId9"/>
                  <a:stretch>
                    <a:fillRect r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A41C1C0-5460-F530-EA2B-BCC8763C571F}"/>
                </a:ext>
              </a:extLst>
            </p:cNvPr>
            <p:cNvCxnSpPr/>
            <p:nvPr/>
          </p:nvCxnSpPr>
          <p:spPr>
            <a:xfrm>
              <a:off x="4338822" y="3674246"/>
              <a:ext cx="0" cy="160276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167191B0-DAB1-3CEA-CBBE-125EABB7B62D}"/>
                    </a:ext>
                  </a:extLst>
                </p:cNvPr>
                <p:cNvSpPr txBox="1"/>
                <p:nvPr/>
              </p:nvSpPr>
              <p:spPr>
                <a:xfrm>
                  <a:off x="4510619" y="3611013"/>
                  <a:ext cx="166012" cy="2187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CA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𝐴</m:t>
                        </m:r>
                      </m:oMath>
                    </m:oMathPara>
                  </a14:m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167191B0-DAB1-3CEA-CBBE-125EABB7B6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10619" y="3611013"/>
                  <a:ext cx="166012" cy="218749"/>
                </a:xfrm>
                <a:prstGeom prst="rect">
                  <a:avLst/>
                </a:prstGeom>
                <a:blipFill>
                  <a:blip r:embed="rId10"/>
                  <a:stretch>
                    <a:fillRect r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E5859CF-BF87-425C-2069-1A6A5E3777B9}"/>
              </a:ext>
            </a:extLst>
          </p:cNvPr>
          <p:cNvGrpSpPr/>
          <p:nvPr/>
        </p:nvGrpSpPr>
        <p:grpSpPr>
          <a:xfrm>
            <a:off x="8520523" y="2036608"/>
            <a:ext cx="45719" cy="479517"/>
            <a:chOff x="6548130" y="2237014"/>
            <a:chExt cx="49658" cy="440872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26F3293-C75F-B109-C411-F848B7EBE3D9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234BA28-0371-EBA7-24F3-6473E36874BE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0E8EDF7-144A-D362-BEE0-D47622B07D5A}"/>
              </a:ext>
            </a:extLst>
          </p:cNvPr>
          <p:cNvGrpSpPr/>
          <p:nvPr/>
        </p:nvGrpSpPr>
        <p:grpSpPr>
          <a:xfrm>
            <a:off x="9026322" y="2043316"/>
            <a:ext cx="45719" cy="479517"/>
            <a:chOff x="6548130" y="2237014"/>
            <a:chExt cx="49658" cy="440872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52C6552-40CA-273B-1DEA-1C098B7C4E53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EFFA2AD3-4C73-6E72-F917-D4EAEEB722A1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Flowchart: Delay 35">
                <a:extLst>
                  <a:ext uri="{FF2B5EF4-FFF2-40B4-BE49-F238E27FC236}">
                    <a16:creationId xmlns:a16="http://schemas.microsoft.com/office/drawing/2014/main" id="{41746CD4-B232-5E90-FA64-2B55D1660F77}"/>
                  </a:ext>
                </a:extLst>
              </p:cNvPr>
              <p:cNvSpPr/>
              <p:nvPr/>
            </p:nvSpPr>
            <p:spPr>
              <a:xfrm rot="5400000">
                <a:off x="8599679" y="2035332"/>
                <a:ext cx="390961" cy="946526"/>
              </a:xfrm>
              <a:prstGeom prst="flowChartDelay">
                <a:avLst/>
              </a:prstGeom>
              <a:solidFill>
                <a:srgbClr val="FFE699"/>
              </a:solidFill>
              <a:ln w="15875">
                <a:solidFill>
                  <a:schemeClr val="tx1"/>
                </a:solidFill>
              </a:ln>
              <a:effectLst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27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acc>
                            <m:accPr>
                              <m:chr m:val="⃗"/>
                              <m:ctrlPr>
                                <a:rPr kumimoji="0" lang="en-CA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0" lang="en-CA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r>
                            <a:rPr lang="en-CA" sz="16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</m:oMath>
                  </m:oMathPara>
                </a14:m>
                <a:endParaRPr kumimoji="0" lang="en-US" sz="7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9" name="Flowchart: Delay 35">
                <a:extLst>
                  <a:ext uri="{FF2B5EF4-FFF2-40B4-BE49-F238E27FC236}">
                    <a16:creationId xmlns:a16="http://schemas.microsoft.com/office/drawing/2014/main" id="{41746CD4-B232-5E90-FA64-2B55D1660F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8599679" y="2035332"/>
                <a:ext cx="390961" cy="946526"/>
              </a:xfrm>
              <a:prstGeom prst="flowChartDelay">
                <a:avLst/>
              </a:prstGeom>
              <a:blipFill>
                <a:blip r:embed="rId11"/>
                <a:stretch>
                  <a:fillRect t="-8824"/>
                </a:stretch>
              </a:blipFill>
              <a:ln w="15875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D1C2DA5-642A-83F4-9760-3719B23D7080}"/>
                  </a:ext>
                </a:extLst>
              </p:cNvPr>
              <p:cNvSpPr txBox="1"/>
              <p:nvPr/>
            </p:nvSpPr>
            <p:spPr>
              <a:xfrm>
                <a:off x="8181882" y="1920588"/>
                <a:ext cx="384359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CA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𝐴</m:t>
                          </m:r>
                        </m:e>
                        <m:sub>
                          <m:r>
                            <a:rPr kumimoji="0" lang="en-CA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D1C2DA5-642A-83F4-9760-3719B23D70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1882" y="1920588"/>
                <a:ext cx="384359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E1F3844-DAD1-8BFB-049B-7ED201C849F1}"/>
                  </a:ext>
                </a:extLst>
              </p:cNvPr>
              <p:cNvSpPr txBox="1"/>
              <p:nvPr/>
            </p:nvSpPr>
            <p:spPr>
              <a:xfrm>
                <a:off x="9087786" y="1911824"/>
                <a:ext cx="384359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CA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𝐴</m:t>
                          </m:r>
                        </m:e>
                        <m:sub>
                          <m:r>
                            <a:rPr kumimoji="0" lang="en-CA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E1F3844-DAD1-8BFB-049B-7ED201C849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7786" y="1911824"/>
                <a:ext cx="384359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B8342D69-BDCA-5BDE-E313-8EDD4ECFD693}"/>
              </a:ext>
            </a:extLst>
          </p:cNvPr>
          <p:cNvGrpSpPr/>
          <p:nvPr/>
        </p:nvGrpSpPr>
        <p:grpSpPr>
          <a:xfrm>
            <a:off x="10974093" y="2646676"/>
            <a:ext cx="45719" cy="210912"/>
            <a:chOff x="6548130" y="2237014"/>
            <a:chExt cx="49658" cy="440872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FB2AD37E-2846-4BF1-5BD7-55D0BC3DD7DD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34E90CEC-7244-038A-0950-379BA3796304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2666B6C-3843-3962-2F9B-0FDC365A501A}"/>
                  </a:ext>
                </a:extLst>
              </p:cNvPr>
              <p:cNvSpPr txBox="1"/>
              <p:nvPr/>
            </p:nvSpPr>
            <p:spPr>
              <a:xfrm>
                <a:off x="10839956" y="2631649"/>
                <a:ext cx="73050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CA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2666B6C-3843-3962-2F9B-0FDC365A50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9956" y="2631649"/>
                <a:ext cx="730505" cy="33855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: Rounded Corners 28">
                <a:extLst>
                  <a:ext uri="{FF2B5EF4-FFF2-40B4-BE49-F238E27FC236}">
                    <a16:creationId xmlns:a16="http://schemas.microsoft.com/office/drawing/2014/main" id="{BD35528F-45F9-6060-3564-C86D7AC60093}"/>
                  </a:ext>
                </a:extLst>
              </p:cNvPr>
              <p:cNvSpPr/>
              <p:nvPr/>
            </p:nvSpPr>
            <p:spPr>
              <a:xfrm>
                <a:off x="10702252" y="2259924"/>
                <a:ext cx="593047" cy="413590"/>
              </a:xfrm>
              <a:prstGeom prst="roundRect">
                <a:avLst/>
              </a:prstGeom>
              <a:solidFill>
                <a:srgbClr val="FFE699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 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ℰ</m:t>
                          </m:r>
                        </m:e>
                        <m:sup>
                          <m: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𝐴</m:t>
                          </m:r>
                          <m: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→</m:t>
                          </m:r>
                          <m: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𝐵</m:t>
                          </m:r>
                        </m:sup>
                      </m:sSup>
                      <m:r>
                        <a:rPr kumimoji="0" lang="en-CA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</m:oMath>
                  </m:oMathPara>
                </a14:m>
                <a:endParaRPr kumimoji="0" lang="en-C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8" name="Rectangle: Rounded Corners 28">
                <a:extLst>
                  <a:ext uri="{FF2B5EF4-FFF2-40B4-BE49-F238E27FC236}">
                    <a16:creationId xmlns:a16="http://schemas.microsoft.com/office/drawing/2014/main" id="{BD35528F-45F9-6060-3564-C86D7AC600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2252" y="2259924"/>
                <a:ext cx="593047" cy="413590"/>
              </a:xfrm>
              <a:prstGeom prst="round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3F140365-76B0-09EC-5485-B5EAABA6198A}"/>
              </a:ext>
            </a:extLst>
          </p:cNvPr>
          <p:cNvGrpSpPr/>
          <p:nvPr/>
        </p:nvGrpSpPr>
        <p:grpSpPr>
          <a:xfrm>
            <a:off x="10972105" y="2046501"/>
            <a:ext cx="45719" cy="210912"/>
            <a:chOff x="6548130" y="2237014"/>
            <a:chExt cx="49658" cy="440872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F7B720-B672-39EC-EB32-38975A7FA47F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DDF31638-34FC-E44A-0983-2C5E98F95CC0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91A48E00-47B4-5058-2B30-20D95867EA92}"/>
                  </a:ext>
                </a:extLst>
              </p:cNvPr>
              <p:cNvSpPr txBox="1"/>
              <p:nvPr/>
            </p:nvSpPr>
            <p:spPr>
              <a:xfrm>
                <a:off x="10868411" y="1918106"/>
                <a:ext cx="73050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6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91A48E00-47B4-5058-2B30-20D95867EA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8411" y="1918106"/>
                <a:ext cx="730505" cy="33855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34BF165-CF83-192D-E0FD-7ACCEEBC2EB3}"/>
                  </a:ext>
                </a:extLst>
              </p:cNvPr>
              <p:cNvSpPr txBox="1"/>
              <p:nvPr/>
            </p:nvSpPr>
            <p:spPr>
              <a:xfrm>
                <a:off x="8587060" y="2021451"/>
                <a:ext cx="25327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34BF165-CF83-192D-E0FD-7ACCEEBC2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7060" y="2021451"/>
                <a:ext cx="253274" cy="276999"/>
              </a:xfrm>
              <a:prstGeom prst="rect">
                <a:avLst/>
              </a:prstGeom>
              <a:blipFill>
                <a:blip r:embed="rId17"/>
                <a:stretch>
                  <a:fillRect l="-5000" r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CD7BE1EA-F338-7BE7-6D0D-3E3CF09B723B}"/>
              </a:ext>
            </a:extLst>
          </p:cNvPr>
          <p:cNvGrpSpPr/>
          <p:nvPr/>
        </p:nvGrpSpPr>
        <p:grpSpPr>
          <a:xfrm>
            <a:off x="2278988" y="2008270"/>
            <a:ext cx="66914" cy="255402"/>
            <a:chOff x="6548130" y="2237014"/>
            <a:chExt cx="49658" cy="440872"/>
          </a:xfrm>
        </p:grpSpPr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305EA726-28D5-B9FF-63A2-0992FDBFB766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C7B91FC1-138D-2674-D93E-8E3DC8BD14C8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85CCC4-3BCD-9A6B-B868-7BCE06E43065}"/>
              </a:ext>
            </a:extLst>
          </p:cNvPr>
          <p:cNvCxnSpPr/>
          <p:nvPr/>
        </p:nvCxnSpPr>
        <p:spPr>
          <a:xfrm>
            <a:off x="2325883" y="2685835"/>
            <a:ext cx="0" cy="24805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16297A0E-A0B3-1E6F-21C4-83C96775CE4D}"/>
                  </a:ext>
                </a:extLst>
              </p:cNvPr>
              <p:cNvSpPr txBox="1"/>
              <p:nvPr/>
            </p:nvSpPr>
            <p:spPr>
              <a:xfrm>
                <a:off x="2257102" y="2608749"/>
                <a:ext cx="29974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6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F0502020204030204" pitchFamily="18" charset="0"/>
                          <a:ea typeface="+mn-ea"/>
                          <a:cs typeface="+mn-cs"/>
                        </a:rPr>
                        <m:t>𝑥</m:t>
                      </m:r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16297A0E-A0B3-1E6F-21C4-83C96775CE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7102" y="2608749"/>
                <a:ext cx="299745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Flowchart: Delay 100">
                <a:extLst>
                  <a:ext uri="{FF2B5EF4-FFF2-40B4-BE49-F238E27FC236}">
                    <a16:creationId xmlns:a16="http://schemas.microsoft.com/office/drawing/2014/main" id="{2FFADDB1-11B1-08AC-4998-993BC6F61026}"/>
                  </a:ext>
                </a:extLst>
              </p:cNvPr>
              <p:cNvSpPr/>
              <p:nvPr/>
            </p:nvSpPr>
            <p:spPr>
              <a:xfrm rot="5400000">
                <a:off x="2109902" y="2222199"/>
                <a:ext cx="428707" cy="502593"/>
              </a:xfrm>
              <a:prstGeom prst="flowChartDelay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270" rtlCol="0" anchor="ctr"/>
              <a:lstStyle/>
              <a:p>
                <a:pPr lvl="0" algn="ctr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F0502020204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CA" sz="16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CA" sz="16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⋅|</m:t>
                          </m:r>
                          <m:r>
                            <a:rPr lang="en-CA" sz="16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77" name="Flowchart: Delay 100">
                <a:extLst>
                  <a:ext uri="{FF2B5EF4-FFF2-40B4-BE49-F238E27FC236}">
                    <a16:creationId xmlns:a16="http://schemas.microsoft.com/office/drawing/2014/main" id="{2FFADDB1-11B1-08AC-4998-993BC6F610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2109902" y="2222199"/>
                <a:ext cx="428707" cy="502593"/>
              </a:xfrm>
              <a:prstGeom prst="flowChartDelay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40C241D4-936E-1CCC-FF6D-695E69418861}"/>
                  </a:ext>
                </a:extLst>
              </p:cNvPr>
              <p:cNvSpPr txBox="1"/>
              <p:nvPr/>
            </p:nvSpPr>
            <p:spPr>
              <a:xfrm>
                <a:off x="2349849" y="1910405"/>
                <a:ext cx="24297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CA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</m:t>
                      </m:r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40C241D4-936E-1CCC-FF6D-695E694188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9849" y="1910405"/>
                <a:ext cx="242975" cy="338554"/>
              </a:xfrm>
              <a:prstGeom prst="rect">
                <a:avLst/>
              </a:prstGeom>
              <a:blipFill>
                <a:blip r:embed="rId20"/>
                <a:stretch>
                  <a:fillRect r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9" name="Group 78">
            <a:extLst>
              <a:ext uri="{FF2B5EF4-FFF2-40B4-BE49-F238E27FC236}">
                <a16:creationId xmlns:a16="http://schemas.microsoft.com/office/drawing/2014/main" id="{E921FD42-4D53-CC65-B597-BF70F3C362FD}"/>
              </a:ext>
            </a:extLst>
          </p:cNvPr>
          <p:cNvGrpSpPr/>
          <p:nvPr/>
        </p:nvGrpSpPr>
        <p:grpSpPr>
          <a:xfrm>
            <a:off x="3224053" y="2012354"/>
            <a:ext cx="66914" cy="255402"/>
            <a:chOff x="6548130" y="2237014"/>
            <a:chExt cx="49658" cy="440872"/>
          </a:xfrm>
        </p:grpSpPr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2D06142E-02E6-916C-FC20-698D96146D18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7E8ADBA3-9808-D68C-B8B5-657C707151DD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Flowchart: Delay 100">
                <a:extLst>
                  <a:ext uri="{FF2B5EF4-FFF2-40B4-BE49-F238E27FC236}">
                    <a16:creationId xmlns:a16="http://schemas.microsoft.com/office/drawing/2014/main" id="{9DC7BDFA-68E1-DC73-2CA3-B4E1CFFE9C00}"/>
                  </a:ext>
                </a:extLst>
              </p:cNvPr>
              <p:cNvSpPr/>
              <p:nvPr/>
            </p:nvSpPr>
            <p:spPr>
              <a:xfrm rot="5400000">
                <a:off x="2976695" y="2223533"/>
                <a:ext cx="423205" cy="502592"/>
              </a:xfrm>
              <a:prstGeom prst="flowChartDelay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270" rtlCol="0" anchor="ctr"/>
              <a:lstStyle/>
              <a:p>
                <a:pPr lvl="0" algn="ctr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F0502020204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CA" sz="16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CA" sz="16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82" name="Flowchart: Delay 100">
                <a:extLst>
                  <a:ext uri="{FF2B5EF4-FFF2-40B4-BE49-F238E27FC236}">
                    <a16:creationId xmlns:a16="http://schemas.microsoft.com/office/drawing/2014/main" id="{9DC7BDFA-68E1-DC73-2CA3-B4E1CFFE9C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2976695" y="2223533"/>
                <a:ext cx="423205" cy="502592"/>
              </a:xfrm>
              <a:prstGeom prst="flowChartDelay">
                <a:avLst/>
              </a:prstGeom>
              <a:blipFill>
                <a:blip r:embed="rId21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EB7DFEA8-30A9-2C2A-B1C9-CD37523B318C}"/>
                  </a:ext>
                </a:extLst>
              </p:cNvPr>
              <p:cNvSpPr txBox="1"/>
              <p:nvPr/>
            </p:nvSpPr>
            <p:spPr>
              <a:xfrm>
                <a:off x="2756273" y="1915162"/>
                <a:ext cx="24297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6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</m:t>
                      </m:r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EB7DFEA8-30A9-2C2A-B1C9-CD37523B31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6273" y="1915162"/>
                <a:ext cx="242975" cy="338554"/>
              </a:xfrm>
              <a:prstGeom prst="rect">
                <a:avLst/>
              </a:prstGeom>
              <a:blipFill>
                <a:blip r:embed="rId22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BE224A85-295E-78D3-8993-3EA52E7004F1}"/>
              </a:ext>
            </a:extLst>
          </p:cNvPr>
          <p:cNvCxnSpPr/>
          <p:nvPr/>
        </p:nvCxnSpPr>
        <p:spPr>
          <a:xfrm>
            <a:off x="3043473" y="2012354"/>
            <a:ext cx="0" cy="24805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DDBC053A-D154-4E08-AA69-14E2DB44B431}"/>
                  </a:ext>
                </a:extLst>
              </p:cNvPr>
              <p:cNvSpPr txBox="1"/>
              <p:nvPr/>
            </p:nvSpPr>
            <p:spPr>
              <a:xfrm>
                <a:off x="3294914" y="1914489"/>
                <a:ext cx="24297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CA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</m:t>
                      </m:r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DDBC053A-D154-4E08-AA69-14E2DB44B4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4914" y="1914489"/>
                <a:ext cx="242975" cy="338554"/>
              </a:xfrm>
              <a:prstGeom prst="rect">
                <a:avLst/>
              </a:prstGeom>
              <a:blipFill>
                <a:blip r:embed="rId10"/>
                <a:stretch>
                  <a:fillRect r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6" name="Group 85">
            <a:extLst>
              <a:ext uri="{FF2B5EF4-FFF2-40B4-BE49-F238E27FC236}">
                <a16:creationId xmlns:a16="http://schemas.microsoft.com/office/drawing/2014/main" id="{A019AD82-2E2E-CF6B-8743-CBC9598057A6}"/>
              </a:ext>
            </a:extLst>
          </p:cNvPr>
          <p:cNvGrpSpPr/>
          <p:nvPr/>
        </p:nvGrpSpPr>
        <p:grpSpPr>
          <a:xfrm>
            <a:off x="872893" y="2609561"/>
            <a:ext cx="73178" cy="283502"/>
            <a:chOff x="6548130" y="2237014"/>
            <a:chExt cx="49658" cy="440872"/>
          </a:xfrm>
        </p:grpSpPr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FADD034D-F0C1-6277-FD6A-62B12C2EE79A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5493DB40-1241-DB98-765D-C35AE86294B6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F3B38872-25F0-3A13-2484-33E1E2537A5D}"/>
                  </a:ext>
                </a:extLst>
              </p:cNvPr>
              <p:cNvSpPr txBox="1"/>
              <p:nvPr/>
            </p:nvSpPr>
            <p:spPr>
              <a:xfrm>
                <a:off x="582494" y="1876217"/>
                <a:ext cx="394854" cy="3909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6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𝑏</m:t>
                      </m:r>
                    </m:oMath>
                  </m:oMathPara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F3B38872-25F0-3A13-2484-33E1E2537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494" y="1876217"/>
                <a:ext cx="394854" cy="390963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Flowchart: Delay 107">
                <a:extLst>
                  <a:ext uri="{FF2B5EF4-FFF2-40B4-BE49-F238E27FC236}">
                    <a16:creationId xmlns:a16="http://schemas.microsoft.com/office/drawing/2014/main" id="{D0FAECD0-D483-E4C2-CCA4-2368104188A0}"/>
                  </a:ext>
                </a:extLst>
              </p:cNvPr>
              <p:cNvSpPr/>
              <p:nvPr/>
            </p:nvSpPr>
            <p:spPr>
              <a:xfrm rot="16200000">
                <a:off x="666184" y="2149770"/>
                <a:ext cx="487590" cy="549640"/>
              </a:xfrm>
              <a:prstGeom prst="flowChartDelay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eaVert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CA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1600" b="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0" lang="en-CA" sz="1600" b="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b</m:t>
                        </m:r>
                      </m:sub>
                    </m:sSub>
                  </m:oMath>
                </a14:m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90" name="Flowchart: Delay 107">
                <a:extLst>
                  <a:ext uri="{FF2B5EF4-FFF2-40B4-BE49-F238E27FC236}">
                    <a16:creationId xmlns:a16="http://schemas.microsoft.com/office/drawing/2014/main" id="{D0FAECD0-D483-E4C2-CCA4-2368104188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66184" y="2149770"/>
                <a:ext cx="487590" cy="549640"/>
              </a:xfrm>
              <a:prstGeom prst="flowChartDelay">
                <a:avLst/>
              </a:prstGeom>
              <a:blipFill>
                <a:blip r:embed="rId2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02942525-4A9F-F654-9FEA-C063EE80E50B}"/>
              </a:ext>
            </a:extLst>
          </p:cNvPr>
          <p:cNvCxnSpPr>
            <a:cxnSpLocks/>
          </p:cNvCxnSpPr>
          <p:nvPr/>
        </p:nvCxnSpPr>
        <p:spPr>
          <a:xfrm>
            <a:off x="890101" y="1985623"/>
            <a:ext cx="0" cy="19612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3483C2E9-933F-4B6A-564D-2677726341FF}"/>
                  </a:ext>
                </a:extLst>
              </p:cNvPr>
              <p:cNvSpPr txBox="1"/>
              <p:nvPr/>
            </p:nvSpPr>
            <p:spPr>
              <a:xfrm>
                <a:off x="946072" y="2662106"/>
                <a:ext cx="241001" cy="3909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CA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</m:t>
                      </m:r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3483C2E9-933F-4B6A-564D-2677726341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072" y="2662106"/>
                <a:ext cx="241001" cy="390963"/>
              </a:xfrm>
              <a:prstGeom prst="rect">
                <a:avLst/>
              </a:prstGeom>
              <a:blipFill>
                <a:blip r:embed="rId25"/>
                <a:stretch>
                  <a:fillRect r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A9088230-8F68-E8D2-640D-577D456D9940}"/>
                  </a:ext>
                </a:extLst>
              </p:cNvPr>
              <p:cNvSpPr txBox="1"/>
              <p:nvPr/>
            </p:nvSpPr>
            <p:spPr>
              <a:xfrm rot="5400000">
                <a:off x="3811257" y="3774655"/>
                <a:ext cx="1655068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5400" b="0" i="1" smtClean="0">
                          <a:latin typeface="Cambria Math" panose="02040503050406030204" pitchFamily="18" charset="0"/>
                        </a:rPr>
                        <m:t>⊂</m:t>
                      </m:r>
                    </m:oMath>
                  </m:oMathPara>
                </a14:m>
                <a:endParaRPr lang="en-CA" sz="5400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A9088230-8F68-E8D2-640D-577D456D99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3811257" y="3774655"/>
                <a:ext cx="1655068" cy="1107996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25A2673E-EB60-BC1D-86EC-96BFD1776593}"/>
                  </a:ext>
                </a:extLst>
              </p:cNvPr>
              <p:cNvSpPr txBox="1"/>
              <p:nvPr/>
            </p:nvSpPr>
            <p:spPr>
              <a:xfrm rot="5400000">
                <a:off x="5853828" y="3776351"/>
                <a:ext cx="1655068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5400" b="0" i="1" smtClean="0">
                          <a:latin typeface="Cambria Math" panose="02040503050406030204" pitchFamily="18" charset="0"/>
                        </a:rPr>
                        <m:t>⊂</m:t>
                      </m:r>
                    </m:oMath>
                  </m:oMathPara>
                </a14:m>
                <a:endParaRPr lang="en-CA" sz="5400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25A2673E-EB60-BC1D-86EC-96BFD17765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853828" y="3776351"/>
                <a:ext cx="1655068" cy="1107996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9423E929-CB66-0012-1848-50D79ABDCB79}"/>
                  </a:ext>
                </a:extLst>
              </p:cNvPr>
              <p:cNvSpPr txBox="1"/>
              <p:nvPr/>
            </p:nvSpPr>
            <p:spPr>
              <a:xfrm rot="5400000">
                <a:off x="7924049" y="3785672"/>
                <a:ext cx="1655068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5400" b="0" i="1" smtClean="0">
                          <a:latin typeface="Cambria Math" panose="02040503050406030204" pitchFamily="18" charset="0"/>
                        </a:rPr>
                        <m:t>⊂</m:t>
                      </m:r>
                    </m:oMath>
                  </m:oMathPara>
                </a14:m>
                <a:endParaRPr lang="en-CA" sz="5400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9423E929-CB66-0012-1848-50D79ABDCB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7924049" y="3785672"/>
                <a:ext cx="1655068" cy="1107996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44091D9E-38C2-45E2-92B4-B62A91F69501}"/>
                  </a:ext>
                </a:extLst>
              </p:cNvPr>
              <p:cNvSpPr txBox="1"/>
              <p:nvPr/>
            </p:nvSpPr>
            <p:spPr>
              <a:xfrm rot="5400000">
                <a:off x="10070200" y="3787368"/>
                <a:ext cx="1655068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5400" b="0" i="1" smtClean="0">
                          <a:latin typeface="Cambria Math" panose="02040503050406030204" pitchFamily="18" charset="0"/>
                        </a:rPr>
                        <m:t>⊂</m:t>
                      </m:r>
                    </m:oMath>
                  </m:oMathPara>
                </a14:m>
                <a:endParaRPr lang="en-CA" sz="5400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44091D9E-38C2-45E2-92B4-B62A91F695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0070200" y="3787368"/>
                <a:ext cx="1655068" cy="1107996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9043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1" animBg="1"/>
      <p:bldP spid="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64" grpId="0"/>
      <p:bldP spid="7" grpId="0"/>
      <p:bldP spid="9" grpId="0" animBg="1"/>
      <p:bldP spid="11" grpId="0"/>
      <p:bldP spid="12" grpId="0"/>
      <p:bldP spid="39" grpId="0" animBg="1"/>
      <p:bldP spid="40" grpId="0"/>
      <p:bldP spid="41" grpId="0"/>
      <p:bldP spid="47" grpId="0"/>
      <p:bldP spid="48" grpId="0" animBg="1"/>
      <p:bldP spid="52" grpId="0"/>
      <p:bldP spid="76" grpId="0"/>
      <p:bldP spid="77" grpId="0" animBg="1"/>
      <p:bldP spid="78" grpId="0"/>
      <p:bldP spid="82" grpId="0" animBg="1"/>
      <p:bldP spid="83" grpId="0"/>
      <p:bldP spid="85" grpId="0"/>
      <p:bldP spid="89" grpId="0"/>
      <p:bldP spid="90" grpId="0" animBg="1"/>
      <p:bldP spid="9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66F82-90FF-E3E7-6BB6-4A0D7038E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62">
            <a:extLst>
              <a:ext uri="{FF2B5EF4-FFF2-40B4-BE49-F238E27FC236}">
                <a16:creationId xmlns:a16="http://schemas.microsoft.com/office/drawing/2014/main" id="{B78B195C-05BA-7FFB-E4DF-44AEB649B6B1}"/>
              </a:ext>
            </a:extLst>
          </p:cNvPr>
          <p:cNvGrpSpPr/>
          <p:nvPr/>
        </p:nvGrpSpPr>
        <p:grpSpPr>
          <a:xfrm>
            <a:off x="8882022" y="2046391"/>
            <a:ext cx="45719" cy="479517"/>
            <a:chOff x="6548130" y="2237014"/>
            <a:chExt cx="49658" cy="440872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180BC69-4CF1-DDE9-89B7-7E7AED6ABC03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52CC79C-B740-5238-6AEE-1DAE36096E67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6" name="Rectangle: Rounded Corners 2">
            <a:extLst>
              <a:ext uri="{FF2B5EF4-FFF2-40B4-BE49-F238E27FC236}">
                <a16:creationId xmlns:a16="http://schemas.microsoft.com/office/drawing/2014/main" id="{8E0F56A9-609A-E1CC-469C-D25FCF91586E}"/>
              </a:ext>
            </a:extLst>
          </p:cNvPr>
          <p:cNvSpPr/>
          <p:nvPr/>
        </p:nvSpPr>
        <p:spPr>
          <a:xfrm>
            <a:off x="5625476" y="575559"/>
            <a:ext cx="5669815" cy="1104235"/>
          </a:xfrm>
          <a:prstGeom prst="roundRect">
            <a:avLst/>
          </a:prstGeom>
          <a:solidFill>
            <a:schemeClr val="bg1"/>
          </a:solidFill>
          <a:ln w="41275"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DE7D8D-1ECC-6981-182B-619F80E73D6A}"/>
              </a:ext>
            </a:extLst>
          </p:cNvPr>
          <p:cNvSpPr/>
          <p:nvPr/>
        </p:nvSpPr>
        <p:spPr>
          <a:xfrm>
            <a:off x="59928" y="5465135"/>
            <a:ext cx="4657060" cy="1392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CA728F-3D0B-DFB2-36DC-AAA09962FF30}"/>
              </a:ext>
            </a:extLst>
          </p:cNvPr>
          <p:cNvSpPr txBox="1"/>
          <p:nvPr/>
        </p:nvSpPr>
        <p:spPr>
          <a:xfrm>
            <a:off x="0" y="397103"/>
            <a:ext cx="44236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Nonclassical general process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AE94A63-A958-D7F7-4084-0358A29A0D71}"/>
              </a:ext>
            </a:extLst>
          </p:cNvPr>
          <p:cNvSpPr/>
          <p:nvPr/>
        </p:nvSpPr>
        <p:spPr>
          <a:xfrm>
            <a:off x="3738535" y="3010766"/>
            <a:ext cx="1932972" cy="787078"/>
          </a:xfrm>
          <a:prstGeom prst="roundRect">
            <a:avLst/>
          </a:prstGeom>
          <a:solidFill>
            <a:srgbClr val="FFC0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Classical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multi-meter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3C8B93C-B681-F8C0-616B-B3E18C38E3DE}"/>
              </a:ext>
            </a:extLst>
          </p:cNvPr>
          <p:cNvSpPr/>
          <p:nvPr/>
        </p:nvSpPr>
        <p:spPr>
          <a:xfrm>
            <a:off x="5804138" y="3010766"/>
            <a:ext cx="1932972" cy="787078"/>
          </a:xfrm>
          <a:prstGeom prst="roundRect">
            <a:avLst/>
          </a:prstGeom>
          <a:solidFill>
            <a:srgbClr val="FFC0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Classical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multi-source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D2FEF8F-D67C-0FFB-69E0-7BAA7C7EA492}"/>
              </a:ext>
            </a:extLst>
          </p:cNvPr>
          <p:cNvSpPr/>
          <p:nvPr/>
        </p:nvSpPr>
        <p:spPr>
          <a:xfrm>
            <a:off x="7841605" y="3010766"/>
            <a:ext cx="2041656" cy="787078"/>
          </a:xfrm>
          <a:prstGeom prst="roundRect">
            <a:avLst/>
          </a:prstGeom>
          <a:solidFill>
            <a:srgbClr val="FFC0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Classical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multipartite state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2DE5DC1-6F43-9F4A-DB3F-012A1380A638}"/>
              </a:ext>
            </a:extLst>
          </p:cNvPr>
          <p:cNvSpPr/>
          <p:nvPr/>
        </p:nvSpPr>
        <p:spPr>
          <a:xfrm>
            <a:off x="10033820" y="3010766"/>
            <a:ext cx="1932972" cy="787078"/>
          </a:xfrm>
          <a:prstGeom prst="roundRect">
            <a:avLst/>
          </a:prstGeom>
          <a:solidFill>
            <a:srgbClr val="FFC0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Classical channel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7C176F3-46EE-CEE9-E60F-6EB6816D9477}"/>
              </a:ext>
            </a:extLst>
          </p:cNvPr>
          <p:cNvSpPr/>
          <p:nvPr/>
        </p:nvSpPr>
        <p:spPr>
          <a:xfrm>
            <a:off x="108857" y="3010766"/>
            <a:ext cx="1664280" cy="787078"/>
          </a:xfrm>
          <a:prstGeom prst="roundRect">
            <a:avLst/>
          </a:prstGeom>
          <a:solidFill>
            <a:srgbClr val="FFC0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Classical measurement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C9C6C9F2-9483-B15E-9ABF-E1622A5E14BA}"/>
              </a:ext>
            </a:extLst>
          </p:cNvPr>
          <p:cNvSpPr/>
          <p:nvPr/>
        </p:nvSpPr>
        <p:spPr>
          <a:xfrm>
            <a:off x="1923696" y="3010766"/>
            <a:ext cx="1616631" cy="787078"/>
          </a:xfrm>
          <a:prstGeom prst="roundRect">
            <a:avLst/>
          </a:prstGeom>
          <a:solidFill>
            <a:srgbClr val="FFC0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Classical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source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D58DB8B5-64DF-7F0D-DD4C-F64309BC82BE}"/>
              </a:ext>
            </a:extLst>
          </p:cNvPr>
          <p:cNvSpPr/>
          <p:nvPr/>
        </p:nvSpPr>
        <p:spPr>
          <a:xfrm>
            <a:off x="3738535" y="4825927"/>
            <a:ext cx="1932972" cy="787078"/>
          </a:xfrm>
          <a:prstGeom prst="roundRect">
            <a:avLst/>
          </a:prstGeom>
          <a:solidFill>
            <a:srgbClr val="0098FF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Compatible measurements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7FD71F78-B06D-C361-0A6E-362C07E8C2A1}"/>
              </a:ext>
            </a:extLst>
          </p:cNvPr>
          <p:cNvSpPr/>
          <p:nvPr/>
        </p:nvSpPr>
        <p:spPr>
          <a:xfrm>
            <a:off x="5804138" y="4825927"/>
            <a:ext cx="1932972" cy="787078"/>
          </a:xfrm>
          <a:prstGeom prst="roundRect">
            <a:avLst/>
          </a:prstGeom>
          <a:solidFill>
            <a:srgbClr val="0098FF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Unsteerable</a:t>
            </a:r>
            <a:r>
              <a:rPr lang="en-US" dirty="0">
                <a:solidFill>
                  <a:schemeClr val="tx1"/>
                </a:solidFill>
              </a:rPr>
              <a:t> assemblage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BD206702-6686-1323-FB30-08637AC25088}"/>
              </a:ext>
            </a:extLst>
          </p:cNvPr>
          <p:cNvSpPr/>
          <p:nvPr/>
        </p:nvSpPr>
        <p:spPr>
          <a:xfrm>
            <a:off x="7841605" y="4825927"/>
            <a:ext cx="2041656" cy="787078"/>
          </a:xfrm>
          <a:prstGeom prst="roundRect">
            <a:avLst/>
          </a:prstGeom>
          <a:solidFill>
            <a:srgbClr val="0098FF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Multipartite separable state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E624AD69-0D03-77E3-3487-55F92057551E}"/>
              </a:ext>
            </a:extLst>
          </p:cNvPr>
          <p:cNvSpPr/>
          <p:nvPr/>
        </p:nvSpPr>
        <p:spPr>
          <a:xfrm>
            <a:off x="10033820" y="4825927"/>
            <a:ext cx="1932972" cy="787078"/>
          </a:xfrm>
          <a:prstGeom prst="roundRect">
            <a:avLst/>
          </a:prstGeom>
          <a:solidFill>
            <a:srgbClr val="0098FF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Entanglement-breaking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13AF56C-BA5B-7AFA-0084-01B816FFE091}"/>
              </a:ext>
            </a:extLst>
          </p:cNvPr>
          <p:cNvSpPr txBox="1"/>
          <p:nvPr/>
        </p:nvSpPr>
        <p:spPr>
          <a:xfrm>
            <a:off x="5606648" y="577611"/>
            <a:ext cx="5669814" cy="1114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Our unified definition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400" dirty="0"/>
              <a:t>defines a strictly smaller set of classical processes for each type.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400" dirty="0"/>
              <a:t> Reduces to ‘standard’  in a restricted scenario </a:t>
            </a:r>
          </a:p>
        </p:txBody>
      </p:sp>
      <p:sp>
        <p:nvSpPr>
          <p:cNvPr id="71" name="Rectangle: Rounded Corners 2">
            <a:extLst>
              <a:ext uri="{FF2B5EF4-FFF2-40B4-BE49-F238E27FC236}">
                <a16:creationId xmlns:a16="http://schemas.microsoft.com/office/drawing/2014/main" id="{64AEFF5D-23C8-FEFD-BD74-68A2ADD1BD7A}"/>
              </a:ext>
            </a:extLst>
          </p:cNvPr>
          <p:cNvSpPr/>
          <p:nvPr/>
        </p:nvSpPr>
        <p:spPr>
          <a:xfrm>
            <a:off x="5975445" y="6191116"/>
            <a:ext cx="3248512" cy="369333"/>
          </a:xfrm>
          <a:prstGeom prst="roundRect">
            <a:avLst/>
          </a:prstGeom>
          <a:solidFill>
            <a:schemeClr val="bg1"/>
          </a:solidFill>
          <a:ln w="41275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CF17E12-E43F-C3E2-BA81-70F80260A39B}"/>
              </a:ext>
            </a:extLst>
          </p:cNvPr>
          <p:cNvSpPr txBox="1"/>
          <p:nvPr/>
        </p:nvSpPr>
        <p:spPr>
          <a:xfrm>
            <a:off x="6036996" y="6183899"/>
            <a:ext cx="3118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Common view of classicality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F379F0-C70F-BBED-AB17-865E3DFFD72E}"/>
              </a:ext>
            </a:extLst>
          </p:cNvPr>
          <p:cNvGrpSpPr/>
          <p:nvPr/>
        </p:nvGrpSpPr>
        <p:grpSpPr>
          <a:xfrm>
            <a:off x="4786518" y="2603356"/>
            <a:ext cx="73178" cy="283502"/>
            <a:chOff x="6548130" y="2237014"/>
            <a:chExt cx="49658" cy="440872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B586AA03-A9F3-0992-1B58-F9B85B319DC2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5D19F16-11D9-727A-7B48-C7033B216817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B5E62DD-70A6-56D0-AC72-9F6EBA969F02}"/>
              </a:ext>
            </a:extLst>
          </p:cNvPr>
          <p:cNvCxnSpPr/>
          <p:nvPr/>
        </p:nvCxnSpPr>
        <p:spPr>
          <a:xfrm>
            <a:off x="4545516" y="2611408"/>
            <a:ext cx="0" cy="27534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8094AC1-9A71-5CBF-4B42-406979860BD8}"/>
                  </a:ext>
                </a:extLst>
              </p:cNvPr>
              <p:cNvSpPr txBox="1"/>
              <p:nvPr/>
            </p:nvSpPr>
            <p:spPr>
              <a:xfrm>
                <a:off x="4338635" y="1839893"/>
                <a:ext cx="394854" cy="3909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6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𝑏</m:t>
                      </m:r>
                    </m:oMath>
                  </m:oMathPara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8094AC1-9A71-5CBF-4B42-406979860B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8635" y="1839893"/>
                <a:ext cx="394854" cy="3909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Flowchart: Delay 107">
                <a:extLst>
                  <a:ext uri="{FF2B5EF4-FFF2-40B4-BE49-F238E27FC236}">
                    <a16:creationId xmlns:a16="http://schemas.microsoft.com/office/drawing/2014/main" id="{B1220A9F-8152-6E8D-3A3A-179CE8D796D7}"/>
                  </a:ext>
                </a:extLst>
              </p:cNvPr>
              <p:cNvSpPr/>
              <p:nvPr/>
            </p:nvSpPr>
            <p:spPr>
              <a:xfrm rot="16200000">
                <a:off x="4440911" y="2108840"/>
                <a:ext cx="487590" cy="549640"/>
              </a:xfrm>
              <a:prstGeom prst="flowChartDelay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eaVert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CA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1600" b="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0" lang="en-CA" sz="1600" b="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b</m:t>
                        </m:r>
                        <m:r>
                          <a:rPr kumimoji="0" lang="en-CA" sz="1600" b="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kumimoji="0" lang="en-CA" sz="1600" b="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y</m:t>
                        </m:r>
                      </m:sub>
                    </m:sSub>
                  </m:oMath>
                </a14:m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9" name="Flowchart: Delay 107">
                <a:extLst>
                  <a:ext uri="{FF2B5EF4-FFF2-40B4-BE49-F238E27FC236}">
                    <a16:creationId xmlns:a16="http://schemas.microsoft.com/office/drawing/2014/main" id="{B1220A9F-8152-6E8D-3A3A-179CE8D796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440911" y="2108840"/>
                <a:ext cx="487590" cy="549640"/>
              </a:xfrm>
              <a:prstGeom prst="flowChartDelay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0F8CC5B-2052-B0E0-6FDB-D6B043D132B2}"/>
              </a:ext>
            </a:extLst>
          </p:cNvPr>
          <p:cNvCxnSpPr>
            <a:cxnSpLocks/>
          </p:cNvCxnSpPr>
          <p:nvPr/>
        </p:nvCxnSpPr>
        <p:spPr>
          <a:xfrm>
            <a:off x="4664828" y="1944693"/>
            <a:ext cx="0" cy="19612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FDD0B20-02BA-102C-D236-DE6E7719B6AB}"/>
                  </a:ext>
                </a:extLst>
              </p:cNvPr>
              <p:cNvSpPr txBox="1"/>
              <p:nvPr/>
            </p:nvSpPr>
            <p:spPr>
              <a:xfrm>
                <a:off x="4192035" y="2559966"/>
                <a:ext cx="327806" cy="3385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CA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FDD0B20-02BA-102C-D236-DE6E7719B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2035" y="2559966"/>
                <a:ext cx="327806" cy="33855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EC2A4DA-A201-8902-918C-3474F75BD545}"/>
                  </a:ext>
                </a:extLst>
              </p:cNvPr>
              <p:cNvSpPr txBox="1"/>
              <p:nvPr/>
            </p:nvSpPr>
            <p:spPr>
              <a:xfrm>
                <a:off x="4879840" y="2584776"/>
                <a:ext cx="241001" cy="3909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CA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</m:t>
                      </m:r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EC2A4DA-A201-8902-918C-3474F75BD5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9840" y="2584776"/>
                <a:ext cx="241001" cy="390963"/>
              </a:xfrm>
              <a:prstGeom prst="rect">
                <a:avLst/>
              </a:prstGeom>
              <a:blipFill>
                <a:blip r:embed="rId6"/>
                <a:stretch>
                  <a:fillRect r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E7DC4642-25F5-01D6-BFCC-50336FA80A4F}"/>
              </a:ext>
            </a:extLst>
          </p:cNvPr>
          <p:cNvGrpSpPr/>
          <p:nvPr/>
        </p:nvGrpSpPr>
        <p:grpSpPr>
          <a:xfrm>
            <a:off x="6348237" y="1898198"/>
            <a:ext cx="781616" cy="1036898"/>
            <a:chOff x="4142593" y="3611013"/>
            <a:chExt cx="534038" cy="669968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977FE88-3497-109C-CF42-B488BEC4D3F1}"/>
                </a:ext>
              </a:extLst>
            </p:cNvPr>
            <p:cNvGrpSpPr/>
            <p:nvPr/>
          </p:nvGrpSpPr>
          <p:grpSpPr>
            <a:xfrm>
              <a:off x="4462203" y="3674246"/>
              <a:ext cx="45719" cy="165022"/>
              <a:chOff x="6548130" y="2237014"/>
              <a:chExt cx="49658" cy="440872"/>
            </a:xfrm>
          </p:grpSpPr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F61EE31A-96C6-F925-AAB4-D404375190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48130" y="2237014"/>
                <a:ext cx="0" cy="440872"/>
              </a:xfrm>
              <a:prstGeom prst="line">
                <a:avLst/>
              </a:prstGeom>
              <a:ln w="19050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07861DFE-9072-B616-C8F5-712C13936E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97788" y="2237014"/>
                <a:ext cx="0" cy="440872"/>
              </a:xfrm>
              <a:prstGeom prst="line">
                <a:avLst/>
              </a:prstGeom>
              <a:ln w="19050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AB2FE9D-6A9C-53AF-5680-435C1174BC7F}"/>
                </a:ext>
              </a:extLst>
            </p:cNvPr>
            <p:cNvCxnSpPr/>
            <p:nvPr/>
          </p:nvCxnSpPr>
          <p:spPr>
            <a:xfrm>
              <a:off x="4438885" y="4112039"/>
              <a:ext cx="0" cy="160276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021421EA-ABFE-86EE-F772-FCE0A2197EE5}"/>
                    </a:ext>
                  </a:extLst>
                </p:cNvPr>
                <p:cNvSpPr txBox="1"/>
                <p:nvPr/>
              </p:nvSpPr>
              <p:spPr>
                <a:xfrm>
                  <a:off x="4391891" y="4062232"/>
                  <a:ext cx="204800" cy="2187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F0502020204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oMath>
                    </m:oMathPara>
                  </a14:m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021421EA-ABFE-86EE-F772-FCE0A2197E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91891" y="4062232"/>
                  <a:ext cx="204800" cy="21874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Flowchart: Delay 100">
                  <a:extLst>
                    <a:ext uri="{FF2B5EF4-FFF2-40B4-BE49-F238E27FC236}">
                      <a16:creationId xmlns:a16="http://schemas.microsoft.com/office/drawing/2014/main" id="{9D6996BA-8E20-D7A0-963C-226BEEE8E3CC}"/>
                    </a:ext>
                  </a:extLst>
                </p:cNvPr>
                <p:cNvSpPr/>
                <p:nvPr/>
              </p:nvSpPr>
              <p:spPr>
                <a:xfrm rot="5400000">
                  <a:off x="4299274" y="3803143"/>
                  <a:ext cx="276999" cy="343396"/>
                </a:xfrm>
                <a:prstGeom prst="flowChartDelay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vert270" rtlCol="0" anchor="ctr"/>
                <a:lstStyle/>
                <a:p>
                  <a:pPr lvl="0" algn="ctr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F0502020204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CA" sz="16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CA" sz="16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CA" sz="16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CA" sz="16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prstClr val="black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Flowchart: Delay 100">
                  <a:extLst>
                    <a:ext uri="{FF2B5EF4-FFF2-40B4-BE49-F238E27FC236}">
                      <a16:creationId xmlns:a16="http://schemas.microsoft.com/office/drawing/2014/main" id="{9D6996BA-8E20-D7A0-963C-226BEEE8E3C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4299274" y="3803143"/>
                  <a:ext cx="276999" cy="343396"/>
                </a:xfrm>
                <a:prstGeom prst="flowChartDelay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98156E4-C9A0-2A7C-CCD7-1144B376E667}"/>
                    </a:ext>
                  </a:extLst>
                </p:cNvPr>
                <p:cNvSpPr txBox="1"/>
                <p:nvPr/>
              </p:nvSpPr>
              <p:spPr>
                <a:xfrm>
                  <a:off x="4142593" y="3611448"/>
                  <a:ext cx="166012" cy="2187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</m:t>
                        </m:r>
                      </m:oMath>
                    </m:oMathPara>
                  </a14:m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98156E4-C9A0-2A7C-CCD7-1144B376E6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2593" y="3611448"/>
                  <a:ext cx="166012" cy="218749"/>
                </a:xfrm>
                <a:prstGeom prst="rect">
                  <a:avLst/>
                </a:prstGeom>
                <a:blipFill>
                  <a:blip r:embed="rId9"/>
                  <a:stretch>
                    <a:fillRect r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EA8D62B-FDED-FC5C-B108-1D41A3FB77A8}"/>
                </a:ext>
              </a:extLst>
            </p:cNvPr>
            <p:cNvCxnSpPr/>
            <p:nvPr/>
          </p:nvCxnSpPr>
          <p:spPr>
            <a:xfrm>
              <a:off x="4338822" y="3674246"/>
              <a:ext cx="0" cy="160276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B2E399D4-8DBF-35C0-A77B-A1879F9EA2B5}"/>
                    </a:ext>
                  </a:extLst>
                </p:cNvPr>
                <p:cNvSpPr txBox="1"/>
                <p:nvPr/>
              </p:nvSpPr>
              <p:spPr>
                <a:xfrm>
                  <a:off x="4510619" y="3611013"/>
                  <a:ext cx="166012" cy="21874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CA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𝐴</m:t>
                        </m:r>
                      </m:oMath>
                    </m:oMathPara>
                  </a14:m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B2E399D4-8DBF-35C0-A77B-A1879F9EA2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10619" y="3611013"/>
                  <a:ext cx="166012" cy="218749"/>
                </a:xfrm>
                <a:prstGeom prst="rect">
                  <a:avLst/>
                </a:prstGeom>
                <a:blipFill>
                  <a:blip r:embed="rId10"/>
                  <a:stretch>
                    <a:fillRect r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ED9C27E-B298-84F8-E282-5BA748BDE5A2}"/>
              </a:ext>
            </a:extLst>
          </p:cNvPr>
          <p:cNvGrpSpPr/>
          <p:nvPr/>
        </p:nvGrpSpPr>
        <p:grpSpPr>
          <a:xfrm>
            <a:off x="8520523" y="2036608"/>
            <a:ext cx="45719" cy="479517"/>
            <a:chOff x="6548130" y="2237014"/>
            <a:chExt cx="49658" cy="440872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E3574B8-650A-A1A9-D230-B698F45418C9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B8F56AD-ED53-35C4-30AE-447DBD2B4F51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CA91583-93B1-2642-0F74-D0D7C0680C8E}"/>
              </a:ext>
            </a:extLst>
          </p:cNvPr>
          <p:cNvGrpSpPr/>
          <p:nvPr/>
        </p:nvGrpSpPr>
        <p:grpSpPr>
          <a:xfrm>
            <a:off x="9026322" y="2043316"/>
            <a:ext cx="45719" cy="479517"/>
            <a:chOff x="6548130" y="2237014"/>
            <a:chExt cx="49658" cy="440872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E105363-1571-5C32-4F01-E0BB0A202A33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F9AB0DE-D230-C7EA-15B0-1D588FE6FD1D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Flowchart: Delay 35">
                <a:extLst>
                  <a:ext uri="{FF2B5EF4-FFF2-40B4-BE49-F238E27FC236}">
                    <a16:creationId xmlns:a16="http://schemas.microsoft.com/office/drawing/2014/main" id="{9C2FDF91-779E-014F-51A5-923F8809F57F}"/>
                  </a:ext>
                </a:extLst>
              </p:cNvPr>
              <p:cNvSpPr/>
              <p:nvPr/>
            </p:nvSpPr>
            <p:spPr>
              <a:xfrm rot="5400000">
                <a:off x="8599679" y="2035332"/>
                <a:ext cx="390961" cy="946526"/>
              </a:xfrm>
              <a:prstGeom prst="flowChartDelay">
                <a:avLst/>
              </a:prstGeom>
              <a:solidFill>
                <a:srgbClr val="FFE699"/>
              </a:solidFill>
              <a:ln w="15875">
                <a:solidFill>
                  <a:schemeClr val="tx1"/>
                </a:solidFill>
              </a:ln>
              <a:effectLst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27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acc>
                            <m:accPr>
                              <m:chr m:val="⃗"/>
                              <m:ctrlPr>
                                <a:rPr kumimoji="0" lang="en-CA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0" lang="en-CA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r>
                            <a:rPr lang="en-CA" sz="16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</m:oMath>
                  </m:oMathPara>
                </a14:m>
                <a:endParaRPr kumimoji="0" lang="en-US" sz="7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9" name="Flowchart: Delay 35">
                <a:extLst>
                  <a:ext uri="{FF2B5EF4-FFF2-40B4-BE49-F238E27FC236}">
                    <a16:creationId xmlns:a16="http://schemas.microsoft.com/office/drawing/2014/main" id="{9C2FDF91-779E-014F-51A5-923F8809F5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8599679" y="2035332"/>
                <a:ext cx="390961" cy="946526"/>
              </a:xfrm>
              <a:prstGeom prst="flowChartDelay">
                <a:avLst/>
              </a:prstGeom>
              <a:blipFill>
                <a:blip r:embed="rId11"/>
                <a:stretch>
                  <a:fillRect t="-8824"/>
                </a:stretch>
              </a:blipFill>
              <a:ln w="15875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BBBF2EC-AC95-393E-8C25-2865113389B8}"/>
                  </a:ext>
                </a:extLst>
              </p:cNvPr>
              <p:cNvSpPr txBox="1"/>
              <p:nvPr/>
            </p:nvSpPr>
            <p:spPr>
              <a:xfrm>
                <a:off x="8181882" y="1920588"/>
                <a:ext cx="384359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CA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𝐴</m:t>
                          </m:r>
                        </m:e>
                        <m:sub>
                          <m:r>
                            <a:rPr kumimoji="0" lang="en-CA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BBBF2EC-AC95-393E-8C25-2865113389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1882" y="1920588"/>
                <a:ext cx="384359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CACFF27-300B-52C3-950D-53FFAA06AD0E}"/>
                  </a:ext>
                </a:extLst>
              </p:cNvPr>
              <p:cNvSpPr txBox="1"/>
              <p:nvPr/>
            </p:nvSpPr>
            <p:spPr>
              <a:xfrm>
                <a:off x="9087786" y="1911824"/>
                <a:ext cx="384359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CA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𝐴</m:t>
                          </m:r>
                        </m:e>
                        <m:sub>
                          <m:r>
                            <a:rPr kumimoji="0" lang="en-CA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CACFF27-300B-52C3-950D-53FFAA06AD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7786" y="1911824"/>
                <a:ext cx="384359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3130F290-0DBB-6637-71CE-9D3CA5A077BE}"/>
              </a:ext>
            </a:extLst>
          </p:cNvPr>
          <p:cNvGrpSpPr/>
          <p:nvPr/>
        </p:nvGrpSpPr>
        <p:grpSpPr>
          <a:xfrm>
            <a:off x="10974093" y="2646676"/>
            <a:ext cx="45719" cy="210912"/>
            <a:chOff x="6548130" y="2237014"/>
            <a:chExt cx="49658" cy="440872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FD07CD9-5FAC-9674-675E-58F8F0FC6DD9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969EB28-9DB4-987E-0C8C-B2600EC404A4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3644124-8CD0-B963-C691-D12D176FBEEA}"/>
                  </a:ext>
                </a:extLst>
              </p:cNvPr>
              <p:cNvSpPr txBox="1"/>
              <p:nvPr/>
            </p:nvSpPr>
            <p:spPr>
              <a:xfrm>
                <a:off x="10839956" y="2631649"/>
                <a:ext cx="73050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CA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3644124-8CD0-B963-C691-D12D176FBE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9956" y="2631649"/>
                <a:ext cx="730505" cy="33855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: Rounded Corners 28">
                <a:extLst>
                  <a:ext uri="{FF2B5EF4-FFF2-40B4-BE49-F238E27FC236}">
                    <a16:creationId xmlns:a16="http://schemas.microsoft.com/office/drawing/2014/main" id="{CC96E44B-3762-4F62-8209-286BE8CC41E9}"/>
                  </a:ext>
                </a:extLst>
              </p:cNvPr>
              <p:cNvSpPr/>
              <p:nvPr/>
            </p:nvSpPr>
            <p:spPr>
              <a:xfrm>
                <a:off x="10702252" y="2259924"/>
                <a:ext cx="593047" cy="413590"/>
              </a:xfrm>
              <a:prstGeom prst="roundRect">
                <a:avLst/>
              </a:prstGeom>
              <a:solidFill>
                <a:srgbClr val="FFE699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 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ℰ</m:t>
                          </m:r>
                        </m:e>
                        <m:sup>
                          <m: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𝐴</m:t>
                          </m:r>
                          <m: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→</m:t>
                          </m:r>
                          <m: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𝐵</m:t>
                          </m:r>
                        </m:sup>
                      </m:sSup>
                      <m:r>
                        <a:rPr kumimoji="0" lang="en-CA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</m:oMath>
                  </m:oMathPara>
                </a14:m>
                <a:endParaRPr kumimoji="0" lang="en-C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8" name="Rectangle: Rounded Corners 28">
                <a:extLst>
                  <a:ext uri="{FF2B5EF4-FFF2-40B4-BE49-F238E27FC236}">
                    <a16:creationId xmlns:a16="http://schemas.microsoft.com/office/drawing/2014/main" id="{CC96E44B-3762-4F62-8209-286BE8CC41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2252" y="2259924"/>
                <a:ext cx="593047" cy="413590"/>
              </a:xfrm>
              <a:prstGeom prst="round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6E078DE1-890A-FE7D-873C-8231F65C673E}"/>
              </a:ext>
            </a:extLst>
          </p:cNvPr>
          <p:cNvGrpSpPr/>
          <p:nvPr/>
        </p:nvGrpSpPr>
        <p:grpSpPr>
          <a:xfrm>
            <a:off x="10972105" y="2046501"/>
            <a:ext cx="45719" cy="210912"/>
            <a:chOff x="6548130" y="2237014"/>
            <a:chExt cx="49658" cy="440872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CF5A67CD-0FDC-92E3-23E3-6F40D2EE8BC8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29EF2178-22FB-67DB-127B-272A41145C9C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A639BF9-5F66-0091-D56C-DFDE0D58D8DA}"/>
                  </a:ext>
                </a:extLst>
              </p:cNvPr>
              <p:cNvSpPr txBox="1"/>
              <p:nvPr/>
            </p:nvSpPr>
            <p:spPr>
              <a:xfrm>
                <a:off x="10868411" y="1918106"/>
                <a:ext cx="73050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6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A639BF9-5F66-0091-D56C-DFDE0D58D8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8411" y="1918106"/>
                <a:ext cx="730505" cy="33855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D866AED-FA05-83B6-4232-58D66D30F08E}"/>
                  </a:ext>
                </a:extLst>
              </p:cNvPr>
              <p:cNvSpPr txBox="1"/>
              <p:nvPr/>
            </p:nvSpPr>
            <p:spPr>
              <a:xfrm>
                <a:off x="8587060" y="2021451"/>
                <a:ext cx="25327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D866AED-FA05-83B6-4232-58D66D30F0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7060" y="2021451"/>
                <a:ext cx="253274" cy="276999"/>
              </a:xfrm>
              <a:prstGeom prst="rect">
                <a:avLst/>
              </a:prstGeom>
              <a:blipFill>
                <a:blip r:embed="rId17"/>
                <a:stretch>
                  <a:fillRect l="-5000" r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136A27C9-543B-2996-E18B-64551AD811C7}"/>
              </a:ext>
            </a:extLst>
          </p:cNvPr>
          <p:cNvGrpSpPr/>
          <p:nvPr/>
        </p:nvGrpSpPr>
        <p:grpSpPr>
          <a:xfrm>
            <a:off x="2278988" y="2008270"/>
            <a:ext cx="66914" cy="255402"/>
            <a:chOff x="6548130" y="2237014"/>
            <a:chExt cx="49658" cy="440872"/>
          </a:xfrm>
        </p:grpSpPr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C0E39FB2-B0DC-1EB1-02AF-F1D83C61B611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2A29BD45-CBDC-C5DA-CB46-00169CF01C27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B2516F2D-7212-4EC7-C299-9E1DB7CFBE49}"/>
              </a:ext>
            </a:extLst>
          </p:cNvPr>
          <p:cNvCxnSpPr/>
          <p:nvPr/>
        </p:nvCxnSpPr>
        <p:spPr>
          <a:xfrm>
            <a:off x="2325883" y="2685835"/>
            <a:ext cx="0" cy="24805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C6E14B65-D829-6CD0-EDCE-81436FFB1319}"/>
                  </a:ext>
                </a:extLst>
              </p:cNvPr>
              <p:cNvSpPr txBox="1"/>
              <p:nvPr/>
            </p:nvSpPr>
            <p:spPr>
              <a:xfrm>
                <a:off x="2257102" y="2608749"/>
                <a:ext cx="29974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6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F0502020204030204" pitchFamily="18" charset="0"/>
                          <a:ea typeface="+mn-ea"/>
                          <a:cs typeface="+mn-cs"/>
                        </a:rPr>
                        <m:t>𝑥</m:t>
                      </m:r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C6E14B65-D829-6CD0-EDCE-81436FFB1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7102" y="2608749"/>
                <a:ext cx="299745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Flowchart: Delay 100">
                <a:extLst>
                  <a:ext uri="{FF2B5EF4-FFF2-40B4-BE49-F238E27FC236}">
                    <a16:creationId xmlns:a16="http://schemas.microsoft.com/office/drawing/2014/main" id="{92AC33AF-626F-A6E3-5424-79BD6377B40E}"/>
                  </a:ext>
                </a:extLst>
              </p:cNvPr>
              <p:cNvSpPr/>
              <p:nvPr/>
            </p:nvSpPr>
            <p:spPr>
              <a:xfrm rot="5400000">
                <a:off x="2109902" y="2222199"/>
                <a:ext cx="428707" cy="502593"/>
              </a:xfrm>
              <a:prstGeom prst="flowChartDelay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270" rtlCol="0" anchor="ctr"/>
              <a:lstStyle/>
              <a:p>
                <a:pPr lvl="0" algn="ctr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F0502020204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CA" sz="16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CA" sz="16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⋅|</m:t>
                          </m:r>
                          <m:r>
                            <a:rPr lang="en-CA" sz="16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77" name="Flowchart: Delay 100">
                <a:extLst>
                  <a:ext uri="{FF2B5EF4-FFF2-40B4-BE49-F238E27FC236}">
                    <a16:creationId xmlns:a16="http://schemas.microsoft.com/office/drawing/2014/main" id="{92AC33AF-626F-A6E3-5424-79BD6377B4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2109902" y="2222199"/>
                <a:ext cx="428707" cy="502593"/>
              </a:xfrm>
              <a:prstGeom prst="flowChartDelay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E936A70C-DE8C-A72C-D6FC-84AAEED2C2D0}"/>
                  </a:ext>
                </a:extLst>
              </p:cNvPr>
              <p:cNvSpPr txBox="1"/>
              <p:nvPr/>
            </p:nvSpPr>
            <p:spPr>
              <a:xfrm>
                <a:off x="2349849" y="1910405"/>
                <a:ext cx="24297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CA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</m:t>
                      </m:r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E936A70C-DE8C-A72C-D6FC-84AAEED2C2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9849" y="1910405"/>
                <a:ext cx="242975" cy="338554"/>
              </a:xfrm>
              <a:prstGeom prst="rect">
                <a:avLst/>
              </a:prstGeom>
              <a:blipFill>
                <a:blip r:embed="rId20"/>
                <a:stretch>
                  <a:fillRect r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9" name="Group 78">
            <a:extLst>
              <a:ext uri="{FF2B5EF4-FFF2-40B4-BE49-F238E27FC236}">
                <a16:creationId xmlns:a16="http://schemas.microsoft.com/office/drawing/2014/main" id="{819D0486-6FD3-8FFC-31E1-848B27DEFD54}"/>
              </a:ext>
            </a:extLst>
          </p:cNvPr>
          <p:cNvGrpSpPr/>
          <p:nvPr/>
        </p:nvGrpSpPr>
        <p:grpSpPr>
          <a:xfrm>
            <a:off x="3224053" y="2012354"/>
            <a:ext cx="66914" cy="255402"/>
            <a:chOff x="6548130" y="2237014"/>
            <a:chExt cx="49658" cy="440872"/>
          </a:xfrm>
        </p:grpSpPr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AF2A33DE-5FEA-3004-92FC-E50E46D18696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668C0A1B-E6EE-4D75-9B3A-6340A6611974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Flowchart: Delay 100">
                <a:extLst>
                  <a:ext uri="{FF2B5EF4-FFF2-40B4-BE49-F238E27FC236}">
                    <a16:creationId xmlns:a16="http://schemas.microsoft.com/office/drawing/2014/main" id="{FBAA9E78-6CDF-229A-6EA3-01EF5417EEB7}"/>
                  </a:ext>
                </a:extLst>
              </p:cNvPr>
              <p:cNvSpPr/>
              <p:nvPr/>
            </p:nvSpPr>
            <p:spPr>
              <a:xfrm rot="5400000">
                <a:off x="2976695" y="2223533"/>
                <a:ext cx="423205" cy="502592"/>
              </a:xfrm>
              <a:prstGeom prst="flowChartDelay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270" rtlCol="0" anchor="ctr"/>
              <a:lstStyle/>
              <a:p>
                <a:pPr lvl="0" algn="ctr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F0502020204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CA" sz="16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CA" sz="16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sz="16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82" name="Flowchart: Delay 100">
                <a:extLst>
                  <a:ext uri="{FF2B5EF4-FFF2-40B4-BE49-F238E27FC236}">
                    <a16:creationId xmlns:a16="http://schemas.microsoft.com/office/drawing/2014/main" id="{FBAA9E78-6CDF-229A-6EA3-01EF5417EE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2976695" y="2223533"/>
                <a:ext cx="423205" cy="502592"/>
              </a:xfrm>
              <a:prstGeom prst="flowChartDelay">
                <a:avLst/>
              </a:prstGeom>
              <a:blipFill>
                <a:blip r:embed="rId21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04ECDA0B-14FA-FBA6-9CE2-147D45F78BC6}"/>
                  </a:ext>
                </a:extLst>
              </p:cNvPr>
              <p:cNvSpPr txBox="1"/>
              <p:nvPr/>
            </p:nvSpPr>
            <p:spPr>
              <a:xfrm>
                <a:off x="2756273" y="1915162"/>
                <a:ext cx="24297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6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</m:t>
                      </m:r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04ECDA0B-14FA-FBA6-9CE2-147D45F78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6273" y="1915162"/>
                <a:ext cx="242975" cy="338554"/>
              </a:xfrm>
              <a:prstGeom prst="rect">
                <a:avLst/>
              </a:prstGeom>
              <a:blipFill>
                <a:blip r:embed="rId22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4360FD7A-6C91-D819-E923-DB9D7DD63001}"/>
              </a:ext>
            </a:extLst>
          </p:cNvPr>
          <p:cNvCxnSpPr/>
          <p:nvPr/>
        </p:nvCxnSpPr>
        <p:spPr>
          <a:xfrm>
            <a:off x="3043473" y="2012354"/>
            <a:ext cx="0" cy="24805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CCB0B11F-0F21-85AC-F9B0-DDB1D9DA7A1C}"/>
                  </a:ext>
                </a:extLst>
              </p:cNvPr>
              <p:cNvSpPr txBox="1"/>
              <p:nvPr/>
            </p:nvSpPr>
            <p:spPr>
              <a:xfrm>
                <a:off x="3294914" y="1914489"/>
                <a:ext cx="24297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CA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</m:t>
                      </m:r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CCB0B11F-0F21-85AC-F9B0-DDB1D9DA7A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4914" y="1914489"/>
                <a:ext cx="242975" cy="338554"/>
              </a:xfrm>
              <a:prstGeom prst="rect">
                <a:avLst/>
              </a:prstGeom>
              <a:blipFill>
                <a:blip r:embed="rId10"/>
                <a:stretch>
                  <a:fillRect r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6" name="Group 85">
            <a:extLst>
              <a:ext uri="{FF2B5EF4-FFF2-40B4-BE49-F238E27FC236}">
                <a16:creationId xmlns:a16="http://schemas.microsoft.com/office/drawing/2014/main" id="{8E219498-6153-597F-3C2E-08FC064BA6CF}"/>
              </a:ext>
            </a:extLst>
          </p:cNvPr>
          <p:cNvGrpSpPr/>
          <p:nvPr/>
        </p:nvGrpSpPr>
        <p:grpSpPr>
          <a:xfrm>
            <a:off x="872893" y="2609561"/>
            <a:ext cx="73178" cy="283502"/>
            <a:chOff x="6548130" y="2237014"/>
            <a:chExt cx="49658" cy="440872"/>
          </a:xfrm>
        </p:grpSpPr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61275E1C-5532-8311-0E44-5BC8DDEC6B26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FE1F6BA4-AB10-60AC-B633-03138DFDBC75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52BB4AD5-220D-3B4C-AE62-1353C121D06D}"/>
                  </a:ext>
                </a:extLst>
              </p:cNvPr>
              <p:cNvSpPr txBox="1"/>
              <p:nvPr/>
            </p:nvSpPr>
            <p:spPr>
              <a:xfrm>
                <a:off x="582494" y="1876217"/>
                <a:ext cx="394854" cy="3909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6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𝑏</m:t>
                      </m:r>
                    </m:oMath>
                  </m:oMathPara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52BB4AD5-220D-3B4C-AE62-1353C121D0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494" y="1876217"/>
                <a:ext cx="394854" cy="390963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Flowchart: Delay 107">
                <a:extLst>
                  <a:ext uri="{FF2B5EF4-FFF2-40B4-BE49-F238E27FC236}">
                    <a16:creationId xmlns:a16="http://schemas.microsoft.com/office/drawing/2014/main" id="{D64768F3-F28A-7804-5B0E-6D9F1BEC290B}"/>
                  </a:ext>
                </a:extLst>
              </p:cNvPr>
              <p:cNvSpPr/>
              <p:nvPr/>
            </p:nvSpPr>
            <p:spPr>
              <a:xfrm rot="16200000">
                <a:off x="666184" y="2149770"/>
                <a:ext cx="487590" cy="549640"/>
              </a:xfrm>
              <a:prstGeom prst="flowChartDelay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eaVert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CA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1600" b="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0" lang="en-CA" sz="1600" b="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b</m:t>
                        </m:r>
                      </m:sub>
                    </m:sSub>
                  </m:oMath>
                </a14:m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90" name="Flowchart: Delay 107">
                <a:extLst>
                  <a:ext uri="{FF2B5EF4-FFF2-40B4-BE49-F238E27FC236}">
                    <a16:creationId xmlns:a16="http://schemas.microsoft.com/office/drawing/2014/main" id="{D64768F3-F28A-7804-5B0E-6D9F1BEC29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66184" y="2149770"/>
                <a:ext cx="487590" cy="549640"/>
              </a:xfrm>
              <a:prstGeom prst="flowChartDelay">
                <a:avLst/>
              </a:prstGeom>
              <a:blipFill>
                <a:blip r:embed="rId2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12181660-DA0D-3224-84ED-FBFC6D14378C}"/>
              </a:ext>
            </a:extLst>
          </p:cNvPr>
          <p:cNvCxnSpPr>
            <a:cxnSpLocks/>
          </p:cNvCxnSpPr>
          <p:nvPr/>
        </p:nvCxnSpPr>
        <p:spPr>
          <a:xfrm>
            <a:off x="890101" y="1985623"/>
            <a:ext cx="0" cy="19612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6A8979F9-95B8-2C55-3F21-8D6817C8CB59}"/>
                  </a:ext>
                </a:extLst>
              </p:cNvPr>
              <p:cNvSpPr txBox="1"/>
              <p:nvPr/>
            </p:nvSpPr>
            <p:spPr>
              <a:xfrm>
                <a:off x="946072" y="2662106"/>
                <a:ext cx="241001" cy="3909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CA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</m:t>
                      </m:r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6A8979F9-95B8-2C55-3F21-8D6817C8CB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072" y="2662106"/>
                <a:ext cx="241001" cy="390963"/>
              </a:xfrm>
              <a:prstGeom prst="rect">
                <a:avLst/>
              </a:prstGeom>
              <a:blipFill>
                <a:blip r:embed="rId25"/>
                <a:stretch>
                  <a:fillRect r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4FD6E806-2AD1-F3B6-83B8-B9B73B70A788}"/>
                  </a:ext>
                </a:extLst>
              </p:cNvPr>
              <p:cNvSpPr txBox="1"/>
              <p:nvPr/>
            </p:nvSpPr>
            <p:spPr>
              <a:xfrm rot="5400000">
                <a:off x="2870293" y="3774655"/>
                <a:ext cx="3536994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5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CA" sz="5400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4FD6E806-2AD1-F3B6-83B8-B9B73B70A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2870293" y="3774655"/>
                <a:ext cx="3536994" cy="1107996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C88F0F85-A1C2-ED2E-51BE-54DDEC93C1AF}"/>
                  </a:ext>
                </a:extLst>
              </p:cNvPr>
              <p:cNvSpPr txBox="1"/>
              <p:nvPr/>
            </p:nvSpPr>
            <p:spPr>
              <a:xfrm rot="5400000">
                <a:off x="4912864" y="3776351"/>
                <a:ext cx="3536994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5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CA" sz="5400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C88F0F85-A1C2-ED2E-51BE-54DDEC93C1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4912864" y="3776351"/>
                <a:ext cx="3536994" cy="1107996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3C428BF3-DB8C-4BAB-2E42-582A5CC5FD17}"/>
                  </a:ext>
                </a:extLst>
              </p:cNvPr>
              <p:cNvSpPr txBox="1"/>
              <p:nvPr/>
            </p:nvSpPr>
            <p:spPr>
              <a:xfrm rot="5400000">
                <a:off x="8155265" y="3785672"/>
                <a:ext cx="1192634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5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CA" sz="5400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3C428BF3-DB8C-4BAB-2E42-582A5CC5FD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8155265" y="3785672"/>
                <a:ext cx="1192634" cy="1107996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A7E0ACC9-2B58-3D5B-EBD1-D6F417411D5E}"/>
                  </a:ext>
                </a:extLst>
              </p:cNvPr>
              <p:cNvSpPr txBox="1"/>
              <p:nvPr/>
            </p:nvSpPr>
            <p:spPr>
              <a:xfrm rot="5400000">
                <a:off x="9129236" y="3787368"/>
                <a:ext cx="3536994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5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CA" sz="5400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A7E0ACC9-2B58-3D5B-EBD1-D6F417411D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9129236" y="3787368"/>
                <a:ext cx="3536994" cy="1107996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3116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64" grpId="0"/>
      <p:bldP spid="7" grpId="0"/>
      <p:bldP spid="9" grpId="0" animBg="1"/>
      <p:bldP spid="11" grpId="0"/>
      <p:bldP spid="12" grpId="0"/>
      <p:bldP spid="39" grpId="0" animBg="1"/>
      <p:bldP spid="40" grpId="0"/>
      <p:bldP spid="41" grpId="0"/>
      <p:bldP spid="47" grpId="0"/>
      <p:bldP spid="48" grpId="0" animBg="1"/>
      <p:bldP spid="52" grpId="0"/>
      <p:bldP spid="76" grpId="0"/>
      <p:bldP spid="77" grpId="0" animBg="1"/>
      <p:bldP spid="78" grpId="0"/>
      <p:bldP spid="82" grpId="0" animBg="1"/>
      <p:bldP spid="83" grpId="0"/>
      <p:bldP spid="85" grpId="0"/>
      <p:bldP spid="89" grpId="0"/>
      <p:bldP spid="90" grpId="0" animBg="1"/>
      <p:bldP spid="9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06748-B5A9-52A3-33C3-7C42CCB1C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6435858-98CA-3112-C98C-7A2A68A3F9F2}"/>
              </a:ext>
            </a:extLst>
          </p:cNvPr>
          <p:cNvSpPr/>
          <p:nvPr/>
        </p:nvSpPr>
        <p:spPr>
          <a:xfrm>
            <a:off x="68329" y="5365376"/>
            <a:ext cx="4657060" cy="1392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FC686361-9FC7-D9F1-0400-65435F3DEEC6}"/>
              </a:ext>
            </a:extLst>
          </p:cNvPr>
          <p:cNvSpPr txBox="1"/>
          <p:nvPr/>
        </p:nvSpPr>
        <p:spPr>
          <a:xfrm>
            <a:off x="68840" y="412612"/>
            <a:ext cx="8321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Defining classicality:  What we want? 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9A0882FE-F7FE-D5B6-84B7-796DB09D72AD}"/>
              </a:ext>
            </a:extLst>
          </p:cNvPr>
          <p:cNvSpPr/>
          <p:nvPr/>
        </p:nvSpPr>
        <p:spPr>
          <a:xfrm>
            <a:off x="4804571" y="2014063"/>
            <a:ext cx="2420470" cy="1049141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Subject to experimental test</a:t>
            </a: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8D33B914-B50F-6E79-94E0-6C32FCBAB476}"/>
              </a:ext>
            </a:extLst>
          </p:cNvPr>
          <p:cNvSpPr/>
          <p:nvPr/>
        </p:nvSpPr>
        <p:spPr>
          <a:xfrm>
            <a:off x="8152604" y="2014062"/>
            <a:ext cx="2420470" cy="1049141"/>
          </a:xfrm>
          <a:prstGeom prst="rect">
            <a:avLst/>
          </a:prstGeom>
          <a:ln w="25400"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Constitute a resource</a:t>
            </a: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FC97EE68-F347-9D73-8333-BE4E90A8EAA0}"/>
              </a:ext>
            </a:extLst>
          </p:cNvPr>
          <p:cNvSpPr/>
          <p:nvPr/>
        </p:nvSpPr>
        <p:spPr>
          <a:xfrm>
            <a:off x="1456538" y="2014063"/>
            <a:ext cx="2420470" cy="1049141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Applicable to all quantum processes</a:t>
            </a: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526696D2-E177-C432-B71E-0070CB5C5E69}"/>
              </a:ext>
            </a:extLst>
          </p:cNvPr>
          <p:cNvSpPr/>
          <p:nvPr/>
        </p:nvSpPr>
        <p:spPr>
          <a:xfrm>
            <a:off x="1456538" y="3794797"/>
            <a:ext cx="2420470" cy="1049141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Invariant under different views</a:t>
            </a:r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120039A-DD71-2B08-8A0C-7EDCCBF19817}"/>
              </a:ext>
            </a:extLst>
          </p:cNvPr>
          <p:cNvSpPr/>
          <p:nvPr/>
        </p:nvSpPr>
        <p:spPr>
          <a:xfrm>
            <a:off x="4804571" y="3794796"/>
            <a:ext cx="2420470" cy="1049141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Connect to other notions of classicality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4B95EE1-23E7-A1BF-3C29-2E8CA99BB632}"/>
              </a:ext>
            </a:extLst>
          </p:cNvPr>
          <p:cNvCxnSpPr>
            <a:cxnSpLocks/>
          </p:cNvCxnSpPr>
          <p:nvPr/>
        </p:nvCxnSpPr>
        <p:spPr>
          <a:xfrm>
            <a:off x="7343085" y="3063203"/>
            <a:ext cx="809519" cy="365797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35107F3-D5C7-BFE5-EBB4-3D2B635628BF}"/>
              </a:ext>
            </a:extLst>
          </p:cNvPr>
          <p:cNvCxnSpPr>
            <a:cxnSpLocks/>
          </p:cNvCxnSpPr>
          <p:nvPr/>
        </p:nvCxnSpPr>
        <p:spPr>
          <a:xfrm flipV="1">
            <a:off x="7343084" y="3779474"/>
            <a:ext cx="809520" cy="322148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5250E151-3F0B-AC16-86E3-9EE2BA65EAF3}"/>
              </a:ext>
            </a:extLst>
          </p:cNvPr>
          <p:cNvSpPr/>
          <p:nvPr/>
        </p:nvSpPr>
        <p:spPr>
          <a:xfrm>
            <a:off x="8270647" y="3364626"/>
            <a:ext cx="3508977" cy="838362"/>
          </a:xfrm>
          <a:prstGeom prst="rect">
            <a:avLst/>
          </a:prstGeom>
          <a:ln w="254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New test for entanglement, steering, incompatibility and etc.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2A0A966-FE34-0DD9-183C-85E00972391E}"/>
              </a:ext>
            </a:extLst>
          </p:cNvPr>
          <p:cNvCxnSpPr>
            <a:cxnSpLocks/>
          </p:cNvCxnSpPr>
          <p:nvPr/>
        </p:nvCxnSpPr>
        <p:spPr>
          <a:xfrm flipH="1">
            <a:off x="1665652" y="4843937"/>
            <a:ext cx="524565" cy="62488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6BC93CE-0FE5-E9FD-C17E-D4AF653D4530}"/>
              </a:ext>
            </a:extLst>
          </p:cNvPr>
          <p:cNvCxnSpPr>
            <a:cxnSpLocks/>
          </p:cNvCxnSpPr>
          <p:nvPr/>
        </p:nvCxnSpPr>
        <p:spPr>
          <a:xfrm flipH="1">
            <a:off x="1105736" y="2959763"/>
            <a:ext cx="350802" cy="2509054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2A557FDA-43F6-8E39-43C7-B47FCCAFE8B8}"/>
              </a:ext>
            </a:extLst>
          </p:cNvPr>
          <p:cNvSpPr/>
          <p:nvPr/>
        </p:nvSpPr>
        <p:spPr>
          <a:xfrm>
            <a:off x="68328" y="5566489"/>
            <a:ext cx="3236911" cy="819779"/>
          </a:xfrm>
          <a:prstGeom prst="rect">
            <a:avLst/>
          </a:prstGeom>
          <a:ln w="254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 clear connection among different types of processes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C00B5C8-5AC4-09D0-8D5C-F775124ADD57}"/>
              </a:ext>
            </a:extLst>
          </p:cNvPr>
          <p:cNvCxnSpPr>
            <a:cxnSpLocks/>
          </p:cNvCxnSpPr>
          <p:nvPr/>
        </p:nvCxnSpPr>
        <p:spPr>
          <a:xfrm flipH="1">
            <a:off x="5892114" y="4843937"/>
            <a:ext cx="392313" cy="62488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FEB5BFB-8CA3-CBD1-8816-AC2DF9DD3946}"/>
              </a:ext>
            </a:extLst>
          </p:cNvPr>
          <p:cNvCxnSpPr>
            <a:cxnSpLocks/>
          </p:cNvCxnSpPr>
          <p:nvPr/>
        </p:nvCxnSpPr>
        <p:spPr>
          <a:xfrm>
            <a:off x="3846960" y="3116559"/>
            <a:ext cx="1087543" cy="2352258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B3443914-2827-6018-193E-19994CE54EAE}"/>
              </a:ext>
            </a:extLst>
          </p:cNvPr>
          <p:cNvSpPr/>
          <p:nvPr/>
        </p:nvSpPr>
        <p:spPr>
          <a:xfrm>
            <a:off x="4229700" y="5555500"/>
            <a:ext cx="3393971" cy="819779"/>
          </a:xfrm>
          <a:prstGeom prst="rect">
            <a:avLst/>
          </a:prstGeom>
          <a:ln w="254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 clear hierarchy of classicality for</a:t>
            </a:r>
            <a:r>
              <a:rPr lang="zh-CN" altLang="en-US" dirty="0"/>
              <a:t> </a:t>
            </a:r>
            <a:r>
              <a:rPr lang="en-US" dirty="0"/>
              <a:t>the same type of processes</a:t>
            </a:r>
          </a:p>
        </p:txBody>
      </p:sp>
      <p:pic>
        <p:nvPicPr>
          <p:cNvPr id="4" name="Graphic 3" descr="Checkmark with solid fill">
            <a:extLst>
              <a:ext uri="{FF2B5EF4-FFF2-40B4-BE49-F238E27FC236}">
                <a16:creationId xmlns:a16="http://schemas.microsoft.com/office/drawing/2014/main" id="{3BBAB17B-ED7E-8CFA-75DE-DAAADA8788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3336" y="1484240"/>
            <a:ext cx="914400" cy="914400"/>
          </a:xfrm>
          <a:prstGeom prst="rect">
            <a:avLst/>
          </a:prstGeom>
        </p:spPr>
      </p:pic>
      <p:pic>
        <p:nvPicPr>
          <p:cNvPr id="6" name="Graphic 5" descr="Checkmark with solid fill">
            <a:extLst>
              <a:ext uri="{FF2B5EF4-FFF2-40B4-BE49-F238E27FC236}">
                <a16:creationId xmlns:a16="http://schemas.microsoft.com/office/drawing/2014/main" id="{209D2FEE-ABAA-1ED0-F8B5-D8B632267B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4427" y="1484240"/>
            <a:ext cx="914400" cy="914400"/>
          </a:xfrm>
          <a:prstGeom prst="rect">
            <a:avLst/>
          </a:prstGeom>
        </p:spPr>
      </p:pic>
      <p:pic>
        <p:nvPicPr>
          <p:cNvPr id="2" name="Graphic 1" descr="Checkmark with solid fill">
            <a:extLst>
              <a:ext uri="{FF2B5EF4-FFF2-40B4-BE49-F238E27FC236}">
                <a16:creationId xmlns:a16="http://schemas.microsoft.com/office/drawing/2014/main" id="{9FC29758-894B-F97E-6476-B264267977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8752" y="3288588"/>
            <a:ext cx="914400" cy="914400"/>
          </a:xfrm>
          <a:prstGeom prst="rect">
            <a:avLst/>
          </a:prstGeom>
        </p:spPr>
      </p:pic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A44AACBD-4A21-7ACB-A585-D6F01426BE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0641" y="494776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452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4" grpId="0" animBg="1"/>
      <p:bldP spid="2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7AF3A-7A03-41A3-E52C-1FDB5EB79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93ECF9C-517A-FE40-AC66-61E403F661C9}"/>
              </a:ext>
            </a:extLst>
          </p:cNvPr>
          <p:cNvSpPr/>
          <p:nvPr/>
        </p:nvSpPr>
        <p:spPr>
          <a:xfrm>
            <a:off x="0" y="5465135"/>
            <a:ext cx="4657060" cy="1392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BDDDBA-0BFC-F532-095E-207890246ED6}"/>
              </a:ext>
            </a:extLst>
          </p:cNvPr>
          <p:cNvSpPr txBox="1"/>
          <p:nvPr/>
        </p:nvSpPr>
        <p:spPr>
          <a:xfrm>
            <a:off x="0" y="397104"/>
            <a:ext cx="4791919" cy="459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Nonclassical bipartite state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0037F7AB-892F-C542-C8F6-2CF9D42F43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083" y="2362654"/>
            <a:ext cx="5188823" cy="2868774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960D79A6-67B0-AA38-9A3A-A2F99B96A313}"/>
              </a:ext>
            </a:extLst>
          </p:cNvPr>
          <p:cNvSpPr/>
          <p:nvPr/>
        </p:nvSpPr>
        <p:spPr>
          <a:xfrm>
            <a:off x="10618952" y="4747022"/>
            <a:ext cx="1201725" cy="4253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C64E6B87-9739-43B8-9379-2E7BA6BAF7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37" y="1299989"/>
            <a:ext cx="5822345" cy="4817473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51E00DC4-E970-85DA-7354-72602CD4FBD8}"/>
              </a:ext>
            </a:extLst>
          </p:cNvPr>
          <p:cNvSpPr txBox="1"/>
          <p:nvPr/>
        </p:nvSpPr>
        <p:spPr>
          <a:xfrm>
            <a:off x="10108503" y="397104"/>
            <a:ext cx="2083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arXiv</a:t>
            </a:r>
            <a:r>
              <a:rPr lang="en-US" dirty="0"/>
              <a:t>: 2507.01122</a:t>
            </a:r>
          </a:p>
        </p:txBody>
      </p:sp>
    </p:spTree>
    <p:extLst>
      <p:ext uri="{BB962C8B-B14F-4D97-AF65-F5344CB8AC3E}">
        <p14:creationId xmlns:p14="http://schemas.microsoft.com/office/powerpoint/2010/main" val="2029474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F6137-5D44-DA17-930A-DFEDF9F46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56400B-9075-969F-DF67-81CBE71B3F1A}"/>
              </a:ext>
            </a:extLst>
          </p:cNvPr>
          <p:cNvSpPr txBox="1"/>
          <p:nvPr/>
        </p:nvSpPr>
        <p:spPr>
          <a:xfrm>
            <a:off x="0" y="397103"/>
            <a:ext cx="119137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Comparing different entanglement certification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0A0A7B-DB16-56E5-188D-B98FE1DB89DA}"/>
              </a:ext>
            </a:extLst>
          </p:cNvPr>
          <p:cNvSpPr/>
          <p:nvPr/>
        </p:nvSpPr>
        <p:spPr>
          <a:xfrm>
            <a:off x="0" y="5465135"/>
            <a:ext cx="4657060" cy="1392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72138C-5765-F211-450C-8A6DAFD47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73" y="1541755"/>
            <a:ext cx="11959254" cy="3297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119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DA6B3-524E-2AD3-F682-1930735B5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5">
            <a:extLst>
              <a:ext uri="{FF2B5EF4-FFF2-40B4-BE49-F238E27FC236}">
                <a16:creationId xmlns:a16="http://schemas.microsoft.com/office/drawing/2014/main" id="{2333205C-8706-6D24-AE06-BDD14668A4D9}"/>
              </a:ext>
            </a:extLst>
          </p:cNvPr>
          <p:cNvSpPr/>
          <p:nvPr/>
        </p:nvSpPr>
        <p:spPr>
          <a:xfrm>
            <a:off x="4463192" y="1547446"/>
            <a:ext cx="7191154" cy="1504927"/>
          </a:xfrm>
          <a:prstGeom prst="roundRect">
            <a:avLst/>
          </a:prstGeom>
          <a:solidFill>
            <a:schemeClr val="bg1"/>
          </a:solidFill>
          <a:ln w="41275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  </a:t>
            </a:r>
            <a:r>
              <a:rPr lang="en-US" sz="2000" dirty="0"/>
              <a:t> 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E7F870-95BF-5CFF-4199-963448C5ACE1}"/>
              </a:ext>
            </a:extLst>
          </p:cNvPr>
          <p:cNvSpPr txBox="1"/>
          <p:nvPr/>
        </p:nvSpPr>
        <p:spPr>
          <a:xfrm>
            <a:off x="0" y="397103"/>
            <a:ext cx="119137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0070C0"/>
                </a:solidFill>
              </a:rPr>
              <a:t>Nonclassicality</a:t>
            </a:r>
            <a:r>
              <a:rPr lang="en-US" sz="2400" dirty="0">
                <a:solidFill>
                  <a:srgbClr val="0070C0"/>
                </a:solidFill>
              </a:rPr>
              <a:t> for a general quantum process: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81CF6A-BE8B-C171-3071-D89D0DE079AF}"/>
              </a:ext>
            </a:extLst>
          </p:cNvPr>
          <p:cNvSpPr/>
          <p:nvPr/>
        </p:nvSpPr>
        <p:spPr>
          <a:xfrm>
            <a:off x="0" y="5465135"/>
            <a:ext cx="4657060" cy="1392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2068A9-0B2D-A9F2-9543-61A91FD3D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44036"/>
            <a:ext cx="4399329" cy="372109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B3320D7-464D-B180-E515-20B09884F693}"/>
                  </a:ext>
                </a:extLst>
              </p:cNvPr>
              <p:cNvSpPr txBox="1"/>
              <p:nvPr/>
            </p:nvSpPr>
            <p:spPr>
              <a:xfrm>
                <a:off x="4657059" y="1670658"/>
                <a:ext cx="6803421" cy="12497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Theorem: For any general quantum process, it is nonclassical if and only if its associated multi-partite state is nonclassical.</a:t>
                </a:r>
              </a:p>
              <a:p>
                <a:endParaRPr lang="en-US" dirty="0"/>
              </a:p>
              <a:p>
                <a:r>
                  <a:rPr lang="en-US" sz="1400" dirty="0"/>
                  <a:t>e.g.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ℱ</m:t>
                        </m:r>
                      </m:e>
                      <m:sub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  <m:sup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bSup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⇔</m:t>
                    </m:r>
                    <m:sSup>
                      <m:sSup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𝐶𝑍𝐵𝐴</m:t>
                        </m:r>
                      </m:sup>
                    </m:sSup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  <m:sup/>
                      <m:e>
                        <m:f>
                          <m:f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</m:d>
                          </m:den>
                        </m:f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𝑧𝑐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⟩⟨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𝑧𝑐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|⊗</m:t>
                        </m:r>
                        <m:sSubSup>
                          <m:sSubSup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ℱ</m:t>
                                </m:r>
                              </m:e>
                              <m:sub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sub>
                          <m:sup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𝐵𝐴</m:t>
                            </m:r>
                          </m:sup>
                        </m:sSubSup>
                      </m:e>
                    </m:nary>
                    <m:r>
                      <a:rPr lang="en-CA" sz="1400" b="0" i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1400" dirty="0"/>
                  <a:t>where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sSub>
                          <m:sSub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ℱ</m:t>
                            </m:r>
                          </m:e>
                          <m:sub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sub>
                      <m:sup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𝐵𝐴</m:t>
                        </m:r>
                      </m:sup>
                    </m:sSubSup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ℱ</m:t>
                            </m:r>
                          </m:e>
                          <m:sub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⊗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CA" sz="1400" b="0" i="0" smtClean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p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⟩⟨</m:t>
                    </m:r>
                    <m:sSup>
                      <m:sSup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CA" sz="1400" b="0" i="0" smtClean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p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B3320D7-464D-B180-E515-20B09884F6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7059" y="1670658"/>
                <a:ext cx="6803421" cy="1249701"/>
              </a:xfrm>
              <a:prstGeom prst="rect">
                <a:avLst/>
              </a:prstGeom>
              <a:blipFill>
                <a:blip r:embed="rId4"/>
                <a:stretch>
                  <a:fillRect l="-745" t="-2020" b="-353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9ACD2221-3B00-9689-7E3F-22C2896A23D6}"/>
              </a:ext>
            </a:extLst>
          </p:cNvPr>
          <p:cNvSpPr txBox="1"/>
          <p:nvPr/>
        </p:nvSpPr>
        <p:spPr>
          <a:xfrm>
            <a:off x="4264709" y="3805627"/>
            <a:ext cx="79272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Lemma 4: Choi-isomorphism preserve </a:t>
            </a:r>
            <a:r>
              <a:rPr lang="en-US" sz="1600" dirty="0" err="1"/>
              <a:t>nonclassicality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Lemma 5: Flag-convexification preserve </a:t>
            </a:r>
            <a:r>
              <a:rPr lang="en-US" sz="1600" dirty="0" err="1"/>
              <a:t>nonclassicality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Lemma 6:  Classical system can be treated as </a:t>
            </a:r>
            <a:r>
              <a:rPr lang="en-US" sz="1600" dirty="0" err="1"/>
              <a:t>dephased</a:t>
            </a:r>
            <a:r>
              <a:rPr lang="en-US" sz="1600" dirty="0"/>
              <a:t> quantum system</a:t>
            </a:r>
            <a:r>
              <a:rPr lang="en-US" sz="1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043050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6E1D5-5FBF-B9FE-5C7C-C7A778E53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ED870AD4-6F27-23CF-646B-52630AAB855C}"/>
              </a:ext>
            </a:extLst>
          </p:cNvPr>
          <p:cNvSpPr/>
          <p:nvPr/>
        </p:nvSpPr>
        <p:spPr>
          <a:xfrm>
            <a:off x="236751" y="5362421"/>
            <a:ext cx="4657060" cy="1392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63" name="Rectangle: Rounded Corners 2">
            <a:extLst>
              <a:ext uri="{FF2B5EF4-FFF2-40B4-BE49-F238E27FC236}">
                <a16:creationId xmlns:a16="http://schemas.microsoft.com/office/drawing/2014/main" id="{4EBB590C-E085-90FD-3AC6-4DBFC876CC56}"/>
              </a:ext>
            </a:extLst>
          </p:cNvPr>
          <p:cNvSpPr/>
          <p:nvPr/>
        </p:nvSpPr>
        <p:spPr>
          <a:xfrm>
            <a:off x="663199" y="1203262"/>
            <a:ext cx="10674417" cy="877215"/>
          </a:xfrm>
          <a:prstGeom prst="roundRect">
            <a:avLst/>
          </a:prstGeom>
          <a:solidFill>
            <a:schemeClr val="bg1"/>
          </a:solidFill>
          <a:ln w="41275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43FA101-8D80-A6CD-5A4F-3AE578A01B39}"/>
                  </a:ext>
                </a:extLst>
              </p:cNvPr>
              <p:cNvSpPr txBox="1"/>
              <p:nvPr/>
            </p:nvSpPr>
            <p:spPr>
              <a:xfrm>
                <a:off x="4682978" y="3954112"/>
                <a:ext cx="256525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CA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𝑧</m:t>
                      </m:r>
                    </m:oMath>
                  </m:oMathPara>
                </a14:m>
                <a:endPara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43FA101-8D80-A6CD-5A4F-3AE578A01B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2978" y="3954112"/>
                <a:ext cx="256525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47B8FB56-13AA-2A6E-5A4D-B5D39B115B51}"/>
              </a:ext>
            </a:extLst>
          </p:cNvPr>
          <p:cNvSpPr txBox="1"/>
          <p:nvPr/>
        </p:nvSpPr>
        <p:spPr>
          <a:xfrm>
            <a:off x="377741" y="2203204"/>
            <a:ext cx="11586257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State assemblages, state ensemble, and bipartite state </a:t>
            </a:r>
            <a:r>
              <a:rPr lang="en-CA" sz="1600" dirty="0"/>
              <a:t>can all be conceptualized as the same object from different perspectives. 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45FDE75-2978-816F-B0E4-12B2A874BDBB}"/>
                  </a:ext>
                </a:extLst>
              </p:cNvPr>
              <p:cNvSpPr txBox="1"/>
              <p:nvPr/>
            </p:nvSpPr>
            <p:spPr>
              <a:xfrm>
                <a:off x="1533501" y="3309661"/>
                <a:ext cx="256525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1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45FDE75-2978-816F-B0E4-12B2A874BD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501" y="3309661"/>
                <a:ext cx="256525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30001B-CE8E-033A-D944-8C29F80420F9}"/>
              </a:ext>
            </a:extLst>
          </p:cNvPr>
          <p:cNvCxnSpPr>
            <a:cxnSpLocks/>
          </p:cNvCxnSpPr>
          <p:nvPr/>
        </p:nvCxnSpPr>
        <p:spPr>
          <a:xfrm>
            <a:off x="1765455" y="3396335"/>
            <a:ext cx="0" cy="23144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D838F2-204B-0703-9816-4EAC752928C0}"/>
              </a:ext>
            </a:extLst>
          </p:cNvPr>
          <p:cNvCxnSpPr>
            <a:cxnSpLocks/>
          </p:cNvCxnSpPr>
          <p:nvPr/>
        </p:nvCxnSpPr>
        <p:spPr>
          <a:xfrm>
            <a:off x="1746656" y="4007944"/>
            <a:ext cx="0" cy="23144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697A1E4-5658-55F0-78F6-0A2B7DC16207}"/>
                  </a:ext>
                </a:extLst>
              </p:cNvPr>
              <p:cNvSpPr txBox="1"/>
              <p:nvPr/>
            </p:nvSpPr>
            <p:spPr>
              <a:xfrm>
                <a:off x="1524086" y="3951608"/>
                <a:ext cx="256525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CA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𝑧</m:t>
                      </m:r>
                    </m:oMath>
                  </m:oMathPara>
                </a14:m>
                <a:endPara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697A1E4-5658-55F0-78F6-0A2B7DC162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86" y="3951608"/>
                <a:ext cx="256525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28">
                <a:extLst>
                  <a:ext uri="{FF2B5EF4-FFF2-40B4-BE49-F238E27FC236}">
                    <a16:creationId xmlns:a16="http://schemas.microsoft.com/office/drawing/2014/main" id="{D56251EE-4131-976D-6186-4601A5BE5313}"/>
                  </a:ext>
                </a:extLst>
              </p:cNvPr>
              <p:cNvSpPr/>
              <p:nvPr/>
            </p:nvSpPr>
            <p:spPr>
              <a:xfrm>
                <a:off x="1596007" y="3609132"/>
                <a:ext cx="593047" cy="413590"/>
              </a:xfrm>
              <a:prstGeom prst="roundRect">
                <a:avLst/>
              </a:prstGeom>
              <a:solidFill>
                <a:srgbClr val="FFE699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CA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𝜌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Rectangle: Rounded Corners 28">
                <a:extLst>
                  <a:ext uri="{FF2B5EF4-FFF2-40B4-BE49-F238E27FC236}">
                    <a16:creationId xmlns:a16="http://schemas.microsoft.com/office/drawing/2014/main" id="{D56251EE-4131-976D-6186-4601A5BE53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6007" y="3609132"/>
                <a:ext cx="593047" cy="41359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EA3388CF-B1E3-ABA5-6F36-B16E934687E3}"/>
              </a:ext>
            </a:extLst>
          </p:cNvPr>
          <p:cNvGrpSpPr/>
          <p:nvPr/>
        </p:nvGrpSpPr>
        <p:grpSpPr>
          <a:xfrm>
            <a:off x="1911350" y="3395709"/>
            <a:ext cx="45719" cy="210912"/>
            <a:chOff x="6548130" y="2237014"/>
            <a:chExt cx="49658" cy="440872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7020181-4D16-59FE-EB2D-0CD728EDB774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79F1B7C-50EA-8CA4-F8CA-C7959E30C9CD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B2C9993-7C3A-140C-F6CD-5AF55B7DD428}"/>
                  </a:ext>
                </a:extLst>
              </p:cNvPr>
              <p:cNvSpPr txBox="1"/>
              <p:nvPr/>
            </p:nvSpPr>
            <p:spPr>
              <a:xfrm>
                <a:off x="1722576" y="3338975"/>
                <a:ext cx="730505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CA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B2C9993-7C3A-140C-F6CD-5AF55B7DD4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2576" y="3338975"/>
                <a:ext cx="730505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: Rounded Corners 28">
                <a:extLst>
                  <a:ext uri="{FF2B5EF4-FFF2-40B4-BE49-F238E27FC236}">
                    <a16:creationId xmlns:a16="http://schemas.microsoft.com/office/drawing/2014/main" id="{B6AC4F87-6D6A-F26F-9678-4EAA769E5A5D}"/>
                  </a:ext>
                </a:extLst>
              </p:cNvPr>
              <p:cNvSpPr/>
              <p:nvPr/>
            </p:nvSpPr>
            <p:spPr>
              <a:xfrm>
                <a:off x="8917025" y="3616168"/>
                <a:ext cx="593047" cy="413590"/>
              </a:xfrm>
              <a:prstGeom prst="roundRect">
                <a:avLst/>
              </a:prstGeom>
              <a:solidFill>
                <a:srgbClr val="FFE699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CA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𝜌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" name="Rectangle: Rounded Corners 28">
                <a:extLst>
                  <a:ext uri="{FF2B5EF4-FFF2-40B4-BE49-F238E27FC236}">
                    <a16:creationId xmlns:a16="http://schemas.microsoft.com/office/drawing/2014/main" id="{B6AC4F87-6D6A-F26F-9678-4EAA769E5A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7025" y="3616168"/>
                <a:ext cx="593047" cy="413590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DBBD5401-802F-3212-7ED4-A174C51B630C}"/>
              </a:ext>
            </a:extLst>
          </p:cNvPr>
          <p:cNvGrpSpPr/>
          <p:nvPr/>
        </p:nvGrpSpPr>
        <p:grpSpPr>
          <a:xfrm>
            <a:off x="9283168" y="3402745"/>
            <a:ext cx="45719" cy="210912"/>
            <a:chOff x="6548130" y="2237014"/>
            <a:chExt cx="49658" cy="440872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46B39F0-EBD9-B06D-9B5A-9D142AF23DB0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ED911DD-54F1-E25E-8286-07CBBDFCFA25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37BDDE1-774A-58B2-5A05-F10CF44C7AFB}"/>
              </a:ext>
            </a:extLst>
          </p:cNvPr>
          <p:cNvGrpSpPr/>
          <p:nvPr/>
        </p:nvGrpSpPr>
        <p:grpSpPr>
          <a:xfrm>
            <a:off x="9037830" y="3401009"/>
            <a:ext cx="45719" cy="210912"/>
            <a:chOff x="6548130" y="2237014"/>
            <a:chExt cx="49658" cy="440872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084BFC8-6854-E43E-DE4B-868F00FC747B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55EF06B-D881-CECC-1715-A3ED601EDC57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246EFB7-B33B-342C-C5A8-268C824BDE64}"/>
                  </a:ext>
                </a:extLst>
              </p:cNvPr>
              <p:cNvSpPr txBox="1"/>
              <p:nvPr/>
            </p:nvSpPr>
            <p:spPr>
              <a:xfrm>
                <a:off x="8380107" y="3339169"/>
                <a:ext cx="730505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CA" sz="1200" b="0" i="1" smtClean="0"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246EFB7-B33B-342C-C5A8-268C824BDE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0107" y="3339169"/>
                <a:ext cx="730505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106A3D5-86D8-80A3-1135-76D20E6318FE}"/>
                  </a:ext>
                </a:extLst>
              </p:cNvPr>
              <p:cNvSpPr txBox="1"/>
              <p:nvPr/>
            </p:nvSpPr>
            <p:spPr>
              <a:xfrm>
                <a:off x="9067732" y="3344554"/>
                <a:ext cx="730505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CA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106A3D5-86D8-80A3-1135-76D20E6318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7732" y="3344554"/>
                <a:ext cx="730505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8785B00-ACEC-CFBE-05FD-AF8DDAA67593}"/>
                  </a:ext>
                </a:extLst>
              </p:cNvPr>
              <p:cNvSpPr txBox="1"/>
              <p:nvPr/>
            </p:nvSpPr>
            <p:spPr>
              <a:xfrm>
                <a:off x="5389499" y="3287571"/>
                <a:ext cx="256525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CA" sz="1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CA" sz="1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8785B00-ACEC-CFBE-05FD-AF8DDAA675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9499" y="3287571"/>
                <a:ext cx="256525" cy="307777"/>
              </a:xfrm>
              <a:prstGeom prst="rect">
                <a:avLst/>
              </a:prstGeom>
              <a:blipFill>
                <a:blip r:embed="rId10"/>
                <a:stretch>
                  <a:fillRect r="-476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F5F2C9E-ACD0-000A-DA53-977AF9BE8CC0}"/>
              </a:ext>
            </a:extLst>
          </p:cNvPr>
          <p:cNvCxnSpPr>
            <a:cxnSpLocks/>
          </p:cNvCxnSpPr>
          <p:nvPr/>
        </p:nvCxnSpPr>
        <p:spPr>
          <a:xfrm>
            <a:off x="5773627" y="3385293"/>
            <a:ext cx="0" cy="23144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: Rounded Corners 28">
                <a:extLst>
                  <a:ext uri="{FF2B5EF4-FFF2-40B4-BE49-F238E27FC236}">
                    <a16:creationId xmlns:a16="http://schemas.microsoft.com/office/drawing/2014/main" id="{85CED1A1-196B-D3D7-6655-CFD8C00EA38D}"/>
                  </a:ext>
                </a:extLst>
              </p:cNvPr>
              <p:cNvSpPr/>
              <p:nvPr/>
            </p:nvSpPr>
            <p:spPr>
              <a:xfrm>
                <a:off x="5604179" y="3598090"/>
                <a:ext cx="593047" cy="413590"/>
              </a:xfrm>
              <a:prstGeom prst="roundRect">
                <a:avLst/>
              </a:prstGeom>
              <a:solidFill>
                <a:srgbClr val="FFE699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CA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𝜌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8" name="Rectangle: Rounded Corners 28">
                <a:extLst>
                  <a:ext uri="{FF2B5EF4-FFF2-40B4-BE49-F238E27FC236}">
                    <a16:creationId xmlns:a16="http://schemas.microsoft.com/office/drawing/2014/main" id="{85CED1A1-196B-D3D7-6655-CFD8C00EA3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4179" y="3598090"/>
                <a:ext cx="593047" cy="413590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1BDC1A12-C1C2-BA5D-DCF9-5C6C3249852F}"/>
              </a:ext>
            </a:extLst>
          </p:cNvPr>
          <p:cNvGrpSpPr/>
          <p:nvPr/>
        </p:nvGrpSpPr>
        <p:grpSpPr>
          <a:xfrm>
            <a:off x="5919522" y="3384667"/>
            <a:ext cx="45719" cy="210912"/>
            <a:chOff x="6548130" y="2237014"/>
            <a:chExt cx="49658" cy="440872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DF610CA1-B57E-2AF1-8429-350D4D13D459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17E5E79-976A-7377-7221-3F7FD0495BF8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6D341E8-CDAE-0E24-D459-30E75F329631}"/>
                  </a:ext>
                </a:extLst>
              </p:cNvPr>
              <p:cNvSpPr txBox="1"/>
              <p:nvPr/>
            </p:nvSpPr>
            <p:spPr>
              <a:xfrm>
                <a:off x="5730748" y="3327933"/>
                <a:ext cx="730505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CA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6D341E8-CDAE-0E24-D459-30E75F3296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0748" y="3327933"/>
                <a:ext cx="730505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Arrow: Right 170">
            <a:extLst>
              <a:ext uri="{FF2B5EF4-FFF2-40B4-BE49-F238E27FC236}">
                <a16:creationId xmlns:a16="http://schemas.microsoft.com/office/drawing/2014/main" id="{1E13A358-241D-C626-8057-4D578A2EDDE1}"/>
              </a:ext>
            </a:extLst>
          </p:cNvPr>
          <p:cNvSpPr/>
          <p:nvPr/>
        </p:nvSpPr>
        <p:spPr>
          <a:xfrm>
            <a:off x="3071972" y="3630105"/>
            <a:ext cx="456126" cy="367361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Arrow: Right 170">
            <a:extLst>
              <a:ext uri="{FF2B5EF4-FFF2-40B4-BE49-F238E27FC236}">
                <a16:creationId xmlns:a16="http://schemas.microsoft.com/office/drawing/2014/main" id="{68B8C633-5FF5-5A01-4FB4-8A853D3D9592}"/>
              </a:ext>
            </a:extLst>
          </p:cNvPr>
          <p:cNvSpPr/>
          <p:nvPr/>
        </p:nvSpPr>
        <p:spPr>
          <a:xfrm>
            <a:off x="7352106" y="3584441"/>
            <a:ext cx="456126" cy="413380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C9E2783-16AA-D896-C3FC-2989CAA250D4}"/>
                  </a:ext>
                </a:extLst>
              </p:cNvPr>
              <p:cNvSpPr txBox="1"/>
              <p:nvPr/>
            </p:nvSpPr>
            <p:spPr>
              <a:xfrm>
                <a:off x="673523" y="4448607"/>
                <a:ext cx="3066096" cy="348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State assemblage: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CA" sz="1400" b="0" i="0" smtClean="0"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lit/>
                      </m:rPr>
                      <a:rPr lang="en-CA" sz="1400" b="0" i="1" smtClean="0">
                        <a:latin typeface="Cambria Math" panose="02040503050406030204" pitchFamily="18" charset="0"/>
                      </a:rPr>
                      <m:t>{</m:t>
                    </m:r>
                    <m:sSubSup>
                      <m:sSubSup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  <m:sup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bSup>
                    <m:sSub>
                      <m:sSub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lit/>
                          </m:rPr>
                          <a:rPr lang="en-CA" sz="1400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b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lit/>
                          </m:rPr>
                          <a:rPr lang="en-CA" sz="1400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b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C9E2783-16AA-D896-C3FC-2989CAA25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523" y="4448607"/>
                <a:ext cx="3066096" cy="348044"/>
              </a:xfrm>
              <a:prstGeom prst="rect">
                <a:avLst/>
              </a:prstGeom>
              <a:blipFill>
                <a:blip r:embed="rId13"/>
                <a:stretch>
                  <a:fillRect l="-412" t="-3571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071837C-CEA4-6BFE-70A5-1E69AF24A462}"/>
                  </a:ext>
                </a:extLst>
              </p:cNvPr>
              <p:cNvSpPr txBox="1"/>
              <p:nvPr/>
            </p:nvSpPr>
            <p:spPr>
              <a:xfrm>
                <a:off x="4097055" y="4446856"/>
                <a:ext cx="3312732" cy="348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State ensemble: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CA" sz="1400" b="0" i="1" smtClean="0">
                        <a:latin typeface="Cambria Math" panose="02040503050406030204" pitchFamily="18" charset="0"/>
                      </a:rPr>
                      <m:t>{</m:t>
                    </m:r>
                    <m:sSubSup>
                      <m:sSubSup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CA" sz="14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CA" sz="1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CA" sz="14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CA" sz="14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CA" sz="1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CA" sz="1400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  <m:sup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bSup>
                    <m:sSub>
                      <m:sSubPr>
                        <m:ctrlPr>
                          <a:rPr lang="en-CA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lit/>
                          </m:rPr>
                          <a:rPr lang="en-CA" sz="1400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b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071837C-CEA4-6BFE-70A5-1E69AF24A4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7055" y="4446856"/>
                <a:ext cx="3312732" cy="348044"/>
              </a:xfrm>
              <a:prstGeom prst="rect">
                <a:avLst/>
              </a:prstGeom>
              <a:blipFill>
                <a:blip r:embed="rId14"/>
                <a:stretch>
                  <a:fillRect l="-382" b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11BF26C-611A-D4AA-9ED4-8B757960BEF5}"/>
                  </a:ext>
                </a:extLst>
              </p:cNvPr>
              <p:cNvSpPr txBox="1"/>
              <p:nvPr/>
            </p:nvSpPr>
            <p:spPr>
              <a:xfrm>
                <a:off x="7331224" y="4411643"/>
                <a:ext cx="4345861" cy="348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1400" dirty="0"/>
                  <a:t>Bipartite state: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𝐶𝑍𝐴</m:t>
                        </m:r>
                      </m:sup>
                    </m:sSup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  <m:sup/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CA" sz="1400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CA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sz="1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e>
                            <m:r>
                              <a:rPr lang="en-CA" sz="1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𝐶𝑍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⟩⟨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𝐶𝑍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|⊗</m:t>
                        </m:r>
                        <m:sSubSup>
                          <m:sSubSup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  <m:sup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p>
                        </m:sSubSup>
                      </m:e>
                    </m:nary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11BF26C-611A-D4AA-9ED4-8B757960BE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1224" y="4411643"/>
                <a:ext cx="4345861" cy="348044"/>
              </a:xfrm>
              <a:prstGeom prst="rect">
                <a:avLst/>
              </a:prstGeom>
              <a:blipFill>
                <a:blip r:embed="rId15"/>
                <a:stretch>
                  <a:fillRect l="-583" t="-89286" b="-139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7B6A8CE-95E7-124A-42AA-4965ED5E8A9E}"/>
              </a:ext>
            </a:extLst>
          </p:cNvPr>
          <p:cNvCxnSpPr>
            <a:cxnSpLocks/>
          </p:cNvCxnSpPr>
          <p:nvPr/>
        </p:nvCxnSpPr>
        <p:spPr>
          <a:xfrm flipH="1" flipV="1">
            <a:off x="10586082" y="4728919"/>
            <a:ext cx="57874" cy="1524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8B287D9B-8901-A54D-3FC0-855AE4813734}"/>
              </a:ext>
            </a:extLst>
          </p:cNvPr>
          <p:cNvSpPr txBox="1"/>
          <p:nvPr/>
        </p:nvSpPr>
        <p:spPr>
          <a:xfrm>
            <a:off x="10241825" y="4879587"/>
            <a:ext cx="15625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err="1"/>
              <a:t>Dephased</a:t>
            </a:r>
            <a:r>
              <a:rPr lang="en-US" sz="1050" dirty="0"/>
              <a:t> basis.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6F6C457-FFCF-BB44-B2BD-B5E8153D39C6}"/>
              </a:ext>
            </a:extLst>
          </p:cNvPr>
          <p:cNvSpPr txBox="1"/>
          <p:nvPr/>
        </p:nvSpPr>
        <p:spPr>
          <a:xfrm>
            <a:off x="2524193" y="3212815"/>
            <a:ext cx="1956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Flag convexification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A61CB96-DD9A-5E6B-CA73-C936295B6B52}"/>
              </a:ext>
            </a:extLst>
          </p:cNvPr>
          <p:cNvSpPr txBox="1"/>
          <p:nvPr/>
        </p:nvSpPr>
        <p:spPr>
          <a:xfrm>
            <a:off x="6537117" y="3081351"/>
            <a:ext cx="2192597" cy="4790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Classical outcome as </a:t>
            </a:r>
            <a:r>
              <a:rPr lang="en-US" sz="1200" dirty="0" err="1"/>
              <a:t>dephased</a:t>
            </a:r>
            <a:r>
              <a:rPr lang="en-US" sz="1200" dirty="0"/>
              <a:t> quantum output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A6A82A5-173C-8A5D-3829-2BC4540873B5}"/>
              </a:ext>
            </a:extLst>
          </p:cNvPr>
          <p:cNvSpPr txBox="1"/>
          <p:nvPr/>
        </p:nvSpPr>
        <p:spPr>
          <a:xfrm>
            <a:off x="673523" y="5287618"/>
            <a:ext cx="1084495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1400" dirty="0"/>
              <a:t>State assemblage can be nonclassical.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sz="1400" dirty="0"/>
          </a:p>
          <a:p>
            <a:pPr marL="285750" indent="-285750">
              <a:buFont typeface="Wingdings" pitchFamily="2" charset="2"/>
              <a:buChar char="q"/>
            </a:pPr>
            <a:r>
              <a:rPr lang="en-US" sz="1400" dirty="0"/>
              <a:t>If one randomly select the setting z and treat the result as a state ensemble,  there is no notion of </a:t>
            </a:r>
            <a:r>
              <a:rPr lang="en-US" sz="1400" dirty="0" err="1"/>
              <a:t>nonclassicality</a:t>
            </a:r>
            <a:r>
              <a:rPr lang="en-US" sz="1400" dirty="0"/>
              <a:t> defined.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sz="1400" dirty="0"/>
          </a:p>
          <a:p>
            <a:pPr marL="285750" indent="-285750">
              <a:buFont typeface="Wingdings" pitchFamily="2" charset="2"/>
              <a:buChar char="q"/>
            </a:pPr>
            <a:r>
              <a:rPr lang="en-US" sz="1400" dirty="0"/>
              <a:t>If one further treat the classical outcome as </a:t>
            </a:r>
            <a:r>
              <a:rPr lang="en-US" sz="1400" dirty="0" err="1"/>
              <a:t>dephased</a:t>
            </a:r>
            <a:r>
              <a:rPr lang="en-US" sz="1400" dirty="0"/>
              <a:t> quantum output, it’s always a separable state, which is classical.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66AA5CD-0EB4-922A-A534-B2D655E24BB6}"/>
                  </a:ext>
                </a:extLst>
              </p:cNvPr>
              <p:cNvSpPr txBox="1"/>
              <p:nvPr/>
            </p:nvSpPr>
            <p:spPr>
              <a:xfrm>
                <a:off x="4462223" y="3289909"/>
                <a:ext cx="256525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1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66AA5CD-0EB4-922A-A534-B2D655E24B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2223" y="3289909"/>
                <a:ext cx="256525" cy="307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ABBD0F1-B9B4-CE7F-6922-5753D3F1879D}"/>
              </a:ext>
            </a:extLst>
          </p:cNvPr>
          <p:cNvCxnSpPr>
            <a:cxnSpLocks/>
          </p:cNvCxnSpPr>
          <p:nvPr/>
        </p:nvCxnSpPr>
        <p:spPr>
          <a:xfrm>
            <a:off x="4694177" y="3376583"/>
            <a:ext cx="0" cy="23144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7709582-E552-3C43-C76B-600B744AEDCC}"/>
              </a:ext>
            </a:extLst>
          </p:cNvPr>
          <p:cNvCxnSpPr>
            <a:cxnSpLocks/>
          </p:cNvCxnSpPr>
          <p:nvPr/>
        </p:nvCxnSpPr>
        <p:spPr>
          <a:xfrm>
            <a:off x="4675378" y="3988192"/>
            <a:ext cx="0" cy="23144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: Rounded Corners 28">
                <a:extLst>
                  <a:ext uri="{FF2B5EF4-FFF2-40B4-BE49-F238E27FC236}">
                    <a16:creationId xmlns:a16="http://schemas.microsoft.com/office/drawing/2014/main" id="{B4CA2780-DC0F-FD78-0282-769CD04890A9}"/>
                  </a:ext>
                </a:extLst>
              </p:cNvPr>
              <p:cNvSpPr/>
              <p:nvPr/>
            </p:nvSpPr>
            <p:spPr>
              <a:xfrm>
                <a:off x="4524729" y="3589380"/>
                <a:ext cx="593047" cy="413590"/>
              </a:xfrm>
              <a:prstGeom prst="roundRect">
                <a:avLst/>
              </a:prstGeom>
              <a:solidFill>
                <a:srgbClr val="FFE699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CA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𝜌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0" name="Rectangle: Rounded Corners 28">
                <a:extLst>
                  <a:ext uri="{FF2B5EF4-FFF2-40B4-BE49-F238E27FC236}">
                    <a16:creationId xmlns:a16="http://schemas.microsoft.com/office/drawing/2014/main" id="{B4CA2780-DC0F-FD78-0282-769CD04890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4729" y="3589380"/>
                <a:ext cx="593047" cy="413590"/>
              </a:xfrm>
              <a:prstGeom prst="round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FF6D93A4-5F1C-CDED-27F1-DD90DA9B472A}"/>
              </a:ext>
            </a:extLst>
          </p:cNvPr>
          <p:cNvGrpSpPr/>
          <p:nvPr/>
        </p:nvGrpSpPr>
        <p:grpSpPr>
          <a:xfrm>
            <a:off x="4840072" y="3375957"/>
            <a:ext cx="45719" cy="210912"/>
            <a:chOff x="6548130" y="2237014"/>
            <a:chExt cx="49658" cy="440872"/>
          </a:xfrm>
        </p:grpSpPr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1101BD20-8DFD-B023-9C76-44C04F3C381C}"/>
                </a:ext>
              </a:extLst>
            </p:cNvPr>
            <p:cNvCxnSpPr>
              <a:cxnSpLocks/>
            </p:cNvCxnSpPr>
            <p:nvPr/>
          </p:nvCxnSpPr>
          <p:spPr>
            <a:xfrm>
              <a:off x="6548130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03EB754-85F1-3DFB-407B-A20A2D4E1137}"/>
                </a:ext>
              </a:extLst>
            </p:cNvPr>
            <p:cNvCxnSpPr>
              <a:cxnSpLocks/>
            </p:cNvCxnSpPr>
            <p:nvPr/>
          </p:nvCxnSpPr>
          <p:spPr>
            <a:xfrm>
              <a:off x="6597788" y="2237014"/>
              <a:ext cx="0" cy="440872"/>
            </a:xfrm>
            <a:prstGeom prst="line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: Rounded Corners 28">
                <a:extLst>
                  <a:ext uri="{FF2B5EF4-FFF2-40B4-BE49-F238E27FC236}">
                    <a16:creationId xmlns:a16="http://schemas.microsoft.com/office/drawing/2014/main" id="{BE9B4444-6650-5C8C-C6DE-35C7B77E23B5}"/>
                  </a:ext>
                </a:extLst>
              </p:cNvPr>
              <p:cNvSpPr/>
              <p:nvPr/>
            </p:nvSpPr>
            <p:spPr>
              <a:xfrm>
                <a:off x="4387438" y="4204105"/>
                <a:ext cx="387264" cy="196671"/>
              </a:xfrm>
              <a:prstGeom prst="roundRect">
                <a:avLst/>
              </a:prstGeom>
              <a:solidFill>
                <a:srgbClr val="FFE699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CA" sz="11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d>
                        <m:dPr>
                          <m:ctrlPr>
                            <a:rPr kumimoji="0" lang="en-CA" sz="11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CA" sz="11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4" name="Rectangle: Rounded Corners 28">
                <a:extLst>
                  <a:ext uri="{FF2B5EF4-FFF2-40B4-BE49-F238E27FC236}">
                    <a16:creationId xmlns:a16="http://schemas.microsoft.com/office/drawing/2014/main" id="{BE9B4444-6650-5C8C-C6DE-35C7B77E23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7438" y="4204105"/>
                <a:ext cx="387264" cy="196671"/>
              </a:xfrm>
              <a:prstGeom prst="round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2A19EEB-E101-A708-5E7F-10F806719783}"/>
              </a:ext>
            </a:extLst>
          </p:cNvPr>
          <p:cNvCxnSpPr>
            <a:cxnSpLocks/>
            <a:stCxn id="46" idx="1"/>
          </p:cNvCxnSpPr>
          <p:nvPr/>
        </p:nvCxnSpPr>
        <p:spPr>
          <a:xfrm flipH="1">
            <a:off x="4459762" y="3443798"/>
            <a:ext cx="2461" cy="75434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9FFC523-4BB3-F776-291C-2B29145057D4}"/>
                  </a:ext>
                </a:extLst>
              </p:cNvPr>
              <p:cNvSpPr txBox="1"/>
              <p:nvPr/>
            </p:nvSpPr>
            <p:spPr>
              <a:xfrm>
                <a:off x="4199246" y="3283948"/>
                <a:ext cx="256525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CA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𝑧</m:t>
                      </m:r>
                    </m:oMath>
                  </m:oMathPara>
                </a14:m>
                <a:endPara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9FFC523-4BB3-F776-291C-2B2914505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9246" y="3283948"/>
                <a:ext cx="256525" cy="3077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Equal 59">
            <a:extLst>
              <a:ext uri="{FF2B5EF4-FFF2-40B4-BE49-F238E27FC236}">
                <a16:creationId xmlns:a16="http://schemas.microsoft.com/office/drawing/2014/main" id="{B1077E7C-5A58-15F7-ACC9-FB6CBA428E5F}"/>
              </a:ext>
            </a:extLst>
          </p:cNvPr>
          <p:cNvSpPr/>
          <p:nvPr/>
        </p:nvSpPr>
        <p:spPr>
          <a:xfrm>
            <a:off x="5174105" y="3687071"/>
            <a:ext cx="373744" cy="193439"/>
          </a:xfrm>
          <a:prstGeom prst="mathEqual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97F672F-FA46-394B-4EF4-62CFB30E41B9}"/>
              </a:ext>
            </a:extLst>
          </p:cNvPr>
          <p:cNvSpPr txBox="1"/>
          <p:nvPr/>
        </p:nvSpPr>
        <p:spPr>
          <a:xfrm>
            <a:off x="833736" y="1360386"/>
            <a:ext cx="10278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In the common view, though different processes are “closely related” to each other, the assessments of the </a:t>
            </a:r>
            <a:r>
              <a:rPr lang="en-US" sz="1600" dirty="0" err="1"/>
              <a:t>nonclassicality</a:t>
            </a:r>
            <a:r>
              <a:rPr lang="en-US" sz="1600" dirty="0"/>
              <a:t> are inconsistent. 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22F9D00-0165-38CE-71D5-303063018A48}"/>
              </a:ext>
            </a:extLst>
          </p:cNvPr>
          <p:cNvSpPr txBox="1"/>
          <p:nvPr/>
        </p:nvSpPr>
        <p:spPr>
          <a:xfrm>
            <a:off x="0" y="397103"/>
            <a:ext cx="119137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Motivation</a:t>
            </a:r>
          </a:p>
        </p:txBody>
      </p:sp>
    </p:spTree>
    <p:extLst>
      <p:ext uri="{BB962C8B-B14F-4D97-AF65-F5344CB8AC3E}">
        <p14:creationId xmlns:p14="http://schemas.microsoft.com/office/powerpoint/2010/main" val="3462980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2" grpId="0"/>
      <p:bldP spid="5" grpId="0"/>
      <p:bldP spid="6" grpId="0" animBg="1"/>
      <p:bldP spid="10" grpId="0"/>
      <p:bldP spid="15" grpId="0" animBg="1"/>
      <p:bldP spid="22" grpId="0"/>
      <p:bldP spid="23" grpId="0"/>
      <p:bldP spid="26" grpId="0"/>
      <p:bldP spid="28" grpId="0" animBg="1"/>
      <p:bldP spid="32" grpId="0"/>
      <p:bldP spid="33" grpId="0" animBg="1"/>
      <p:bldP spid="34" grpId="0" animBg="1"/>
      <p:bldP spid="35" grpId="0"/>
      <p:bldP spid="36" grpId="0"/>
      <p:bldP spid="37" grpId="0"/>
      <p:bldP spid="40" grpId="0"/>
      <p:bldP spid="42" grpId="0"/>
      <p:bldP spid="43" grpId="0"/>
      <p:bldP spid="46" grpId="0"/>
      <p:bldP spid="50" grpId="0" animBg="1"/>
      <p:bldP spid="54" grpId="0" animBg="1"/>
      <p:bldP spid="59" grpId="0"/>
      <p:bldP spid="6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9022E-9D36-829F-7234-9CC4CB770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2">
            <a:extLst>
              <a:ext uri="{FF2B5EF4-FFF2-40B4-BE49-F238E27FC236}">
                <a16:creationId xmlns:a16="http://schemas.microsoft.com/office/drawing/2014/main" id="{A2763F07-CCB9-D782-5F5C-2320DA05EB79}"/>
              </a:ext>
            </a:extLst>
          </p:cNvPr>
          <p:cNvSpPr/>
          <p:nvPr/>
        </p:nvSpPr>
        <p:spPr>
          <a:xfrm>
            <a:off x="1344126" y="1941025"/>
            <a:ext cx="3505154" cy="495498"/>
          </a:xfrm>
          <a:prstGeom prst="roundRect">
            <a:avLst/>
          </a:prstGeom>
          <a:solidFill>
            <a:schemeClr val="bg1"/>
          </a:solidFill>
          <a:ln w="41275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BC418D-FF21-E027-C538-8A5CB6ECD51A}"/>
              </a:ext>
            </a:extLst>
          </p:cNvPr>
          <p:cNvSpPr/>
          <p:nvPr/>
        </p:nvSpPr>
        <p:spPr>
          <a:xfrm>
            <a:off x="236751" y="5362421"/>
            <a:ext cx="4657060" cy="1392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E0CB46-32D5-C06B-3D79-FB51D11AB9FE}"/>
              </a:ext>
            </a:extLst>
          </p:cNvPr>
          <p:cNvSpPr txBox="1"/>
          <p:nvPr/>
        </p:nvSpPr>
        <p:spPr>
          <a:xfrm>
            <a:off x="207065" y="2591171"/>
            <a:ext cx="91850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1400" dirty="0"/>
              <a:t>White noise-robustness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E44989-CACE-D2E3-C63B-56D59BE64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063" y="2508105"/>
            <a:ext cx="2001536" cy="5030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DD9C68-A427-CE23-AB70-80A9F3C19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831" y="3690814"/>
            <a:ext cx="3152363" cy="11274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E6184E9-62F0-7895-F777-902EEA51CB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5300" y="3735488"/>
            <a:ext cx="3314527" cy="119008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E3DA829-D405-5DFB-4628-948ADEF0D68E}"/>
              </a:ext>
            </a:extLst>
          </p:cNvPr>
          <p:cNvSpPr txBox="1"/>
          <p:nvPr/>
        </p:nvSpPr>
        <p:spPr>
          <a:xfrm>
            <a:off x="389215" y="3279098"/>
            <a:ext cx="1909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Primal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356D67-D791-1E71-DA7F-8093C86C4613}"/>
              </a:ext>
            </a:extLst>
          </p:cNvPr>
          <p:cNvSpPr txBox="1"/>
          <p:nvPr/>
        </p:nvSpPr>
        <p:spPr>
          <a:xfrm>
            <a:off x="3237369" y="3286771"/>
            <a:ext cx="1909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Dual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766534-9668-F158-EE6D-AAFDDFF48109}"/>
              </a:ext>
            </a:extLst>
          </p:cNvPr>
          <p:cNvSpPr txBox="1"/>
          <p:nvPr/>
        </p:nvSpPr>
        <p:spPr>
          <a:xfrm>
            <a:off x="1358077" y="2000091"/>
            <a:ext cx="3318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Robustness-based quantifier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977499E-F04D-4EAD-33D3-EC9E554E436A}"/>
              </a:ext>
            </a:extLst>
          </p:cNvPr>
          <p:cNvSpPr txBox="1"/>
          <p:nvPr/>
        </p:nvSpPr>
        <p:spPr>
          <a:xfrm>
            <a:off x="0" y="416689"/>
            <a:ext cx="6458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Certification and quantification</a:t>
            </a:r>
          </a:p>
        </p:txBody>
      </p:sp>
      <p:sp>
        <p:nvSpPr>
          <p:cNvPr id="4" name="Rectangle: Rounded Corners 2">
            <a:extLst>
              <a:ext uri="{FF2B5EF4-FFF2-40B4-BE49-F238E27FC236}">
                <a16:creationId xmlns:a16="http://schemas.microsoft.com/office/drawing/2014/main" id="{B23FD0F2-94EB-A8D7-1BE4-BEB1558ADC8E}"/>
              </a:ext>
            </a:extLst>
          </p:cNvPr>
          <p:cNvSpPr/>
          <p:nvPr/>
        </p:nvSpPr>
        <p:spPr>
          <a:xfrm>
            <a:off x="7072681" y="1970436"/>
            <a:ext cx="3505154" cy="495498"/>
          </a:xfrm>
          <a:prstGeom prst="roundRect">
            <a:avLst/>
          </a:prstGeom>
          <a:solidFill>
            <a:schemeClr val="bg1"/>
          </a:solidFill>
          <a:ln w="41275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F5E407-1746-9D98-2E6C-785FDA5FBE0B}"/>
              </a:ext>
            </a:extLst>
          </p:cNvPr>
          <p:cNvSpPr txBox="1"/>
          <p:nvPr/>
        </p:nvSpPr>
        <p:spPr>
          <a:xfrm>
            <a:off x="5985315" y="2626650"/>
            <a:ext cx="91850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1400" dirty="0"/>
              <a:t>Weight-based quantification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ADEC56-B780-30BE-125C-7A63E14B57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8640" y="2626650"/>
            <a:ext cx="3365500" cy="368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74CA3FD-2923-C864-1CE8-9171917629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9188" y="3611492"/>
            <a:ext cx="3009900" cy="13335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E812CD9-C05A-BD32-0FA7-A6A0B14496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69088" y="3698815"/>
            <a:ext cx="2556818" cy="122675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324B25E-D6B8-8B14-EAE5-A1A894308E6A}"/>
              </a:ext>
            </a:extLst>
          </p:cNvPr>
          <p:cNvSpPr txBox="1"/>
          <p:nvPr/>
        </p:nvSpPr>
        <p:spPr>
          <a:xfrm>
            <a:off x="6559188" y="3206217"/>
            <a:ext cx="1909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Primal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401FCD-11B7-B51F-7463-0364DBBAB6D9}"/>
              </a:ext>
            </a:extLst>
          </p:cNvPr>
          <p:cNvSpPr txBox="1"/>
          <p:nvPr/>
        </p:nvSpPr>
        <p:spPr>
          <a:xfrm>
            <a:off x="9579150" y="3179317"/>
            <a:ext cx="1909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Dual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490A3E-5140-E03C-2597-82FC018E3AE1}"/>
              </a:ext>
            </a:extLst>
          </p:cNvPr>
          <p:cNvSpPr txBox="1"/>
          <p:nvPr/>
        </p:nvSpPr>
        <p:spPr>
          <a:xfrm>
            <a:off x="7347792" y="2046287"/>
            <a:ext cx="2735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Weight-based quantifier</a:t>
            </a:r>
          </a:p>
        </p:txBody>
      </p:sp>
      <p:sp>
        <p:nvSpPr>
          <p:cNvPr id="26" name="AutoShape 2">
            <a:extLst>
              <a:ext uri="{FF2B5EF4-FFF2-40B4-BE49-F238E27FC236}">
                <a16:creationId xmlns:a16="http://schemas.microsoft.com/office/drawing/2014/main" id="{82C32424-2A05-C794-ECD6-FD893F89037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240956" y="306015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296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/>
      <p:bldP spid="13" grpId="0"/>
      <p:bldP spid="14" grpId="0"/>
      <p:bldP spid="4" grpId="0" animBg="1"/>
      <p:bldP spid="5" grpId="0"/>
      <p:bldP spid="15" grpId="0"/>
      <p:bldP spid="16" grpId="0"/>
      <p:bldP spid="2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086FF-2B6D-9427-FD7D-DC2B0E12A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74433A-1B51-A951-1496-C125C8F0862B}"/>
              </a:ext>
            </a:extLst>
          </p:cNvPr>
          <p:cNvSpPr/>
          <p:nvPr/>
        </p:nvSpPr>
        <p:spPr>
          <a:xfrm>
            <a:off x="236751" y="5362421"/>
            <a:ext cx="4657060" cy="1392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143752F-F6DE-1DCC-BEF5-69DC46B51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0183" y="1697658"/>
            <a:ext cx="4002904" cy="217599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5CB9B0F-9F18-1AEC-7567-7D4C4CA6A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281" y="4010521"/>
            <a:ext cx="4171764" cy="206774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93D1862-A848-DA7B-01C2-A139433A19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6112" y="622781"/>
            <a:ext cx="3610102" cy="88322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3E81BAB-09C3-2615-4C63-DDCD3EBC8E38}"/>
              </a:ext>
            </a:extLst>
          </p:cNvPr>
          <p:cNvSpPr txBox="1"/>
          <p:nvPr/>
        </p:nvSpPr>
        <p:spPr>
          <a:xfrm>
            <a:off x="0" y="416689"/>
            <a:ext cx="6458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Certification and quantification</a:t>
            </a:r>
          </a:p>
        </p:txBody>
      </p:sp>
      <p:sp>
        <p:nvSpPr>
          <p:cNvPr id="4" name="Rectangle: Rounded Corners 2">
            <a:extLst>
              <a:ext uri="{FF2B5EF4-FFF2-40B4-BE49-F238E27FC236}">
                <a16:creationId xmlns:a16="http://schemas.microsoft.com/office/drawing/2014/main" id="{1A757267-2EA0-4E5F-C10E-D753C11ED71B}"/>
              </a:ext>
            </a:extLst>
          </p:cNvPr>
          <p:cNvSpPr/>
          <p:nvPr/>
        </p:nvSpPr>
        <p:spPr>
          <a:xfrm>
            <a:off x="1344126" y="1941025"/>
            <a:ext cx="3505154" cy="495498"/>
          </a:xfrm>
          <a:prstGeom prst="roundRect">
            <a:avLst/>
          </a:prstGeom>
          <a:solidFill>
            <a:schemeClr val="bg1"/>
          </a:solidFill>
          <a:ln w="41275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C1A347-79D3-644D-5DE9-9546ACBFD4C4}"/>
              </a:ext>
            </a:extLst>
          </p:cNvPr>
          <p:cNvSpPr txBox="1"/>
          <p:nvPr/>
        </p:nvSpPr>
        <p:spPr>
          <a:xfrm>
            <a:off x="207065" y="2591171"/>
            <a:ext cx="91850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1400" dirty="0"/>
              <a:t>White noise-robustness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0BFAF6-D66B-8D1F-461A-1D27673B9A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2063" y="2508105"/>
            <a:ext cx="2001536" cy="5030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3A67CB4-2F1E-87A6-8C81-6C72B2DF94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5831" y="3690814"/>
            <a:ext cx="3152363" cy="11274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E3DAA68-F549-7A93-A2D9-7B21E2A2D2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75300" y="3735488"/>
            <a:ext cx="3314527" cy="119008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4B59BA0-5AEF-64C6-9D62-E07D12A8C704}"/>
              </a:ext>
            </a:extLst>
          </p:cNvPr>
          <p:cNvSpPr txBox="1"/>
          <p:nvPr/>
        </p:nvSpPr>
        <p:spPr>
          <a:xfrm>
            <a:off x="389215" y="3279098"/>
            <a:ext cx="1909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Primal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F9BE68-6420-9F97-6B8E-87D1822E09FB}"/>
              </a:ext>
            </a:extLst>
          </p:cNvPr>
          <p:cNvSpPr txBox="1"/>
          <p:nvPr/>
        </p:nvSpPr>
        <p:spPr>
          <a:xfrm>
            <a:off x="3237369" y="3286771"/>
            <a:ext cx="1909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Dual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44A963-97B8-2425-01F1-A9637BFAE062}"/>
              </a:ext>
            </a:extLst>
          </p:cNvPr>
          <p:cNvSpPr txBox="1"/>
          <p:nvPr/>
        </p:nvSpPr>
        <p:spPr>
          <a:xfrm>
            <a:off x="1358077" y="2000091"/>
            <a:ext cx="3318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Robustness-based quantifier </a:t>
            </a:r>
          </a:p>
        </p:txBody>
      </p:sp>
    </p:spTree>
    <p:extLst>
      <p:ext uri="{BB962C8B-B14F-4D97-AF65-F5344CB8AC3E}">
        <p14:creationId xmlns:p14="http://schemas.microsoft.com/office/powerpoint/2010/main" val="176299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9928D-3A67-7943-D569-DA7E52FC0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D5C72BD-4722-E028-AA88-8C54C87B66FB}"/>
              </a:ext>
            </a:extLst>
          </p:cNvPr>
          <p:cNvSpPr/>
          <p:nvPr/>
        </p:nvSpPr>
        <p:spPr>
          <a:xfrm>
            <a:off x="236751" y="5362421"/>
            <a:ext cx="4657060" cy="1392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029728A-154D-1B03-4C2D-9261B549E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7172" y="520852"/>
            <a:ext cx="3318105" cy="201178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F23562E-5B84-813E-9C8F-7E2313A3B4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514" y="2831590"/>
            <a:ext cx="4318000" cy="1155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A25034-515C-EC6C-E6CB-AC96BF5166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281" y="4166577"/>
            <a:ext cx="4057563" cy="18674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7291200-7259-F4DA-3483-BC8C36E80FDB}"/>
              </a:ext>
            </a:extLst>
          </p:cNvPr>
          <p:cNvSpPr txBox="1"/>
          <p:nvPr/>
        </p:nvSpPr>
        <p:spPr>
          <a:xfrm>
            <a:off x="0" y="416689"/>
            <a:ext cx="6458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Certification and quantification</a:t>
            </a:r>
          </a:p>
        </p:txBody>
      </p:sp>
      <p:sp>
        <p:nvSpPr>
          <p:cNvPr id="27" name="Rectangle: Rounded Corners 2">
            <a:extLst>
              <a:ext uri="{FF2B5EF4-FFF2-40B4-BE49-F238E27FC236}">
                <a16:creationId xmlns:a16="http://schemas.microsoft.com/office/drawing/2014/main" id="{863AA685-32E3-7AB0-C955-E19B1E8E1604}"/>
              </a:ext>
            </a:extLst>
          </p:cNvPr>
          <p:cNvSpPr/>
          <p:nvPr/>
        </p:nvSpPr>
        <p:spPr>
          <a:xfrm>
            <a:off x="1344126" y="1941025"/>
            <a:ext cx="3505154" cy="495498"/>
          </a:xfrm>
          <a:prstGeom prst="roundRect">
            <a:avLst/>
          </a:prstGeom>
          <a:solidFill>
            <a:schemeClr val="bg1"/>
          </a:solidFill>
          <a:ln w="41275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F0AE5B5-DDD3-8A63-2741-231B3100D518}"/>
              </a:ext>
            </a:extLst>
          </p:cNvPr>
          <p:cNvSpPr txBox="1"/>
          <p:nvPr/>
        </p:nvSpPr>
        <p:spPr>
          <a:xfrm>
            <a:off x="207065" y="2591171"/>
            <a:ext cx="91850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1400" dirty="0"/>
              <a:t>White noise-robustness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349CF34-58CF-FBD1-D284-F4A067E605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2063" y="2508105"/>
            <a:ext cx="2001536" cy="50306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E741A18C-35B9-8055-EC21-28BCC46C30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5831" y="3690814"/>
            <a:ext cx="3152363" cy="112748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434E1BD-98C4-5902-2B71-DF49F8349F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75300" y="3735488"/>
            <a:ext cx="3314527" cy="1190083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7AC2D5BA-49FB-AEB1-2FFE-F769F23EC5C1}"/>
              </a:ext>
            </a:extLst>
          </p:cNvPr>
          <p:cNvSpPr txBox="1"/>
          <p:nvPr/>
        </p:nvSpPr>
        <p:spPr>
          <a:xfrm>
            <a:off x="389215" y="3279098"/>
            <a:ext cx="1909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Primal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B7DD172-9BEE-0CDB-A56F-1AE27E5557DB}"/>
              </a:ext>
            </a:extLst>
          </p:cNvPr>
          <p:cNvSpPr txBox="1"/>
          <p:nvPr/>
        </p:nvSpPr>
        <p:spPr>
          <a:xfrm>
            <a:off x="3237369" y="3286771"/>
            <a:ext cx="1909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Dual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A44BA49-1B62-2C60-3F8B-DA9B989EA93C}"/>
              </a:ext>
            </a:extLst>
          </p:cNvPr>
          <p:cNvSpPr txBox="1"/>
          <p:nvPr/>
        </p:nvSpPr>
        <p:spPr>
          <a:xfrm>
            <a:off x="1358077" y="2000091"/>
            <a:ext cx="3318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Robustness-based quantifier </a:t>
            </a:r>
          </a:p>
        </p:txBody>
      </p:sp>
    </p:spTree>
    <p:extLst>
      <p:ext uri="{BB962C8B-B14F-4D97-AF65-F5344CB8AC3E}">
        <p14:creationId xmlns:p14="http://schemas.microsoft.com/office/powerpoint/2010/main" val="2051801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95DEC-A3D8-3BD4-5D2D-D7ED4EBDA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732FF09-736E-1F83-0D5D-72296281FFA0}"/>
              </a:ext>
            </a:extLst>
          </p:cNvPr>
          <p:cNvSpPr/>
          <p:nvPr/>
        </p:nvSpPr>
        <p:spPr>
          <a:xfrm>
            <a:off x="236751" y="5362421"/>
            <a:ext cx="4657060" cy="1392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8" name="Rectangle: Rounded Corners 5">
            <a:extLst>
              <a:ext uri="{FF2B5EF4-FFF2-40B4-BE49-F238E27FC236}">
                <a16:creationId xmlns:a16="http://schemas.microsoft.com/office/drawing/2014/main" id="{432958E7-BEAB-F1ED-7F69-C227AC4E02A6}"/>
              </a:ext>
            </a:extLst>
          </p:cNvPr>
          <p:cNvSpPr/>
          <p:nvPr/>
        </p:nvSpPr>
        <p:spPr>
          <a:xfrm>
            <a:off x="6654936" y="1345447"/>
            <a:ext cx="5284569" cy="997418"/>
          </a:xfrm>
          <a:prstGeom prst="roundRect">
            <a:avLst/>
          </a:prstGeom>
          <a:solidFill>
            <a:schemeClr val="bg1"/>
          </a:solidFill>
          <a:ln w="41275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  </a:t>
            </a:r>
            <a:r>
              <a:rPr lang="en-US" sz="2000" dirty="0"/>
              <a:t> 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168504-5A17-0ED4-A27A-0ACC49035599}"/>
              </a:ext>
            </a:extLst>
          </p:cNvPr>
          <p:cNvSpPr txBox="1"/>
          <p:nvPr/>
        </p:nvSpPr>
        <p:spPr>
          <a:xfrm>
            <a:off x="6666244" y="1428657"/>
            <a:ext cx="53267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Example3: For MUB bases, its noise-robustness for generalized incompatibility equals to its noise robustness for the standard incompatibility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7CB1380-2261-0BC9-F864-23B546CBE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4936" y="2740385"/>
            <a:ext cx="5544989" cy="233136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5A7ED50-3DC0-0322-37AA-7F481C9AB6A4}"/>
              </a:ext>
            </a:extLst>
          </p:cNvPr>
          <p:cNvSpPr txBox="1"/>
          <p:nvPr/>
        </p:nvSpPr>
        <p:spPr>
          <a:xfrm>
            <a:off x="0" y="416689"/>
            <a:ext cx="6458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Certification and quantification</a:t>
            </a:r>
          </a:p>
        </p:txBody>
      </p:sp>
      <p:sp>
        <p:nvSpPr>
          <p:cNvPr id="27" name="Rectangle: Rounded Corners 2">
            <a:extLst>
              <a:ext uri="{FF2B5EF4-FFF2-40B4-BE49-F238E27FC236}">
                <a16:creationId xmlns:a16="http://schemas.microsoft.com/office/drawing/2014/main" id="{FCAB56C4-E585-0E6B-711B-427C94AB926A}"/>
              </a:ext>
            </a:extLst>
          </p:cNvPr>
          <p:cNvSpPr/>
          <p:nvPr/>
        </p:nvSpPr>
        <p:spPr>
          <a:xfrm>
            <a:off x="1344126" y="1941025"/>
            <a:ext cx="3505154" cy="495498"/>
          </a:xfrm>
          <a:prstGeom prst="roundRect">
            <a:avLst/>
          </a:prstGeom>
          <a:solidFill>
            <a:schemeClr val="bg1"/>
          </a:solidFill>
          <a:ln w="41275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0D5D52F-C81A-9357-1F6F-177B29235788}"/>
              </a:ext>
            </a:extLst>
          </p:cNvPr>
          <p:cNvSpPr txBox="1"/>
          <p:nvPr/>
        </p:nvSpPr>
        <p:spPr>
          <a:xfrm>
            <a:off x="207065" y="2591171"/>
            <a:ext cx="91850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1400" dirty="0"/>
              <a:t>White noise-robustness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0FD44FC-0ED7-C06F-A373-4A4A2838A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2063" y="2508105"/>
            <a:ext cx="2001536" cy="50306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745CBC1-1DDE-3938-DE6D-17BC436C0C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831" y="3690814"/>
            <a:ext cx="3152363" cy="112748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1326778-B15F-7E56-8DE0-616E833C4E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5300" y="3735488"/>
            <a:ext cx="3314527" cy="1190083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CFD7080E-02EE-D593-CF9A-BCA1EE956620}"/>
              </a:ext>
            </a:extLst>
          </p:cNvPr>
          <p:cNvSpPr txBox="1"/>
          <p:nvPr/>
        </p:nvSpPr>
        <p:spPr>
          <a:xfrm>
            <a:off x="389215" y="3279098"/>
            <a:ext cx="1909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Primal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CF0A102-27F2-AB55-5CA1-A45BD0E0C14B}"/>
              </a:ext>
            </a:extLst>
          </p:cNvPr>
          <p:cNvSpPr txBox="1"/>
          <p:nvPr/>
        </p:nvSpPr>
        <p:spPr>
          <a:xfrm>
            <a:off x="3237369" y="3286771"/>
            <a:ext cx="1909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Dual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FA4343B-F61A-F567-F812-3C0047E80189}"/>
              </a:ext>
            </a:extLst>
          </p:cNvPr>
          <p:cNvSpPr txBox="1"/>
          <p:nvPr/>
        </p:nvSpPr>
        <p:spPr>
          <a:xfrm>
            <a:off x="1358077" y="2000091"/>
            <a:ext cx="3318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Robustness-based quantifier </a:t>
            </a:r>
          </a:p>
        </p:txBody>
      </p:sp>
    </p:spTree>
    <p:extLst>
      <p:ext uri="{BB962C8B-B14F-4D97-AF65-F5344CB8AC3E}">
        <p14:creationId xmlns:p14="http://schemas.microsoft.com/office/powerpoint/2010/main" val="1520201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765FE-33B2-B7C7-B989-F5B375045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2">
            <a:extLst>
              <a:ext uri="{FF2B5EF4-FFF2-40B4-BE49-F238E27FC236}">
                <a16:creationId xmlns:a16="http://schemas.microsoft.com/office/drawing/2014/main" id="{E7236909-B8FA-CFFF-98D2-EC91F80A5ACC}"/>
              </a:ext>
            </a:extLst>
          </p:cNvPr>
          <p:cNvSpPr/>
          <p:nvPr/>
        </p:nvSpPr>
        <p:spPr>
          <a:xfrm>
            <a:off x="393997" y="1197993"/>
            <a:ext cx="3505154" cy="495498"/>
          </a:xfrm>
          <a:prstGeom prst="roundRect">
            <a:avLst/>
          </a:prstGeom>
          <a:solidFill>
            <a:schemeClr val="bg1"/>
          </a:solidFill>
          <a:ln w="41275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11D45A-39E0-8A3C-5E58-D6772C3473C8}"/>
              </a:ext>
            </a:extLst>
          </p:cNvPr>
          <p:cNvSpPr/>
          <p:nvPr/>
        </p:nvSpPr>
        <p:spPr>
          <a:xfrm>
            <a:off x="236751" y="5362421"/>
            <a:ext cx="4657060" cy="1392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CD88DC-084C-6814-0A92-7B3558D809A1}"/>
              </a:ext>
            </a:extLst>
          </p:cNvPr>
          <p:cNvSpPr txBox="1"/>
          <p:nvPr/>
        </p:nvSpPr>
        <p:spPr>
          <a:xfrm>
            <a:off x="0" y="2151694"/>
            <a:ext cx="91850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1400" dirty="0"/>
              <a:t>Weight-based quantification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B0515E-9809-80A7-2B7D-58E0A9BF9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510" y="2144293"/>
            <a:ext cx="3365500" cy="368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7333AC4-2958-ED32-4FA1-AF5F49780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751" y="3429000"/>
            <a:ext cx="3009900" cy="13335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5DFFD67-D231-EFE7-A67D-9B4967FE9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651" y="3516323"/>
            <a:ext cx="2556818" cy="122675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C2B9C80-1898-507B-1C28-2AEB8369F870}"/>
              </a:ext>
            </a:extLst>
          </p:cNvPr>
          <p:cNvSpPr txBox="1"/>
          <p:nvPr/>
        </p:nvSpPr>
        <p:spPr>
          <a:xfrm>
            <a:off x="236751" y="3023725"/>
            <a:ext cx="1909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Primal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D32235-9E52-ECD0-D49D-C6680D2CFC7E}"/>
              </a:ext>
            </a:extLst>
          </p:cNvPr>
          <p:cNvSpPr txBox="1"/>
          <p:nvPr/>
        </p:nvSpPr>
        <p:spPr>
          <a:xfrm>
            <a:off x="3256713" y="2996825"/>
            <a:ext cx="1909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Dual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98D3729-3A8F-9786-36FE-1099585C3E9C}"/>
                  </a:ext>
                </a:extLst>
              </p:cNvPr>
              <p:cNvSpPr txBox="1"/>
              <p:nvPr/>
            </p:nvSpPr>
            <p:spPr>
              <a:xfrm>
                <a:off x="6213679" y="1792047"/>
                <a:ext cx="5978321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itchFamily="2" charset="2"/>
                  <a:buChar char="q"/>
                </a:pPr>
                <a:r>
                  <a:rPr lang="en-US" sz="1400" dirty="0"/>
                  <a:t>One can interpret the optimal witness </a:t>
                </a:r>
                <a14:m>
                  <m:oMath xmlns:m="http://schemas.openxmlformats.org/officeDocument/2006/math"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400" dirty="0"/>
                  <a:t> as unnormalized quantum state.</a:t>
                </a:r>
              </a:p>
              <a:p>
                <a:pPr marL="285750" indent="-285750">
                  <a:buFont typeface="Wingdings" pitchFamily="2" charset="2"/>
                  <a:buChar char="q"/>
                </a:pPr>
                <a:endParaRPr lang="en-US" sz="1400" dirty="0"/>
              </a:p>
              <a:p>
                <a:pPr marL="285750" indent="-285750">
                  <a:buFont typeface="Wingdings" pitchFamily="2" charset="2"/>
                  <a:buChar char="q"/>
                </a:pPr>
                <a:r>
                  <a:rPr lang="en-US" sz="1400" dirty="0"/>
                  <a:t>However, the weight-based quantifying does not guarantee the statistics is not classical explainable by non-contextual GPT</a:t>
                </a:r>
              </a:p>
              <a:p>
                <a:pPr marL="285750" indent="-285750">
                  <a:buFont typeface="Wingdings" pitchFamily="2" charset="2"/>
                  <a:buChar char="q"/>
                </a:pPr>
                <a:endParaRPr lang="en-US" sz="1400" dirty="0"/>
              </a:p>
              <a:p>
                <a:pPr marL="285750" indent="-285750">
                  <a:buFont typeface="Wingdings" pitchFamily="2" charset="2"/>
                  <a:buChar char="q"/>
                </a:pPr>
                <a:r>
                  <a:rPr lang="en-CA" altLang="zh-CN" sz="1400" dirty="0"/>
                  <a:t>Nonclassical measurement can also be certified with </a:t>
                </a:r>
                <a:r>
                  <a:rPr lang="en-CA" altLang="zh-CN" sz="1400" dirty="0" err="1"/>
                  <a:t>noncontextual</a:t>
                </a:r>
                <a:r>
                  <a:rPr lang="en-CA" altLang="zh-CN" sz="1400" dirty="0"/>
                  <a:t> inequality, in a theory-independent manner</a:t>
                </a:r>
                <a:endParaRPr lang="en-US" sz="1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98D3729-3A8F-9786-36FE-1099585C3E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3679" y="1792047"/>
                <a:ext cx="5978321" cy="1815882"/>
              </a:xfrm>
              <a:prstGeom prst="rect">
                <a:avLst/>
              </a:prstGeom>
              <a:blipFill>
                <a:blip r:embed="rId5"/>
                <a:stretch>
                  <a:fillRect l="-212" t="-694" b="-2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C382CB92-7211-F216-C66F-B6D1D30BA934}"/>
              </a:ext>
            </a:extLst>
          </p:cNvPr>
          <p:cNvSpPr txBox="1"/>
          <p:nvPr/>
        </p:nvSpPr>
        <p:spPr>
          <a:xfrm>
            <a:off x="669108" y="1273844"/>
            <a:ext cx="2735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Weight-based quantifier</a:t>
            </a:r>
          </a:p>
        </p:txBody>
      </p:sp>
      <p:sp>
        <p:nvSpPr>
          <p:cNvPr id="24" name="AutoShape 2">
            <a:extLst>
              <a:ext uri="{FF2B5EF4-FFF2-40B4-BE49-F238E27FC236}">
                <a16:creationId xmlns:a16="http://schemas.microsoft.com/office/drawing/2014/main" id="{73A88E65-0E00-AD0D-54D3-71785B3E46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3C830A3-7E8F-6CB6-37E3-21CF9EDEB4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6112" y="4095750"/>
            <a:ext cx="4985619" cy="1865224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DD00A41-F66E-0E47-D810-DDB555429C5A}"/>
              </a:ext>
            </a:extLst>
          </p:cNvPr>
          <p:cNvSpPr txBox="1"/>
          <p:nvPr/>
        </p:nvSpPr>
        <p:spPr>
          <a:xfrm>
            <a:off x="0" y="416689"/>
            <a:ext cx="6458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Certification and quantification</a:t>
            </a:r>
          </a:p>
        </p:txBody>
      </p:sp>
    </p:spTree>
    <p:extLst>
      <p:ext uri="{BB962C8B-B14F-4D97-AF65-F5344CB8AC3E}">
        <p14:creationId xmlns:p14="http://schemas.microsoft.com/office/powerpoint/2010/main" val="3602634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E5F65-6FB5-2C1D-A6B4-E81D4C8F5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7C410F-D0E1-6645-03E3-9B9CE5BEEA99}"/>
              </a:ext>
            </a:extLst>
          </p:cNvPr>
          <p:cNvSpPr txBox="1"/>
          <p:nvPr/>
        </p:nvSpPr>
        <p:spPr>
          <a:xfrm>
            <a:off x="0" y="397103"/>
            <a:ext cx="119137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What to think next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67E3E7-AFD6-5C69-CB43-E77D83C0F9B4}"/>
              </a:ext>
            </a:extLst>
          </p:cNvPr>
          <p:cNvSpPr/>
          <p:nvPr/>
        </p:nvSpPr>
        <p:spPr>
          <a:xfrm>
            <a:off x="0" y="5465135"/>
            <a:ext cx="4657060" cy="1392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674A2E-7B1B-1421-DC3C-D697D7BB24E1}"/>
              </a:ext>
            </a:extLst>
          </p:cNvPr>
          <p:cNvSpPr txBox="1"/>
          <p:nvPr/>
        </p:nvSpPr>
        <p:spPr>
          <a:xfrm>
            <a:off x="381965" y="1203767"/>
            <a:ext cx="11007524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Fundamental level:</a:t>
            </a:r>
          </a:p>
          <a:p>
            <a:endParaRPr lang="en-US" dirty="0"/>
          </a:p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Assumptions on diagram preservation (Can one derive it from other principles? )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Focus on operational statistics,  classical explainability for all induced PM statistics, </a:t>
            </a:r>
            <a:r>
              <a:rPr lang="en-US" sz="1400" i="1" dirty="0"/>
              <a:t>does not imply</a:t>
            </a:r>
            <a:r>
              <a:rPr lang="en-US" sz="1400" dirty="0"/>
              <a:t> classical explainability of the whole circuit defined via diagram preservation.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Focus on nonclassical process,  characterization of its single-partite marginal might be sufficient for its characterization.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There exists an even more restrictive notions of classical explainability for quantum circuit one can defined, based on its frame representation. How are they related?</a:t>
            </a:r>
          </a:p>
        </p:txBody>
      </p:sp>
    </p:spTree>
    <p:extLst>
      <p:ext uri="{BB962C8B-B14F-4D97-AF65-F5344CB8AC3E}">
        <p14:creationId xmlns:p14="http://schemas.microsoft.com/office/powerpoint/2010/main" val="3212281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71B17-0752-D0E0-2A61-CD8D905B5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CE4AC0-B7D9-F91D-8D58-A1F40106472A}"/>
              </a:ext>
            </a:extLst>
          </p:cNvPr>
          <p:cNvSpPr txBox="1"/>
          <p:nvPr/>
        </p:nvSpPr>
        <p:spPr>
          <a:xfrm>
            <a:off x="0" y="397103"/>
            <a:ext cx="119137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What to think next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70BEF5-878D-9AE2-3F63-B65BFA1E78EA}"/>
              </a:ext>
            </a:extLst>
          </p:cNvPr>
          <p:cNvSpPr/>
          <p:nvPr/>
        </p:nvSpPr>
        <p:spPr>
          <a:xfrm>
            <a:off x="0" y="5465135"/>
            <a:ext cx="4657060" cy="1392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63C4B7-020B-08DA-83D1-D7145B2CA907}"/>
              </a:ext>
            </a:extLst>
          </p:cNvPr>
          <p:cNvSpPr txBox="1"/>
          <p:nvPr/>
        </p:nvSpPr>
        <p:spPr>
          <a:xfrm>
            <a:off x="453090" y="1064871"/>
            <a:ext cx="11007524" cy="4269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Fundamental level:</a:t>
            </a:r>
          </a:p>
          <a:p>
            <a:endParaRPr lang="en-US" dirty="0"/>
          </a:p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Assumptions on diagram preservation (Can one derive it from other principle? )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sz="1600" dirty="0"/>
          </a:p>
          <a:p>
            <a:pPr marL="285750" indent="-285750">
              <a:buFont typeface="Wingdings" pitchFamily="2" charset="2"/>
              <a:buChar char="q"/>
            </a:pPr>
            <a:endParaRPr lang="en-US" sz="1600" dirty="0"/>
          </a:p>
          <a:p>
            <a:pPr marL="285750" indent="-285750">
              <a:buFont typeface="Wingdings" pitchFamily="2" charset="2"/>
              <a:buChar char="q"/>
            </a:pPr>
            <a:endParaRPr lang="en-US" sz="1600" dirty="0"/>
          </a:p>
          <a:p>
            <a:r>
              <a:rPr lang="en-US" dirty="0"/>
              <a:t>Technical level: 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sz="1600" dirty="0"/>
          </a:p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Bounding quantum correlation for noncontextuality inequalities. 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dirty="0"/>
          </a:p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Self-testing /Robust self-testing based on violation of noncontextuality inequalities. 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This self-testing is in general less device-independent, as they need to make assumption on dimensionality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However, one might be able to test all component at the same time, as their </a:t>
            </a:r>
            <a:r>
              <a:rPr lang="en-US" sz="1400" dirty="0" err="1"/>
              <a:t>nonclassicality</a:t>
            </a:r>
            <a:r>
              <a:rPr lang="en-US" sz="1400" dirty="0"/>
              <a:t> is defined in a unified manner.,</a:t>
            </a:r>
          </a:p>
          <a:p>
            <a:pPr lvl="1">
              <a:lnSpc>
                <a:spcPct val="150000"/>
              </a:lnSpc>
            </a:pPr>
            <a:r>
              <a:rPr lang="en-US" sz="1400" dirty="0"/>
              <a:t>       e.g.,  the violation of a unipartite noncontextuality inequality indicates that the sum of “nonclassical fraction” for the measurement and preparation are greater than 1.  </a:t>
            </a:r>
          </a:p>
        </p:txBody>
      </p:sp>
    </p:spTree>
    <p:extLst>
      <p:ext uri="{BB962C8B-B14F-4D97-AF65-F5344CB8AC3E}">
        <p14:creationId xmlns:p14="http://schemas.microsoft.com/office/powerpoint/2010/main" val="1587018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09EF7-E5A3-BCF8-F5E4-1E139B396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7EE183-D575-CEA2-7233-B1011D9C293B}"/>
              </a:ext>
            </a:extLst>
          </p:cNvPr>
          <p:cNvSpPr txBox="1"/>
          <p:nvPr/>
        </p:nvSpPr>
        <p:spPr>
          <a:xfrm>
            <a:off x="0" y="397103"/>
            <a:ext cx="119137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What to think next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B0A607-EC45-C801-6C8C-27E096384A42}"/>
              </a:ext>
            </a:extLst>
          </p:cNvPr>
          <p:cNvSpPr/>
          <p:nvPr/>
        </p:nvSpPr>
        <p:spPr>
          <a:xfrm>
            <a:off x="0" y="5465135"/>
            <a:ext cx="4657060" cy="1392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5DCEC9-0F0D-A9F1-E7A3-560B3B13E616}"/>
              </a:ext>
            </a:extLst>
          </p:cNvPr>
          <p:cNvSpPr txBox="1"/>
          <p:nvPr/>
        </p:nvSpPr>
        <p:spPr>
          <a:xfrm>
            <a:off x="453090" y="1064871"/>
            <a:ext cx="11007524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Fundamental level:</a:t>
            </a:r>
          </a:p>
          <a:p>
            <a:endParaRPr lang="en-US" dirty="0"/>
          </a:p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Assumptions on diagram preservation (Can one derive it from other principle? )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sz="1600" dirty="0"/>
          </a:p>
          <a:p>
            <a:pPr marL="285750" indent="-285750">
              <a:buFont typeface="Wingdings" pitchFamily="2" charset="2"/>
              <a:buChar char="q"/>
            </a:pPr>
            <a:endParaRPr lang="en-US" sz="1600" dirty="0"/>
          </a:p>
          <a:p>
            <a:pPr marL="285750" indent="-285750">
              <a:buFont typeface="Wingdings" pitchFamily="2" charset="2"/>
              <a:buChar char="q"/>
            </a:pPr>
            <a:endParaRPr lang="en-US" sz="1600" dirty="0"/>
          </a:p>
          <a:p>
            <a:r>
              <a:rPr lang="en-US" dirty="0"/>
              <a:t>Technical level: 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sz="1600" dirty="0"/>
          </a:p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Bounding quantum correlation for general noncontextuality inequality. 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dirty="0"/>
          </a:p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Self-testing /Robust self-testing based on violation of noncontextuality inequality.  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dirty="0"/>
          </a:p>
          <a:p>
            <a:pPr marL="285750" indent="-285750">
              <a:buFont typeface="Wingdings" pitchFamily="2" charset="2"/>
              <a:buChar char="q"/>
            </a:pPr>
            <a:endParaRPr lang="en-US" dirty="0"/>
          </a:p>
          <a:p>
            <a:r>
              <a:rPr lang="en-US" dirty="0"/>
              <a:t>Application level:</a:t>
            </a:r>
          </a:p>
          <a:p>
            <a:endParaRPr lang="en-US" dirty="0"/>
          </a:p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Can noncontextuality inequality help in gauge-freedom problem in gate set tomography. 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dirty="0"/>
          </a:p>
          <a:p>
            <a:pPr marL="285750" indent="-285750">
              <a:buFont typeface="Wingdings" pitchFamily="2" charset="2"/>
              <a:buChar char="q"/>
            </a:pPr>
            <a:r>
              <a:rPr lang="en-CA" dirty="0"/>
              <a:t>Further information-theoretic tasks enabled by the new notion of nonclassical processes.</a:t>
            </a:r>
          </a:p>
        </p:txBody>
      </p:sp>
    </p:spTree>
    <p:extLst>
      <p:ext uri="{BB962C8B-B14F-4D97-AF65-F5344CB8AC3E}">
        <p14:creationId xmlns:p14="http://schemas.microsoft.com/office/powerpoint/2010/main" val="1331593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UofWaterloo_WhiteBkgrd">
  <a:themeElements>
    <a:clrScheme name="UWaterloo">
      <a:dk1>
        <a:sysClr val="windowText" lastClr="000000"/>
      </a:dk1>
      <a:lt1>
        <a:sysClr val="window" lastClr="FFFFFF"/>
      </a:lt1>
      <a:dk2>
        <a:srgbClr val="787878"/>
      </a:dk2>
      <a:lt2>
        <a:srgbClr val="DFDFDF"/>
      </a:lt2>
      <a:accent1>
        <a:srgbClr val="F2EDA8"/>
      </a:accent1>
      <a:accent2>
        <a:srgbClr val="FAE100"/>
      </a:accent2>
      <a:accent3>
        <a:srgbClr val="FED34C"/>
      </a:accent3>
      <a:accent4>
        <a:srgbClr val="EBAB00"/>
      </a:accent4>
      <a:accent5>
        <a:srgbClr val="BB0F33"/>
      </a:accent5>
      <a:accent6>
        <a:srgbClr val="A2A2A2"/>
      </a:accent6>
      <a:hlink>
        <a:srgbClr val="000000"/>
      </a:hlink>
      <a:folHlink>
        <a:srgbClr val="000000"/>
      </a:folHlink>
    </a:clrScheme>
    <a:fontScheme name="Custom 1">
      <a:majorFont>
        <a:latin typeface="Barlow Condensed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aterloo_powerpoint_template_16-9_widescreen" id="{E4282101-675F-A445-8F53-64115176576B}" vid="{FE1396AD-CDE7-C040-8CC2-F51B417BF6C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9ee03e0-b78c-4998-8bf4-79b266b85105}" enabled="1" method="Standard" siteId="{723a5a87-f39a-4a22-9247-3fc240c0139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57813</TotalTime>
  <Words>2642</Words>
  <Application>Microsoft Macintosh PowerPoint</Application>
  <PresentationFormat>Widescreen</PresentationFormat>
  <Paragraphs>694</Paragraphs>
  <Slides>35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Aptos</vt:lpstr>
      <vt:lpstr>Arial</vt:lpstr>
      <vt:lpstr>Barlow Condensed</vt:lpstr>
      <vt:lpstr>Calibri</vt:lpstr>
      <vt:lpstr>Cambria Math</vt:lpstr>
      <vt:lpstr>Georgia</vt:lpstr>
      <vt:lpstr>Verdana</vt:lpstr>
      <vt:lpstr>Wingdings</vt:lpstr>
      <vt:lpstr>UofWaterloo_WhiteBkgrd</vt:lpstr>
      <vt:lpstr>Defining nonclassicality for individual quantum processes --  through generalized contextuality</vt:lpstr>
      <vt:lpstr>PowerPoint Presentation</vt:lpstr>
      <vt:lpstr>PowerPoint Presentation</vt:lpstr>
      <vt:lpstr>Defining classicality for individual quantum processes --  through generalized noncontextuality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Yujie Zhang</dc:creator>
  <cp:lastModifiedBy>Yujie Zhang</cp:lastModifiedBy>
  <cp:revision>13</cp:revision>
  <dcterms:created xsi:type="dcterms:W3CDTF">2024-10-29T03:01:44Z</dcterms:created>
  <dcterms:modified xsi:type="dcterms:W3CDTF">2025-07-17T20:00:45Z</dcterms:modified>
</cp:coreProperties>
</file>