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7" r:id="rId2"/>
    <p:sldId id="296" r:id="rId3"/>
    <p:sldId id="313" r:id="rId4"/>
    <p:sldId id="312" r:id="rId5"/>
    <p:sldId id="261" r:id="rId6"/>
    <p:sldId id="301" r:id="rId7"/>
    <p:sldId id="297" r:id="rId8"/>
    <p:sldId id="309" r:id="rId9"/>
    <p:sldId id="302" r:id="rId10"/>
    <p:sldId id="264" r:id="rId11"/>
    <p:sldId id="303" r:id="rId12"/>
    <p:sldId id="305" r:id="rId13"/>
    <p:sldId id="306" r:id="rId14"/>
    <p:sldId id="266" r:id="rId15"/>
    <p:sldId id="307" r:id="rId16"/>
    <p:sldId id="271" r:id="rId17"/>
    <p:sldId id="272" r:id="rId18"/>
    <p:sldId id="288" r:id="rId19"/>
    <p:sldId id="308" r:id="rId20"/>
    <p:sldId id="276" r:id="rId21"/>
    <p:sldId id="273" r:id="rId22"/>
    <p:sldId id="3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5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D32B4-17D1-4A11-B555-04F920C69B6B}" v="236" dt="2024-02-06T01:45:43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1" autoAdjust="0"/>
    <p:restoredTop sz="90196" autoAdjust="0"/>
  </p:normalViewPr>
  <p:slideViewPr>
    <p:cSldViewPr snapToGrid="0">
      <p:cViewPr varScale="1">
        <p:scale>
          <a:sx n="128" d="100"/>
          <a:sy n="128" d="100"/>
        </p:scale>
        <p:origin x="64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D9253-E98A-4D7E-B6BA-531DC7C9E5E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02E8A-74FC-4B1A-B5C9-A88C4BD2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people’s name (with mine underlined)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506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278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BA36F-14EB-20A6-952B-E56ECDD4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EF146-2A58-1C5D-0711-F18F07994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DC563-89D5-51D3-5BAE-9FBC46768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03279-9D12-85E5-CE55-6E422F979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46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07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13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82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602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287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25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54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73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949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78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07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27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640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78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25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73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541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84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A231-D80D-AE92-58C1-303995F27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855E1-1887-D401-7E1D-478F4C8CE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FD408-0B41-F7DD-B048-0E13C012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A4E0-18DD-49DE-942D-24A4A4C8AEB6}" type="datetime1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85E4F-144C-520C-A48F-5B787B02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1FA4D-2FF0-93CD-6C9E-8DF0E631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67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8943-F418-623F-B3C6-3EFD01EF2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BEC4A-93C6-C24E-2D82-F41ECD7C3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8BE01-8021-FDB5-3B7B-62DA0918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E974-78EA-4489-83DF-C9D446A61372}" type="datetime1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7575-3EA8-35DE-AA47-11770D45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23583-3BD0-D027-E003-1DD5F293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CF2F-85EB-D18E-1D2E-B295EA38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12954-14D9-7D3E-928E-CFB600E8A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394EE-1278-F44A-2AF8-02923A55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048BC-6530-494C-AA6F-372E72C3EF00}" type="datetime1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D834C-0431-CA16-A38A-BEAC7FDE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A6BDC-B8B0-5F72-1554-09CED0D3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8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62DC-0832-75B3-4FC1-E8113E3F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4EBC0-6DB3-0A3D-B1B7-7FE404B5F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A84FA-C899-5684-5B21-4EC7FDD95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C5F2C-EA68-B7C7-0D07-E6CA3410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6598-8F34-4F85-965D-CE14CB22625E}" type="datetime1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26DFE-B21C-BD33-5343-E7195DD6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FB228-593D-7678-2B7D-5322BB44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77B4-DD47-5285-EC22-58108CE8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10AE0-DCBC-04D0-9131-EC6A918C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18A25-4EA4-F3A9-4286-ED9DEF4D2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3B842-644D-EBAD-51EA-434A7EBFF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E858F-E524-3826-C486-766FE6F4E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371CD-C31A-CB04-310A-7330FFF3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A1F9-5BD7-4DFC-80FD-E12940448E1A}" type="datetime1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1AE139-6AA4-DE93-F8CF-20CEDB3D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D17D1-EEEA-6FFE-C8D3-444CBE69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7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CDED-C8A2-7FF3-84A2-480CB065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3CA2F-91B8-3BF7-3AD7-71B55F336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B8F5-900F-412C-A62D-1F1A9FA04326}" type="datetime1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F59F2-0BDC-A794-1CD9-63D3D57C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3887D-53CE-8D2A-BE16-561B48F0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9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3C3D33-E081-D9D8-AF8F-49FC705A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759B-44F3-401E-98F8-705E25A74306}" type="datetime1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54ADB-AEB7-0677-5239-3530367A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B7AE-46A9-A539-2CE6-5A5F48CC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2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C075-4610-B7DB-1AC1-152CF49F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5E841-EDEB-D0C7-3BB4-65FEEE593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0B07B-68D2-2BF1-C7D2-26AC80538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686F1-FF17-AB9D-2C7F-D0F8CB27D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82754-A16B-46DA-A3DC-91EB3089390A}" type="datetime1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77837-7F0E-2711-3D56-60F7BC45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CD129-7D0E-9B6E-5257-2FCECA1A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9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2E5F2-4636-4866-7449-CDB425DAF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6C8D9-7DC3-2555-D989-B7C40058A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6A511-22E5-2C82-63D6-91E2C1ACA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E8F23-D4D4-D719-D215-C4F31E7C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050CC-946E-4032-994D-36D6219C4A31}" type="datetime1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54579-5093-D3E8-2E7A-691E04A2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2A1F0-0FE6-F770-5F28-19D04825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3955-BB90-ECF3-1F8A-B88A6641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27C57-1FD9-3957-AFA3-915EBF3D3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9FA1-BD65-ADFC-2713-BC739F645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0091E-1BDA-4A0B-8A1A-E7206A3BA464}" type="datetime1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5E38B-30EB-613E-917A-5A7A57F3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25DEC-3424-DFD3-91FB-78D75E1E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5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5CFF4-D1C7-96AA-871B-C95860B55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C1614-FA6D-A3D0-DD77-747A95092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BD850-1744-3B57-EDA0-165FB6DF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9A1C-FF7D-460C-B46E-95C4B2084AA2}" type="datetime1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A54E2-B7CC-0308-6B59-96763197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09D67-8943-BB7D-3D13-CE805A7B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1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08184-05E2-6088-7BF2-1A7FCD01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211A0-EE34-66DF-62EF-F9E87BA82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D2560-C112-E91D-AE5D-8B99CCF86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D5B9A-D6A4-4E69-B2BC-322AB0C3A012}" type="datetime1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CACEC-DAB0-87DA-7E0C-B1D42D537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9B90-A93B-15AF-A3C1-83C329DC3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A7C64-5BD3-4F49-9C24-E80A6D4A3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3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.png"/><Relationship Id="rId15" Type="http://schemas.openxmlformats.org/officeDocument/2006/relationships/image" Target="../media/image15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90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26.png"/><Relationship Id="rId5" Type="http://schemas.openxmlformats.org/officeDocument/2006/relationships/image" Target="../media/image170.png"/><Relationship Id="rId10" Type="http://schemas.openxmlformats.org/officeDocument/2006/relationships/image" Target="../media/image220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Relationship Id="rId14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90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26.png"/><Relationship Id="rId5" Type="http://schemas.openxmlformats.org/officeDocument/2006/relationships/image" Target="../media/image170.png"/><Relationship Id="rId10" Type="http://schemas.openxmlformats.org/officeDocument/2006/relationships/image" Target="../media/image220.png"/><Relationship Id="rId4" Type="http://schemas.openxmlformats.org/officeDocument/2006/relationships/image" Target="../media/image27.png"/><Relationship Id="rId9" Type="http://schemas.openxmlformats.org/officeDocument/2006/relationships/image" Target="../media/image210.png"/><Relationship Id="rId14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6.png"/><Relationship Id="rId3" Type="http://schemas.openxmlformats.org/officeDocument/2006/relationships/image" Target="../media/image1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0.png"/><Relationship Id="rId15" Type="http://schemas.openxmlformats.org/officeDocument/2006/relationships/image" Target="../media/image38.png"/><Relationship Id="rId23" Type="http://schemas.openxmlformats.org/officeDocument/2006/relationships/image" Target="../media/image37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0.png"/><Relationship Id="rId9" Type="http://schemas.openxmlformats.org/officeDocument/2006/relationships/image" Target="../media/image32.png"/><Relationship Id="rId22" Type="http://schemas.openxmlformats.org/officeDocument/2006/relationships/image" Target="../media/image45.png"/><Relationship Id="rId27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3" Type="http://schemas.openxmlformats.org/officeDocument/2006/relationships/image" Target="../media/image1.png"/><Relationship Id="rId21" Type="http://schemas.openxmlformats.org/officeDocument/2006/relationships/image" Target="../media/image66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5" Type="http://schemas.openxmlformats.org/officeDocument/2006/relationships/image" Target="../media/image51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10" Type="http://schemas.openxmlformats.org/officeDocument/2006/relationships/image" Target="../media/image33.png"/><Relationship Id="rId19" Type="http://schemas.openxmlformats.org/officeDocument/2006/relationships/image" Target="../media/image64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0.png"/><Relationship Id="rId5" Type="http://schemas.openxmlformats.org/officeDocument/2006/relationships/image" Target="../media/image75.png"/><Relationship Id="rId4" Type="http://schemas.openxmlformats.org/officeDocument/2006/relationships/image" Target="../media/image1.png"/><Relationship Id="rId9" Type="http://schemas.openxmlformats.org/officeDocument/2006/relationships/image" Target="../media/image5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13" Type="http://schemas.openxmlformats.org/officeDocument/2006/relationships/image" Target="../media/image660.png"/><Relationship Id="rId18" Type="http://schemas.openxmlformats.org/officeDocument/2006/relationships/image" Target="../media/image710.png"/><Relationship Id="rId3" Type="http://schemas.openxmlformats.org/officeDocument/2006/relationships/image" Target="../media/image750.png"/><Relationship Id="rId7" Type="http://schemas.openxmlformats.org/officeDocument/2006/relationships/image" Target="../media/image600.png"/><Relationship Id="rId12" Type="http://schemas.openxmlformats.org/officeDocument/2006/relationships/image" Target="../media/image650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0.png"/><Relationship Id="rId11" Type="http://schemas.openxmlformats.org/officeDocument/2006/relationships/image" Target="../media/image640.png"/><Relationship Id="rId5" Type="http://schemas.openxmlformats.org/officeDocument/2006/relationships/image" Target="../media/image76.png"/><Relationship Id="rId15" Type="http://schemas.openxmlformats.org/officeDocument/2006/relationships/image" Target="../media/image680.png"/><Relationship Id="rId10" Type="http://schemas.openxmlformats.org/officeDocument/2006/relationships/image" Target="../media/image630.png"/><Relationship Id="rId4" Type="http://schemas.openxmlformats.org/officeDocument/2006/relationships/image" Target="../media/image1.png"/><Relationship Id="rId9" Type="http://schemas.openxmlformats.org/officeDocument/2006/relationships/image" Target="../media/image620.png"/><Relationship Id="rId14" Type="http://schemas.openxmlformats.org/officeDocument/2006/relationships/image" Target="../media/image6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1.png"/><Relationship Id="rId3" Type="http://schemas.openxmlformats.org/officeDocument/2006/relationships/image" Target="../media/image78.png"/><Relationship Id="rId7" Type="http://schemas.openxmlformats.org/officeDocument/2006/relationships/image" Target="../media/image79.png"/><Relationship Id="rId12" Type="http://schemas.openxmlformats.org/officeDocument/2006/relationships/image" Target="../media/image800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0.png"/><Relationship Id="rId11" Type="http://schemas.openxmlformats.org/officeDocument/2006/relationships/image" Target="../media/image790.png"/><Relationship Id="rId5" Type="http://schemas.openxmlformats.org/officeDocument/2006/relationships/image" Target="../media/image730.png"/><Relationship Id="rId15" Type="http://schemas.openxmlformats.org/officeDocument/2006/relationships/image" Target="../media/image83.png"/><Relationship Id="rId10" Type="http://schemas.openxmlformats.org/officeDocument/2006/relationships/image" Target="../media/image780.png"/><Relationship Id="rId4" Type="http://schemas.openxmlformats.org/officeDocument/2006/relationships/image" Target="../media/image1.png"/><Relationship Id="rId9" Type="http://schemas.openxmlformats.org/officeDocument/2006/relationships/image" Target="../media/image770.png"/><Relationship Id="rId14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730.png"/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12" Type="http://schemas.openxmlformats.org/officeDocument/2006/relationships/image" Target="../media/image7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27.sv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100.png"/><Relationship Id="rId18" Type="http://schemas.openxmlformats.org/officeDocument/2006/relationships/image" Target="../media/image109.png"/><Relationship Id="rId3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9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8.png"/><Relationship Id="rId5" Type="http://schemas.openxmlformats.org/officeDocument/2006/relationships/image" Target="../media/image1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10.png"/><Relationship Id="rId4" Type="http://schemas.openxmlformats.org/officeDocument/2006/relationships/image" Target="../media/image96.png"/><Relationship Id="rId9" Type="http://schemas.openxmlformats.org/officeDocument/2006/relationships/image" Target="../media/image95.png"/><Relationship Id="rId1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10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2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0.png"/><Relationship Id="rId10" Type="http://schemas.openxmlformats.org/officeDocument/2006/relationships/image" Target="../media/image127.png"/><Relationship Id="rId4" Type="http://schemas.openxmlformats.org/officeDocument/2006/relationships/image" Target="../media/image1.png"/><Relationship Id="rId9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2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5" Type="http://schemas.openxmlformats.org/officeDocument/2006/relationships/image" Target="../media/image1280.png"/><Relationship Id="rId10" Type="http://schemas.openxmlformats.org/officeDocument/2006/relationships/image" Target="../media/image132.png"/><Relationship Id="rId4" Type="http://schemas.openxmlformats.org/officeDocument/2006/relationships/image" Target="../media/image1.png"/><Relationship Id="rId9" Type="http://schemas.openxmlformats.org/officeDocument/2006/relationships/image" Target="../media/image1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340.png"/><Relationship Id="rId4" Type="http://schemas.openxmlformats.org/officeDocument/2006/relationships/image" Target="../media/image1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4" y="-2"/>
            <a:ext cx="714377" cy="7239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-1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285B390-6457-56D5-3302-F78771E81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840" y="4239305"/>
            <a:ext cx="9771380" cy="68317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14D28-64DB-49DF-4A52-05E6DFA3EF4A}"/>
              </a:ext>
            </a:extLst>
          </p:cNvPr>
          <p:cNvSpPr txBox="1"/>
          <p:nvPr/>
        </p:nvSpPr>
        <p:spPr>
          <a:xfrm>
            <a:off x="3491005" y="2367058"/>
            <a:ext cx="8576244" cy="197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i="0" u="none" strike="noStrike" baseline="0" dirty="0">
                <a:latin typeface="ArialMT"/>
              </a:rPr>
              <a:t>Exact Steering Bound for Two-Qubit Werner States </a:t>
            </a:r>
            <a:r>
              <a:rPr lang="en-US" sz="3600" dirty="0"/>
              <a:t>                                                                                     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                                   </a:t>
            </a:r>
            <a:r>
              <a:rPr lang="en-US" sz="2400" u="sng" dirty="0"/>
              <a:t>Yujie Zhang*</a:t>
            </a:r>
            <a:r>
              <a:rPr lang="en-US" sz="2400" dirty="0"/>
              <a:t> and </a:t>
            </a:r>
            <a:r>
              <a:rPr lang="en-US" altLang="zh-CN" sz="2400" dirty="0"/>
              <a:t>Eric</a:t>
            </a:r>
            <a:r>
              <a:rPr lang="zh-CN" altLang="en-US" sz="2400" dirty="0"/>
              <a:t> </a:t>
            </a:r>
            <a:r>
              <a:rPr lang="en-US" altLang="zh-CN" sz="2400" dirty="0" err="1"/>
              <a:t>Chitambar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                    Preprint: </a:t>
            </a:r>
            <a:r>
              <a:rPr lang="en-US" sz="2400" dirty="0"/>
              <a:t>arxiv.2309.09960 (2023)</a:t>
            </a:r>
            <a:r>
              <a:rPr lang="en-US" altLang="zh-CN" sz="2400" dirty="0"/>
              <a:t>     </a:t>
            </a: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9910EC-D243-D18D-7AF5-6718944A3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51" y="1667870"/>
            <a:ext cx="3148325" cy="227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01DB53-FD62-AB09-BF11-EC3F0422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</a:t>
            </a:fld>
            <a:endParaRPr lang="en-US" dirty="0"/>
          </a:p>
        </p:txBody>
      </p:sp>
      <p:pic>
        <p:nvPicPr>
          <p:cNvPr id="1028" name="Picture 4" descr="University logo and wordmark">
            <a:extLst>
              <a:ext uri="{FF2B5EF4-FFF2-40B4-BE49-F238E27FC236}">
                <a16:creationId xmlns:a16="http://schemas.microsoft.com/office/drawing/2014/main" id="{C725EDAE-C88D-C6F4-B0F6-861313BBE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2234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5519A0-569E-063E-0415-B7CDE39985FC}"/>
              </a:ext>
            </a:extLst>
          </p:cNvPr>
          <p:cNvSpPr txBox="1"/>
          <p:nvPr/>
        </p:nvSpPr>
        <p:spPr>
          <a:xfrm>
            <a:off x="0" y="6538912"/>
            <a:ext cx="4407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*Current address: IQC at University of Waterloo, Canada</a:t>
            </a:r>
          </a:p>
        </p:txBody>
      </p:sp>
    </p:spTree>
    <p:extLst>
      <p:ext uri="{BB962C8B-B14F-4D97-AF65-F5344CB8AC3E}">
        <p14:creationId xmlns:p14="http://schemas.microsoft.com/office/powerpoint/2010/main" val="242038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AD41BF2B-9B6F-E294-DD27-5D339C924D46}"/>
                  </a:ext>
                </a:extLst>
              </p:cNvPr>
              <p:cNvSpPr txBox="1"/>
              <p:nvPr/>
            </p:nvSpPr>
            <p:spPr>
              <a:xfrm>
                <a:off x="8804073" y="3138982"/>
                <a:ext cx="2873638" cy="327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AD41BF2B-9B6F-E294-DD27-5D339C924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073" y="3138982"/>
                <a:ext cx="2873638" cy="327077"/>
              </a:xfrm>
              <a:prstGeom prst="rect">
                <a:avLst/>
              </a:prstGeom>
              <a:blipFill>
                <a:blip r:embed="rId3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9B2E5BDE-AFC1-6AB1-7C57-A7F98DC3A17F}"/>
                  </a:ext>
                </a:extLst>
              </p:cNvPr>
              <p:cNvSpPr txBox="1"/>
              <p:nvPr/>
            </p:nvSpPr>
            <p:spPr>
              <a:xfrm>
                <a:off x="4515802" y="3137531"/>
                <a:ext cx="2963190" cy="346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9B2E5BDE-AFC1-6AB1-7C57-A7F98DC3A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802" y="3137531"/>
                <a:ext cx="2963190" cy="346954"/>
              </a:xfrm>
              <a:prstGeom prst="rect">
                <a:avLst/>
              </a:prstGeom>
              <a:blipFill>
                <a:blip r:embed="rId4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Brief introduction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16D267-40B3-B576-8FC6-85DA04A6536E}"/>
              </a:ext>
            </a:extLst>
          </p:cNvPr>
          <p:cNvCxnSpPr>
            <a:cxnSpLocks/>
          </p:cNvCxnSpPr>
          <p:nvPr/>
        </p:nvCxnSpPr>
        <p:spPr>
          <a:xfrm>
            <a:off x="3987367" y="1121653"/>
            <a:ext cx="0" cy="2764547"/>
          </a:xfrm>
          <a:prstGeom prst="line">
            <a:avLst/>
          </a:prstGeom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6FA57B6-54AD-751F-EA83-BE19581766F6}"/>
              </a:ext>
            </a:extLst>
          </p:cNvPr>
          <p:cNvSpPr/>
          <p:nvPr/>
        </p:nvSpPr>
        <p:spPr>
          <a:xfrm>
            <a:off x="8514679" y="893945"/>
            <a:ext cx="1382159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Nonlocal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4E9DD6-62A9-8E74-3A08-D6FC5817D7F0}"/>
              </a:ext>
            </a:extLst>
          </p:cNvPr>
          <p:cNvSpPr/>
          <p:nvPr/>
        </p:nvSpPr>
        <p:spPr>
          <a:xfrm>
            <a:off x="4316896" y="893946"/>
            <a:ext cx="1382159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Steerable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756315-76D5-8EB5-C9CB-7D2A08745BCD}"/>
              </a:ext>
            </a:extLst>
          </p:cNvPr>
          <p:cNvSpPr/>
          <p:nvPr/>
        </p:nvSpPr>
        <p:spPr>
          <a:xfrm>
            <a:off x="308012" y="893945"/>
            <a:ext cx="1492884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Entangled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6CAB88-014B-EC13-C027-7ABD990B2D38}"/>
              </a:ext>
            </a:extLst>
          </p:cNvPr>
          <p:cNvCxnSpPr>
            <a:cxnSpLocks/>
          </p:cNvCxnSpPr>
          <p:nvPr/>
        </p:nvCxnSpPr>
        <p:spPr>
          <a:xfrm>
            <a:off x="3875607" y="1383263"/>
            <a:ext cx="0" cy="2690788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E08A5F7-01CE-715B-5A50-C68784543BB1}"/>
              </a:ext>
            </a:extLst>
          </p:cNvPr>
          <p:cNvSpPr/>
          <p:nvPr/>
        </p:nvSpPr>
        <p:spPr>
          <a:xfrm>
            <a:off x="1266254" y="2180674"/>
            <a:ext cx="1603217" cy="17651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F40333-D82B-2CC4-C3F5-3B7695BC54AE}"/>
              </a:ext>
            </a:extLst>
          </p:cNvPr>
          <p:cNvSpPr/>
          <p:nvPr/>
        </p:nvSpPr>
        <p:spPr>
          <a:xfrm>
            <a:off x="909051" y="1946774"/>
            <a:ext cx="632848" cy="644310"/>
          </a:xfrm>
          <a:prstGeom prst="ellipse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81E9DC1-0CA0-6221-8424-06110DD3101D}"/>
              </a:ext>
            </a:extLst>
          </p:cNvPr>
          <p:cNvSpPr/>
          <p:nvPr/>
        </p:nvSpPr>
        <p:spPr>
          <a:xfrm>
            <a:off x="2483528" y="1946774"/>
            <a:ext cx="632848" cy="644310"/>
          </a:xfrm>
          <a:prstGeom prst="ellipse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04E2E75-5DE1-82F5-F667-CE929D165BF0}"/>
                  </a:ext>
                </a:extLst>
              </p:cNvPr>
              <p:cNvSpPr txBox="1"/>
              <p:nvPr/>
            </p:nvSpPr>
            <p:spPr>
              <a:xfrm>
                <a:off x="1748418" y="1738409"/>
                <a:ext cx="717768" cy="453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04E2E75-5DE1-82F5-F667-CE929D165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418" y="1738409"/>
                <a:ext cx="717768" cy="453595"/>
              </a:xfrm>
              <a:prstGeom prst="rect">
                <a:avLst/>
              </a:prstGeom>
              <a:blipFill>
                <a:blip r:embed="rId6"/>
                <a:stretch>
                  <a:fillRect t="-1333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5AF9CBEB-A466-2D7B-F296-3A6FFD7FD7D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81514" y="1992735"/>
            <a:ext cx="19758" cy="1126984"/>
          </a:xfrm>
          <a:prstGeom prst="curvedConnector3">
            <a:avLst>
              <a:gd name="adj1" fmla="val 2277559"/>
            </a:avLst>
          </a:prstGeom>
          <a:ln w="38100" cap="flat" cmpd="sng" algn="ctr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70954AD-68CE-03A9-EC52-6916788BE2F5}"/>
                  </a:ext>
                </a:extLst>
              </p:cNvPr>
              <p:cNvSpPr txBox="1"/>
              <p:nvPr/>
            </p:nvSpPr>
            <p:spPr>
              <a:xfrm>
                <a:off x="1008491" y="3235751"/>
                <a:ext cx="2053447" cy="440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70954AD-68CE-03A9-EC52-6916788BE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91" y="3235751"/>
                <a:ext cx="2053447" cy="440505"/>
              </a:xfrm>
              <a:prstGeom prst="rect">
                <a:avLst/>
              </a:prstGeom>
              <a:blipFill>
                <a:blip r:embed="rId7"/>
                <a:stretch>
                  <a:fillRect l="-18398" t="-209722" r="-1780" b="-29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AE805764-9F14-BDDD-A8B1-689EC4ED8F2E}"/>
              </a:ext>
            </a:extLst>
          </p:cNvPr>
          <p:cNvSpPr txBox="1"/>
          <p:nvPr/>
        </p:nvSpPr>
        <p:spPr>
          <a:xfrm>
            <a:off x="1091978" y="3898526"/>
            <a:ext cx="2081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(a) separable model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D13CCC4-D804-2302-EFAA-49D8AA2F1CC8}"/>
              </a:ext>
            </a:extLst>
          </p:cNvPr>
          <p:cNvSpPr/>
          <p:nvPr/>
        </p:nvSpPr>
        <p:spPr>
          <a:xfrm>
            <a:off x="5156673" y="2180861"/>
            <a:ext cx="1603217" cy="17651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6029C8B-6CCC-0F61-4F36-54BC98B1E9BA}"/>
              </a:ext>
            </a:extLst>
          </p:cNvPr>
          <p:cNvSpPr/>
          <p:nvPr/>
        </p:nvSpPr>
        <p:spPr>
          <a:xfrm>
            <a:off x="4799471" y="1946961"/>
            <a:ext cx="632848" cy="644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AB77043-775F-39DE-1A0E-050057009832}"/>
              </a:ext>
            </a:extLst>
          </p:cNvPr>
          <p:cNvSpPr/>
          <p:nvPr/>
        </p:nvSpPr>
        <p:spPr>
          <a:xfrm>
            <a:off x="6373947" y="1946961"/>
            <a:ext cx="632848" cy="644310"/>
          </a:xfrm>
          <a:prstGeom prst="ellipse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FEC94E2-C64A-A641-B890-E280C6C02F19}"/>
                  </a:ext>
                </a:extLst>
              </p:cNvPr>
              <p:cNvSpPr txBox="1"/>
              <p:nvPr/>
            </p:nvSpPr>
            <p:spPr>
              <a:xfrm>
                <a:off x="5686239" y="1736145"/>
                <a:ext cx="717768" cy="453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FEC94E2-C64A-A641-B890-E280C6C02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239" y="1736145"/>
                <a:ext cx="717768" cy="453595"/>
              </a:xfrm>
              <a:prstGeom prst="rect">
                <a:avLst/>
              </a:prstGeom>
              <a:blipFill>
                <a:blip r:embed="rId8"/>
                <a:stretch>
                  <a:fillRect t="-2703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1734C2B-BAE6-A288-9B0C-80A608740F4C}"/>
              </a:ext>
            </a:extLst>
          </p:cNvPr>
          <p:cNvCxnSpPr/>
          <p:nvPr/>
        </p:nvCxnSpPr>
        <p:spPr>
          <a:xfrm>
            <a:off x="5094181" y="1646166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2700EE8-0BD6-B1AB-6D3D-0BB786923B65}"/>
              </a:ext>
            </a:extLst>
          </p:cNvPr>
          <p:cNvCxnSpPr/>
          <p:nvPr/>
        </p:nvCxnSpPr>
        <p:spPr>
          <a:xfrm>
            <a:off x="5136381" y="2666397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31EC8FE-5F7E-0FB0-4C2B-F7B70914F95B}"/>
                  </a:ext>
                </a:extLst>
              </p:cNvPr>
              <p:cNvSpPr txBox="1"/>
              <p:nvPr/>
            </p:nvSpPr>
            <p:spPr>
              <a:xfrm>
                <a:off x="5766641" y="2652292"/>
                <a:ext cx="250317" cy="414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31EC8FE-5F7E-0FB0-4C2B-F7B70914F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641" y="2652292"/>
                <a:ext cx="250317" cy="414713"/>
              </a:xfrm>
              <a:prstGeom prst="rect">
                <a:avLst/>
              </a:prstGeom>
              <a:blipFill>
                <a:blip r:embed="rId9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22B94156-FF03-3534-C9D0-83C14CC60FC0}"/>
              </a:ext>
            </a:extLst>
          </p:cNvPr>
          <p:cNvSpPr txBox="1"/>
          <p:nvPr/>
        </p:nvSpPr>
        <p:spPr>
          <a:xfrm>
            <a:off x="4819279" y="2672367"/>
            <a:ext cx="338879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38D1B424-C6CE-335A-2592-A242903269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17616" y="2012565"/>
            <a:ext cx="19758" cy="1126984"/>
          </a:xfrm>
          <a:prstGeom prst="curvedConnector3">
            <a:avLst>
              <a:gd name="adj1" fmla="val 227755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D28D02A-68DA-52E6-0CB3-B470E1BC6FD4}"/>
                  </a:ext>
                </a:extLst>
              </p:cNvPr>
              <p:cNvSpPr txBox="1"/>
              <p:nvPr/>
            </p:nvSpPr>
            <p:spPr>
              <a:xfrm>
                <a:off x="4634839" y="3409307"/>
                <a:ext cx="2723555" cy="440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D28D02A-68DA-52E6-0CB3-B470E1BC6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839" y="3409307"/>
                <a:ext cx="2723555" cy="440505"/>
              </a:xfrm>
              <a:prstGeom prst="rect">
                <a:avLst/>
              </a:prstGeom>
              <a:blipFill>
                <a:blip r:embed="rId10"/>
                <a:stretch>
                  <a:fillRect l="-671" t="-205479" b="-290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6855D1A1-3817-D855-1640-12B9DE81CA15}"/>
              </a:ext>
            </a:extLst>
          </p:cNvPr>
          <p:cNvSpPr/>
          <p:nvPr/>
        </p:nvSpPr>
        <p:spPr>
          <a:xfrm>
            <a:off x="3589545" y="2220380"/>
            <a:ext cx="632848" cy="172471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938DBD94-8048-7CC3-71BD-8CBA908CCE7B}"/>
              </a:ext>
            </a:extLst>
          </p:cNvPr>
          <p:cNvSpPr/>
          <p:nvPr/>
        </p:nvSpPr>
        <p:spPr>
          <a:xfrm>
            <a:off x="7672634" y="2217035"/>
            <a:ext cx="632848" cy="172471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AE330F1-F3D1-008C-CCC1-C5251B6BC375}"/>
              </a:ext>
            </a:extLst>
          </p:cNvPr>
          <p:cNvSpPr txBox="1"/>
          <p:nvPr/>
        </p:nvSpPr>
        <p:spPr>
          <a:xfrm>
            <a:off x="4563541" y="3924997"/>
            <a:ext cx="3338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(b) Local hidden State (LHS) model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9AC66E0-90F1-849B-D614-B8656A1AC759}"/>
              </a:ext>
            </a:extLst>
          </p:cNvPr>
          <p:cNvSpPr txBox="1"/>
          <p:nvPr/>
        </p:nvSpPr>
        <p:spPr>
          <a:xfrm>
            <a:off x="4819279" y="1465811"/>
            <a:ext cx="250317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094A4F2-5940-8D76-56A1-5BA636064829}"/>
              </a:ext>
            </a:extLst>
          </p:cNvPr>
          <p:cNvSpPr txBox="1"/>
          <p:nvPr/>
        </p:nvSpPr>
        <p:spPr>
          <a:xfrm>
            <a:off x="2157857" y="961735"/>
            <a:ext cx="15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separable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50C7386-38BD-3455-E336-69C6AB9D6CEB}"/>
              </a:ext>
            </a:extLst>
          </p:cNvPr>
          <p:cNvSpPr txBox="1"/>
          <p:nvPr/>
        </p:nvSpPr>
        <p:spPr>
          <a:xfrm>
            <a:off x="6047676" y="952510"/>
            <a:ext cx="15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LHS model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831F826-5F5B-2ABC-BBEC-D4FEA57254EA}"/>
              </a:ext>
            </a:extLst>
          </p:cNvPr>
          <p:cNvSpPr txBox="1"/>
          <p:nvPr/>
        </p:nvSpPr>
        <p:spPr>
          <a:xfrm>
            <a:off x="10378043" y="955296"/>
            <a:ext cx="159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LHV model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724880F-96DB-09F2-C952-19C87E9D670E}"/>
              </a:ext>
            </a:extLst>
          </p:cNvPr>
          <p:cNvCxnSpPr>
            <a:cxnSpLocks/>
          </p:cNvCxnSpPr>
          <p:nvPr/>
        </p:nvCxnSpPr>
        <p:spPr>
          <a:xfrm>
            <a:off x="1873330" y="1163784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31EFC03-1FF7-1520-B7C9-0973660651F5}"/>
              </a:ext>
            </a:extLst>
          </p:cNvPr>
          <p:cNvCxnSpPr>
            <a:cxnSpLocks/>
          </p:cNvCxnSpPr>
          <p:nvPr/>
        </p:nvCxnSpPr>
        <p:spPr>
          <a:xfrm>
            <a:off x="5786961" y="1133304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07EFFB0-FFB3-D9CE-EAF4-04F9F95289DA}"/>
              </a:ext>
            </a:extLst>
          </p:cNvPr>
          <p:cNvCxnSpPr>
            <a:cxnSpLocks/>
          </p:cNvCxnSpPr>
          <p:nvPr/>
        </p:nvCxnSpPr>
        <p:spPr>
          <a:xfrm>
            <a:off x="10026245" y="1133304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62FCA21-3CC2-EA09-DD8D-09A5FE9034BE}"/>
              </a:ext>
            </a:extLst>
          </p:cNvPr>
          <p:cNvSpPr/>
          <p:nvPr/>
        </p:nvSpPr>
        <p:spPr>
          <a:xfrm>
            <a:off x="9307609" y="2199573"/>
            <a:ext cx="1603217" cy="176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392ACC1-932E-9800-20EE-CF380D45574C}"/>
              </a:ext>
            </a:extLst>
          </p:cNvPr>
          <p:cNvSpPr/>
          <p:nvPr/>
        </p:nvSpPr>
        <p:spPr>
          <a:xfrm>
            <a:off x="8950406" y="1965673"/>
            <a:ext cx="632848" cy="644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36B80A4F-C569-BAC3-664A-F2A5D843FD70}"/>
              </a:ext>
            </a:extLst>
          </p:cNvPr>
          <p:cNvSpPr/>
          <p:nvPr/>
        </p:nvSpPr>
        <p:spPr>
          <a:xfrm>
            <a:off x="10524883" y="1965673"/>
            <a:ext cx="632848" cy="644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69F2C613-2A8B-95B3-35B5-935F943BBF03}"/>
                  </a:ext>
                </a:extLst>
              </p:cNvPr>
              <p:cNvSpPr txBox="1"/>
              <p:nvPr/>
            </p:nvSpPr>
            <p:spPr>
              <a:xfrm>
                <a:off x="9847149" y="1752390"/>
                <a:ext cx="717768" cy="453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69F2C613-2A8B-95B3-35B5-935F943BB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149" y="1752390"/>
                <a:ext cx="717768" cy="453595"/>
              </a:xfrm>
              <a:prstGeom prst="rect">
                <a:avLst/>
              </a:prstGeom>
              <a:blipFill>
                <a:blip r:embed="rId11"/>
                <a:stretch>
                  <a:fillRect t="-1333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550EB35-61ED-D712-A4CA-9C844677A23F}"/>
              </a:ext>
            </a:extLst>
          </p:cNvPr>
          <p:cNvCxnSpPr/>
          <p:nvPr/>
        </p:nvCxnSpPr>
        <p:spPr>
          <a:xfrm>
            <a:off x="10827244" y="1672060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D1F093BB-2773-74DF-2CD3-26D828CB263D}"/>
              </a:ext>
            </a:extLst>
          </p:cNvPr>
          <p:cNvCxnSpPr/>
          <p:nvPr/>
        </p:nvCxnSpPr>
        <p:spPr>
          <a:xfrm>
            <a:off x="10876466" y="2685120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3CF0E0F-6F91-B704-1694-E42D6F223AB6}"/>
              </a:ext>
            </a:extLst>
          </p:cNvPr>
          <p:cNvCxnSpPr/>
          <p:nvPr/>
        </p:nvCxnSpPr>
        <p:spPr>
          <a:xfrm>
            <a:off x="9231054" y="1664878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500ABA7-7A0C-761E-0383-97D125419BF3}"/>
              </a:ext>
            </a:extLst>
          </p:cNvPr>
          <p:cNvCxnSpPr/>
          <p:nvPr/>
        </p:nvCxnSpPr>
        <p:spPr>
          <a:xfrm>
            <a:off x="9287317" y="2685109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86D1575E-5B09-FBFB-6286-52B821ABBE70}"/>
              </a:ext>
            </a:extLst>
          </p:cNvPr>
          <p:cNvSpPr txBox="1"/>
          <p:nvPr/>
        </p:nvSpPr>
        <p:spPr>
          <a:xfrm>
            <a:off x="8940848" y="1495164"/>
            <a:ext cx="250317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D85D65F-097F-A284-2D4A-139B21702914}"/>
              </a:ext>
            </a:extLst>
          </p:cNvPr>
          <p:cNvSpPr txBox="1"/>
          <p:nvPr/>
        </p:nvSpPr>
        <p:spPr>
          <a:xfrm>
            <a:off x="10841785" y="1469632"/>
            <a:ext cx="305151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4241E4F-10CA-06CA-9B19-CD0F770C91F4}"/>
              </a:ext>
            </a:extLst>
          </p:cNvPr>
          <p:cNvSpPr txBox="1"/>
          <p:nvPr/>
        </p:nvSpPr>
        <p:spPr>
          <a:xfrm>
            <a:off x="10910826" y="2723647"/>
            <a:ext cx="338879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A784224-B532-28FC-B6F8-2D19975C31A1}"/>
              </a:ext>
            </a:extLst>
          </p:cNvPr>
          <p:cNvSpPr txBox="1"/>
          <p:nvPr/>
        </p:nvSpPr>
        <p:spPr>
          <a:xfrm>
            <a:off x="8968730" y="2705098"/>
            <a:ext cx="338879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cxnSp>
        <p:nvCxnSpPr>
          <p:cNvPr id="140" name="Connector: Curved 139">
            <a:extLst>
              <a:ext uri="{FF2B5EF4-FFF2-40B4-BE49-F238E27FC236}">
                <a16:creationId xmlns:a16="http://schemas.microsoft.com/office/drawing/2014/main" id="{DEF1EFC2-22C4-596B-4525-74BBB71E33D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84316" y="2029191"/>
            <a:ext cx="19758" cy="1126984"/>
          </a:xfrm>
          <a:prstGeom prst="curvedConnector3">
            <a:avLst>
              <a:gd name="adj1" fmla="val 227755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87D05C92-D118-AE40-CA01-600974C22AF0}"/>
                  </a:ext>
                </a:extLst>
              </p:cNvPr>
              <p:cNvSpPr txBox="1"/>
              <p:nvPr/>
            </p:nvSpPr>
            <p:spPr>
              <a:xfrm>
                <a:off x="9925007" y="2685109"/>
                <a:ext cx="250317" cy="414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87D05C92-D118-AE40-CA01-600974C22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007" y="2685109"/>
                <a:ext cx="250317" cy="414713"/>
              </a:xfrm>
              <a:prstGeom prst="rect">
                <a:avLst/>
              </a:prstGeom>
              <a:blipFill>
                <a:blip r:embed="rId12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TextBox 142">
            <a:extLst>
              <a:ext uri="{FF2B5EF4-FFF2-40B4-BE49-F238E27FC236}">
                <a16:creationId xmlns:a16="http://schemas.microsoft.com/office/drawing/2014/main" id="{91FB660F-473B-61A5-6831-8AE8D7B36704}"/>
              </a:ext>
            </a:extLst>
          </p:cNvPr>
          <p:cNvSpPr txBox="1"/>
          <p:nvPr/>
        </p:nvSpPr>
        <p:spPr>
          <a:xfrm>
            <a:off x="8716020" y="3916530"/>
            <a:ext cx="2975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(c) Local hidden variable (LHV)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918AA8DF-BB4B-EDC9-81AE-BF56E1A4975F}"/>
                  </a:ext>
                </a:extLst>
              </p:cNvPr>
              <p:cNvSpPr txBox="1"/>
              <p:nvPr/>
            </p:nvSpPr>
            <p:spPr>
              <a:xfrm>
                <a:off x="8669660" y="3377802"/>
                <a:ext cx="3171708" cy="437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918AA8DF-BB4B-EDC9-81AE-BF56E1A49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660" y="3377802"/>
                <a:ext cx="3171708" cy="437458"/>
              </a:xfrm>
              <a:prstGeom prst="rect">
                <a:avLst/>
              </a:prstGeom>
              <a:blipFill>
                <a:blip r:embed="rId13"/>
                <a:stretch>
                  <a:fillRect t="-208333" b="-29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8A21210-B592-7B68-A801-7D2F936F9623}"/>
              </a:ext>
            </a:extLst>
          </p:cNvPr>
          <p:cNvCxnSpPr>
            <a:cxnSpLocks/>
          </p:cNvCxnSpPr>
          <p:nvPr/>
        </p:nvCxnSpPr>
        <p:spPr>
          <a:xfrm flipH="1">
            <a:off x="8775550" y="5776991"/>
            <a:ext cx="3385254" cy="9638"/>
          </a:xfrm>
          <a:prstGeom prst="line">
            <a:avLst/>
          </a:prstGeom>
          <a:ln w="952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6F04936-116F-53EF-F222-6A590EB383F7}"/>
              </a:ext>
            </a:extLst>
          </p:cNvPr>
          <p:cNvSpPr txBox="1"/>
          <p:nvPr/>
        </p:nvSpPr>
        <p:spPr>
          <a:xfrm>
            <a:off x="8712528" y="5836871"/>
            <a:ext cx="36247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Quantum entanglement, Rev. Mod. Phys. 81, 865 (2009)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Bell nonlocality, </a:t>
            </a:r>
            <a:r>
              <a:rPr lang="da-DK" sz="1100" dirty="0"/>
              <a:t>Rev. Mod. Phys. 86, 419 (2014)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a-DK" sz="1100" dirty="0"/>
              <a:t>Quantum steering, Rev. Mod. Phys. 92, 015001 (2019)</a:t>
            </a:r>
            <a:endParaRPr lang="en-US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D5D00-1EB8-00AA-475F-306D3A91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2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A26F42-CFAE-D0FB-4A90-E50D8C74DAE1}"/>
              </a:ext>
            </a:extLst>
          </p:cNvPr>
          <p:cNvCxnSpPr>
            <a:cxnSpLocks/>
          </p:cNvCxnSpPr>
          <p:nvPr/>
        </p:nvCxnSpPr>
        <p:spPr>
          <a:xfrm>
            <a:off x="8018411" y="1094000"/>
            <a:ext cx="0" cy="2764547"/>
          </a:xfrm>
          <a:prstGeom prst="line">
            <a:avLst/>
          </a:prstGeom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74A8C3-C5BF-5933-6C0B-3EEE1A918455}"/>
              </a:ext>
            </a:extLst>
          </p:cNvPr>
          <p:cNvCxnSpPr>
            <a:cxnSpLocks/>
          </p:cNvCxnSpPr>
          <p:nvPr/>
        </p:nvCxnSpPr>
        <p:spPr>
          <a:xfrm>
            <a:off x="7906651" y="1355610"/>
            <a:ext cx="0" cy="2690788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D85364-8B10-EF9A-EADD-2A8BD9DE8611}"/>
              </a:ext>
            </a:extLst>
          </p:cNvPr>
          <p:cNvSpPr txBox="1"/>
          <p:nvPr/>
        </p:nvSpPr>
        <p:spPr>
          <a:xfrm>
            <a:off x="0" y="4372753"/>
            <a:ext cx="1207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Entanglement, steering and nonlocality are </a:t>
            </a:r>
            <a:r>
              <a:rPr lang="en-US" i="1" dirty="0">
                <a:solidFill>
                  <a:srgbClr val="00B0F0"/>
                </a:solidFill>
              </a:rPr>
              <a:t>equivalent for pure bipartite states</a:t>
            </a:r>
            <a:r>
              <a:rPr lang="en-US" dirty="0"/>
              <a:t>, but </a:t>
            </a:r>
            <a:r>
              <a:rPr lang="en-US" i="1" dirty="0">
                <a:solidFill>
                  <a:srgbClr val="EE5C1A"/>
                </a:solidFill>
              </a:rPr>
              <a:t>inequivalent for general mixed states</a:t>
            </a:r>
            <a:r>
              <a:rPr lang="en-US" dirty="0"/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A502F5-68DD-1B2F-B7AF-8EF7665371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927" y="5019976"/>
            <a:ext cx="3509087" cy="17133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A03C360-53BE-14E3-9F4A-6C56775E764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7551" y="4951612"/>
            <a:ext cx="3783304" cy="164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2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05" grpId="0"/>
      <p:bldP spid="84" grpId="0" animBg="1"/>
      <p:bldP spid="85" grpId="0" animBg="1"/>
      <p:bldP spid="86" grpId="0" animBg="1"/>
      <p:bldP spid="87" grpId="0"/>
      <p:bldP spid="89" grpId="0"/>
      <p:bldP spid="90" grpId="0"/>
      <p:bldP spid="95" grpId="0" animBg="1"/>
      <p:bldP spid="96" grpId="0" animBg="1"/>
      <p:bldP spid="97" grpId="0" animBg="1"/>
      <p:bldP spid="98" grpId="0"/>
      <p:bldP spid="101" grpId="0"/>
      <p:bldP spid="102" grpId="0"/>
      <p:bldP spid="104" grpId="0"/>
      <p:bldP spid="106" grpId="0" animBg="1"/>
      <p:bldP spid="107" grpId="0" animBg="1"/>
      <p:bldP spid="108" grpId="0"/>
      <p:bldP spid="109" grpId="0"/>
      <p:bldP spid="128" grpId="0" animBg="1"/>
      <p:bldP spid="129" grpId="0" animBg="1"/>
      <p:bldP spid="130" grpId="0" animBg="1"/>
      <p:bldP spid="131" grpId="0"/>
      <p:bldP spid="136" grpId="0"/>
      <p:bldP spid="137" grpId="0"/>
      <p:bldP spid="138" grpId="0"/>
      <p:bldP spid="139" grpId="0"/>
      <p:bldP spid="141" grpId="0"/>
      <p:bldP spid="143" grpId="0"/>
      <p:bldP spid="144" grpId="0"/>
      <p:bldP spid="149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58843-C889-F974-0D4A-C73F03A7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B0D86-D26E-91E0-A878-EB9355E71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83" y="1819576"/>
            <a:ext cx="5046975" cy="2464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CD7924-CA42-B9CB-B539-A46BC51B4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9576"/>
            <a:ext cx="5347965" cy="2328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48BD16-0AF6-AB13-C466-5D7FB5B45ED6}"/>
              </a:ext>
            </a:extLst>
          </p:cNvPr>
          <p:cNvSpPr txBox="1"/>
          <p:nvPr/>
        </p:nvSpPr>
        <p:spPr>
          <a:xfrm>
            <a:off x="697483" y="1690368"/>
            <a:ext cx="834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72D0B-291D-7112-1064-A320F5F3C5AF}"/>
              </a:ext>
            </a:extLst>
          </p:cNvPr>
          <p:cNvSpPr txBox="1"/>
          <p:nvPr/>
        </p:nvSpPr>
        <p:spPr>
          <a:xfrm>
            <a:off x="6157379" y="1690368"/>
            <a:ext cx="834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80870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247C-39FC-14AD-6EBA-8710C8BF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F3C5D31-ADBB-BDC4-5014-CBEDAD5F4D5A}"/>
                  </a:ext>
                </a:extLst>
              </p:cNvPr>
              <p:cNvSpPr txBox="1"/>
              <p:nvPr/>
            </p:nvSpPr>
            <p:spPr>
              <a:xfrm>
                <a:off x="8804073" y="3138982"/>
                <a:ext cx="2873638" cy="327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F3C5D31-ADBB-BDC4-5014-CBEDAD5F4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073" y="3138982"/>
                <a:ext cx="2873638" cy="327077"/>
              </a:xfrm>
              <a:prstGeom prst="rect">
                <a:avLst/>
              </a:prstGeom>
              <a:blipFill>
                <a:blip r:embed="rId3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4439737-AB5B-D2F8-051C-F7AFC0D9DA32}"/>
                  </a:ext>
                </a:extLst>
              </p:cNvPr>
              <p:cNvSpPr txBox="1"/>
              <p:nvPr/>
            </p:nvSpPr>
            <p:spPr>
              <a:xfrm>
                <a:off x="4515802" y="3137531"/>
                <a:ext cx="2963190" cy="346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4439737-AB5B-D2F8-051C-F7AFC0D9D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802" y="3137531"/>
                <a:ext cx="2963190" cy="346954"/>
              </a:xfrm>
              <a:prstGeom prst="rect">
                <a:avLst/>
              </a:prstGeom>
              <a:blipFill>
                <a:blip r:embed="rId4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CCD6D57-16D1-A91D-02CC-BA8C929E3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08B269-2E45-BFEC-9639-B1400904B7C3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Brief introduction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4E70F8-A98A-3416-11FF-019A0DB7EFC0}"/>
              </a:ext>
            </a:extLst>
          </p:cNvPr>
          <p:cNvCxnSpPr>
            <a:cxnSpLocks/>
          </p:cNvCxnSpPr>
          <p:nvPr/>
        </p:nvCxnSpPr>
        <p:spPr>
          <a:xfrm>
            <a:off x="3987367" y="1121653"/>
            <a:ext cx="0" cy="2764547"/>
          </a:xfrm>
          <a:prstGeom prst="line">
            <a:avLst/>
          </a:prstGeom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F6B0587-001D-51FA-3F99-2936267D7710}"/>
              </a:ext>
            </a:extLst>
          </p:cNvPr>
          <p:cNvSpPr/>
          <p:nvPr/>
        </p:nvSpPr>
        <p:spPr>
          <a:xfrm>
            <a:off x="8514679" y="893945"/>
            <a:ext cx="1382159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Nonlocal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3F44E1-46A3-08D6-C7DA-D3C6E27B8665}"/>
              </a:ext>
            </a:extLst>
          </p:cNvPr>
          <p:cNvSpPr/>
          <p:nvPr/>
        </p:nvSpPr>
        <p:spPr>
          <a:xfrm>
            <a:off x="4316896" y="893946"/>
            <a:ext cx="1382159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Steerable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84EB80-2465-4946-ECEB-78B7E24BFFE2}"/>
              </a:ext>
            </a:extLst>
          </p:cNvPr>
          <p:cNvSpPr/>
          <p:nvPr/>
        </p:nvSpPr>
        <p:spPr>
          <a:xfrm>
            <a:off x="308012" y="893945"/>
            <a:ext cx="1492884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Entangled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D83A7C-0EA9-3267-6159-139418A611F1}"/>
              </a:ext>
            </a:extLst>
          </p:cNvPr>
          <p:cNvCxnSpPr>
            <a:cxnSpLocks/>
          </p:cNvCxnSpPr>
          <p:nvPr/>
        </p:nvCxnSpPr>
        <p:spPr>
          <a:xfrm>
            <a:off x="3875607" y="1383263"/>
            <a:ext cx="0" cy="2690788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186EB3CA-2F13-D882-A07B-06838E1B17F9}"/>
              </a:ext>
            </a:extLst>
          </p:cNvPr>
          <p:cNvSpPr/>
          <p:nvPr/>
        </p:nvSpPr>
        <p:spPr>
          <a:xfrm>
            <a:off x="1266254" y="2180674"/>
            <a:ext cx="1603217" cy="17651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4FBEAAF-B5BF-6D2B-6C82-2FE7FE884BB9}"/>
              </a:ext>
            </a:extLst>
          </p:cNvPr>
          <p:cNvSpPr/>
          <p:nvPr/>
        </p:nvSpPr>
        <p:spPr>
          <a:xfrm>
            <a:off x="909051" y="1946774"/>
            <a:ext cx="632848" cy="644310"/>
          </a:xfrm>
          <a:prstGeom prst="ellipse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7B6AFAE-B64D-DA21-A205-4CE49700BF84}"/>
              </a:ext>
            </a:extLst>
          </p:cNvPr>
          <p:cNvSpPr/>
          <p:nvPr/>
        </p:nvSpPr>
        <p:spPr>
          <a:xfrm>
            <a:off x="2483528" y="1946774"/>
            <a:ext cx="632848" cy="644310"/>
          </a:xfrm>
          <a:prstGeom prst="ellipse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B979B67-02D7-AAF3-C318-3A0E16A445AB}"/>
                  </a:ext>
                </a:extLst>
              </p:cNvPr>
              <p:cNvSpPr txBox="1"/>
              <p:nvPr/>
            </p:nvSpPr>
            <p:spPr>
              <a:xfrm>
                <a:off x="1748418" y="1738409"/>
                <a:ext cx="717768" cy="453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B979B67-02D7-AAF3-C318-3A0E16A44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418" y="1738409"/>
                <a:ext cx="717768" cy="453595"/>
              </a:xfrm>
              <a:prstGeom prst="rect">
                <a:avLst/>
              </a:prstGeom>
              <a:blipFill>
                <a:blip r:embed="rId6"/>
                <a:stretch>
                  <a:fillRect t="-1333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5BAD253A-6501-5AF4-C011-CFBC07A741C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81514" y="1992735"/>
            <a:ext cx="19758" cy="1126984"/>
          </a:xfrm>
          <a:prstGeom prst="curvedConnector3">
            <a:avLst>
              <a:gd name="adj1" fmla="val 2277559"/>
            </a:avLst>
          </a:prstGeom>
          <a:ln w="38100" cap="flat" cmpd="sng" algn="ctr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1720D8B-9C2D-8E69-D827-5BF66E2D4E19}"/>
                  </a:ext>
                </a:extLst>
              </p:cNvPr>
              <p:cNvSpPr txBox="1"/>
              <p:nvPr/>
            </p:nvSpPr>
            <p:spPr>
              <a:xfrm>
                <a:off x="1008491" y="3235751"/>
                <a:ext cx="2053447" cy="440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1720D8B-9C2D-8E69-D827-5BF66E2D4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91" y="3235751"/>
                <a:ext cx="2053447" cy="440505"/>
              </a:xfrm>
              <a:prstGeom prst="rect">
                <a:avLst/>
              </a:prstGeom>
              <a:blipFill>
                <a:blip r:embed="rId7"/>
                <a:stretch>
                  <a:fillRect l="-18398" t="-209722" r="-1780" b="-29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8EDFB166-C726-DB45-57C1-2B9665E2A98B}"/>
              </a:ext>
            </a:extLst>
          </p:cNvPr>
          <p:cNvSpPr txBox="1"/>
          <p:nvPr/>
        </p:nvSpPr>
        <p:spPr>
          <a:xfrm>
            <a:off x="1091978" y="3898526"/>
            <a:ext cx="2081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(a) separable model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96E6C4E-22AF-3C8F-880E-6158FF996BE3}"/>
              </a:ext>
            </a:extLst>
          </p:cNvPr>
          <p:cNvSpPr/>
          <p:nvPr/>
        </p:nvSpPr>
        <p:spPr>
          <a:xfrm>
            <a:off x="5156673" y="2180861"/>
            <a:ext cx="1603217" cy="176510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C876386-3285-D096-2D5E-402516909961}"/>
              </a:ext>
            </a:extLst>
          </p:cNvPr>
          <p:cNvSpPr/>
          <p:nvPr/>
        </p:nvSpPr>
        <p:spPr>
          <a:xfrm>
            <a:off x="4799471" y="1946961"/>
            <a:ext cx="632848" cy="644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546EB3E-E7AD-C035-4521-2C71B8E4ABB1}"/>
              </a:ext>
            </a:extLst>
          </p:cNvPr>
          <p:cNvSpPr/>
          <p:nvPr/>
        </p:nvSpPr>
        <p:spPr>
          <a:xfrm>
            <a:off x="6373947" y="1946961"/>
            <a:ext cx="632848" cy="644310"/>
          </a:xfrm>
          <a:prstGeom prst="ellipse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A83D676-24A9-D9E3-DDBA-093051516CA8}"/>
                  </a:ext>
                </a:extLst>
              </p:cNvPr>
              <p:cNvSpPr txBox="1"/>
              <p:nvPr/>
            </p:nvSpPr>
            <p:spPr>
              <a:xfrm>
                <a:off x="5686239" y="1736145"/>
                <a:ext cx="717768" cy="453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A83D676-24A9-D9E3-DDBA-093051516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239" y="1736145"/>
                <a:ext cx="717768" cy="453595"/>
              </a:xfrm>
              <a:prstGeom prst="rect">
                <a:avLst/>
              </a:prstGeom>
              <a:blipFill>
                <a:blip r:embed="rId8"/>
                <a:stretch>
                  <a:fillRect t="-2703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019A05F-02B8-C926-6F79-EED53B4B291D}"/>
              </a:ext>
            </a:extLst>
          </p:cNvPr>
          <p:cNvCxnSpPr/>
          <p:nvPr/>
        </p:nvCxnSpPr>
        <p:spPr>
          <a:xfrm>
            <a:off x="5094181" y="1646166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E911829-3848-1B2D-FC97-45361AA07581}"/>
              </a:ext>
            </a:extLst>
          </p:cNvPr>
          <p:cNvCxnSpPr/>
          <p:nvPr/>
        </p:nvCxnSpPr>
        <p:spPr>
          <a:xfrm>
            <a:off x="5136381" y="2666397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B6C7F78-60F2-E8D9-F35A-99DBA7F453CE}"/>
                  </a:ext>
                </a:extLst>
              </p:cNvPr>
              <p:cNvSpPr txBox="1"/>
              <p:nvPr/>
            </p:nvSpPr>
            <p:spPr>
              <a:xfrm>
                <a:off x="5766641" y="2652292"/>
                <a:ext cx="250317" cy="414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B6C7F78-60F2-E8D9-F35A-99DBA7F45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641" y="2652292"/>
                <a:ext cx="250317" cy="414713"/>
              </a:xfrm>
              <a:prstGeom prst="rect">
                <a:avLst/>
              </a:prstGeom>
              <a:blipFill>
                <a:blip r:embed="rId9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BEAE3019-81B6-620A-2067-3B584CC93658}"/>
              </a:ext>
            </a:extLst>
          </p:cNvPr>
          <p:cNvSpPr txBox="1"/>
          <p:nvPr/>
        </p:nvSpPr>
        <p:spPr>
          <a:xfrm>
            <a:off x="4819279" y="2672367"/>
            <a:ext cx="338879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BD58156D-A603-8914-2711-7630D789E7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17616" y="2012565"/>
            <a:ext cx="19758" cy="1126984"/>
          </a:xfrm>
          <a:prstGeom prst="curvedConnector3">
            <a:avLst>
              <a:gd name="adj1" fmla="val 227755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2C33C7A-C29E-B919-40F4-BA0352E4DD1D}"/>
                  </a:ext>
                </a:extLst>
              </p:cNvPr>
              <p:cNvSpPr txBox="1"/>
              <p:nvPr/>
            </p:nvSpPr>
            <p:spPr>
              <a:xfrm>
                <a:off x="4634839" y="3409307"/>
                <a:ext cx="2723555" cy="440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2C33C7A-C29E-B919-40F4-BA0352E4D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839" y="3409307"/>
                <a:ext cx="2723555" cy="440505"/>
              </a:xfrm>
              <a:prstGeom prst="rect">
                <a:avLst/>
              </a:prstGeom>
              <a:blipFill>
                <a:blip r:embed="rId10"/>
                <a:stretch>
                  <a:fillRect l="-671" t="-205479" b="-290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600A4279-8C6C-85BB-D016-4D795932F16F}"/>
              </a:ext>
            </a:extLst>
          </p:cNvPr>
          <p:cNvSpPr/>
          <p:nvPr/>
        </p:nvSpPr>
        <p:spPr>
          <a:xfrm>
            <a:off x="3589545" y="2220380"/>
            <a:ext cx="632848" cy="172471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7E29744A-C085-6111-E93D-615B45A38C01}"/>
              </a:ext>
            </a:extLst>
          </p:cNvPr>
          <p:cNvSpPr/>
          <p:nvPr/>
        </p:nvSpPr>
        <p:spPr>
          <a:xfrm>
            <a:off x="7672634" y="2217035"/>
            <a:ext cx="632848" cy="172471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31649AD-09D1-1A70-CE2F-AC1C703FCD7C}"/>
              </a:ext>
            </a:extLst>
          </p:cNvPr>
          <p:cNvSpPr txBox="1"/>
          <p:nvPr/>
        </p:nvSpPr>
        <p:spPr>
          <a:xfrm>
            <a:off x="4563541" y="3924997"/>
            <a:ext cx="3338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(b) Local hidden State (LHS) model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FFAAC44-72EA-DD01-4527-B96F23E0D3BC}"/>
              </a:ext>
            </a:extLst>
          </p:cNvPr>
          <p:cNvSpPr txBox="1"/>
          <p:nvPr/>
        </p:nvSpPr>
        <p:spPr>
          <a:xfrm>
            <a:off x="4819279" y="1465811"/>
            <a:ext cx="250317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20943E6-6BB4-F676-6536-9DD47EF3876A}"/>
              </a:ext>
            </a:extLst>
          </p:cNvPr>
          <p:cNvSpPr txBox="1"/>
          <p:nvPr/>
        </p:nvSpPr>
        <p:spPr>
          <a:xfrm>
            <a:off x="2157857" y="961735"/>
            <a:ext cx="15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separable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495CC34-3314-7A82-F8D9-41D6FBFAE871}"/>
              </a:ext>
            </a:extLst>
          </p:cNvPr>
          <p:cNvSpPr txBox="1"/>
          <p:nvPr/>
        </p:nvSpPr>
        <p:spPr>
          <a:xfrm>
            <a:off x="6047676" y="952510"/>
            <a:ext cx="15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LHS model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EA62969-5E6F-A246-09FD-5C9EF09B9844}"/>
              </a:ext>
            </a:extLst>
          </p:cNvPr>
          <p:cNvSpPr txBox="1"/>
          <p:nvPr/>
        </p:nvSpPr>
        <p:spPr>
          <a:xfrm>
            <a:off x="10378043" y="955296"/>
            <a:ext cx="159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LHV model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22EC7E4-50C5-CC58-8D8A-53E16F011AE9}"/>
              </a:ext>
            </a:extLst>
          </p:cNvPr>
          <p:cNvCxnSpPr>
            <a:cxnSpLocks/>
          </p:cNvCxnSpPr>
          <p:nvPr/>
        </p:nvCxnSpPr>
        <p:spPr>
          <a:xfrm>
            <a:off x="1873330" y="1163784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468318E-8FF5-288F-B53A-49E2115B9BB9}"/>
              </a:ext>
            </a:extLst>
          </p:cNvPr>
          <p:cNvCxnSpPr>
            <a:cxnSpLocks/>
          </p:cNvCxnSpPr>
          <p:nvPr/>
        </p:nvCxnSpPr>
        <p:spPr>
          <a:xfrm>
            <a:off x="5786961" y="1133304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CF9959A-08D2-7DFE-E63F-D6B216D98A06}"/>
              </a:ext>
            </a:extLst>
          </p:cNvPr>
          <p:cNvCxnSpPr>
            <a:cxnSpLocks/>
          </p:cNvCxnSpPr>
          <p:nvPr/>
        </p:nvCxnSpPr>
        <p:spPr>
          <a:xfrm>
            <a:off x="10026245" y="1133304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A3D2CF1-CE9C-1712-85F4-2F5ECB6ABCC0}"/>
              </a:ext>
            </a:extLst>
          </p:cNvPr>
          <p:cNvSpPr/>
          <p:nvPr/>
        </p:nvSpPr>
        <p:spPr>
          <a:xfrm>
            <a:off x="9307609" y="2199573"/>
            <a:ext cx="1603217" cy="176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EFD2902-52C6-2C42-00E6-69C6A5B8A5D8}"/>
              </a:ext>
            </a:extLst>
          </p:cNvPr>
          <p:cNvSpPr/>
          <p:nvPr/>
        </p:nvSpPr>
        <p:spPr>
          <a:xfrm>
            <a:off x="8950406" y="1965673"/>
            <a:ext cx="632848" cy="644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D531C80-3630-C69B-2A2A-4A6C10B35B01}"/>
              </a:ext>
            </a:extLst>
          </p:cNvPr>
          <p:cNvSpPr/>
          <p:nvPr/>
        </p:nvSpPr>
        <p:spPr>
          <a:xfrm>
            <a:off x="10524883" y="1965673"/>
            <a:ext cx="632848" cy="644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49E87CA-75A3-C185-3E1F-0DE509AE20D5}"/>
                  </a:ext>
                </a:extLst>
              </p:cNvPr>
              <p:cNvSpPr txBox="1"/>
              <p:nvPr/>
            </p:nvSpPr>
            <p:spPr>
              <a:xfrm>
                <a:off x="9847149" y="1752390"/>
                <a:ext cx="717768" cy="453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49E87CA-75A3-C185-3E1F-0DE509AE2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149" y="1752390"/>
                <a:ext cx="717768" cy="453595"/>
              </a:xfrm>
              <a:prstGeom prst="rect">
                <a:avLst/>
              </a:prstGeom>
              <a:blipFill>
                <a:blip r:embed="rId11"/>
                <a:stretch>
                  <a:fillRect t="-1333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73DF1A2-CD91-4844-2EBA-A087C9EC6B1F}"/>
              </a:ext>
            </a:extLst>
          </p:cNvPr>
          <p:cNvCxnSpPr/>
          <p:nvPr/>
        </p:nvCxnSpPr>
        <p:spPr>
          <a:xfrm>
            <a:off x="10827244" y="1672060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54D9E34-5FB1-B88F-CD08-6301C37080D3}"/>
              </a:ext>
            </a:extLst>
          </p:cNvPr>
          <p:cNvCxnSpPr/>
          <p:nvPr/>
        </p:nvCxnSpPr>
        <p:spPr>
          <a:xfrm>
            <a:off x="10876466" y="2685120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2C50A74-F1FD-2BA7-A290-CBC8FD2AB65A}"/>
              </a:ext>
            </a:extLst>
          </p:cNvPr>
          <p:cNvCxnSpPr/>
          <p:nvPr/>
        </p:nvCxnSpPr>
        <p:spPr>
          <a:xfrm>
            <a:off x="9231054" y="1664878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D257249-E272-D0A6-B880-8986148771EE}"/>
              </a:ext>
            </a:extLst>
          </p:cNvPr>
          <p:cNvCxnSpPr/>
          <p:nvPr/>
        </p:nvCxnSpPr>
        <p:spPr>
          <a:xfrm>
            <a:off x="9287317" y="2685109"/>
            <a:ext cx="0" cy="273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15D97C7-9D73-B2F5-9C5F-41AC4F55D8BA}"/>
              </a:ext>
            </a:extLst>
          </p:cNvPr>
          <p:cNvSpPr txBox="1"/>
          <p:nvPr/>
        </p:nvSpPr>
        <p:spPr>
          <a:xfrm>
            <a:off x="8940848" y="1495164"/>
            <a:ext cx="250317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52E3BA4-BBE4-C342-524D-B624C6755014}"/>
              </a:ext>
            </a:extLst>
          </p:cNvPr>
          <p:cNvSpPr txBox="1"/>
          <p:nvPr/>
        </p:nvSpPr>
        <p:spPr>
          <a:xfrm>
            <a:off x="10841785" y="1469632"/>
            <a:ext cx="305151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C8E2C84-6F3F-0F6B-7195-DA4BD7E36430}"/>
              </a:ext>
            </a:extLst>
          </p:cNvPr>
          <p:cNvSpPr txBox="1"/>
          <p:nvPr/>
        </p:nvSpPr>
        <p:spPr>
          <a:xfrm>
            <a:off x="10910826" y="2723647"/>
            <a:ext cx="338879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54C885F-D907-7A19-9D24-1F356E02F62D}"/>
              </a:ext>
            </a:extLst>
          </p:cNvPr>
          <p:cNvSpPr txBox="1"/>
          <p:nvPr/>
        </p:nvSpPr>
        <p:spPr>
          <a:xfrm>
            <a:off x="8968730" y="2705098"/>
            <a:ext cx="338879" cy="414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cxnSp>
        <p:nvCxnSpPr>
          <p:cNvPr id="140" name="Connector: Curved 139">
            <a:extLst>
              <a:ext uri="{FF2B5EF4-FFF2-40B4-BE49-F238E27FC236}">
                <a16:creationId xmlns:a16="http://schemas.microsoft.com/office/drawing/2014/main" id="{E4499FA7-8795-DC6B-EF02-31EE523A76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84316" y="2029191"/>
            <a:ext cx="19758" cy="1126984"/>
          </a:xfrm>
          <a:prstGeom prst="curvedConnector3">
            <a:avLst>
              <a:gd name="adj1" fmla="val 227755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81E6CAA-548C-2528-916A-EA3896D7CE01}"/>
                  </a:ext>
                </a:extLst>
              </p:cNvPr>
              <p:cNvSpPr txBox="1"/>
              <p:nvPr/>
            </p:nvSpPr>
            <p:spPr>
              <a:xfrm>
                <a:off x="9925007" y="2685109"/>
                <a:ext cx="250317" cy="414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81E6CAA-548C-2528-916A-EA3896D7C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007" y="2685109"/>
                <a:ext cx="250317" cy="414713"/>
              </a:xfrm>
              <a:prstGeom prst="rect">
                <a:avLst/>
              </a:prstGeom>
              <a:blipFill>
                <a:blip r:embed="rId12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TextBox 142">
            <a:extLst>
              <a:ext uri="{FF2B5EF4-FFF2-40B4-BE49-F238E27FC236}">
                <a16:creationId xmlns:a16="http://schemas.microsoft.com/office/drawing/2014/main" id="{6AB67205-B375-E2B2-A19D-CFF93FA46A68}"/>
              </a:ext>
            </a:extLst>
          </p:cNvPr>
          <p:cNvSpPr txBox="1"/>
          <p:nvPr/>
        </p:nvSpPr>
        <p:spPr>
          <a:xfrm>
            <a:off x="8716020" y="3916530"/>
            <a:ext cx="2975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(c) Local hidden variable (LHV)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8E49C412-65B3-D668-F26B-CD46F574D3C9}"/>
                  </a:ext>
                </a:extLst>
              </p:cNvPr>
              <p:cNvSpPr txBox="1"/>
              <p:nvPr/>
            </p:nvSpPr>
            <p:spPr>
              <a:xfrm>
                <a:off x="8669660" y="3377802"/>
                <a:ext cx="3171708" cy="437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8E49C412-65B3-D668-F26B-CD46F574D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660" y="3377802"/>
                <a:ext cx="3171708" cy="437458"/>
              </a:xfrm>
              <a:prstGeom prst="rect">
                <a:avLst/>
              </a:prstGeom>
              <a:blipFill>
                <a:blip r:embed="rId13"/>
                <a:stretch>
                  <a:fillRect t="-208333" b="-29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97D73E8-A151-3F3E-738B-70E5867C5B8F}"/>
              </a:ext>
            </a:extLst>
          </p:cNvPr>
          <p:cNvCxnSpPr>
            <a:cxnSpLocks/>
          </p:cNvCxnSpPr>
          <p:nvPr/>
        </p:nvCxnSpPr>
        <p:spPr>
          <a:xfrm flipH="1">
            <a:off x="8775550" y="5776991"/>
            <a:ext cx="3385254" cy="9638"/>
          </a:xfrm>
          <a:prstGeom prst="line">
            <a:avLst/>
          </a:prstGeom>
          <a:ln w="952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07544C9B-6D1C-A2D7-E3EE-90EF5EA4EB6D}"/>
              </a:ext>
            </a:extLst>
          </p:cNvPr>
          <p:cNvSpPr txBox="1"/>
          <p:nvPr/>
        </p:nvSpPr>
        <p:spPr>
          <a:xfrm>
            <a:off x="8712528" y="5836871"/>
            <a:ext cx="36247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Quantum entanglement, Rev. Mod. Phys. 81, 865 (2009)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Bell nonlocality, </a:t>
            </a:r>
            <a:r>
              <a:rPr lang="da-DK" sz="1100" dirty="0"/>
              <a:t>Rev. Mod. Phys. 86, 419 (2014)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a-DK" sz="1100" dirty="0"/>
              <a:t>Quantum steering, Rev. Mod. Phys. 92, 015001 (2019)</a:t>
            </a:r>
            <a:endParaRPr lang="en-US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58C51C-E0B4-6D74-2B72-36A6C284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4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866265-2A5A-6E72-9750-F4C2D2DDDB2C}"/>
              </a:ext>
            </a:extLst>
          </p:cNvPr>
          <p:cNvCxnSpPr>
            <a:cxnSpLocks/>
          </p:cNvCxnSpPr>
          <p:nvPr/>
        </p:nvCxnSpPr>
        <p:spPr>
          <a:xfrm>
            <a:off x="8018411" y="1094000"/>
            <a:ext cx="0" cy="2764547"/>
          </a:xfrm>
          <a:prstGeom prst="line">
            <a:avLst/>
          </a:prstGeom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1DB076-1A4A-00AA-1901-D47412AF93DC}"/>
              </a:ext>
            </a:extLst>
          </p:cNvPr>
          <p:cNvCxnSpPr>
            <a:cxnSpLocks/>
          </p:cNvCxnSpPr>
          <p:nvPr/>
        </p:nvCxnSpPr>
        <p:spPr>
          <a:xfrm>
            <a:off x="7906651" y="1355610"/>
            <a:ext cx="0" cy="2690788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2FAF35-845F-EBAE-B64A-8B5DC3B74A36}"/>
              </a:ext>
            </a:extLst>
          </p:cNvPr>
          <p:cNvSpPr txBox="1"/>
          <p:nvPr/>
        </p:nvSpPr>
        <p:spPr>
          <a:xfrm>
            <a:off x="0" y="4372753"/>
            <a:ext cx="1207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Entanglement, steering and nonlocality are </a:t>
            </a:r>
            <a:r>
              <a:rPr lang="en-US" i="1" dirty="0">
                <a:solidFill>
                  <a:srgbClr val="00B0F0"/>
                </a:solidFill>
              </a:rPr>
              <a:t>equivalent for pure bipartite states</a:t>
            </a:r>
            <a:r>
              <a:rPr lang="en-US" dirty="0"/>
              <a:t>, but </a:t>
            </a:r>
            <a:r>
              <a:rPr lang="en-US" i="1" dirty="0">
                <a:solidFill>
                  <a:srgbClr val="EE5C1A"/>
                </a:solidFill>
              </a:rPr>
              <a:t>inequivalent for general mixed states</a:t>
            </a:r>
            <a:r>
              <a:rPr lang="en-US" dirty="0"/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EA39E6-DAEF-A931-61F5-CD52BAC17C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927" y="5019976"/>
            <a:ext cx="3509087" cy="17133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DF2936-2183-274B-9D9B-5E34E6E884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7551" y="4951612"/>
            <a:ext cx="3783304" cy="164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05" grpId="0"/>
      <p:bldP spid="84" grpId="0" animBg="1"/>
      <p:bldP spid="85" grpId="0" animBg="1"/>
      <p:bldP spid="86" grpId="0" animBg="1"/>
      <p:bldP spid="87" grpId="0"/>
      <p:bldP spid="89" grpId="0"/>
      <p:bldP spid="90" grpId="0"/>
      <p:bldP spid="95" grpId="0" animBg="1"/>
      <p:bldP spid="96" grpId="0" animBg="1"/>
      <p:bldP spid="97" grpId="0" animBg="1"/>
      <p:bldP spid="98" grpId="0"/>
      <p:bldP spid="101" grpId="0"/>
      <p:bldP spid="102" grpId="0"/>
      <p:bldP spid="104" grpId="0"/>
      <p:bldP spid="106" grpId="0" animBg="1"/>
      <p:bldP spid="107" grpId="0" animBg="1"/>
      <p:bldP spid="108" grpId="0"/>
      <p:bldP spid="109" grpId="0"/>
      <p:bldP spid="128" grpId="0" animBg="1"/>
      <p:bldP spid="129" grpId="0" animBg="1"/>
      <p:bldP spid="130" grpId="0" animBg="1"/>
      <p:bldP spid="131" grpId="0"/>
      <p:bldP spid="136" grpId="0"/>
      <p:bldP spid="137" grpId="0"/>
      <p:bldP spid="138" grpId="0"/>
      <p:bldP spid="139" grpId="0"/>
      <p:bldP spid="141" grpId="0"/>
      <p:bldP spid="143" grpId="0"/>
      <p:bldP spid="144" grpId="0"/>
      <p:bldP spid="149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DA33F23-B5D8-6904-93C2-43120EDEDF54}"/>
              </a:ext>
            </a:extLst>
          </p:cNvPr>
          <p:cNvSpPr txBox="1"/>
          <p:nvPr/>
        </p:nvSpPr>
        <p:spPr>
          <a:xfrm>
            <a:off x="8011412" y="2580026"/>
            <a:ext cx="31713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dirty="0"/>
              <a:t>Entangled/separable</a:t>
            </a:r>
            <a:r>
              <a:rPr lang="en-US" dirty="0"/>
              <a:t> bound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dirty="0"/>
              <a:t>Nonlocal/LHV </a:t>
            </a:r>
            <a:r>
              <a:rPr lang="en-US" dirty="0"/>
              <a:t>bound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dirty="0"/>
              <a:t>Steerable/LHS </a:t>
            </a:r>
            <a:r>
              <a:rPr lang="en-US" dirty="0"/>
              <a:t>bound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 PVMs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 POVMs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Qubit Werner States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CA16628-6927-E9A7-B0FA-7BC3D9FD66C3}"/>
              </a:ext>
            </a:extLst>
          </p:cNvPr>
          <p:cNvSpPr txBox="1">
            <a:spLocks/>
          </p:cNvSpPr>
          <p:nvPr/>
        </p:nvSpPr>
        <p:spPr>
          <a:xfrm>
            <a:off x="585833" y="1026458"/>
            <a:ext cx="11121885" cy="492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1FCF1-6382-4E5C-DD81-7C57A7DA2D9D}"/>
              </a:ext>
            </a:extLst>
          </p:cNvPr>
          <p:cNvSpPr/>
          <p:nvPr/>
        </p:nvSpPr>
        <p:spPr>
          <a:xfrm>
            <a:off x="725557" y="819368"/>
            <a:ext cx="10593453" cy="1236217"/>
          </a:xfrm>
          <a:prstGeom prst="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6D8DDA-6B25-BF2A-CD27-F03CD8873D74}"/>
                  </a:ext>
                </a:extLst>
              </p:cNvPr>
              <p:cNvSpPr txBox="1"/>
              <p:nvPr/>
            </p:nvSpPr>
            <p:spPr>
              <a:xfrm>
                <a:off x="766197" y="829527"/>
                <a:ext cx="10416593" cy="1235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900" b="1" i="1" u="sng" dirty="0"/>
                  <a:t>Qubit </a:t>
                </a:r>
                <a:r>
                  <a:rPr lang="en-US" sz="1900" b="1" i="1" u="sng" dirty="0">
                    <a:solidFill>
                      <a:schemeClr val="tx1"/>
                    </a:solidFill>
                  </a:rPr>
                  <a:t>Werner states:</a:t>
                </a:r>
                <a:r>
                  <a:rPr lang="en-US" sz="1900" dirty="0"/>
                  <a:t>  which can be parametrized by one single parameter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r>
                  <a:rPr lang="en-US" sz="1900" b="0" dirty="0"/>
                  <a:t>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9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⟩⟨</m:t>
                    </m:r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9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|+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𝕀</m:t>
                        </m:r>
                      </m:num>
                      <m:den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r>
                  <a:rPr lang="en-US" sz="1900" dirty="0">
                    <a:solidFill>
                      <a:schemeClr val="tx1"/>
                    </a:solidFill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>
                    <a:solidFill>
                      <a:schemeClr val="tx1"/>
                    </a:solidFill>
                  </a:rPr>
                  <a:t>is identity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9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p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(01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−|10⟩)</m:t>
                    </m:r>
                  </m:oMath>
                </a14:m>
                <a:r>
                  <a:rPr lang="en-US" sz="1900" dirty="0">
                    <a:solidFill>
                      <a:schemeClr val="tx1"/>
                    </a:solidFill>
                  </a:rPr>
                  <a:t>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6D8DDA-6B25-BF2A-CD27-F03CD887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97" y="829527"/>
                <a:ext cx="10416593" cy="1235082"/>
              </a:xfrm>
              <a:prstGeom prst="rect">
                <a:avLst/>
              </a:prstGeom>
              <a:blipFill>
                <a:blip r:embed="rId4"/>
                <a:stretch>
                  <a:fillRect l="-585" t="-2463" b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38516B-AFED-645B-E2C7-D930B66D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8DFCD-81CC-D46F-8245-1E8CE2AF1F09}"/>
              </a:ext>
            </a:extLst>
          </p:cNvPr>
          <p:cNvSpPr txBox="1"/>
          <p:nvPr/>
        </p:nvSpPr>
        <p:spPr>
          <a:xfrm>
            <a:off x="7562071" y="1503330"/>
            <a:ext cx="365718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/>
              <a:t>*Many other models were adapted from the original Qubit Werner state model</a:t>
            </a:r>
            <a:r>
              <a:rPr lang="en-US" sz="1600" i="1" dirty="0"/>
              <a:t>.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E4EA6-1485-C06C-CB01-3BA8FAF9FC30}"/>
              </a:ext>
            </a:extLst>
          </p:cNvPr>
          <p:cNvSpPr/>
          <p:nvPr/>
        </p:nvSpPr>
        <p:spPr>
          <a:xfrm>
            <a:off x="5424870" y="2402351"/>
            <a:ext cx="229264" cy="1853666"/>
          </a:xfrm>
          <a:prstGeom prst="rect">
            <a:avLst/>
          </a:pr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3F7D1A-6CDD-6A1B-5162-BFD48983266D}"/>
              </a:ext>
            </a:extLst>
          </p:cNvPr>
          <p:cNvSpPr/>
          <p:nvPr/>
        </p:nvSpPr>
        <p:spPr>
          <a:xfrm>
            <a:off x="332009" y="3639792"/>
            <a:ext cx="1359892" cy="606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06541C-873C-2CF8-0AF8-8F6FF7920B59}"/>
              </a:ext>
            </a:extLst>
          </p:cNvPr>
          <p:cNvCxnSpPr>
            <a:cxnSpLocks/>
          </p:cNvCxnSpPr>
          <p:nvPr/>
        </p:nvCxnSpPr>
        <p:spPr>
          <a:xfrm>
            <a:off x="270799" y="4245805"/>
            <a:ext cx="7383399" cy="4781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57606-4C1D-3FB4-EFB0-0516961E7FC3}"/>
                  </a:ext>
                </a:extLst>
              </p:cNvPr>
              <p:cNvSpPr txBox="1"/>
              <p:nvPr/>
            </p:nvSpPr>
            <p:spPr>
              <a:xfrm>
                <a:off x="6872179" y="4313769"/>
                <a:ext cx="427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57606-4C1D-3FB4-EFB0-0516961E7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179" y="4313769"/>
                <a:ext cx="4273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BBC1BE-F076-60FB-5145-CE216854A6A0}"/>
              </a:ext>
            </a:extLst>
          </p:cNvPr>
          <p:cNvCxnSpPr/>
          <p:nvPr/>
        </p:nvCxnSpPr>
        <p:spPr>
          <a:xfrm>
            <a:off x="1701840" y="4106932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3254FE-A579-EA34-A138-01D09D1C6111}"/>
              </a:ext>
            </a:extLst>
          </p:cNvPr>
          <p:cNvCxnSpPr/>
          <p:nvPr/>
        </p:nvCxnSpPr>
        <p:spPr>
          <a:xfrm>
            <a:off x="3161788" y="4106932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6E1680-A7F8-7B79-4ED5-4C4AB2718DD7}"/>
              </a:ext>
            </a:extLst>
          </p:cNvPr>
          <p:cNvCxnSpPr/>
          <p:nvPr/>
        </p:nvCxnSpPr>
        <p:spPr>
          <a:xfrm>
            <a:off x="2436672" y="4106932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55765D-5E80-905E-4204-619110BCD997}"/>
              </a:ext>
            </a:extLst>
          </p:cNvPr>
          <p:cNvCxnSpPr>
            <a:cxnSpLocks/>
          </p:cNvCxnSpPr>
          <p:nvPr/>
        </p:nvCxnSpPr>
        <p:spPr>
          <a:xfrm>
            <a:off x="1701840" y="3639791"/>
            <a:ext cx="0" cy="4671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74BD66-965D-78DB-9E90-F692833C45A6}"/>
              </a:ext>
            </a:extLst>
          </p:cNvPr>
          <p:cNvSpPr txBox="1"/>
          <p:nvPr/>
        </p:nvSpPr>
        <p:spPr>
          <a:xfrm>
            <a:off x="270799" y="3758268"/>
            <a:ext cx="1290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Separability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737A82-3D7F-D3AA-5F09-B12EB0E61278}"/>
              </a:ext>
            </a:extLst>
          </p:cNvPr>
          <p:cNvCxnSpPr>
            <a:cxnSpLocks/>
          </p:cNvCxnSpPr>
          <p:nvPr/>
        </p:nvCxnSpPr>
        <p:spPr>
          <a:xfrm>
            <a:off x="2436672" y="3265353"/>
            <a:ext cx="0" cy="8407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D07579-DBDF-DAE7-9ACA-5EA0F5B2E40B}"/>
              </a:ext>
            </a:extLst>
          </p:cNvPr>
          <p:cNvCxnSpPr>
            <a:cxnSpLocks/>
          </p:cNvCxnSpPr>
          <p:nvPr/>
        </p:nvCxnSpPr>
        <p:spPr>
          <a:xfrm>
            <a:off x="332008" y="3579761"/>
            <a:ext cx="210466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3F16FC-69CF-1AE9-8A25-F1AFE70CCC35}"/>
              </a:ext>
            </a:extLst>
          </p:cNvPr>
          <p:cNvSpPr txBox="1"/>
          <p:nvPr/>
        </p:nvSpPr>
        <p:spPr>
          <a:xfrm>
            <a:off x="226446" y="3206792"/>
            <a:ext cx="247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</a:t>
            </a:r>
            <a:r>
              <a:rPr lang="en-US" sz="1400" i="1" dirty="0"/>
              <a:t>POVMs LHS [Barrett 2002]</a:t>
            </a:r>
            <a:endParaRPr lang="en-US" sz="1600" i="1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F47F5E-E60A-21FB-F2EE-5A619B4B3BDB}"/>
              </a:ext>
            </a:extLst>
          </p:cNvPr>
          <p:cNvCxnSpPr>
            <a:cxnSpLocks/>
          </p:cNvCxnSpPr>
          <p:nvPr/>
        </p:nvCxnSpPr>
        <p:spPr>
          <a:xfrm>
            <a:off x="3161788" y="2455048"/>
            <a:ext cx="0" cy="165109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4FBCF43-0861-D4A9-D22E-EE5EC768F512}"/>
              </a:ext>
            </a:extLst>
          </p:cNvPr>
          <p:cNvSpPr txBox="1"/>
          <p:nvPr/>
        </p:nvSpPr>
        <p:spPr>
          <a:xfrm>
            <a:off x="217008" y="2852312"/>
            <a:ext cx="2145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i="1" dirty="0"/>
              <a:t>PVMs LHS [Werner 1989]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385981-D5A7-F75D-F208-812504D0AEA3}"/>
              </a:ext>
            </a:extLst>
          </p:cNvPr>
          <p:cNvCxnSpPr>
            <a:cxnSpLocks/>
          </p:cNvCxnSpPr>
          <p:nvPr/>
        </p:nvCxnSpPr>
        <p:spPr>
          <a:xfrm>
            <a:off x="330461" y="3205877"/>
            <a:ext cx="28123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E1F44E-5824-D331-95D1-BC1CFA660810}"/>
              </a:ext>
            </a:extLst>
          </p:cNvPr>
          <p:cNvCxnSpPr>
            <a:cxnSpLocks/>
          </p:cNvCxnSpPr>
          <p:nvPr/>
        </p:nvCxnSpPr>
        <p:spPr>
          <a:xfrm flipH="1">
            <a:off x="3213803" y="3574677"/>
            <a:ext cx="119236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6147417-7276-A60C-8EBC-67FD15D17FC1}"/>
              </a:ext>
            </a:extLst>
          </p:cNvPr>
          <p:cNvSpPr txBox="1"/>
          <p:nvPr/>
        </p:nvSpPr>
        <p:spPr>
          <a:xfrm>
            <a:off x="3180729" y="3226099"/>
            <a:ext cx="2351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Steering [Wiseman 2007]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E0EDC7-0AD0-289E-5236-C063FDA20FEC}"/>
                  </a:ext>
                </a:extLst>
              </p:cNvPr>
              <p:cNvSpPr txBox="1"/>
              <p:nvPr/>
            </p:nvSpPr>
            <p:spPr>
              <a:xfrm>
                <a:off x="1482295" y="4485506"/>
                <a:ext cx="427383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E0EDC7-0AD0-289E-5236-C063FDA2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295" y="4485506"/>
                <a:ext cx="427383" cy="554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88C0ED-AB7B-53C9-80DF-B964046B5908}"/>
                  </a:ext>
                </a:extLst>
              </p:cNvPr>
              <p:cNvSpPr txBox="1"/>
              <p:nvPr/>
            </p:nvSpPr>
            <p:spPr>
              <a:xfrm>
                <a:off x="2222980" y="4485506"/>
                <a:ext cx="427383" cy="558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88C0ED-AB7B-53C9-80DF-B964046B5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980" y="4485506"/>
                <a:ext cx="427383" cy="5583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8A6E97-591A-C4B0-6062-82B054C077FB}"/>
                  </a:ext>
                </a:extLst>
              </p:cNvPr>
              <p:cNvSpPr txBox="1"/>
              <p:nvPr/>
            </p:nvSpPr>
            <p:spPr>
              <a:xfrm>
                <a:off x="2934728" y="4485506"/>
                <a:ext cx="427383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8A6E97-591A-C4B0-6062-82B054C07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728" y="4485506"/>
                <a:ext cx="427383" cy="553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6A4F25-8829-87DE-55C2-D185AB4207AC}"/>
              </a:ext>
            </a:extLst>
          </p:cNvPr>
          <p:cNvCxnSpPr>
            <a:cxnSpLocks/>
          </p:cNvCxnSpPr>
          <p:nvPr/>
        </p:nvCxnSpPr>
        <p:spPr>
          <a:xfrm>
            <a:off x="5660094" y="2420285"/>
            <a:ext cx="0" cy="183573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3152BB6-4271-4DC8-329C-128F62011A0A}"/>
              </a:ext>
            </a:extLst>
          </p:cNvPr>
          <p:cNvCxnSpPr>
            <a:cxnSpLocks/>
          </p:cNvCxnSpPr>
          <p:nvPr/>
        </p:nvCxnSpPr>
        <p:spPr>
          <a:xfrm>
            <a:off x="5424866" y="2413660"/>
            <a:ext cx="0" cy="183573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31B381-F5AC-9C92-98E4-4436BD6D2D80}"/>
              </a:ext>
            </a:extLst>
          </p:cNvPr>
          <p:cNvCxnSpPr/>
          <p:nvPr/>
        </p:nvCxnSpPr>
        <p:spPr>
          <a:xfrm>
            <a:off x="6466362" y="4146688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D96B80-ED81-0FB4-44AA-C427D0A0D1B9}"/>
              </a:ext>
            </a:extLst>
          </p:cNvPr>
          <p:cNvCxnSpPr>
            <a:cxnSpLocks/>
          </p:cNvCxnSpPr>
          <p:nvPr/>
        </p:nvCxnSpPr>
        <p:spPr>
          <a:xfrm>
            <a:off x="6463610" y="3295629"/>
            <a:ext cx="0" cy="8407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7E5E10-98F0-2F02-CDC6-3FE23076611E}"/>
              </a:ext>
            </a:extLst>
          </p:cNvPr>
          <p:cNvCxnSpPr/>
          <p:nvPr/>
        </p:nvCxnSpPr>
        <p:spPr>
          <a:xfrm>
            <a:off x="5663847" y="4140164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590B3F-4C11-C4A2-49CE-F0773BD500CE}"/>
              </a:ext>
            </a:extLst>
          </p:cNvPr>
          <p:cNvCxnSpPr/>
          <p:nvPr/>
        </p:nvCxnSpPr>
        <p:spPr>
          <a:xfrm>
            <a:off x="5435247" y="4140164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3C2DD4-BF95-7C05-8DAE-97BA2EDE2536}"/>
                  </a:ext>
                </a:extLst>
              </p:cNvPr>
              <p:cNvSpPr txBox="1"/>
              <p:nvPr/>
            </p:nvSpPr>
            <p:spPr>
              <a:xfrm>
                <a:off x="4557073" y="4604526"/>
                <a:ext cx="1684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[0.6875,0.6961]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3C2DD4-BF95-7C05-8DAE-97BA2EDE2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073" y="4604526"/>
                <a:ext cx="1684815" cy="338554"/>
              </a:xfrm>
              <a:prstGeom prst="rect">
                <a:avLst/>
              </a:prstGeom>
              <a:blipFill>
                <a:blip r:embed="rId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22DD10-EF64-7285-89B9-EA25ADDC40BD}"/>
                  </a:ext>
                </a:extLst>
              </p:cNvPr>
              <p:cNvSpPr txBox="1"/>
              <p:nvPr/>
            </p:nvSpPr>
            <p:spPr>
              <a:xfrm>
                <a:off x="6241888" y="4499785"/>
                <a:ext cx="427383" cy="60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22DD10-EF64-7285-89B9-EA25ADDC4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888" y="4499785"/>
                <a:ext cx="427383" cy="600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96A6C42-2D38-3774-BE42-88AF53927917}"/>
              </a:ext>
            </a:extLst>
          </p:cNvPr>
          <p:cNvSpPr txBox="1"/>
          <p:nvPr/>
        </p:nvSpPr>
        <p:spPr>
          <a:xfrm>
            <a:off x="4446036" y="2115759"/>
            <a:ext cx="3171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PVMs LHV [Designolle 2023]: G-constant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794390-D953-6280-6BD4-9CE0D302F2AF}"/>
              </a:ext>
            </a:extLst>
          </p:cNvPr>
          <p:cNvSpPr txBox="1"/>
          <p:nvPr/>
        </p:nvSpPr>
        <p:spPr>
          <a:xfrm>
            <a:off x="6523042" y="3220285"/>
            <a:ext cx="2351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CHSH violation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1D95FC-1BC9-CA8C-4397-778FF850282D}"/>
              </a:ext>
            </a:extLst>
          </p:cNvPr>
          <p:cNvCxnSpPr>
            <a:cxnSpLocks/>
          </p:cNvCxnSpPr>
          <p:nvPr/>
        </p:nvCxnSpPr>
        <p:spPr>
          <a:xfrm flipH="1">
            <a:off x="6523042" y="3575052"/>
            <a:ext cx="119236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6E73177-D9A6-4910-A14B-A0B62253248C}"/>
              </a:ext>
            </a:extLst>
          </p:cNvPr>
          <p:cNvSpPr/>
          <p:nvPr/>
        </p:nvSpPr>
        <p:spPr>
          <a:xfrm>
            <a:off x="11310221" y="2677615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50" name="Graphic 49" descr="Checkmark with solid fill">
            <a:extLst>
              <a:ext uri="{FF2B5EF4-FFF2-40B4-BE49-F238E27FC236}">
                <a16:creationId xmlns:a16="http://schemas.microsoft.com/office/drawing/2014/main" id="{912E1865-9EC5-14AE-FBCC-EA3F20B7D0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58831" y="2674945"/>
            <a:ext cx="247336" cy="247336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98C4B850-B8F8-7F62-9444-070E91127684}"/>
              </a:ext>
            </a:extLst>
          </p:cNvPr>
          <p:cNvSpPr/>
          <p:nvPr/>
        </p:nvSpPr>
        <p:spPr>
          <a:xfrm>
            <a:off x="10698636" y="4009733"/>
            <a:ext cx="231913" cy="2303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60" name="Graphic 59" descr="Checkmark with solid fill">
            <a:extLst>
              <a:ext uri="{FF2B5EF4-FFF2-40B4-BE49-F238E27FC236}">
                <a16:creationId xmlns:a16="http://schemas.microsoft.com/office/drawing/2014/main" id="{BB520328-1FD2-E62C-C48A-761C604B07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7246" y="4007063"/>
            <a:ext cx="247336" cy="247336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B9CE6C41-9911-F82F-C6F0-93A9A40EB74E}"/>
              </a:ext>
            </a:extLst>
          </p:cNvPr>
          <p:cNvSpPr/>
          <p:nvPr/>
        </p:nvSpPr>
        <p:spPr>
          <a:xfrm>
            <a:off x="10700981" y="4297993"/>
            <a:ext cx="231913" cy="2303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66" name="Graphic 65" descr="Close with solid fill">
            <a:extLst>
              <a:ext uri="{FF2B5EF4-FFF2-40B4-BE49-F238E27FC236}">
                <a16:creationId xmlns:a16="http://schemas.microsoft.com/office/drawing/2014/main" id="{DCC9D4A3-9F95-23C6-7BA5-218F12085C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05180" y="4293868"/>
            <a:ext cx="240799" cy="240799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C5958003-0552-D476-822E-145C872EF990}"/>
              </a:ext>
            </a:extLst>
          </p:cNvPr>
          <p:cNvSpPr/>
          <p:nvPr/>
        </p:nvSpPr>
        <p:spPr>
          <a:xfrm>
            <a:off x="414374" y="5341285"/>
            <a:ext cx="11053625" cy="341205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Werner’s problem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1BA8434-084F-EE51-729F-E839C5D4B31F}"/>
              </a:ext>
            </a:extLst>
          </p:cNvPr>
          <p:cNvSpPr/>
          <p:nvPr/>
        </p:nvSpPr>
        <p:spPr>
          <a:xfrm>
            <a:off x="414374" y="5684093"/>
            <a:ext cx="11068126" cy="575745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Determine the critical LHS/steering bound of (Qubit) Werner state for general measurement (POVMs)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4515D8C-034E-DD16-675D-7BA890731C0B}"/>
              </a:ext>
            </a:extLst>
          </p:cNvPr>
          <p:cNvCxnSpPr>
            <a:cxnSpLocks/>
          </p:cNvCxnSpPr>
          <p:nvPr/>
        </p:nvCxnSpPr>
        <p:spPr>
          <a:xfrm flipH="1">
            <a:off x="-23143" y="6465802"/>
            <a:ext cx="3385254" cy="9638"/>
          </a:xfrm>
          <a:prstGeom prst="line">
            <a:avLst/>
          </a:prstGeom>
          <a:ln w="952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C62B74F-819B-0C22-F450-C1114219195D}"/>
              </a:ext>
            </a:extLst>
          </p:cNvPr>
          <p:cNvSpPr txBox="1"/>
          <p:nvPr/>
        </p:nvSpPr>
        <p:spPr>
          <a:xfrm>
            <a:off x="-23143" y="6527608"/>
            <a:ext cx="51114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R. F. Werner, problem 39 in https://oqp.iqoqi.oeaw.ac.at/open-quantum-problems</a:t>
            </a:r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B64501-45B8-79BF-5067-52DCE3058C7A}"/>
              </a:ext>
            </a:extLst>
          </p:cNvPr>
          <p:cNvSpPr/>
          <p:nvPr/>
        </p:nvSpPr>
        <p:spPr>
          <a:xfrm>
            <a:off x="11314811" y="3200010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77" name="Graphic 76" descr="Close with solid fill">
            <a:extLst>
              <a:ext uri="{FF2B5EF4-FFF2-40B4-BE49-F238E27FC236}">
                <a16:creationId xmlns:a16="http://schemas.microsoft.com/office/drawing/2014/main" id="{B6BA1A68-732D-548F-CBB6-EAA5F809E4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8736" y="3195885"/>
            <a:ext cx="240799" cy="2407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14DB53-19D9-68EB-D4C9-D04708517F44}"/>
              </a:ext>
            </a:extLst>
          </p:cNvPr>
          <p:cNvCxnSpPr>
            <a:cxnSpLocks/>
          </p:cNvCxnSpPr>
          <p:nvPr/>
        </p:nvCxnSpPr>
        <p:spPr>
          <a:xfrm flipH="1">
            <a:off x="5702483" y="2455326"/>
            <a:ext cx="27201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DCF63C-7B5E-0D15-EA2D-39C4FB244DA4}"/>
              </a:ext>
            </a:extLst>
          </p:cNvPr>
          <p:cNvCxnSpPr>
            <a:cxnSpLocks/>
          </p:cNvCxnSpPr>
          <p:nvPr/>
        </p:nvCxnSpPr>
        <p:spPr>
          <a:xfrm>
            <a:off x="5088334" y="2455131"/>
            <a:ext cx="27038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08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9" grpId="0" animBg="1"/>
      <p:bldP spid="65" grpId="0" animBg="1"/>
      <p:bldP spid="68" grpId="0" animBg="1"/>
      <p:bldP spid="69" grpId="0" animBg="1"/>
      <p:bldP spid="75" grpId="0"/>
      <p:bldP spid="7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DA33F23-B5D8-6904-93C2-43120EDEDF54}"/>
              </a:ext>
            </a:extLst>
          </p:cNvPr>
          <p:cNvSpPr txBox="1"/>
          <p:nvPr/>
        </p:nvSpPr>
        <p:spPr>
          <a:xfrm>
            <a:off x="8011412" y="2580026"/>
            <a:ext cx="31713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dirty="0"/>
              <a:t>Entangled/separable</a:t>
            </a:r>
            <a:r>
              <a:rPr lang="en-US" dirty="0"/>
              <a:t> bound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dirty="0"/>
              <a:t>Nonlocal/LHV </a:t>
            </a:r>
            <a:r>
              <a:rPr lang="en-US" dirty="0"/>
              <a:t>bound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dirty="0"/>
              <a:t>Steerable/LHS </a:t>
            </a:r>
            <a:r>
              <a:rPr lang="en-US" dirty="0"/>
              <a:t>bound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 PVMs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 POVMs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Qubit Werner States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CA16628-6927-E9A7-B0FA-7BC3D9FD66C3}"/>
              </a:ext>
            </a:extLst>
          </p:cNvPr>
          <p:cNvSpPr txBox="1">
            <a:spLocks/>
          </p:cNvSpPr>
          <p:nvPr/>
        </p:nvSpPr>
        <p:spPr>
          <a:xfrm>
            <a:off x="585833" y="1026458"/>
            <a:ext cx="11121885" cy="492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1FCF1-6382-4E5C-DD81-7C57A7DA2D9D}"/>
              </a:ext>
            </a:extLst>
          </p:cNvPr>
          <p:cNvSpPr/>
          <p:nvPr/>
        </p:nvSpPr>
        <p:spPr>
          <a:xfrm>
            <a:off x="725557" y="819368"/>
            <a:ext cx="10593453" cy="1236217"/>
          </a:xfrm>
          <a:prstGeom prst="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6D8DDA-6B25-BF2A-CD27-F03CD8873D74}"/>
                  </a:ext>
                </a:extLst>
              </p:cNvPr>
              <p:cNvSpPr txBox="1"/>
              <p:nvPr/>
            </p:nvSpPr>
            <p:spPr>
              <a:xfrm>
                <a:off x="766197" y="829527"/>
                <a:ext cx="10416593" cy="1235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900" b="1" i="1" u="sng" dirty="0"/>
                  <a:t>Qubit </a:t>
                </a:r>
                <a:r>
                  <a:rPr lang="en-US" sz="1900" b="1" i="1" u="sng" dirty="0">
                    <a:solidFill>
                      <a:schemeClr val="tx1"/>
                    </a:solidFill>
                  </a:rPr>
                  <a:t>Werner states:</a:t>
                </a:r>
                <a:r>
                  <a:rPr lang="en-US" sz="1900" dirty="0"/>
                  <a:t>  which can be parametrized by one single parameter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r>
                  <a:rPr lang="en-US" sz="1900" b="0" dirty="0"/>
                  <a:t>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9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⟩⟨</m:t>
                    </m:r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9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|+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𝕀</m:t>
                        </m:r>
                      </m:num>
                      <m:den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r>
                  <a:rPr lang="en-US" sz="1900" dirty="0">
                    <a:solidFill>
                      <a:schemeClr val="tx1"/>
                    </a:solidFill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>
                    <a:solidFill>
                      <a:schemeClr val="tx1"/>
                    </a:solidFill>
                  </a:rPr>
                  <a:t>is identity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9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p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−|10⟩)</m:t>
                    </m:r>
                  </m:oMath>
                </a14:m>
                <a:r>
                  <a:rPr lang="en-US" sz="1900" dirty="0">
                    <a:solidFill>
                      <a:schemeClr val="tx1"/>
                    </a:solidFill>
                  </a:rPr>
                  <a:t>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6D8DDA-6B25-BF2A-CD27-F03CD887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97" y="829527"/>
                <a:ext cx="10416593" cy="1235082"/>
              </a:xfrm>
              <a:prstGeom prst="rect">
                <a:avLst/>
              </a:prstGeom>
              <a:blipFill>
                <a:blip r:embed="rId4"/>
                <a:stretch>
                  <a:fillRect l="-585" t="-2463" b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38516B-AFED-645B-E2C7-D930B66D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8DFCD-81CC-D46F-8245-1E8CE2AF1F09}"/>
              </a:ext>
            </a:extLst>
          </p:cNvPr>
          <p:cNvSpPr txBox="1"/>
          <p:nvPr/>
        </p:nvSpPr>
        <p:spPr>
          <a:xfrm>
            <a:off x="7562071" y="1503330"/>
            <a:ext cx="365718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/>
              <a:t>Note: Many other models were adapted from the original Qubit Werner state model</a:t>
            </a:r>
            <a:r>
              <a:rPr lang="en-US" sz="1600" i="1" dirty="0"/>
              <a:t>.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E4EA6-1485-C06C-CB01-3BA8FAF9FC30}"/>
              </a:ext>
            </a:extLst>
          </p:cNvPr>
          <p:cNvSpPr/>
          <p:nvPr/>
        </p:nvSpPr>
        <p:spPr>
          <a:xfrm>
            <a:off x="5424870" y="2402351"/>
            <a:ext cx="229264" cy="1853666"/>
          </a:xfrm>
          <a:prstGeom prst="rect">
            <a:avLst/>
          </a:pr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3F7D1A-6CDD-6A1B-5162-BFD48983266D}"/>
              </a:ext>
            </a:extLst>
          </p:cNvPr>
          <p:cNvSpPr/>
          <p:nvPr/>
        </p:nvSpPr>
        <p:spPr>
          <a:xfrm>
            <a:off x="332009" y="3639792"/>
            <a:ext cx="1359892" cy="606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06541C-873C-2CF8-0AF8-8F6FF7920B59}"/>
              </a:ext>
            </a:extLst>
          </p:cNvPr>
          <p:cNvCxnSpPr>
            <a:cxnSpLocks/>
          </p:cNvCxnSpPr>
          <p:nvPr/>
        </p:nvCxnSpPr>
        <p:spPr>
          <a:xfrm>
            <a:off x="270799" y="4245805"/>
            <a:ext cx="7383399" cy="4781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57606-4C1D-3FB4-EFB0-0516961E7FC3}"/>
                  </a:ext>
                </a:extLst>
              </p:cNvPr>
              <p:cNvSpPr txBox="1"/>
              <p:nvPr/>
            </p:nvSpPr>
            <p:spPr>
              <a:xfrm>
                <a:off x="6872179" y="4313769"/>
                <a:ext cx="427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57606-4C1D-3FB4-EFB0-0516961E7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179" y="4313769"/>
                <a:ext cx="4273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BBC1BE-F076-60FB-5145-CE216854A6A0}"/>
              </a:ext>
            </a:extLst>
          </p:cNvPr>
          <p:cNvCxnSpPr/>
          <p:nvPr/>
        </p:nvCxnSpPr>
        <p:spPr>
          <a:xfrm>
            <a:off x="1701840" y="4106932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3254FE-A579-EA34-A138-01D09D1C6111}"/>
              </a:ext>
            </a:extLst>
          </p:cNvPr>
          <p:cNvCxnSpPr/>
          <p:nvPr/>
        </p:nvCxnSpPr>
        <p:spPr>
          <a:xfrm>
            <a:off x="3161788" y="4106932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6E1680-A7F8-7B79-4ED5-4C4AB2718DD7}"/>
              </a:ext>
            </a:extLst>
          </p:cNvPr>
          <p:cNvCxnSpPr/>
          <p:nvPr/>
        </p:nvCxnSpPr>
        <p:spPr>
          <a:xfrm>
            <a:off x="2436672" y="4106932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55765D-5E80-905E-4204-619110BCD997}"/>
              </a:ext>
            </a:extLst>
          </p:cNvPr>
          <p:cNvCxnSpPr>
            <a:cxnSpLocks/>
          </p:cNvCxnSpPr>
          <p:nvPr/>
        </p:nvCxnSpPr>
        <p:spPr>
          <a:xfrm>
            <a:off x="1701840" y="3639791"/>
            <a:ext cx="0" cy="4671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74BD66-965D-78DB-9E90-F692833C45A6}"/>
              </a:ext>
            </a:extLst>
          </p:cNvPr>
          <p:cNvSpPr txBox="1"/>
          <p:nvPr/>
        </p:nvSpPr>
        <p:spPr>
          <a:xfrm>
            <a:off x="270799" y="3758268"/>
            <a:ext cx="1290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Separability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737A82-3D7F-D3AA-5F09-B12EB0E61278}"/>
              </a:ext>
            </a:extLst>
          </p:cNvPr>
          <p:cNvCxnSpPr>
            <a:cxnSpLocks/>
          </p:cNvCxnSpPr>
          <p:nvPr/>
        </p:nvCxnSpPr>
        <p:spPr>
          <a:xfrm>
            <a:off x="2436672" y="3265353"/>
            <a:ext cx="0" cy="8407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D07579-DBDF-DAE7-9ACA-5EA0F5B2E40B}"/>
              </a:ext>
            </a:extLst>
          </p:cNvPr>
          <p:cNvCxnSpPr>
            <a:cxnSpLocks/>
          </p:cNvCxnSpPr>
          <p:nvPr/>
        </p:nvCxnSpPr>
        <p:spPr>
          <a:xfrm>
            <a:off x="332008" y="3579761"/>
            <a:ext cx="210466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3F16FC-69CF-1AE9-8A25-F1AFE70CCC35}"/>
              </a:ext>
            </a:extLst>
          </p:cNvPr>
          <p:cNvSpPr txBox="1"/>
          <p:nvPr/>
        </p:nvSpPr>
        <p:spPr>
          <a:xfrm>
            <a:off x="226446" y="3206792"/>
            <a:ext cx="247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</a:t>
            </a:r>
            <a:r>
              <a:rPr lang="en-US" sz="1400" i="1" dirty="0"/>
              <a:t>POVMs LHS [Barrett 2002]</a:t>
            </a:r>
            <a:endParaRPr lang="en-US" sz="1600" i="1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F47F5E-E60A-21FB-F2EE-5A619B4B3BDB}"/>
              </a:ext>
            </a:extLst>
          </p:cNvPr>
          <p:cNvCxnSpPr>
            <a:cxnSpLocks/>
          </p:cNvCxnSpPr>
          <p:nvPr/>
        </p:nvCxnSpPr>
        <p:spPr>
          <a:xfrm>
            <a:off x="3161788" y="2455048"/>
            <a:ext cx="0" cy="165109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4FBCF43-0861-D4A9-D22E-EE5EC768F512}"/>
              </a:ext>
            </a:extLst>
          </p:cNvPr>
          <p:cNvSpPr txBox="1"/>
          <p:nvPr/>
        </p:nvSpPr>
        <p:spPr>
          <a:xfrm>
            <a:off x="217008" y="2852312"/>
            <a:ext cx="2145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i="1" dirty="0"/>
              <a:t>PVMs LHS [Werner 1989]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385981-D5A7-F75D-F208-812504D0AEA3}"/>
              </a:ext>
            </a:extLst>
          </p:cNvPr>
          <p:cNvCxnSpPr>
            <a:cxnSpLocks/>
          </p:cNvCxnSpPr>
          <p:nvPr/>
        </p:nvCxnSpPr>
        <p:spPr>
          <a:xfrm>
            <a:off x="330461" y="3205877"/>
            <a:ext cx="28123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E1F44E-5824-D331-95D1-BC1CFA660810}"/>
              </a:ext>
            </a:extLst>
          </p:cNvPr>
          <p:cNvCxnSpPr>
            <a:cxnSpLocks/>
          </p:cNvCxnSpPr>
          <p:nvPr/>
        </p:nvCxnSpPr>
        <p:spPr>
          <a:xfrm flipH="1">
            <a:off x="3213803" y="3574677"/>
            <a:ext cx="119236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6147417-7276-A60C-8EBC-67FD15D17FC1}"/>
              </a:ext>
            </a:extLst>
          </p:cNvPr>
          <p:cNvSpPr txBox="1"/>
          <p:nvPr/>
        </p:nvSpPr>
        <p:spPr>
          <a:xfrm>
            <a:off x="3180729" y="3226099"/>
            <a:ext cx="2351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Steering [Wiseman 2007]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E0EDC7-0AD0-289E-5236-C063FDA20FEC}"/>
                  </a:ext>
                </a:extLst>
              </p:cNvPr>
              <p:cNvSpPr txBox="1"/>
              <p:nvPr/>
            </p:nvSpPr>
            <p:spPr>
              <a:xfrm>
                <a:off x="1482295" y="4485506"/>
                <a:ext cx="427383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E0EDC7-0AD0-289E-5236-C063FDA2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295" y="4485506"/>
                <a:ext cx="427383" cy="554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88C0ED-AB7B-53C9-80DF-B964046B5908}"/>
                  </a:ext>
                </a:extLst>
              </p:cNvPr>
              <p:cNvSpPr txBox="1"/>
              <p:nvPr/>
            </p:nvSpPr>
            <p:spPr>
              <a:xfrm>
                <a:off x="2222980" y="4485506"/>
                <a:ext cx="427383" cy="558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88C0ED-AB7B-53C9-80DF-B964046B5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980" y="4485506"/>
                <a:ext cx="427383" cy="5583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8A6E97-591A-C4B0-6062-82B054C077FB}"/>
                  </a:ext>
                </a:extLst>
              </p:cNvPr>
              <p:cNvSpPr txBox="1"/>
              <p:nvPr/>
            </p:nvSpPr>
            <p:spPr>
              <a:xfrm>
                <a:off x="2934728" y="4485506"/>
                <a:ext cx="427383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8A6E97-591A-C4B0-6062-82B054C07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728" y="4485506"/>
                <a:ext cx="427383" cy="553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6A4F25-8829-87DE-55C2-D185AB4207AC}"/>
              </a:ext>
            </a:extLst>
          </p:cNvPr>
          <p:cNvCxnSpPr>
            <a:cxnSpLocks/>
          </p:cNvCxnSpPr>
          <p:nvPr/>
        </p:nvCxnSpPr>
        <p:spPr>
          <a:xfrm>
            <a:off x="5660094" y="2420285"/>
            <a:ext cx="0" cy="183573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3152BB6-4271-4DC8-329C-128F62011A0A}"/>
              </a:ext>
            </a:extLst>
          </p:cNvPr>
          <p:cNvCxnSpPr>
            <a:cxnSpLocks/>
          </p:cNvCxnSpPr>
          <p:nvPr/>
        </p:nvCxnSpPr>
        <p:spPr>
          <a:xfrm>
            <a:off x="5424866" y="2413660"/>
            <a:ext cx="0" cy="183573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31B381-F5AC-9C92-98E4-4436BD6D2D80}"/>
              </a:ext>
            </a:extLst>
          </p:cNvPr>
          <p:cNvCxnSpPr/>
          <p:nvPr/>
        </p:nvCxnSpPr>
        <p:spPr>
          <a:xfrm>
            <a:off x="6466362" y="4146688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D96B80-ED81-0FB4-44AA-C427D0A0D1B9}"/>
              </a:ext>
            </a:extLst>
          </p:cNvPr>
          <p:cNvCxnSpPr>
            <a:cxnSpLocks/>
          </p:cNvCxnSpPr>
          <p:nvPr/>
        </p:nvCxnSpPr>
        <p:spPr>
          <a:xfrm>
            <a:off x="6473884" y="3305903"/>
            <a:ext cx="0" cy="8407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7E5E10-98F0-2F02-CDC6-3FE23076611E}"/>
              </a:ext>
            </a:extLst>
          </p:cNvPr>
          <p:cNvCxnSpPr/>
          <p:nvPr/>
        </p:nvCxnSpPr>
        <p:spPr>
          <a:xfrm>
            <a:off x="5663847" y="4140164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590B3F-4C11-C4A2-49CE-F0773BD500CE}"/>
              </a:ext>
            </a:extLst>
          </p:cNvPr>
          <p:cNvCxnSpPr/>
          <p:nvPr/>
        </p:nvCxnSpPr>
        <p:spPr>
          <a:xfrm>
            <a:off x="5435247" y="4140164"/>
            <a:ext cx="0" cy="31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3C2DD4-BF95-7C05-8DAE-97BA2EDE2536}"/>
                  </a:ext>
                </a:extLst>
              </p:cNvPr>
              <p:cNvSpPr txBox="1"/>
              <p:nvPr/>
            </p:nvSpPr>
            <p:spPr>
              <a:xfrm>
                <a:off x="4557073" y="4604526"/>
                <a:ext cx="1684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[0.6875,0.6961]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3C2DD4-BF95-7C05-8DAE-97BA2EDE2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073" y="4604526"/>
                <a:ext cx="1684815" cy="338554"/>
              </a:xfrm>
              <a:prstGeom prst="rect">
                <a:avLst/>
              </a:prstGeom>
              <a:blipFill>
                <a:blip r:embed="rId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22DD10-EF64-7285-89B9-EA25ADDC40BD}"/>
                  </a:ext>
                </a:extLst>
              </p:cNvPr>
              <p:cNvSpPr txBox="1"/>
              <p:nvPr/>
            </p:nvSpPr>
            <p:spPr>
              <a:xfrm>
                <a:off x="6241888" y="4499785"/>
                <a:ext cx="427383" cy="60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22DD10-EF64-7285-89B9-EA25ADDC4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888" y="4499785"/>
                <a:ext cx="427383" cy="600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96A6C42-2D38-3774-BE42-88AF53927917}"/>
              </a:ext>
            </a:extLst>
          </p:cNvPr>
          <p:cNvSpPr txBox="1"/>
          <p:nvPr/>
        </p:nvSpPr>
        <p:spPr>
          <a:xfrm>
            <a:off x="5654134" y="2367168"/>
            <a:ext cx="26097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PVMs LHV [Designolle 2023]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794390-D953-6280-6BD4-9CE0D302F2AF}"/>
              </a:ext>
            </a:extLst>
          </p:cNvPr>
          <p:cNvSpPr txBox="1"/>
          <p:nvPr/>
        </p:nvSpPr>
        <p:spPr>
          <a:xfrm>
            <a:off x="6523042" y="3220285"/>
            <a:ext cx="2351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CHSH violation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1D95FC-1BC9-CA8C-4397-778FF850282D}"/>
              </a:ext>
            </a:extLst>
          </p:cNvPr>
          <p:cNvCxnSpPr>
            <a:cxnSpLocks/>
          </p:cNvCxnSpPr>
          <p:nvPr/>
        </p:nvCxnSpPr>
        <p:spPr>
          <a:xfrm flipH="1">
            <a:off x="6523042" y="3575052"/>
            <a:ext cx="119236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6E73177-D9A6-4910-A14B-A0B62253248C}"/>
              </a:ext>
            </a:extLst>
          </p:cNvPr>
          <p:cNvSpPr/>
          <p:nvPr/>
        </p:nvSpPr>
        <p:spPr>
          <a:xfrm>
            <a:off x="11310221" y="2677615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50" name="Graphic 49" descr="Checkmark with solid fill">
            <a:extLst>
              <a:ext uri="{FF2B5EF4-FFF2-40B4-BE49-F238E27FC236}">
                <a16:creationId xmlns:a16="http://schemas.microsoft.com/office/drawing/2014/main" id="{912E1865-9EC5-14AE-FBCC-EA3F20B7D0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58831" y="2674945"/>
            <a:ext cx="247336" cy="247336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18AB040-5282-5E23-7AE8-5A6F652B4CA2}"/>
              </a:ext>
            </a:extLst>
          </p:cNvPr>
          <p:cNvSpPr/>
          <p:nvPr/>
        </p:nvSpPr>
        <p:spPr>
          <a:xfrm>
            <a:off x="11314811" y="3200010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58" name="Graphic 57" descr="Close with solid fill">
            <a:extLst>
              <a:ext uri="{FF2B5EF4-FFF2-40B4-BE49-F238E27FC236}">
                <a16:creationId xmlns:a16="http://schemas.microsoft.com/office/drawing/2014/main" id="{93346D06-0647-AE13-B313-ED1B447F2E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8736" y="3195885"/>
            <a:ext cx="240799" cy="240799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C62B74F-819B-0C22-F450-C1114219195D}"/>
              </a:ext>
            </a:extLst>
          </p:cNvPr>
          <p:cNvSpPr txBox="1"/>
          <p:nvPr/>
        </p:nvSpPr>
        <p:spPr>
          <a:xfrm>
            <a:off x="-23143" y="6527608"/>
            <a:ext cx="51114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R. F. Werner, problem 39 in https://oqp.iqoqi.oeaw.ac.at/open-quantum-problems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30D6EE-E615-6DBC-2911-32F86F4CE3CB}"/>
              </a:ext>
            </a:extLst>
          </p:cNvPr>
          <p:cNvCxnSpPr>
            <a:cxnSpLocks/>
          </p:cNvCxnSpPr>
          <p:nvPr/>
        </p:nvCxnSpPr>
        <p:spPr>
          <a:xfrm>
            <a:off x="330461" y="2664603"/>
            <a:ext cx="2812387" cy="11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38AE1B-5446-CF69-5846-C1CD91B70A9C}"/>
              </a:ext>
            </a:extLst>
          </p:cNvPr>
          <p:cNvSpPr txBox="1"/>
          <p:nvPr/>
        </p:nvSpPr>
        <p:spPr>
          <a:xfrm>
            <a:off x="227020" y="2325135"/>
            <a:ext cx="2145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</a:t>
            </a:r>
            <a:r>
              <a:rPr lang="en-US" sz="1400" i="1" dirty="0">
                <a:solidFill>
                  <a:srgbClr val="FF0000"/>
                </a:solidFill>
              </a:rPr>
              <a:t>POVMs LHS [This talk]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7BA48D-1CA1-677C-1BBC-417F76A7A26E}"/>
              </a:ext>
            </a:extLst>
          </p:cNvPr>
          <p:cNvSpPr/>
          <p:nvPr/>
        </p:nvSpPr>
        <p:spPr>
          <a:xfrm>
            <a:off x="11310219" y="3750838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22B125B-592D-8D38-547C-CCC28A9FD1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69097" y="3748079"/>
            <a:ext cx="247336" cy="24733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EC066BD-CA40-759A-C738-6DDC2B2EC06D}"/>
              </a:ext>
            </a:extLst>
          </p:cNvPr>
          <p:cNvSpPr/>
          <p:nvPr/>
        </p:nvSpPr>
        <p:spPr>
          <a:xfrm>
            <a:off x="414374" y="5341285"/>
            <a:ext cx="11053625" cy="341205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Werner’s problem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54929F3-8D69-E5E1-0A63-D637404A68E3}"/>
              </a:ext>
            </a:extLst>
          </p:cNvPr>
          <p:cNvSpPr/>
          <p:nvPr/>
        </p:nvSpPr>
        <p:spPr>
          <a:xfrm>
            <a:off x="414374" y="5684093"/>
            <a:ext cx="11068126" cy="575745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Determine the critical LHS/steering bound of (Qubit) Werner state for general measurement (POVMs)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1E32216-6C0D-1439-9375-B015E0F620A3}"/>
              </a:ext>
            </a:extLst>
          </p:cNvPr>
          <p:cNvCxnSpPr>
            <a:cxnSpLocks/>
          </p:cNvCxnSpPr>
          <p:nvPr/>
        </p:nvCxnSpPr>
        <p:spPr>
          <a:xfrm flipH="1">
            <a:off x="-23143" y="6465802"/>
            <a:ext cx="3385254" cy="9638"/>
          </a:xfrm>
          <a:prstGeom prst="line">
            <a:avLst/>
          </a:prstGeom>
          <a:ln w="952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71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1CA32BF-6CA6-DD8A-177E-A935F70293AE}"/>
              </a:ext>
            </a:extLst>
          </p:cNvPr>
          <p:cNvSpPr/>
          <p:nvPr/>
        </p:nvSpPr>
        <p:spPr>
          <a:xfrm>
            <a:off x="1283992" y="2264853"/>
            <a:ext cx="482590" cy="461666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Measurement compatibility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0589B-7754-8BF4-FC1B-D94AD2A8D7C5}"/>
              </a:ext>
            </a:extLst>
          </p:cNvPr>
          <p:cNvSpPr/>
          <p:nvPr/>
        </p:nvSpPr>
        <p:spPr>
          <a:xfrm>
            <a:off x="971728" y="877452"/>
            <a:ext cx="1382159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Steerable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9AED2A-0250-D17B-C500-7586F07F8213}"/>
              </a:ext>
            </a:extLst>
          </p:cNvPr>
          <p:cNvCxnSpPr>
            <a:cxnSpLocks/>
          </p:cNvCxnSpPr>
          <p:nvPr/>
        </p:nvCxnSpPr>
        <p:spPr>
          <a:xfrm>
            <a:off x="6159023" y="974965"/>
            <a:ext cx="0" cy="3557278"/>
          </a:xfrm>
          <a:prstGeom prst="line">
            <a:avLst/>
          </a:prstGeom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96CACE-4589-2A73-7417-5600F5BDB67F}"/>
              </a:ext>
            </a:extLst>
          </p:cNvPr>
          <p:cNvCxnSpPr>
            <a:cxnSpLocks/>
          </p:cNvCxnSpPr>
          <p:nvPr/>
        </p:nvCxnSpPr>
        <p:spPr>
          <a:xfrm>
            <a:off x="6047263" y="1236575"/>
            <a:ext cx="13199" cy="347234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E78707-133A-9411-9D44-C8796BB3F19E}"/>
                  </a:ext>
                </a:extLst>
              </p:cNvPr>
              <p:cNvSpPr txBox="1"/>
              <p:nvPr/>
            </p:nvSpPr>
            <p:spPr>
              <a:xfrm>
                <a:off x="541456" y="3238056"/>
                <a:ext cx="4890499" cy="564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50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5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5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500" b="0" i="1" smtClean="0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500" i="1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1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500" i="1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E78707-133A-9411-9D44-C8796BB3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56" y="3238056"/>
                <a:ext cx="4890499" cy="564322"/>
              </a:xfrm>
              <a:prstGeom prst="rect">
                <a:avLst/>
              </a:prstGeom>
              <a:blipFill>
                <a:blip r:embed="rId4"/>
                <a:stretch>
                  <a:fillRect t="-166667" b="-2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08B28A2E-B31C-F2DD-79E1-FA448904BDAA}"/>
              </a:ext>
            </a:extLst>
          </p:cNvPr>
          <p:cNvGrpSpPr/>
          <p:nvPr/>
        </p:nvGrpSpPr>
        <p:grpSpPr>
          <a:xfrm>
            <a:off x="1897878" y="1866303"/>
            <a:ext cx="2065402" cy="1421878"/>
            <a:chOff x="1849052" y="1978332"/>
            <a:chExt cx="2217551" cy="15048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C8C51A-2C53-894D-0851-DA96BADC1376}"/>
                </a:ext>
              </a:extLst>
            </p:cNvPr>
            <p:cNvSpPr/>
            <p:nvPr/>
          </p:nvSpPr>
          <p:spPr>
            <a:xfrm>
              <a:off x="2216481" y="2597074"/>
              <a:ext cx="1603217" cy="176510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38C0A16-3B70-C416-B06B-EF455D87C2F3}"/>
                </a:ext>
              </a:extLst>
            </p:cNvPr>
            <p:cNvSpPr/>
            <p:nvPr/>
          </p:nvSpPr>
          <p:spPr>
            <a:xfrm>
              <a:off x="1859279" y="2363174"/>
              <a:ext cx="632848" cy="644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1FC7EAB-C27C-0305-A47E-EFFA5280B48B}"/>
                </a:ext>
              </a:extLst>
            </p:cNvPr>
            <p:cNvSpPr/>
            <p:nvPr/>
          </p:nvSpPr>
          <p:spPr>
            <a:xfrm>
              <a:off x="3433755" y="2363174"/>
              <a:ext cx="632848" cy="644310"/>
            </a:xfrm>
            <a:prstGeom prst="ellipse">
              <a:avLst/>
            </a:prstGeom>
            <a:solidFill>
              <a:srgbClr val="EE5C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66C39B9-1825-C83C-89A7-4F9C04FF9F20}"/>
                </a:ext>
              </a:extLst>
            </p:cNvPr>
            <p:cNvCxnSpPr/>
            <p:nvPr/>
          </p:nvCxnSpPr>
          <p:spPr>
            <a:xfrm>
              <a:off x="2153989" y="2062379"/>
              <a:ext cx="0" cy="2732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A5FB008-CD5B-32DF-E12D-6781AD938360}"/>
                </a:ext>
              </a:extLst>
            </p:cNvPr>
            <p:cNvCxnSpPr/>
            <p:nvPr/>
          </p:nvCxnSpPr>
          <p:spPr>
            <a:xfrm>
              <a:off x="2145765" y="3090762"/>
              <a:ext cx="0" cy="2732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B437D5-73F5-7551-FA86-CA078C234CC6}"/>
                    </a:ext>
                  </a:extLst>
                </p:cNvPr>
                <p:cNvSpPr txBox="1"/>
                <p:nvPr/>
              </p:nvSpPr>
              <p:spPr>
                <a:xfrm>
                  <a:off x="2826449" y="3068505"/>
                  <a:ext cx="250317" cy="4147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B437D5-73F5-7551-FA86-CA078C234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449" y="3068505"/>
                  <a:ext cx="250317" cy="414713"/>
                </a:xfrm>
                <a:prstGeom prst="rect">
                  <a:avLst/>
                </a:prstGeom>
                <a:blipFill>
                  <a:blip r:embed="rId5"/>
                  <a:stretch>
                    <a:fillRect r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F16DEB-3B30-9A24-0822-6F30BC2AF2C3}"/>
                    </a:ext>
                  </a:extLst>
                </p:cNvPr>
                <p:cNvSpPr txBox="1"/>
                <p:nvPr/>
              </p:nvSpPr>
              <p:spPr>
                <a:xfrm>
                  <a:off x="1849052" y="3014287"/>
                  <a:ext cx="3388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F16DEB-3B30-9A24-0822-6F30BC2AF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9052" y="3014287"/>
                  <a:ext cx="338879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3AA44845-4467-DE91-9BAD-D822FC574FF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77424" y="2428778"/>
              <a:ext cx="19758" cy="1126984"/>
            </a:xfrm>
            <a:prstGeom prst="curvedConnector3">
              <a:avLst>
                <a:gd name="adj1" fmla="val 2277559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8600B4B-B92E-5980-CCAA-F5C850CE336F}"/>
                    </a:ext>
                  </a:extLst>
                </p:cNvPr>
                <p:cNvSpPr txBox="1"/>
                <p:nvPr/>
              </p:nvSpPr>
              <p:spPr>
                <a:xfrm>
                  <a:off x="1868405" y="1978332"/>
                  <a:ext cx="2503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8600B4B-B92E-5980-CCAA-F5C850CE3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8405" y="1978332"/>
                  <a:ext cx="250317" cy="338554"/>
                </a:xfrm>
                <a:prstGeom prst="rect">
                  <a:avLst/>
                </a:prstGeom>
                <a:blipFill>
                  <a:blip r:embed="rId7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E047DEA-B228-2C39-01C8-27A6EDFD386F}"/>
              </a:ext>
            </a:extLst>
          </p:cNvPr>
          <p:cNvSpPr txBox="1"/>
          <p:nvPr/>
        </p:nvSpPr>
        <p:spPr>
          <a:xfrm>
            <a:off x="2702508" y="936016"/>
            <a:ext cx="15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LHS model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4AA072D-D7DE-8D17-8730-A0F6794C5891}"/>
              </a:ext>
            </a:extLst>
          </p:cNvPr>
          <p:cNvCxnSpPr>
            <a:cxnSpLocks/>
          </p:cNvCxnSpPr>
          <p:nvPr/>
        </p:nvCxnSpPr>
        <p:spPr>
          <a:xfrm>
            <a:off x="2441793" y="1116810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4D2C807-7797-4D65-8CB2-04C84A9B461B}"/>
                  </a:ext>
                </a:extLst>
              </p:cNvPr>
              <p:cNvSpPr txBox="1"/>
              <p:nvPr/>
            </p:nvSpPr>
            <p:spPr>
              <a:xfrm>
                <a:off x="2655384" y="1762940"/>
                <a:ext cx="2963190" cy="52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⟩⟨</m:t>
                      </m:r>
                      <m:sSup>
                        <m:sSup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|+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𝕀</m:t>
                          </m:r>
                        </m:num>
                        <m:den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4D2C807-7797-4D65-8CB2-04C84A9B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384" y="1762940"/>
                <a:ext cx="2963190" cy="523028"/>
              </a:xfrm>
              <a:prstGeom prst="rect">
                <a:avLst/>
              </a:prstGeom>
              <a:blipFill>
                <a:blip r:embed="rId8"/>
                <a:stretch>
                  <a:fillRect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CADFFA5C-DED7-5ECE-880B-65F2EE39F2BC}"/>
              </a:ext>
            </a:extLst>
          </p:cNvPr>
          <p:cNvSpPr txBox="1"/>
          <p:nvPr/>
        </p:nvSpPr>
        <p:spPr>
          <a:xfrm>
            <a:off x="1430523" y="1419058"/>
            <a:ext cx="4287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Werner state quantum steering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4E8D14-0304-C72A-D57D-2F594E0596BE}"/>
                  </a:ext>
                </a:extLst>
              </p:cNvPr>
              <p:cNvSpPr txBox="1"/>
              <p:nvPr/>
            </p:nvSpPr>
            <p:spPr>
              <a:xfrm>
                <a:off x="1230371" y="2294071"/>
                <a:ext cx="453950" cy="36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4E8D14-0304-C72A-D57D-2F594E059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371" y="2294071"/>
                <a:ext cx="453950" cy="360676"/>
              </a:xfrm>
              <a:prstGeom prst="rect">
                <a:avLst/>
              </a:prstGeom>
              <a:blipFill>
                <a:blip r:embed="rId9"/>
                <a:stretch>
                  <a:fillRect r="-16216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219A3C9-25DF-5751-42D6-DEECC2473BC5}"/>
                  </a:ext>
                </a:extLst>
              </p:cNvPr>
              <p:cNvSpPr txBox="1"/>
              <p:nvPr/>
            </p:nvSpPr>
            <p:spPr>
              <a:xfrm>
                <a:off x="3232" y="3946015"/>
                <a:ext cx="6094160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A LHS model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600" dirty="0"/>
                  <a:t> requires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a probability measure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400" dirty="0"/>
                  <a:t>;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a family of hidden state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i="1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i="1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EE5C1A"/>
                    </a:solidFill>
                  </a:rPr>
                  <a:t>;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response function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s.t.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nary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=1 ∀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.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219A3C9-25DF-5751-42D6-DEECC2473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" y="3946015"/>
                <a:ext cx="6094160" cy="984885"/>
              </a:xfrm>
              <a:prstGeom prst="rect">
                <a:avLst/>
              </a:prstGeom>
              <a:blipFill>
                <a:blip r:embed="rId10"/>
                <a:stretch>
                  <a:fillRect l="-400" t="-1852" r="-601" b="-48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D4CF8622-7655-D7E6-0D8D-C73DB07E9425}"/>
              </a:ext>
            </a:extLst>
          </p:cNvPr>
          <p:cNvSpPr/>
          <p:nvPr/>
        </p:nvSpPr>
        <p:spPr>
          <a:xfrm>
            <a:off x="6574223" y="885977"/>
            <a:ext cx="2082054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Incompatibility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701639-9FE2-A060-EC41-3D6EC44449AA}"/>
              </a:ext>
            </a:extLst>
          </p:cNvPr>
          <p:cNvSpPr txBox="1"/>
          <p:nvPr/>
        </p:nvSpPr>
        <p:spPr>
          <a:xfrm>
            <a:off x="9118119" y="936016"/>
            <a:ext cx="234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compatible model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8B19F69-B644-7EE1-084E-906812301E16}"/>
              </a:ext>
            </a:extLst>
          </p:cNvPr>
          <p:cNvCxnSpPr>
            <a:cxnSpLocks/>
          </p:cNvCxnSpPr>
          <p:nvPr/>
        </p:nvCxnSpPr>
        <p:spPr>
          <a:xfrm>
            <a:off x="8857405" y="1116810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EB15791-1713-E470-665C-C68C57F89C8E}"/>
              </a:ext>
            </a:extLst>
          </p:cNvPr>
          <p:cNvSpPr txBox="1"/>
          <p:nvPr/>
        </p:nvSpPr>
        <p:spPr>
          <a:xfrm>
            <a:off x="7220136" y="1434405"/>
            <a:ext cx="463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“Noisy” measurement compatibility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0C7626C-BC5A-AF5E-113C-F6C6F479EB91}"/>
                  </a:ext>
                </a:extLst>
              </p:cNvPr>
              <p:cNvSpPr txBox="1"/>
              <p:nvPr/>
            </p:nvSpPr>
            <p:spPr>
              <a:xfrm>
                <a:off x="7826750" y="3160310"/>
                <a:ext cx="2470354" cy="569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sz="1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50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5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b>
                        <m:sSubPr>
                          <m:ctrlPr>
                            <a:rPr lang="en-US" sz="1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0C7626C-BC5A-AF5E-113C-F6C6F479E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750" y="3160310"/>
                <a:ext cx="2470354" cy="569512"/>
              </a:xfrm>
              <a:prstGeom prst="rect">
                <a:avLst/>
              </a:prstGeom>
              <a:blipFill>
                <a:blip r:embed="rId11"/>
                <a:stretch>
                  <a:fillRect t="-164894" b="-235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75D3DAF-605D-2514-EC89-78A1200D35C5}"/>
                  </a:ext>
                </a:extLst>
              </p:cNvPr>
              <p:cNvSpPr txBox="1"/>
              <p:nvPr/>
            </p:nvSpPr>
            <p:spPr>
              <a:xfrm>
                <a:off x="6144216" y="3941422"/>
                <a:ext cx="6074959" cy="800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A Compatible model for all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requires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a parent POVM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dirty="0"/>
                  <a:t>;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response function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400" dirty="0"/>
                  <a:t> s.t.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nary>
                    <m:r>
                      <a:rPr lang="en-US" sz="1400" i="1" dirty="0">
                        <a:latin typeface="Cambria Math" panose="02040503050406030204" pitchFamily="18" charset="0"/>
                      </a:rPr>
                      <m:t>=1 ∀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. 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75D3DAF-605D-2514-EC89-78A1200D3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216" y="3941422"/>
                <a:ext cx="6074959" cy="800412"/>
              </a:xfrm>
              <a:prstGeom prst="rect">
                <a:avLst/>
              </a:prstGeom>
              <a:blipFill>
                <a:blip r:embed="rId12"/>
                <a:stretch>
                  <a:fillRect l="-402" t="-1527" r="-904" b="-61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Arrow: Left-Right 97">
            <a:extLst>
              <a:ext uri="{FF2B5EF4-FFF2-40B4-BE49-F238E27FC236}">
                <a16:creationId xmlns:a16="http://schemas.microsoft.com/office/drawing/2014/main" id="{6AA761A4-FB8D-AA43-FBCF-DE5985DB3C60}"/>
              </a:ext>
            </a:extLst>
          </p:cNvPr>
          <p:cNvSpPr/>
          <p:nvPr/>
        </p:nvSpPr>
        <p:spPr>
          <a:xfrm>
            <a:off x="5675226" y="3013531"/>
            <a:ext cx="829304" cy="183379"/>
          </a:xfrm>
          <a:prstGeom prst="leftRightArrow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67EF619-9DE3-918B-17FB-A2598C483031}"/>
                  </a:ext>
                </a:extLst>
              </p:cNvPr>
              <p:cNvSpPr txBox="1"/>
              <p:nvPr/>
            </p:nvSpPr>
            <p:spPr>
              <a:xfrm>
                <a:off x="6199752" y="1779224"/>
                <a:ext cx="2944217" cy="52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5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Tr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f>
                        <m:f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𝕀</m:t>
                          </m:r>
                        </m:num>
                        <m:den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67EF619-9DE3-918B-17FB-A2598C483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52" y="1779224"/>
                <a:ext cx="2944217" cy="523028"/>
              </a:xfrm>
              <a:prstGeom prst="rect">
                <a:avLst/>
              </a:prstGeom>
              <a:blipFill>
                <a:blip r:embed="rId1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7">
            <a:extLst>
              <a:ext uri="{FF2B5EF4-FFF2-40B4-BE49-F238E27FC236}">
                <a16:creationId xmlns:a16="http://schemas.microsoft.com/office/drawing/2014/main" id="{E0203645-6545-2284-2E5D-970EED81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2878" y="6263746"/>
            <a:ext cx="2743200" cy="365125"/>
          </a:xfrm>
        </p:spPr>
        <p:txBody>
          <a:bodyPr/>
          <a:lstStyle/>
          <a:p>
            <a:fld id="{5F6A7C64-5BD3-4F49-9C24-E80A6D4A34E5}" type="slidenum">
              <a:rPr lang="en-US" smtClean="0"/>
              <a:t>7</a:t>
            </a:fld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4161AD4-A3E2-C753-4FA1-E1B707D9C2CA}"/>
              </a:ext>
            </a:extLst>
          </p:cNvPr>
          <p:cNvSpPr/>
          <p:nvPr/>
        </p:nvSpPr>
        <p:spPr>
          <a:xfrm>
            <a:off x="535634" y="5072467"/>
            <a:ext cx="10993342" cy="311923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Incompatibility’s problem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01E726F-91E8-F1C1-A757-4A97E2644C51}"/>
              </a:ext>
            </a:extLst>
          </p:cNvPr>
          <p:cNvSpPr/>
          <p:nvPr/>
        </p:nvSpPr>
        <p:spPr>
          <a:xfrm>
            <a:off x="535634" y="5391322"/>
            <a:ext cx="11003616" cy="575745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Determine the critical (in)compatibility bound for noisy </a:t>
            </a:r>
            <a:r>
              <a:rPr lang="en-US" sz="2000" i="1" dirty="0">
                <a:solidFill>
                  <a:schemeClr val="tx1"/>
                </a:solidFill>
              </a:rPr>
              <a:t>all</a:t>
            </a:r>
            <a:r>
              <a:rPr lang="en-US" sz="2000" dirty="0">
                <a:solidFill>
                  <a:schemeClr val="tx1"/>
                </a:solidFill>
              </a:rPr>
              <a:t> PVMs and POVMs?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FE6045C-6815-CEFA-4EB5-2110855E0D69}"/>
              </a:ext>
            </a:extLst>
          </p:cNvPr>
          <p:cNvGrpSpPr/>
          <p:nvPr/>
        </p:nvGrpSpPr>
        <p:grpSpPr>
          <a:xfrm>
            <a:off x="6845910" y="2291268"/>
            <a:ext cx="5166087" cy="786657"/>
            <a:chOff x="6845910" y="2291268"/>
            <a:chExt cx="5166087" cy="7866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5FFBBE70-441C-CFD5-5CBD-24E7F6B288C0}"/>
                    </a:ext>
                  </a:extLst>
                </p:cNvPr>
                <p:cNvSpPr/>
                <p:nvPr/>
              </p:nvSpPr>
              <p:spPr>
                <a:xfrm>
                  <a:off x="10124954" y="2304325"/>
                  <a:ext cx="414303" cy="410066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5FFBBE70-441C-CFD5-5CBD-24E7F6B288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4954" y="2304325"/>
                  <a:ext cx="414303" cy="410066"/>
                </a:xfrm>
                <a:prstGeom prst="rect">
                  <a:avLst/>
                </a:prstGeom>
                <a:blipFill>
                  <a:blip r:embed="rId15"/>
                  <a:stretch>
                    <a:fillRect r="-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5086DE1-773F-3992-25C5-A676A587F8BC}"/>
                    </a:ext>
                  </a:extLst>
                </p:cNvPr>
                <p:cNvSpPr txBox="1"/>
                <p:nvPr/>
              </p:nvSpPr>
              <p:spPr>
                <a:xfrm>
                  <a:off x="6845910" y="2374142"/>
                  <a:ext cx="65238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5086DE1-773F-3992-25C5-A676A587F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5910" y="2374142"/>
                  <a:ext cx="652380" cy="6463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7C0B2D3-663C-D488-1C45-31BDF5FD2B1B}"/>
                </a:ext>
              </a:extLst>
            </p:cNvPr>
            <p:cNvSpPr/>
            <p:nvPr/>
          </p:nvSpPr>
          <p:spPr>
            <a:xfrm>
              <a:off x="10910743" y="2480000"/>
              <a:ext cx="688194" cy="44562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639974E-A7C9-8EDF-E565-5D9DDA1F6F32}"/>
                    </a:ext>
                  </a:extLst>
                </p:cNvPr>
                <p:cNvSpPr txBox="1"/>
                <p:nvPr/>
              </p:nvSpPr>
              <p:spPr>
                <a:xfrm>
                  <a:off x="10848483" y="2564313"/>
                  <a:ext cx="49836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639974E-A7C9-8EDF-E565-5D9DDA1F6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8483" y="2564313"/>
                  <a:ext cx="498366" cy="276999"/>
                </a:xfrm>
                <a:prstGeom prst="rect">
                  <a:avLst/>
                </a:prstGeom>
                <a:blipFill>
                  <a:blip r:embed="rId17"/>
                  <a:stretch>
                    <a:fillRect r="-51852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86E6682-E57E-F559-86CE-30278FF6E131}"/>
                </a:ext>
              </a:extLst>
            </p:cNvPr>
            <p:cNvSpPr/>
            <p:nvPr/>
          </p:nvSpPr>
          <p:spPr>
            <a:xfrm>
              <a:off x="7464482" y="2487752"/>
              <a:ext cx="482590" cy="461666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0ED1948-508A-DA51-BC95-94B361B8A120}"/>
                    </a:ext>
                  </a:extLst>
                </p:cNvPr>
                <p:cNvSpPr txBox="1"/>
                <p:nvPr/>
              </p:nvSpPr>
              <p:spPr>
                <a:xfrm>
                  <a:off x="7410861" y="2516970"/>
                  <a:ext cx="453950" cy="3695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0ED1948-508A-DA51-BC95-94B361B8A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0861" y="2516970"/>
                  <a:ext cx="453950" cy="369525"/>
                </a:xfrm>
                <a:prstGeom prst="rect">
                  <a:avLst/>
                </a:prstGeom>
                <a:blipFill>
                  <a:blip r:embed="rId18"/>
                  <a:stretch>
                    <a:fillRect r="-1621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AAC1C53-6A09-E820-18D0-A7434796BB47}"/>
                    </a:ext>
                  </a:extLst>
                </p:cNvPr>
                <p:cNvSpPr txBox="1"/>
                <p:nvPr/>
              </p:nvSpPr>
              <p:spPr>
                <a:xfrm>
                  <a:off x="7936462" y="2525167"/>
                  <a:ext cx="56638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AAC1C53-6A09-E820-18D0-A7434796B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6462" y="2525167"/>
                  <a:ext cx="566386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AB6BF26-70AB-BE43-DF14-EE341E87EFAB}"/>
                    </a:ext>
                  </a:extLst>
                </p:cNvPr>
                <p:cNvSpPr txBox="1"/>
                <p:nvPr/>
              </p:nvSpPr>
              <p:spPr>
                <a:xfrm>
                  <a:off x="8571708" y="2389889"/>
                  <a:ext cx="1196082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   </m:t>
                        </m:r>
                      </m:oMath>
                    </m:oMathPara>
                  </a14:m>
                  <a:endParaRPr lang="en-US" sz="3200" b="1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AB6BF26-70AB-BE43-DF14-EE341E87E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1708" y="2389889"/>
                  <a:ext cx="1196082" cy="58477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77AA047-764D-7C45-8151-ECBC19559561}"/>
                    </a:ext>
                  </a:extLst>
                </p:cNvPr>
                <p:cNvSpPr txBox="1"/>
                <p:nvPr/>
              </p:nvSpPr>
              <p:spPr>
                <a:xfrm>
                  <a:off x="9501119" y="2330800"/>
                  <a:ext cx="66459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77AA047-764D-7C45-8151-ECBC19559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1119" y="2330800"/>
                  <a:ext cx="664592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59098D9-F695-04F6-19CD-8F02EC5D9FAB}"/>
                    </a:ext>
                  </a:extLst>
                </p:cNvPr>
                <p:cNvSpPr txBox="1"/>
                <p:nvPr/>
              </p:nvSpPr>
              <p:spPr>
                <a:xfrm>
                  <a:off x="10424168" y="2291268"/>
                  <a:ext cx="625929" cy="3929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59098D9-F695-04F6-19CD-8F02EC5D9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4168" y="2291268"/>
                  <a:ext cx="625929" cy="39299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B1F2FEA-93D5-7B60-F294-17FAD912582B}"/>
                    </a:ext>
                  </a:extLst>
                </p:cNvPr>
                <p:cNvSpPr txBox="1"/>
                <p:nvPr/>
              </p:nvSpPr>
              <p:spPr>
                <a:xfrm>
                  <a:off x="8353415" y="2770148"/>
                  <a:ext cx="13691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1" dirty="0" smtClean="0"/>
                          <m:t>Simulated</m:t>
                        </m:r>
                        <m:r>
                          <m:rPr>
                            <m:nor/>
                          </m:rPr>
                          <a:rPr lang="en-US" sz="1400" b="0" i="1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1400" b="0" i="1" dirty="0" smtClean="0"/>
                          <m:t>by</m:t>
                        </m:r>
                      </m:oMath>
                    </m:oMathPara>
                  </a14:m>
                  <a:endParaRPr lang="en-US" sz="1400" i="1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B1F2FEA-93D5-7B60-F294-17FAD9125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3415" y="2770148"/>
                  <a:ext cx="1369100" cy="307777"/>
                </a:xfrm>
                <a:prstGeom prst="rect">
                  <a:avLst/>
                </a:prstGeom>
                <a:blipFill>
                  <a:blip r:embed="rId23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96C6B5B-CDAC-3ECD-E756-77277664E243}"/>
                    </a:ext>
                  </a:extLst>
                </p:cNvPr>
                <p:cNvSpPr txBox="1"/>
                <p:nvPr/>
              </p:nvSpPr>
              <p:spPr>
                <a:xfrm>
                  <a:off x="11539250" y="2513796"/>
                  <a:ext cx="472747" cy="3780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96C6B5B-CDAC-3ECD-E756-77277664E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9250" y="2513796"/>
                  <a:ext cx="472747" cy="378031"/>
                </a:xfrm>
                <a:prstGeom prst="rect">
                  <a:avLst/>
                </a:prstGeom>
                <a:blipFill>
                  <a:blip r:embed="rId24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763404F-0CA1-A74D-0727-0C8EF9B30389}"/>
                    </a:ext>
                  </a:extLst>
                </p:cNvPr>
                <p:cNvSpPr txBox="1"/>
                <p:nvPr/>
              </p:nvSpPr>
              <p:spPr>
                <a:xfrm>
                  <a:off x="10288351" y="2656646"/>
                  <a:ext cx="62175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763404F-0CA1-A74D-0727-0C8EF9B30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8351" y="2656646"/>
                  <a:ext cx="621754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DA50E5-F9A1-9703-A23A-08FCD8AAF320}"/>
                  </a:ext>
                </a:extLst>
              </p:cNvPr>
              <p:cNvSpPr txBox="1"/>
              <p:nvPr/>
            </p:nvSpPr>
            <p:spPr>
              <a:xfrm>
                <a:off x="1915903" y="6139202"/>
                <a:ext cx="9694956" cy="404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LHS model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for all PVMs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 Compatible model for all noisy ” PVMs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DA50E5-F9A1-9703-A23A-08FCD8AAF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903" y="6139202"/>
                <a:ext cx="9694956" cy="404150"/>
              </a:xfrm>
              <a:prstGeom prst="rect">
                <a:avLst/>
              </a:prstGeom>
              <a:blipFill>
                <a:blip r:embed="rId26"/>
                <a:stretch>
                  <a:fillRect l="-503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C35F592-18D6-0EA1-EDF0-521C3B95F261}"/>
              </a:ext>
            </a:extLst>
          </p:cNvPr>
          <p:cNvSpPr/>
          <p:nvPr/>
        </p:nvSpPr>
        <p:spPr>
          <a:xfrm>
            <a:off x="5205007" y="2607371"/>
            <a:ext cx="1814083" cy="1261369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738C06B-4721-A911-E16E-6CA0CD0FF380}"/>
                  </a:ext>
                </a:extLst>
              </p:cNvPr>
              <p:cNvSpPr txBox="1"/>
              <p:nvPr/>
            </p:nvSpPr>
            <p:spPr>
              <a:xfrm>
                <a:off x="5454598" y="2873951"/>
                <a:ext cx="1405252" cy="7028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1400" b="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1400" dirty="0"/>
                  <a:t>;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738C06B-4721-A911-E16E-6CA0CD0FF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598" y="2873951"/>
                <a:ext cx="1405252" cy="702821"/>
              </a:xfrm>
              <a:prstGeom prst="rect">
                <a:avLst/>
              </a:prstGeom>
              <a:blipFill>
                <a:blip r:embed="rId27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99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27" grpId="0"/>
      <p:bldP spid="48" grpId="0"/>
      <p:bldP spid="49" grpId="0"/>
      <p:bldP spid="52" grpId="0"/>
      <p:bldP spid="56" grpId="0"/>
      <p:bldP spid="60" grpId="0"/>
      <p:bldP spid="89" grpId="0"/>
      <p:bldP spid="96" grpId="0"/>
      <p:bldP spid="98" grpId="0" animBg="1"/>
      <p:bldP spid="53" grpId="0"/>
      <p:bldP spid="92" grpId="0" animBg="1"/>
      <p:bldP spid="97" grpId="0" animBg="1"/>
      <p:bldP spid="4" grpId="0"/>
      <p:bldP spid="19" grpId="0" animBg="1"/>
      <p:bldP spid="1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1CA32BF-6CA6-DD8A-177E-A935F70293AE}"/>
              </a:ext>
            </a:extLst>
          </p:cNvPr>
          <p:cNvSpPr/>
          <p:nvPr/>
        </p:nvSpPr>
        <p:spPr>
          <a:xfrm>
            <a:off x="1283992" y="2264853"/>
            <a:ext cx="482590" cy="461666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Measurement compatibility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0589B-7754-8BF4-FC1B-D94AD2A8D7C5}"/>
              </a:ext>
            </a:extLst>
          </p:cNvPr>
          <p:cNvSpPr/>
          <p:nvPr/>
        </p:nvSpPr>
        <p:spPr>
          <a:xfrm>
            <a:off x="971728" y="877452"/>
            <a:ext cx="1382159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Steerable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9AED2A-0250-D17B-C500-7586F07F8213}"/>
              </a:ext>
            </a:extLst>
          </p:cNvPr>
          <p:cNvCxnSpPr>
            <a:cxnSpLocks/>
          </p:cNvCxnSpPr>
          <p:nvPr/>
        </p:nvCxnSpPr>
        <p:spPr>
          <a:xfrm>
            <a:off x="6159023" y="974965"/>
            <a:ext cx="0" cy="3557278"/>
          </a:xfrm>
          <a:prstGeom prst="line">
            <a:avLst/>
          </a:prstGeom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96CACE-4589-2A73-7417-5600F5BDB67F}"/>
              </a:ext>
            </a:extLst>
          </p:cNvPr>
          <p:cNvCxnSpPr>
            <a:cxnSpLocks/>
          </p:cNvCxnSpPr>
          <p:nvPr/>
        </p:nvCxnSpPr>
        <p:spPr>
          <a:xfrm>
            <a:off x="6047263" y="1236575"/>
            <a:ext cx="13199" cy="347234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E78707-133A-9411-9D44-C8796BB3F19E}"/>
                  </a:ext>
                </a:extLst>
              </p:cNvPr>
              <p:cNvSpPr txBox="1"/>
              <p:nvPr/>
            </p:nvSpPr>
            <p:spPr>
              <a:xfrm>
                <a:off x="541456" y="3238056"/>
                <a:ext cx="4890499" cy="564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5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50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5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5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500" b="0" i="1" smtClean="0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500" i="1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i="1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500" i="1">
                          <a:solidFill>
                            <a:srgbClr val="EE5C1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E78707-133A-9411-9D44-C8796BB3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56" y="3238056"/>
                <a:ext cx="4890499" cy="564322"/>
              </a:xfrm>
              <a:prstGeom prst="rect">
                <a:avLst/>
              </a:prstGeom>
              <a:blipFill>
                <a:blip r:embed="rId4"/>
                <a:stretch>
                  <a:fillRect t="-166667" b="-2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08B28A2E-B31C-F2DD-79E1-FA448904BDAA}"/>
              </a:ext>
            </a:extLst>
          </p:cNvPr>
          <p:cNvGrpSpPr/>
          <p:nvPr/>
        </p:nvGrpSpPr>
        <p:grpSpPr>
          <a:xfrm>
            <a:off x="1897878" y="1866303"/>
            <a:ext cx="2065402" cy="1421878"/>
            <a:chOff x="1849052" y="1978332"/>
            <a:chExt cx="2217551" cy="15048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C8C51A-2C53-894D-0851-DA96BADC1376}"/>
                </a:ext>
              </a:extLst>
            </p:cNvPr>
            <p:cNvSpPr/>
            <p:nvPr/>
          </p:nvSpPr>
          <p:spPr>
            <a:xfrm>
              <a:off x="2216481" y="2597074"/>
              <a:ext cx="1603217" cy="176510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38C0A16-3B70-C416-B06B-EF455D87C2F3}"/>
                </a:ext>
              </a:extLst>
            </p:cNvPr>
            <p:cNvSpPr/>
            <p:nvPr/>
          </p:nvSpPr>
          <p:spPr>
            <a:xfrm>
              <a:off x="1859279" y="2363174"/>
              <a:ext cx="632848" cy="644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1FC7EAB-C27C-0305-A47E-EFFA5280B48B}"/>
                </a:ext>
              </a:extLst>
            </p:cNvPr>
            <p:cNvSpPr/>
            <p:nvPr/>
          </p:nvSpPr>
          <p:spPr>
            <a:xfrm>
              <a:off x="3433755" y="2363174"/>
              <a:ext cx="632848" cy="644310"/>
            </a:xfrm>
            <a:prstGeom prst="ellipse">
              <a:avLst/>
            </a:prstGeom>
            <a:solidFill>
              <a:srgbClr val="EE5C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66C39B9-1825-C83C-89A7-4F9C04FF9F20}"/>
                </a:ext>
              </a:extLst>
            </p:cNvPr>
            <p:cNvCxnSpPr/>
            <p:nvPr/>
          </p:nvCxnSpPr>
          <p:spPr>
            <a:xfrm>
              <a:off x="2153989" y="2062379"/>
              <a:ext cx="0" cy="2732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A5FB008-CD5B-32DF-E12D-6781AD938360}"/>
                </a:ext>
              </a:extLst>
            </p:cNvPr>
            <p:cNvCxnSpPr/>
            <p:nvPr/>
          </p:nvCxnSpPr>
          <p:spPr>
            <a:xfrm>
              <a:off x="2145765" y="3090762"/>
              <a:ext cx="0" cy="2732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B437D5-73F5-7551-FA86-CA078C234CC6}"/>
                    </a:ext>
                  </a:extLst>
                </p:cNvPr>
                <p:cNvSpPr txBox="1"/>
                <p:nvPr/>
              </p:nvSpPr>
              <p:spPr>
                <a:xfrm>
                  <a:off x="2826449" y="3068505"/>
                  <a:ext cx="250317" cy="4147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B437D5-73F5-7551-FA86-CA078C234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449" y="3068505"/>
                  <a:ext cx="250317" cy="414713"/>
                </a:xfrm>
                <a:prstGeom prst="rect">
                  <a:avLst/>
                </a:prstGeom>
                <a:blipFill>
                  <a:blip r:embed="rId5"/>
                  <a:stretch>
                    <a:fillRect r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F16DEB-3B30-9A24-0822-6F30BC2AF2C3}"/>
                    </a:ext>
                  </a:extLst>
                </p:cNvPr>
                <p:cNvSpPr txBox="1"/>
                <p:nvPr/>
              </p:nvSpPr>
              <p:spPr>
                <a:xfrm>
                  <a:off x="1849052" y="3014287"/>
                  <a:ext cx="3388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F16DEB-3B30-9A24-0822-6F30BC2AF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9052" y="3014287"/>
                  <a:ext cx="338879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3AA44845-4467-DE91-9BAD-D822FC574FF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77424" y="2428778"/>
              <a:ext cx="19758" cy="1126984"/>
            </a:xfrm>
            <a:prstGeom prst="curvedConnector3">
              <a:avLst>
                <a:gd name="adj1" fmla="val 2277559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8600B4B-B92E-5980-CCAA-F5C850CE336F}"/>
                    </a:ext>
                  </a:extLst>
                </p:cNvPr>
                <p:cNvSpPr txBox="1"/>
                <p:nvPr/>
              </p:nvSpPr>
              <p:spPr>
                <a:xfrm>
                  <a:off x="1868405" y="1978332"/>
                  <a:ext cx="2503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8600B4B-B92E-5980-CCAA-F5C850CE3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8405" y="1978332"/>
                  <a:ext cx="250317" cy="338554"/>
                </a:xfrm>
                <a:prstGeom prst="rect">
                  <a:avLst/>
                </a:prstGeom>
                <a:blipFill>
                  <a:blip r:embed="rId7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E047DEA-B228-2C39-01C8-27A6EDFD386F}"/>
              </a:ext>
            </a:extLst>
          </p:cNvPr>
          <p:cNvSpPr txBox="1"/>
          <p:nvPr/>
        </p:nvSpPr>
        <p:spPr>
          <a:xfrm>
            <a:off x="2702508" y="936016"/>
            <a:ext cx="15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LHS model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4AA072D-D7DE-8D17-8730-A0F6794C5891}"/>
              </a:ext>
            </a:extLst>
          </p:cNvPr>
          <p:cNvCxnSpPr>
            <a:cxnSpLocks/>
          </p:cNvCxnSpPr>
          <p:nvPr/>
        </p:nvCxnSpPr>
        <p:spPr>
          <a:xfrm>
            <a:off x="2441793" y="1116810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4D2C807-7797-4D65-8CB2-04C84A9B461B}"/>
                  </a:ext>
                </a:extLst>
              </p:cNvPr>
              <p:cNvSpPr txBox="1"/>
              <p:nvPr/>
            </p:nvSpPr>
            <p:spPr>
              <a:xfrm>
                <a:off x="2655384" y="1762940"/>
                <a:ext cx="2963190" cy="52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⟩⟨</m:t>
                      </m:r>
                      <m:sSup>
                        <m:sSup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|+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𝕀</m:t>
                          </m:r>
                        </m:num>
                        <m:den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4D2C807-7797-4D65-8CB2-04C84A9B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384" y="1762940"/>
                <a:ext cx="2963190" cy="523028"/>
              </a:xfrm>
              <a:prstGeom prst="rect">
                <a:avLst/>
              </a:prstGeom>
              <a:blipFill>
                <a:blip r:embed="rId8"/>
                <a:stretch>
                  <a:fillRect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CADFFA5C-DED7-5ECE-880B-65F2EE39F2BC}"/>
              </a:ext>
            </a:extLst>
          </p:cNvPr>
          <p:cNvSpPr txBox="1"/>
          <p:nvPr/>
        </p:nvSpPr>
        <p:spPr>
          <a:xfrm>
            <a:off x="1430523" y="1419058"/>
            <a:ext cx="4287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Werner state quantum steering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4E8D14-0304-C72A-D57D-2F594E0596BE}"/>
                  </a:ext>
                </a:extLst>
              </p:cNvPr>
              <p:cNvSpPr txBox="1"/>
              <p:nvPr/>
            </p:nvSpPr>
            <p:spPr>
              <a:xfrm>
                <a:off x="1230371" y="2294071"/>
                <a:ext cx="453950" cy="36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4E8D14-0304-C72A-D57D-2F594E059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371" y="2294071"/>
                <a:ext cx="453950" cy="360676"/>
              </a:xfrm>
              <a:prstGeom prst="rect">
                <a:avLst/>
              </a:prstGeom>
              <a:blipFill>
                <a:blip r:embed="rId9"/>
                <a:stretch>
                  <a:fillRect r="-16216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219A3C9-25DF-5751-42D6-DEECC2473BC5}"/>
                  </a:ext>
                </a:extLst>
              </p:cNvPr>
              <p:cNvSpPr txBox="1"/>
              <p:nvPr/>
            </p:nvSpPr>
            <p:spPr>
              <a:xfrm>
                <a:off x="3232" y="3946015"/>
                <a:ext cx="6094160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A LHS model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600" dirty="0"/>
                  <a:t> requires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a probability measure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400" dirty="0"/>
                  <a:t>;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a family of hidden state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i="1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i="1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EE5C1A"/>
                    </a:solidFill>
                  </a:rPr>
                  <a:t>;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response function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s.t.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nary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=1 ∀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.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219A3C9-25DF-5751-42D6-DEECC2473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" y="3946015"/>
                <a:ext cx="6094160" cy="984885"/>
              </a:xfrm>
              <a:prstGeom prst="rect">
                <a:avLst/>
              </a:prstGeom>
              <a:blipFill>
                <a:blip r:embed="rId10"/>
                <a:stretch>
                  <a:fillRect l="-400" t="-1852" r="-601" b="-48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D4CF8622-7655-D7E6-0D8D-C73DB07E9425}"/>
              </a:ext>
            </a:extLst>
          </p:cNvPr>
          <p:cNvSpPr/>
          <p:nvPr/>
        </p:nvSpPr>
        <p:spPr>
          <a:xfrm>
            <a:off x="6574223" y="885977"/>
            <a:ext cx="2082054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Incompatibility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701639-9FE2-A060-EC41-3D6EC44449AA}"/>
              </a:ext>
            </a:extLst>
          </p:cNvPr>
          <p:cNvSpPr txBox="1"/>
          <p:nvPr/>
        </p:nvSpPr>
        <p:spPr>
          <a:xfrm>
            <a:off x="9118119" y="936016"/>
            <a:ext cx="234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compatible model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8B19F69-B644-7EE1-084E-906812301E16}"/>
              </a:ext>
            </a:extLst>
          </p:cNvPr>
          <p:cNvCxnSpPr>
            <a:cxnSpLocks/>
          </p:cNvCxnSpPr>
          <p:nvPr/>
        </p:nvCxnSpPr>
        <p:spPr>
          <a:xfrm>
            <a:off x="8857405" y="1116810"/>
            <a:ext cx="294640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EB15791-1713-E470-665C-C68C57F89C8E}"/>
              </a:ext>
            </a:extLst>
          </p:cNvPr>
          <p:cNvSpPr txBox="1"/>
          <p:nvPr/>
        </p:nvSpPr>
        <p:spPr>
          <a:xfrm>
            <a:off x="7220136" y="1434405"/>
            <a:ext cx="463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“Noisy” measurement compatibility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0C7626C-BC5A-AF5E-113C-F6C6F479EB91}"/>
                  </a:ext>
                </a:extLst>
              </p:cNvPr>
              <p:cNvSpPr txBox="1"/>
              <p:nvPr/>
            </p:nvSpPr>
            <p:spPr>
              <a:xfrm>
                <a:off x="7826750" y="3160310"/>
                <a:ext cx="2470354" cy="569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15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sz="1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50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5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b>
                        <m:sSubPr>
                          <m:ctrlPr>
                            <a:rPr lang="en-US" sz="1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0C7626C-BC5A-AF5E-113C-F6C6F479E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750" y="3160310"/>
                <a:ext cx="2470354" cy="569512"/>
              </a:xfrm>
              <a:prstGeom prst="rect">
                <a:avLst/>
              </a:prstGeom>
              <a:blipFill>
                <a:blip r:embed="rId11"/>
                <a:stretch>
                  <a:fillRect t="-164894" b="-235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75D3DAF-605D-2514-EC89-78A1200D35C5}"/>
                  </a:ext>
                </a:extLst>
              </p:cNvPr>
              <p:cNvSpPr txBox="1"/>
              <p:nvPr/>
            </p:nvSpPr>
            <p:spPr>
              <a:xfrm>
                <a:off x="6144216" y="3941422"/>
                <a:ext cx="6074959" cy="800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A Compatible model for 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requires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a parent POVM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dirty="0"/>
                  <a:t>; 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response function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1400" dirty="0"/>
                  <a:t> s.t.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nary>
                    <m:r>
                      <a:rPr lang="en-US" sz="1400" i="1" dirty="0">
                        <a:latin typeface="Cambria Math" panose="02040503050406030204" pitchFamily="18" charset="0"/>
                      </a:rPr>
                      <m:t>=1 ∀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. 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75D3DAF-605D-2514-EC89-78A1200D3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216" y="3941422"/>
                <a:ext cx="6074959" cy="800412"/>
              </a:xfrm>
              <a:prstGeom prst="rect">
                <a:avLst/>
              </a:prstGeom>
              <a:blipFill>
                <a:blip r:embed="rId12"/>
                <a:stretch>
                  <a:fillRect l="-402" t="-1527" r="-904" b="-61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Arrow: Left-Right 97">
            <a:extLst>
              <a:ext uri="{FF2B5EF4-FFF2-40B4-BE49-F238E27FC236}">
                <a16:creationId xmlns:a16="http://schemas.microsoft.com/office/drawing/2014/main" id="{6AA761A4-FB8D-AA43-FBCF-DE5985DB3C60}"/>
              </a:ext>
            </a:extLst>
          </p:cNvPr>
          <p:cNvSpPr/>
          <p:nvPr/>
        </p:nvSpPr>
        <p:spPr>
          <a:xfrm>
            <a:off x="5675226" y="3013531"/>
            <a:ext cx="829304" cy="183379"/>
          </a:xfrm>
          <a:prstGeom prst="leftRightArrow">
            <a:avLst/>
          </a:prstGeom>
          <a:solidFill>
            <a:srgbClr val="EE5C1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67EF619-9DE3-918B-17FB-A2598C483031}"/>
                  </a:ext>
                </a:extLst>
              </p:cNvPr>
              <p:cNvSpPr txBox="1"/>
              <p:nvPr/>
            </p:nvSpPr>
            <p:spPr>
              <a:xfrm>
                <a:off x="6199752" y="1779224"/>
                <a:ext cx="2944217" cy="52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5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Tr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f>
                        <m:f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𝕀</m:t>
                          </m:r>
                        </m:num>
                        <m:den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67EF619-9DE3-918B-17FB-A2598C483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52" y="1779224"/>
                <a:ext cx="2944217" cy="523028"/>
              </a:xfrm>
              <a:prstGeom prst="rect">
                <a:avLst/>
              </a:prstGeom>
              <a:blipFill>
                <a:blip r:embed="rId1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7">
            <a:extLst>
              <a:ext uri="{FF2B5EF4-FFF2-40B4-BE49-F238E27FC236}">
                <a16:creationId xmlns:a16="http://schemas.microsoft.com/office/drawing/2014/main" id="{E0203645-6545-2284-2E5D-970EED81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2878" y="6263746"/>
            <a:ext cx="2743200" cy="365125"/>
          </a:xfrm>
        </p:spPr>
        <p:txBody>
          <a:bodyPr/>
          <a:lstStyle/>
          <a:p>
            <a:fld id="{5F6A7C64-5BD3-4F49-9C24-E80A6D4A34E5}" type="slidenum">
              <a:rPr lang="en-US" smtClean="0"/>
              <a:t>8</a:t>
            </a:fld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4161AD4-A3E2-C753-4FA1-E1B707D9C2CA}"/>
              </a:ext>
            </a:extLst>
          </p:cNvPr>
          <p:cNvSpPr/>
          <p:nvPr/>
        </p:nvSpPr>
        <p:spPr>
          <a:xfrm>
            <a:off x="535634" y="5072467"/>
            <a:ext cx="10993342" cy="311923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Incompatibility’s problem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01E726F-91E8-F1C1-A757-4A97E2644C51}"/>
              </a:ext>
            </a:extLst>
          </p:cNvPr>
          <p:cNvSpPr/>
          <p:nvPr/>
        </p:nvSpPr>
        <p:spPr>
          <a:xfrm>
            <a:off x="535634" y="5391322"/>
            <a:ext cx="11003616" cy="575745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Determine the critical (in)compatibility bound for </a:t>
            </a:r>
            <a:r>
              <a:rPr lang="en-US" sz="2000" i="1" dirty="0">
                <a:solidFill>
                  <a:schemeClr val="tx1"/>
                </a:solidFill>
              </a:rPr>
              <a:t>all </a:t>
            </a:r>
            <a:r>
              <a:rPr lang="en-US" sz="2000" dirty="0">
                <a:solidFill>
                  <a:schemeClr val="tx1"/>
                </a:solidFill>
              </a:rPr>
              <a:t>noisy PVMs and POVMs?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FE6045C-6815-CEFA-4EB5-2110855E0D69}"/>
              </a:ext>
            </a:extLst>
          </p:cNvPr>
          <p:cNvGrpSpPr/>
          <p:nvPr/>
        </p:nvGrpSpPr>
        <p:grpSpPr>
          <a:xfrm>
            <a:off x="6845910" y="2291268"/>
            <a:ext cx="5166087" cy="786657"/>
            <a:chOff x="6845910" y="2291268"/>
            <a:chExt cx="5166087" cy="7866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5FFBBE70-441C-CFD5-5CBD-24E7F6B288C0}"/>
                    </a:ext>
                  </a:extLst>
                </p:cNvPr>
                <p:cNvSpPr/>
                <p:nvPr/>
              </p:nvSpPr>
              <p:spPr>
                <a:xfrm>
                  <a:off x="10124954" y="2304325"/>
                  <a:ext cx="414303" cy="410066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5FFBBE70-441C-CFD5-5CBD-24E7F6B288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4954" y="2304325"/>
                  <a:ext cx="414303" cy="410066"/>
                </a:xfrm>
                <a:prstGeom prst="rect">
                  <a:avLst/>
                </a:prstGeom>
                <a:blipFill>
                  <a:blip r:embed="rId14"/>
                  <a:stretch>
                    <a:fillRect r="-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5086DE1-773F-3992-25C5-A676A587F8BC}"/>
                    </a:ext>
                  </a:extLst>
                </p:cNvPr>
                <p:cNvSpPr txBox="1"/>
                <p:nvPr/>
              </p:nvSpPr>
              <p:spPr>
                <a:xfrm>
                  <a:off x="6845910" y="2374142"/>
                  <a:ext cx="65238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5086DE1-773F-3992-25C5-A676A587F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5910" y="2374142"/>
                  <a:ext cx="652380" cy="6463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7C0B2D3-663C-D488-1C45-31BDF5FD2B1B}"/>
                </a:ext>
              </a:extLst>
            </p:cNvPr>
            <p:cNvSpPr/>
            <p:nvPr/>
          </p:nvSpPr>
          <p:spPr>
            <a:xfrm>
              <a:off x="10910743" y="2480000"/>
              <a:ext cx="688194" cy="44562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639974E-A7C9-8EDF-E565-5D9DDA1F6F32}"/>
                    </a:ext>
                  </a:extLst>
                </p:cNvPr>
                <p:cNvSpPr txBox="1"/>
                <p:nvPr/>
              </p:nvSpPr>
              <p:spPr>
                <a:xfrm>
                  <a:off x="10848483" y="2564313"/>
                  <a:ext cx="49836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639974E-A7C9-8EDF-E565-5D9DDA1F6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8483" y="2564313"/>
                  <a:ext cx="498366" cy="276999"/>
                </a:xfrm>
                <a:prstGeom prst="rect">
                  <a:avLst/>
                </a:prstGeom>
                <a:blipFill>
                  <a:blip r:embed="rId16"/>
                  <a:stretch>
                    <a:fillRect r="-51852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86E6682-E57E-F559-86CE-30278FF6E131}"/>
                </a:ext>
              </a:extLst>
            </p:cNvPr>
            <p:cNvSpPr/>
            <p:nvPr/>
          </p:nvSpPr>
          <p:spPr>
            <a:xfrm>
              <a:off x="7464482" y="2487752"/>
              <a:ext cx="482590" cy="461666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0ED1948-508A-DA51-BC95-94B361B8A120}"/>
                    </a:ext>
                  </a:extLst>
                </p:cNvPr>
                <p:cNvSpPr txBox="1"/>
                <p:nvPr/>
              </p:nvSpPr>
              <p:spPr>
                <a:xfrm>
                  <a:off x="7410861" y="2516970"/>
                  <a:ext cx="453950" cy="3695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0ED1948-508A-DA51-BC95-94B361B8A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0861" y="2516970"/>
                  <a:ext cx="453950" cy="369525"/>
                </a:xfrm>
                <a:prstGeom prst="rect">
                  <a:avLst/>
                </a:prstGeom>
                <a:blipFill>
                  <a:blip r:embed="rId17"/>
                  <a:stretch>
                    <a:fillRect r="-1621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AAC1C53-6A09-E820-18D0-A7434796BB47}"/>
                    </a:ext>
                  </a:extLst>
                </p:cNvPr>
                <p:cNvSpPr txBox="1"/>
                <p:nvPr/>
              </p:nvSpPr>
              <p:spPr>
                <a:xfrm>
                  <a:off x="7936462" y="2525167"/>
                  <a:ext cx="56638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AAC1C53-6A09-E820-18D0-A7434796B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6462" y="2525167"/>
                  <a:ext cx="56638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AB6BF26-70AB-BE43-DF14-EE341E87EFAB}"/>
                    </a:ext>
                  </a:extLst>
                </p:cNvPr>
                <p:cNvSpPr txBox="1"/>
                <p:nvPr/>
              </p:nvSpPr>
              <p:spPr>
                <a:xfrm>
                  <a:off x="8571708" y="2389889"/>
                  <a:ext cx="1196082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   </m:t>
                        </m:r>
                      </m:oMath>
                    </m:oMathPara>
                  </a14:m>
                  <a:endParaRPr lang="en-US" sz="3200" b="1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AB6BF26-70AB-BE43-DF14-EE341E87E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1708" y="2389889"/>
                  <a:ext cx="1196082" cy="58477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77AA047-764D-7C45-8151-ECBC19559561}"/>
                    </a:ext>
                  </a:extLst>
                </p:cNvPr>
                <p:cNvSpPr txBox="1"/>
                <p:nvPr/>
              </p:nvSpPr>
              <p:spPr>
                <a:xfrm>
                  <a:off x="9501119" y="2330800"/>
                  <a:ext cx="66459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77AA047-764D-7C45-8151-ECBC19559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1119" y="2330800"/>
                  <a:ext cx="664592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59098D9-F695-04F6-19CD-8F02EC5D9FAB}"/>
                    </a:ext>
                  </a:extLst>
                </p:cNvPr>
                <p:cNvSpPr txBox="1"/>
                <p:nvPr/>
              </p:nvSpPr>
              <p:spPr>
                <a:xfrm>
                  <a:off x="10424168" y="2291268"/>
                  <a:ext cx="625929" cy="3929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59098D9-F695-04F6-19CD-8F02EC5D9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4168" y="2291268"/>
                  <a:ext cx="625929" cy="39299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B1F2FEA-93D5-7B60-F294-17FAD912582B}"/>
                    </a:ext>
                  </a:extLst>
                </p:cNvPr>
                <p:cNvSpPr txBox="1"/>
                <p:nvPr/>
              </p:nvSpPr>
              <p:spPr>
                <a:xfrm>
                  <a:off x="8353415" y="2770148"/>
                  <a:ext cx="13691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1" dirty="0" smtClean="0"/>
                          <m:t>Simulated</m:t>
                        </m:r>
                        <m:r>
                          <m:rPr>
                            <m:nor/>
                          </m:rPr>
                          <a:rPr lang="en-US" sz="1400" b="0" i="1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1400" b="0" i="1" dirty="0" smtClean="0"/>
                          <m:t>by</m:t>
                        </m:r>
                      </m:oMath>
                    </m:oMathPara>
                  </a14:m>
                  <a:endParaRPr lang="en-US" sz="1400" i="1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B1F2FEA-93D5-7B60-F294-17FAD9125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3415" y="2770148"/>
                  <a:ext cx="1369100" cy="307777"/>
                </a:xfrm>
                <a:prstGeom prst="rect">
                  <a:avLst/>
                </a:prstGeom>
                <a:blipFill>
                  <a:blip r:embed="rId22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96C6B5B-CDAC-3ECD-E756-77277664E243}"/>
                    </a:ext>
                  </a:extLst>
                </p:cNvPr>
                <p:cNvSpPr txBox="1"/>
                <p:nvPr/>
              </p:nvSpPr>
              <p:spPr>
                <a:xfrm>
                  <a:off x="11539250" y="2513796"/>
                  <a:ext cx="472747" cy="3780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96C6B5B-CDAC-3ECD-E756-77277664E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9250" y="2513796"/>
                  <a:ext cx="472747" cy="378031"/>
                </a:xfrm>
                <a:prstGeom prst="rect">
                  <a:avLst/>
                </a:prstGeom>
                <a:blipFill>
                  <a:blip r:embed="rId23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763404F-0CA1-A74D-0727-0C8EF9B30389}"/>
                    </a:ext>
                  </a:extLst>
                </p:cNvPr>
                <p:cNvSpPr txBox="1"/>
                <p:nvPr/>
              </p:nvSpPr>
              <p:spPr>
                <a:xfrm>
                  <a:off x="10288351" y="2656646"/>
                  <a:ext cx="62175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763404F-0CA1-A74D-0727-0C8EF9B30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8351" y="2656646"/>
                  <a:ext cx="621754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DA50E5-F9A1-9703-A23A-08FCD8AAF320}"/>
                  </a:ext>
                </a:extLst>
              </p:cNvPr>
              <p:cNvSpPr txBox="1"/>
              <p:nvPr/>
            </p:nvSpPr>
            <p:spPr>
              <a:xfrm>
                <a:off x="1754377" y="6156338"/>
                <a:ext cx="9694956" cy="404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LHS model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for all POVMs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 Compatible model for all noisy ” POVMs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DA50E5-F9A1-9703-A23A-08FCD8AAF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377" y="6156338"/>
                <a:ext cx="9694956" cy="404150"/>
              </a:xfrm>
              <a:prstGeom prst="rect">
                <a:avLst/>
              </a:prstGeom>
              <a:blipFill>
                <a:blip r:embed="rId25"/>
                <a:stretch>
                  <a:fillRect l="-566" t="-757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C35F592-18D6-0EA1-EDF0-521C3B95F261}"/>
              </a:ext>
            </a:extLst>
          </p:cNvPr>
          <p:cNvSpPr/>
          <p:nvPr/>
        </p:nvSpPr>
        <p:spPr>
          <a:xfrm>
            <a:off x="5205007" y="2607371"/>
            <a:ext cx="1814083" cy="1261369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738C06B-4721-A911-E16E-6CA0CD0FF380}"/>
                  </a:ext>
                </a:extLst>
              </p:cNvPr>
              <p:cNvSpPr txBox="1"/>
              <p:nvPr/>
            </p:nvSpPr>
            <p:spPr>
              <a:xfrm>
                <a:off x="5454598" y="2873951"/>
                <a:ext cx="1405252" cy="7028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1400" b="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1400" dirty="0"/>
                  <a:t>;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738C06B-4721-A911-E16E-6CA0CD0FF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598" y="2873951"/>
                <a:ext cx="1405252" cy="702821"/>
              </a:xfrm>
              <a:prstGeom prst="rect">
                <a:avLst/>
              </a:prstGeom>
              <a:blipFill>
                <a:blip r:embed="rId26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830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PVMs vs POVMs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00589B-7754-8BF4-FC1B-D94AD2A8D7C5}"/>
                  </a:ext>
                </a:extLst>
              </p:cNvPr>
              <p:cNvSpPr/>
              <p:nvPr/>
            </p:nvSpPr>
            <p:spPr>
              <a:xfrm>
                <a:off x="244785" y="1579620"/>
                <a:ext cx="8796474" cy="46166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Projection </a:t>
                </a:r>
                <a:r>
                  <a:rPr lang="en-US" sz="2400">
                    <a:solidFill>
                      <a:schemeClr val="tx1"/>
                    </a:solidFill>
                  </a:rPr>
                  <a:t>valued measure:   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POVM 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00589B-7754-8BF4-FC1B-D94AD2A8D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85" y="1579620"/>
                <a:ext cx="879647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4CF8622-7655-D7E6-0D8D-C73DB07E9425}"/>
                  </a:ext>
                </a:extLst>
              </p:cNvPr>
              <p:cNvSpPr/>
              <p:nvPr/>
            </p:nvSpPr>
            <p:spPr>
              <a:xfrm>
                <a:off x="244785" y="983406"/>
                <a:ext cx="8796474" cy="46166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Positive operator-valued measure: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&amp;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nary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𝕀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4CF8622-7655-D7E6-0D8D-C73DB07E9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85" y="983406"/>
                <a:ext cx="879647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08A60F4-05AC-1EFF-783D-022EF00E9052}"/>
              </a:ext>
            </a:extLst>
          </p:cNvPr>
          <p:cNvSpPr txBox="1"/>
          <p:nvPr/>
        </p:nvSpPr>
        <p:spPr>
          <a:xfrm>
            <a:off x="123286" y="3029775"/>
            <a:ext cx="11477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*From Naimark’s theorem, POVMs can be obtained from PVMs acting on a larger space.  But in a fixed dimension, there are </a:t>
            </a:r>
            <a:r>
              <a:rPr lang="en-US" sz="1400" i="1" u="sng" dirty="0"/>
              <a:t>extremal nonprojective POVMs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AB194E-1D9B-2C43-6037-1AB79DB4B02A}"/>
              </a:ext>
            </a:extLst>
          </p:cNvPr>
          <p:cNvSpPr/>
          <p:nvPr/>
        </p:nvSpPr>
        <p:spPr>
          <a:xfrm>
            <a:off x="242141" y="2175834"/>
            <a:ext cx="10993342" cy="311923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Problem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13F40F-C7ED-D90F-0BE6-DFAC24CB0214}"/>
              </a:ext>
            </a:extLst>
          </p:cNvPr>
          <p:cNvSpPr/>
          <p:nvPr/>
        </p:nvSpPr>
        <p:spPr>
          <a:xfrm>
            <a:off x="242141" y="2494689"/>
            <a:ext cx="11003616" cy="575745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In what tasks, nonprojective POVMs could present advantage over PVMs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7A7F24-E5CB-625F-72CE-23BA1DD336BF}"/>
              </a:ext>
            </a:extLst>
          </p:cNvPr>
          <p:cNvSpPr txBox="1"/>
          <p:nvPr/>
        </p:nvSpPr>
        <p:spPr>
          <a:xfrm>
            <a:off x="468166" y="3397818"/>
            <a:ext cx="1076731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quantum state tomography (Renes 2003),  e.g.,  the use of SIC-POVM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quantum state discrimination (Peres 1988), e.g., Unambiguous discrimination of nonorthogonal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quantum metrology (Zhou 2020), Randomness generation (</a:t>
            </a:r>
            <a:r>
              <a:rPr lang="en-US" dirty="0" err="1"/>
              <a:t>Brask</a:t>
            </a:r>
            <a:r>
              <a:rPr lang="en-US" dirty="0"/>
              <a:t> 2017), in protocols using Pretty good measurement (Ishizaka 2008, </a:t>
            </a:r>
            <a:r>
              <a:rPr lang="en-US" dirty="0" err="1"/>
              <a:t>Leditzky</a:t>
            </a:r>
            <a:r>
              <a:rPr lang="en-US" dirty="0"/>
              <a:t> 2022) and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achieving a larger violation in Bell scenario (</a:t>
            </a:r>
            <a:r>
              <a:rPr lang="en-US" dirty="0" err="1"/>
              <a:t>Vértesi</a:t>
            </a:r>
            <a:r>
              <a:rPr lang="en-US" dirty="0"/>
              <a:t> 2010).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08A34CF8-4358-53D9-D1A1-3AC17194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2878" y="6263746"/>
            <a:ext cx="2743200" cy="365125"/>
          </a:xfrm>
        </p:spPr>
        <p:txBody>
          <a:bodyPr/>
          <a:lstStyle/>
          <a:p>
            <a:fld id="{5F6A7C64-5BD3-4F49-9C24-E80A6D4A34E5}" type="slidenum">
              <a:rPr lang="en-US" smtClean="0"/>
              <a:t>9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132E9-9474-63AC-BA5B-165F260F5619}"/>
              </a:ext>
            </a:extLst>
          </p:cNvPr>
          <p:cNvSpPr/>
          <p:nvPr/>
        </p:nvSpPr>
        <p:spPr>
          <a:xfrm>
            <a:off x="252415" y="5487466"/>
            <a:ext cx="10993342" cy="311923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Simulation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9BEFE6-A68A-C882-3D41-4128B5CA9E7E}"/>
              </a:ext>
            </a:extLst>
          </p:cNvPr>
          <p:cNvSpPr/>
          <p:nvPr/>
        </p:nvSpPr>
        <p:spPr>
          <a:xfrm>
            <a:off x="252415" y="5806321"/>
            <a:ext cx="11003616" cy="575745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e.g., In what quantum steering tasks,  PVMs can not reveal quantumness, while POVM can?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63F0E2-3820-811B-4FB6-08FE362C36C6}"/>
              </a:ext>
            </a:extLst>
          </p:cNvPr>
          <p:cNvCxnSpPr>
            <a:cxnSpLocks/>
          </p:cNvCxnSpPr>
          <p:nvPr/>
        </p:nvCxnSpPr>
        <p:spPr>
          <a:xfrm flipH="1" flipV="1">
            <a:off x="5361126" y="6282710"/>
            <a:ext cx="377686" cy="262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E270EE-770B-D2AF-A942-E4E4EC0103A8}"/>
              </a:ext>
            </a:extLst>
          </p:cNvPr>
          <p:cNvSpPr txBox="1"/>
          <p:nvPr/>
        </p:nvSpPr>
        <p:spPr>
          <a:xfrm>
            <a:off x="5655364" y="6446308"/>
            <a:ext cx="4880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*the classical simulation may require unbounded resource </a:t>
            </a:r>
          </a:p>
        </p:txBody>
      </p:sp>
    </p:spTree>
    <p:extLst>
      <p:ext uri="{BB962C8B-B14F-4D97-AF65-F5344CB8AC3E}">
        <p14:creationId xmlns:p14="http://schemas.microsoft.com/office/powerpoint/2010/main" val="227141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7" grpId="0" animBg="1"/>
      <p:bldP spid="12" grpId="0" animBg="1"/>
      <p:bldP spid="15" grpId="0" animBg="1"/>
      <p:bldP spid="2" grpId="0" animBg="1"/>
      <p:bldP spid="7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FE2F7B9-9269-FFC1-F517-B81CE4FE6B3A}"/>
                  </a:ext>
                </a:extLst>
              </p:cNvPr>
              <p:cNvSpPr/>
              <p:nvPr/>
            </p:nvSpPr>
            <p:spPr>
              <a:xfrm>
                <a:off x="615632" y="1315379"/>
                <a:ext cx="10982161" cy="2204089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FE2F7B9-9269-FFC1-F517-B81CE4FE6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2" y="1315379"/>
                <a:ext cx="10982161" cy="2204089"/>
              </a:xfrm>
              <a:prstGeom prst="rect">
                <a:avLst/>
              </a:prstGeom>
              <a:blipFill>
                <a:blip r:embed="rId3"/>
                <a:stretch>
                  <a:fillRect l="-221"/>
                </a:stretch>
              </a:blipFill>
              <a:ln w="444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Compatible model: W</a:t>
            </a:r>
            <a:r>
              <a:rPr lang="en-US" altLang="zh-CN" sz="3600" dirty="0"/>
              <a:t>erner’s model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637CDA-A80E-68AC-7C04-CF6C2D1DC753}"/>
              </a:ext>
            </a:extLst>
          </p:cNvPr>
          <p:cNvSpPr txBox="1"/>
          <p:nvPr/>
        </p:nvSpPr>
        <p:spPr>
          <a:xfrm>
            <a:off x="233680" y="741791"/>
            <a:ext cx="11477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start with simple example (Werner 1989):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98EF2-4800-79EC-E84F-85E9D392772B}"/>
                  </a:ext>
                </a:extLst>
              </p:cNvPr>
              <p:cNvSpPr txBox="1"/>
              <p:nvPr/>
            </p:nvSpPr>
            <p:spPr>
              <a:xfrm>
                <a:off x="638491" y="1352529"/>
                <a:ext cx="10839129" cy="196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/>
                  <a:t>Compatible model for all noisy PVMs:</a:t>
                </a:r>
              </a:p>
              <a:p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For qubit state, the classes of PVMs can be parameterized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be simulated by </a:t>
                </a:r>
                <a:r>
                  <a:rPr lang="en-US" dirty="0">
                    <a:solidFill>
                      <a:srgbClr val="0070C0"/>
                    </a:solidFill>
                  </a:rPr>
                  <a:t>Parent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acc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acc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EE5C1A"/>
                    </a:solidFill>
                  </a:rPr>
                  <a:t>response function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6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  <m:r>
                          <a:rPr lang="en-US" sz="16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16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(± 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6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sz="16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EE5C1A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±|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=1/2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𝒮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±</m:t>
                          </m:r>
                        </m: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acc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𝒮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(± </m:t>
                      </m:r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r>
                        <a:rPr lang="en-US" sz="16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𝕀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acc>
                      <m:r>
                        <a:rPr lang="en-US" sz="160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r>
                        <a:rPr lang="en-US" sz="16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98EF2-4800-79EC-E84F-85E9D3927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91" y="1352529"/>
                <a:ext cx="10839129" cy="1968744"/>
              </a:xfrm>
              <a:prstGeom prst="rect">
                <a:avLst/>
              </a:prstGeom>
              <a:blipFill>
                <a:blip r:embed="rId5"/>
                <a:stretch>
                  <a:fillRect l="-619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CE1EAF-DB0E-6981-4C89-F7381EE9B03D}"/>
              </a:ext>
            </a:extLst>
          </p:cNvPr>
          <p:cNvCxnSpPr>
            <a:cxnSpLocks/>
          </p:cNvCxnSpPr>
          <p:nvPr/>
        </p:nvCxnSpPr>
        <p:spPr>
          <a:xfrm>
            <a:off x="10667652" y="2128062"/>
            <a:ext cx="0" cy="230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DA30C9-8591-9E4C-68E3-FC88015BDB7A}"/>
              </a:ext>
            </a:extLst>
          </p:cNvPr>
          <p:cNvSpPr txBox="1"/>
          <p:nvPr/>
        </p:nvSpPr>
        <p:spPr>
          <a:xfrm>
            <a:off x="10146295" y="1836757"/>
            <a:ext cx="133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Step function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07D271-DAE6-3333-B6BA-1842F8B5FED4}"/>
              </a:ext>
            </a:extLst>
          </p:cNvPr>
          <p:cNvGrpSpPr/>
          <p:nvPr/>
        </p:nvGrpSpPr>
        <p:grpSpPr>
          <a:xfrm rot="3156560">
            <a:off x="498650" y="3699967"/>
            <a:ext cx="1761928" cy="1825032"/>
            <a:chOff x="717750" y="1441199"/>
            <a:chExt cx="3666066" cy="3675492"/>
          </a:xfrm>
        </p:grpSpPr>
        <p:sp>
          <p:nvSpPr>
            <p:cNvPr id="16" name="Partial Circle 15">
              <a:extLst>
                <a:ext uri="{FF2B5EF4-FFF2-40B4-BE49-F238E27FC236}">
                  <a16:creationId xmlns:a16="http://schemas.microsoft.com/office/drawing/2014/main" id="{1BB76AD9-C2DC-7B56-69E0-B640DC24299E}"/>
                </a:ext>
              </a:extLst>
            </p:cNvPr>
            <p:cNvSpPr/>
            <p:nvPr/>
          </p:nvSpPr>
          <p:spPr>
            <a:xfrm rot="10800000">
              <a:off x="726216" y="1441199"/>
              <a:ext cx="3657600" cy="365760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AC3F51-B681-BAE2-48B7-55419A3AAA61}"/>
                </a:ext>
              </a:extLst>
            </p:cNvPr>
            <p:cNvSpPr/>
            <p:nvPr/>
          </p:nvSpPr>
          <p:spPr>
            <a:xfrm>
              <a:off x="717750" y="1459091"/>
              <a:ext cx="3657600" cy="3657600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8BBD316-0D6A-E6FF-B2F1-43AFA381DF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6550" y="1452700"/>
              <a:ext cx="0" cy="1828800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DF1768-669A-DBFE-0ED0-1BE8817E4FA5}"/>
                </a:ext>
              </a:extLst>
            </p:cNvPr>
            <p:cNvCxnSpPr>
              <a:cxnSpLocks/>
            </p:cNvCxnSpPr>
            <p:nvPr/>
          </p:nvCxnSpPr>
          <p:spPr>
            <a:xfrm>
              <a:off x="726216" y="3279624"/>
              <a:ext cx="365760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2895855-DF97-125A-0C22-74D6A16A66D2}"/>
                    </a:ext>
                  </a:extLst>
                </p:cNvPr>
                <p:cNvSpPr txBox="1"/>
                <p:nvPr/>
              </p:nvSpPr>
              <p:spPr>
                <a:xfrm rot="18443440">
                  <a:off x="1779280" y="1632882"/>
                  <a:ext cx="617270" cy="8325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2895855-DF97-125A-0C22-74D6A16A6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43440">
                  <a:off x="1779280" y="1632882"/>
                  <a:ext cx="617270" cy="832514"/>
                </a:xfrm>
                <a:prstGeom prst="rect">
                  <a:avLst/>
                </a:prstGeom>
                <a:blipFill>
                  <a:blip r:embed="rId6"/>
                  <a:stretch>
                    <a:fillRect t="-6061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D8902-7B7B-88DE-D23C-7A23CDCB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E3A43C-F51F-C633-028D-5CEE080DA8A0}"/>
              </a:ext>
            </a:extLst>
          </p:cNvPr>
          <p:cNvCxnSpPr>
            <a:cxnSpLocks/>
          </p:cNvCxnSpPr>
          <p:nvPr/>
        </p:nvCxnSpPr>
        <p:spPr>
          <a:xfrm flipH="1" flipV="1">
            <a:off x="5651594" y="3182968"/>
            <a:ext cx="148268" cy="16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049F0C8-AC26-454B-12EE-BA07AE6F01C7}"/>
              </a:ext>
            </a:extLst>
          </p:cNvPr>
          <p:cNvSpPr txBox="1"/>
          <p:nvPr/>
        </p:nvSpPr>
        <p:spPr>
          <a:xfrm>
            <a:off x="5799863" y="3188117"/>
            <a:ext cx="2599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</a:t>
            </a:r>
            <a:r>
              <a:rPr lang="en-US" altLang="zh-CN" sz="1400" i="1" dirty="0"/>
              <a:t>ver the surface of Block sphere </a:t>
            </a:r>
            <a:endParaRPr lang="en-US" sz="1400" i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056BA8-42F4-2A82-71B2-82C749CA3159}"/>
              </a:ext>
            </a:extLst>
          </p:cNvPr>
          <p:cNvCxnSpPr>
            <a:cxnSpLocks/>
          </p:cNvCxnSpPr>
          <p:nvPr/>
        </p:nvCxnSpPr>
        <p:spPr>
          <a:xfrm flipV="1">
            <a:off x="1393937" y="4579145"/>
            <a:ext cx="874560" cy="45283"/>
          </a:xfrm>
          <a:prstGeom prst="straightConnector1">
            <a:avLst/>
          </a:prstGeom>
          <a:ln w="31750">
            <a:prstDash val="sysDot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F18EF1-61B5-1406-E956-597C6D4AC2A7}"/>
                  </a:ext>
                </a:extLst>
              </p:cNvPr>
              <p:cNvSpPr txBox="1"/>
              <p:nvPr/>
            </p:nvSpPr>
            <p:spPr>
              <a:xfrm>
                <a:off x="1779430" y="4566064"/>
                <a:ext cx="3065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F18EF1-61B5-1406-E956-597C6D4A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430" y="4566064"/>
                <a:ext cx="306500" cy="400110"/>
              </a:xfrm>
              <a:prstGeom prst="rect">
                <a:avLst/>
              </a:prstGeom>
              <a:blipFill>
                <a:blip r:embed="rId8"/>
                <a:stretch>
                  <a:fillRect t="-6061" r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6A40410-34D9-7938-C94D-AF8417B7CD43}"/>
                  </a:ext>
                </a:extLst>
              </p:cNvPr>
              <p:cNvSpPr txBox="1"/>
              <p:nvPr/>
            </p:nvSpPr>
            <p:spPr>
              <a:xfrm>
                <a:off x="-9898" y="5584187"/>
                <a:ext cx="286591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/>
                  <a:t>The response  function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i="1" dirty="0"/>
                  <a:t>giving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sz="1400" i="1" dirty="0"/>
                  <a:t> is </a:t>
                </a:r>
                <a:r>
                  <a:rPr lang="en-US" sz="1400" b="1" i="1" u="sng" dirty="0"/>
                  <a:t>‘on’</a:t>
                </a:r>
                <a:r>
                  <a:rPr lang="en-US" sz="1400" i="1" dirty="0"/>
                  <a:t> if the two vectors are in the same hemisphere.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6A40410-34D9-7938-C94D-AF8417B7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898" y="5584187"/>
                <a:ext cx="2865916" cy="738664"/>
              </a:xfrm>
              <a:prstGeom prst="rect">
                <a:avLst/>
              </a:prstGeom>
              <a:blipFill>
                <a:blip r:embed="rId9"/>
                <a:stretch>
                  <a:fillRect l="-637" t="-1653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77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FE2F7B9-9269-FFC1-F517-B81CE4FE6B3A}"/>
                  </a:ext>
                </a:extLst>
              </p:cNvPr>
              <p:cNvSpPr/>
              <p:nvPr/>
            </p:nvSpPr>
            <p:spPr>
              <a:xfrm>
                <a:off x="615632" y="1315380"/>
                <a:ext cx="10982161" cy="2200804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FE2F7B9-9269-FFC1-F517-B81CE4FE6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2" y="1315380"/>
                <a:ext cx="10982161" cy="2200804"/>
              </a:xfrm>
              <a:prstGeom prst="rect">
                <a:avLst/>
              </a:prstGeom>
              <a:blipFill>
                <a:blip r:embed="rId3"/>
                <a:stretch>
                  <a:fillRect l="-221"/>
                </a:stretch>
              </a:blipFill>
              <a:ln w="444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Main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98EF2-4800-79EC-E84F-85E9D392772B}"/>
                  </a:ext>
                </a:extLst>
              </p:cNvPr>
              <p:cNvSpPr txBox="1"/>
              <p:nvPr/>
            </p:nvSpPr>
            <p:spPr>
              <a:xfrm>
                <a:off x="638491" y="1352529"/>
                <a:ext cx="10839129" cy="2107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/>
                  <a:t>Constructing a compatible model for </a:t>
                </a:r>
                <a:r>
                  <a:rPr lang="en-US" sz="2000" i="1" u="sng" dirty="0"/>
                  <a:t>all noisy POVMs: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For qubit state, the class of noisy POVMs can be parameterized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acc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with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n-US" sz="105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In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-dimensional quantum system, an extremal POVM has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outcome. Therefore, it is sufficient to construct compatible model of all 4-outcome measurements for qubit system.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98EF2-4800-79EC-E84F-85E9D3927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91" y="1352529"/>
                <a:ext cx="10839129" cy="2107693"/>
              </a:xfrm>
              <a:prstGeom prst="rect">
                <a:avLst/>
              </a:prstGeom>
              <a:blipFill>
                <a:blip r:embed="rId5"/>
                <a:stretch>
                  <a:fillRect l="-619" t="-1734" b="-3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D8902-7B7B-88DE-D23C-7A23CDCB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501" y="6241248"/>
            <a:ext cx="2743200" cy="365125"/>
          </a:xfrm>
        </p:spPr>
        <p:txBody>
          <a:bodyPr/>
          <a:lstStyle/>
          <a:p>
            <a:fld id="{5F6A7C64-5BD3-4F49-9C24-E80A6D4A34E5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75DE6-E08D-19C7-531F-783C923D4986}"/>
              </a:ext>
            </a:extLst>
          </p:cNvPr>
          <p:cNvSpPr txBox="1"/>
          <p:nvPr/>
        </p:nvSpPr>
        <p:spPr>
          <a:xfrm>
            <a:off x="0" y="756285"/>
            <a:ext cx="3162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Setting up the problem </a:t>
            </a:r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94D4978-E722-B67C-C6EF-DAD92425BF6B}"/>
              </a:ext>
            </a:extLst>
          </p:cNvPr>
          <p:cNvGrpSpPr/>
          <p:nvPr/>
        </p:nvGrpSpPr>
        <p:grpSpPr>
          <a:xfrm>
            <a:off x="615632" y="5514293"/>
            <a:ext cx="5587365" cy="741730"/>
            <a:chOff x="615632" y="5514293"/>
            <a:chExt cx="5587365" cy="7417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A94DC03-1FB7-D0F5-8E93-051177B8F338}"/>
                    </a:ext>
                  </a:extLst>
                </p:cNvPr>
                <p:cNvSpPr/>
                <p:nvPr/>
              </p:nvSpPr>
              <p:spPr>
                <a:xfrm>
                  <a:off x="4315954" y="5527350"/>
                  <a:ext cx="414303" cy="410066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</m:acc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A94DC03-1FB7-D0F5-8E93-051177B8F3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5954" y="5527350"/>
                  <a:ext cx="414303" cy="410066"/>
                </a:xfrm>
                <a:prstGeom prst="rect">
                  <a:avLst/>
                </a:prstGeom>
                <a:blipFill>
                  <a:blip r:embed="rId6"/>
                  <a:stretch>
                    <a:fillRect r="-3428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8B2817E-B4B0-B421-5389-624E9588D559}"/>
                    </a:ext>
                  </a:extLst>
                </p:cNvPr>
                <p:cNvSpPr txBox="1"/>
                <p:nvPr/>
              </p:nvSpPr>
              <p:spPr>
                <a:xfrm>
                  <a:off x="615632" y="5609692"/>
                  <a:ext cx="98269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dirty="0"/>
                    <a:t>     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endParaRPr lang="en-US" dirty="0"/>
                </a:p>
                <a:p>
                  <a:pPr algn="r"/>
                  <a:r>
                    <a:rPr lang="en-US" b="1" dirty="0"/>
                    <a:t>   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8B2817E-B4B0-B421-5389-624E9588D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632" y="5609692"/>
                  <a:ext cx="982698" cy="646331"/>
                </a:xfrm>
                <a:prstGeom prst="rect">
                  <a:avLst/>
                </a:prstGeom>
                <a:blipFill>
                  <a:blip r:embed="rId7"/>
                  <a:stretch>
                    <a:fillRect r="-118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CE549C3-CA69-1181-F212-3F881193A9A1}"/>
                </a:ext>
              </a:extLst>
            </p:cNvPr>
            <p:cNvSpPr/>
            <p:nvPr/>
          </p:nvSpPr>
          <p:spPr>
            <a:xfrm>
              <a:off x="5101743" y="5703025"/>
              <a:ext cx="688194" cy="44562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6D2A888-E19B-D976-5487-19B020816D26}"/>
                    </a:ext>
                  </a:extLst>
                </p:cNvPr>
                <p:cNvSpPr txBox="1"/>
                <p:nvPr/>
              </p:nvSpPr>
              <p:spPr>
                <a:xfrm>
                  <a:off x="5039483" y="5787338"/>
                  <a:ext cx="49836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6D2A888-E19B-D976-5487-19B020816D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9483" y="5787338"/>
                  <a:ext cx="498366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8765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BBEFE7F-120A-32B4-2D18-6A10524699FE}"/>
                </a:ext>
              </a:extLst>
            </p:cNvPr>
            <p:cNvSpPr/>
            <p:nvPr/>
          </p:nvSpPr>
          <p:spPr>
            <a:xfrm>
              <a:off x="1655482" y="5710777"/>
              <a:ext cx="482590" cy="461666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CF7E8BC-9D77-F7E5-BC79-8044456ABD3A}"/>
                    </a:ext>
                  </a:extLst>
                </p:cNvPr>
                <p:cNvSpPr txBox="1"/>
                <p:nvPr/>
              </p:nvSpPr>
              <p:spPr>
                <a:xfrm>
                  <a:off x="1571686" y="5737432"/>
                  <a:ext cx="453950" cy="3714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̂"/>
                                <m:ctrlPr>
                                  <a:rPr lang="en-US" sz="16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</m:e>
                            </m:acc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CF7E8BC-9D77-F7E5-BC79-8044456AB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686" y="5737432"/>
                  <a:ext cx="453950" cy="371448"/>
                </a:xfrm>
                <a:prstGeom prst="rect">
                  <a:avLst/>
                </a:prstGeom>
                <a:blipFill>
                  <a:blip r:embed="rId9"/>
                  <a:stretch>
                    <a:fillRect r="-67568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CB1C399-145C-A538-5EA7-53683F9ACEFC}"/>
                    </a:ext>
                  </a:extLst>
                </p:cNvPr>
                <p:cNvSpPr txBox="1"/>
                <p:nvPr/>
              </p:nvSpPr>
              <p:spPr>
                <a:xfrm>
                  <a:off x="2127462" y="5748192"/>
                  <a:ext cx="56638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CB1C399-145C-A538-5EA7-53683F9AC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462" y="5748192"/>
                  <a:ext cx="56638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81D0750-8E13-A6C9-2987-25EEF56A4739}"/>
                    </a:ext>
                  </a:extLst>
                </p:cNvPr>
                <p:cNvSpPr txBox="1"/>
                <p:nvPr/>
              </p:nvSpPr>
              <p:spPr>
                <a:xfrm>
                  <a:off x="2762708" y="5612914"/>
                  <a:ext cx="1196082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   </m:t>
                        </m:r>
                      </m:oMath>
                    </m:oMathPara>
                  </a14:m>
                  <a:endParaRPr lang="en-US" sz="3200" b="1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81D0750-8E13-A6C9-2987-25EEF56A4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2708" y="5612914"/>
                  <a:ext cx="1196082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1E464BF-8866-E2BA-BDCC-1A59761C4FFF}"/>
                    </a:ext>
                  </a:extLst>
                </p:cNvPr>
                <p:cNvSpPr txBox="1"/>
                <p:nvPr/>
              </p:nvSpPr>
              <p:spPr>
                <a:xfrm>
                  <a:off x="3692119" y="5553825"/>
                  <a:ext cx="66459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1E464BF-8866-E2BA-BDCC-1A59761C4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119" y="5553825"/>
                  <a:ext cx="66459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8BEC9A9-C001-0AC5-C253-ED155D81EA3F}"/>
                    </a:ext>
                  </a:extLst>
                </p:cNvPr>
                <p:cNvSpPr txBox="1"/>
                <p:nvPr/>
              </p:nvSpPr>
              <p:spPr>
                <a:xfrm>
                  <a:off x="4615168" y="5514293"/>
                  <a:ext cx="625929" cy="3849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</m:acc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8BEC9A9-C001-0AC5-C253-ED155D81E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5168" y="5514293"/>
                  <a:ext cx="625929" cy="384977"/>
                </a:xfrm>
                <a:prstGeom prst="rect">
                  <a:avLst/>
                </a:prstGeom>
                <a:blipFill>
                  <a:blip r:embed="rId13"/>
                  <a:stretch>
                    <a:fillRect t="-3175" r="-300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88E8D5D-2F35-B5FA-DD33-AA5B0561DBF9}"/>
                    </a:ext>
                  </a:extLst>
                </p:cNvPr>
                <p:cNvSpPr txBox="1"/>
                <p:nvPr/>
              </p:nvSpPr>
              <p:spPr>
                <a:xfrm>
                  <a:off x="2521220" y="5551795"/>
                  <a:ext cx="13691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1" dirty="0" smtClean="0"/>
                          <m:t>Simulated</m:t>
                        </m:r>
                        <m:r>
                          <m:rPr>
                            <m:nor/>
                          </m:rPr>
                          <a:rPr lang="en-US" sz="1400" b="0" i="1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1400" b="0" i="1" dirty="0" smtClean="0"/>
                          <m:t>by</m:t>
                        </m:r>
                      </m:oMath>
                    </m:oMathPara>
                  </a14:m>
                  <a:endParaRPr lang="en-US" sz="1400" i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88E8D5D-2F35-B5FA-DD33-AA5B0561D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1220" y="5551795"/>
                  <a:ext cx="1369100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10481E3-252E-8F31-4776-E777EDF47C61}"/>
                    </a:ext>
                  </a:extLst>
                </p:cNvPr>
                <p:cNvSpPr txBox="1"/>
                <p:nvPr/>
              </p:nvSpPr>
              <p:spPr>
                <a:xfrm>
                  <a:off x="5730250" y="5736821"/>
                  <a:ext cx="472747" cy="3780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10481E3-252E-8F31-4776-E777EDF47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250" y="5736821"/>
                  <a:ext cx="472747" cy="378031"/>
                </a:xfrm>
                <a:prstGeom prst="rect">
                  <a:avLst/>
                </a:prstGeom>
                <a:blipFill>
                  <a:blip r:embed="rId15"/>
                  <a:stretch>
                    <a:fillRect r="-128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72E5287-0D1F-AE60-FAB7-2A03925E533C}"/>
                    </a:ext>
                  </a:extLst>
                </p:cNvPr>
                <p:cNvSpPr txBox="1"/>
                <p:nvPr/>
              </p:nvSpPr>
              <p:spPr>
                <a:xfrm>
                  <a:off x="4479351" y="5879671"/>
                  <a:ext cx="62175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72E5287-0D1F-AE60-FAB7-2A03925E5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351" y="5879671"/>
                  <a:ext cx="62175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0CA15BAA-94C0-84C4-1238-6487D7B37BAB}"/>
              </a:ext>
            </a:extLst>
          </p:cNvPr>
          <p:cNvSpPr/>
          <p:nvPr/>
        </p:nvSpPr>
        <p:spPr>
          <a:xfrm>
            <a:off x="594177" y="3876412"/>
            <a:ext cx="10993342" cy="480500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Main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942632E-BEE0-7739-1FE4-27017F8002A1}"/>
                  </a:ext>
                </a:extLst>
              </p:cNvPr>
              <p:cNvSpPr/>
              <p:nvPr/>
            </p:nvSpPr>
            <p:spPr>
              <a:xfrm>
                <a:off x="594177" y="4363843"/>
                <a:ext cx="11003616" cy="807472"/>
              </a:xfrm>
              <a:prstGeom prst="rect">
                <a:avLst/>
              </a:prstGeom>
              <a:solidFill>
                <a:srgbClr val="EE5C1A">
                  <a:alpha val="3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Any noisy 4-outcome POVM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be simulated by the parent POVM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acc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acc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the response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be constructed explicitly (not uniquely) 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942632E-BEE0-7739-1FE4-27017F800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7" y="4363843"/>
                <a:ext cx="11003616" cy="807472"/>
              </a:xfrm>
              <a:prstGeom prst="rect">
                <a:avLst/>
              </a:prstGeom>
              <a:blipFill>
                <a:blip r:embed="rId17"/>
                <a:stretch>
                  <a:fillRect l="-443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939741-FCC0-8040-9887-9BC1549396A3}"/>
                  </a:ext>
                </a:extLst>
              </p:cNvPr>
              <p:cNvSpPr txBox="1"/>
              <p:nvPr/>
            </p:nvSpPr>
            <p:spPr>
              <a:xfrm>
                <a:off x="6395398" y="5753879"/>
                <a:ext cx="492338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600" dirty="0"/>
                  <a:t>,  and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</m:e>
                            </m:acc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939741-FCC0-8040-9887-9BC154939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398" y="5753879"/>
                <a:ext cx="4923382" cy="338554"/>
              </a:xfrm>
              <a:prstGeom prst="rect">
                <a:avLst/>
              </a:prstGeom>
              <a:blipFill>
                <a:blip r:embed="rId18"/>
                <a:stretch>
                  <a:fillRect l="-619" t="-110909" b="-17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40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5672933-4D16-8EF2-D50B-BE67C32A03B2}"/>
                  </a:ext>
                </a:extLst>
              </p:cNvPr>
              <p:cNvSpPr/>
              <p:nvPr/>
            </p:nvSpPr>
            <p:spPr>
              <a:xfrm>
                <a:off x="280861" y="895615"/>
                <a:ext cx="11106069" cy="2498653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5672933-4D16-8EF2-D50B-BE67C32A0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61" y="895615"/>
                <a:ext cx="11106069" cy="2498653"/>
              </a:xfrm>
              <a:prstGeom prst="rect">
                <a:avLst/>
              </a:prstGeom>
              <a:blipFill>
                <a:blip r:embed="rId3"/>
                <a:stretch>
                  <a:fillRect l="-164"/>
                </a:stretch>
              </a:blipFill>
              <a:ln w="444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Proof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97DF5F1-AB80-A076-8E22-AA3DFAEB806D}"/>
                  </a:ext>
                </a:extLst>
              </p:cNvPr>
              <p:cNvSpPr txBox="1"/>
              <p:nvPr/>
            </p:nvSpPr>
            <p:spPr>
              <a:xfrm>
                <a:off x="446490" y="946864"/>
                <a:ext cx="10630790" cy="2309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>
                    <a:solidFill>
                      <a:schemeClr val="tx1"/>
                    </a:solidFill>
                  </a:rPr>
                  <a:t>As previously argued,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is the ‘unique’ parent POVM for simulate all PVMs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4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Any nonprojective noisy two-outcome measurement are nonextremal                                           </a:t>
                </a:r>
              </a:p>
              <a:p>
                <a:pPr lvl="1"/>
                <a:endParaRPr lang="en-US" sz="16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We now attempt to simulate a 3-outcome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0"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i="1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prstClr val="black"/>
                    </a:solidFill>
                  </a:rPr>
                  <a:t>From 3-oucome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∈{1,2,3}</m:t>
                        </m:r>
                      </m:sub>
                    </m:sSub>
                    <m:r>
                      <a:rPr lang="en-US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simulation to 4-outcome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∈{1,2,3,4}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simulation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97DF5F1-AB80-A076-8E22-AA3DFAEB8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90" y="946864"/>
                <a:ext cx="10630790" cy="2309158"/>
              </a:xfrm>
              <a:prstGeom prst="rect">
                <a:avLst/>
              </a:prstGeom>
              <a:blipFill>
                <a:blip r:embed="rId5"/>
                <a:stretch>
                  <a:fillRect l="-573" b="-1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612A9CAC-5F61-C2C5-E94A-F9B6C6595D74}"/>
              </a:ext>
            </a:extLst>
          </p:cNvPr>
          <p:cNvGrpSpPr/>
          <p:nvPr/>
        </p:nvGrpSpPr>
        <p:grpSpPr>
          <a:xfrm>
            <a:off x="2236086" y="4084085"/>
            <a:ext cx="1692873" cy="1661905"/>
            <a:chOff x="155805" y="2419805"/>
            <a:chExt cx="1980210" cy="1930257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FFC3E37-5B22-81BD-7A0B-6F3913D71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326" y="2425875"/>
              <a:ext cx="0" cy="965129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4FC5DF4-48D4-7944-B316-EB772EE4492D}"/>
                </a:ext>
              </a:extLst>
            </p:cNvPr>
            <p:cNvCxnSpPr>
              <a:cxnSpLocks/>
            </p:cNvCxnSpPr>
            <p:nvPr/>
          </p:nvCxnSpPr>
          <p:spPr>
            <a:xfrm>
              <a:off x="155805" y="3390012"/>
              <a:ext cx="198021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F00DC75-F600-B0D2-39B3-1EE889ADBF2B}"/>
                    </a:ext>
                  </a:extLst>
                </p:cNvPr>
                <p:cNvSpPr txBox="1"/>
                <p:nvPr/>
              </p:nvSpPr>
              <p:spPr>
                <a:xfrm>
                  <a:off x="711189" y="2475452"/>
                  <a:ext cx="314902" cy="393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F00DC75-F600-B0D2-39B3-1EE889ADBF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89" y="2475452"/>
                  <a:ext cx="314902" cy="393221"/>
                </a:xfrm>
                <a:prstGeom prst="rect">
                  <a:avLst/>
                </a:prstGeom>
                <a:blipFill>
                  <a:blip r:embed="rId6"/>
                  <a:stretch>
                    <a:fillRect r="-4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Partial Circle 49">
              <a:extLst>
                <a:ext uri="{FF2B5EF4-FFF2-40B4-BE49-F238E27FC236}">
                  <a16:creationId xmlns:a16="http://schemas.microsoft.com/office/drawing/2014/main" id="{292A0C24-4ABB-8620-E3DC-BB11F7021E7A}"/>
                </a:ext>
              </a:extLst>
            </p:cNvPr>
            <p:cNvSpPr/>
            <p:nvPr/>
          </p:nvSpPr>
          <p:spPr>
            <a:xfrm rot="10800000">
              <a:off x="155805" y="2419805"/>
              <a:ext cx="1980210" cy="1930257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824B909-2732-3F8D-9C16-141F8BECB1A0}"/>
                </a:ext>
              </a:extLst>
            </p:cNvPr>
            <p:cNvSpPr/>
            <p:nvPr/>
          </p:nvSpPr>
          <p:spPr>
            <a:xfrm>
              <a:off x="155805" y="2419806"/>
              <a:ext cx="1956296" cy="1917934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F55FA0-FA6A-536E-E8B3-540C1A62DEE4}"/>
                  </a:ext>
                </a:extLst>
              </p:cNvPr>
              <p:cNvSpPr txBox="1"/>
              <p:nvPr/>
            </p:nvSpPr>
            <p:spPr>
              <a:xfrm>
                <a:off x="352978" y="5756816"/>
                <a:ext cx="5624340" cy="865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solidFill>
                                      <a:srgbClr val="EE5C1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solidFill>
                                      <a:srgbClr val="EE5C1A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</m:oMath>
                </a14:m>
                <a:endParaRPr lang="en-US" sz="1400" dirty="0"/>
              </a:p>
              <a:p>
                <a:pPr lvl="0" algn="ctr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0" i="0" dirty="0" smtClean="0"/>
                      <m:t>R</m:t>
                    </m:r>
                    <m:r>
                      <m:rPr>
                        <m:nor/>
                      </m:rPr>
                      <a:rPr lang="en-US" sz="1400" dirty="0"/>
                      <m:t>esponse</m:t>
                    </m:r>
                    <m:r>
                      <m:rPr>
                        <m:nor/>
                      </m:rPr>
                      <a:rPr lang="en-US" sz="1400" dirty="0"/>
                      <m:t> </m:t>
                    </m:r>
                    <m:r>
                      <m:rPr>
                        <m:nor/>
                      </m:rPr>
                      <a:rPr lang="en-US" sz="1400" dirty="0"/>
                      <m:t>function</m:t>
                    </m:r>
                    <m:r>
                      <m:rPr>
                        <m:nor/>
                      </m:rPr>
                      <a:rPr lang="en-US" sz="1400" b="0" i="0" dirty="0" smtClean="0"/>
                      <m:t>:</m:t>
                    </m:r>
                    <m:r>
                      <m:rPr>
                        <m:nor/>
                      </m:rPr>
                      <a:rPr lang="en-US" sz="1400" dirty="0"/>
                      <m:t> 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</m:d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i="1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en-US" sz="140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400" b="0" i="0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</m:acc>
                      </m:e>
                    </m:d>
                    <m:r>
                      <a:rPr lang="en-US" altLang="zh-CN" sz="1400" b="0" i="1" smtClean="0">
                        <a:solidFill>
                          <a:srgbClr val="EE5C1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E5C1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E5C1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E5C1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E5C1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kumimoji="0" lang="el-GR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E5C1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E5C1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E5C1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E5C1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E5C1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E5C1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EE5C1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EE5C1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E5C1A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E5C1A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F55FA0-FA6A-536E-E8B3-540C1A62D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78" y="5756816"/>
                <a:ext cx="5624340" cy="865109"/>
              </a:xfrm>
              <a:prstGeom prst="rect">
                <a:avLst/>
              </a:prstGeom>
              <a:blipFill>
                <a:blip r:embed="rId7"/>
                <a:stretch>
                  <a:fillRect r="-975" b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6055D4-00F4-98CD-F3C6-F21CE297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A40DDD-706F-91B7-1AFA-14121286937A}"/>
                  </a:ext>
                </a:extLst>
              </p:cNvPr>
              <p:cNvSpPr txBox="1"/>
              <p:nvPr/>
            </p:nvSpPr>
            <p:spPr>
              <a:xfrm>
                <a:off x="156397" y="3477630"/>
                <a:ext cx="5689145" cy="46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i="1" dirty="0"/>
                  <a:t>Each effect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̂"/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</m:e>
                            </m:acc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=1/2</m:t>
                            </m:r>
                          </m:sup>
                        </m:sSub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i="1" dirty="0">
                    <a:solidFill>
                      <a:schemeClr val="tx1"/>
                    </a:solidFill>
                  </a:rPr>
                  <a:t> </a:t>
                </a:r>
                <a:r>
                  <a:rPr lang="en-US" i="1" dirty="0">
                    <a:solidFill>
                      <a:schemeClr val="tx1"/>
                    </a:solidFill>
                  </a:rPr>
                  <a:t>can be simulated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A40DDD-706F-91B7-1AFA-141212869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97" y="3477630"/>
                <a:ext cx="5689145" cy="460832"/>
              </a:xfrm>
              <a:prstGeom prst="rect">
                <a:avLst/>
              </a:prstGeom>
              <a:blipFill>
                <a:blip r:embed="rId8"/>
                <a:stretch>
                  <a:fillRect l="-750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913CC72-A2E6-1001-F3C6-9484346DE8FE}"/>
              </a:ext>
            </a:extLst>
          </p:cNvPr>
          <p:cNvGrpSpPr/>
          <p:nvPr/>
        </p:nvGrpSpPr>
        <p:grpSpPr>
          <a:xfrm>
            <a:off x="9079884" y="4083880"/>
            <a:ext cx="1737184" cy="1758118"/>
            <a:chOff x="2233047" y="2314709"/>
            <a:chExt cx="2734827" cy="2817858"/>
          </a:xfrm>
        </p:grpSpPr>
        <p:sp>
          <p:nvSpPr>
            <p:cNvPr id="27" name="Partial Circle 26">
              <a:extLst>
                <a:ext uri="{FF2B5EF4-FFF2-40B4-BE49-F238E27FC236}">
                  <a16:creationId xmlns:a16="http://schemas.microsoft.com/office/drawing/2014/main" id="{16639B54-1D88-9D23-0672-148B74E65195}"/>
                </a:ext>
              </a:extLst>
            </p:cNvPr>
            <p:cNvSpPr/>
            <p:nvPr/>
          </p:nvSpPr>
          <p:spPr>
            <a:xfrm rot="18220929">
              <a:off x="2204496" y="2343260"/>
              <a:ext cx="2791928" cy="2734825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0070C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33" name="Partial Circle 32">
              <a:extLst>
                <a:ext uri="{FF2B5EF4-FFF2-40B4-BE49-F238E27FC236}">
                  <a16:creationId xmlns:a16="http://schemas.microsoft.com/office/drawing/2014/main" id="{A3C93BF2-D695-784C-1F08-4436B7989D74}"/>
                </a:ext>
              </a:extLst>
            </p:cNvPr>
            <p:cNvSpPr/>
            <p:nvPr/>
          </p:nvSpPr>
          <p:spPr>
            <a:xfrm rot="977257">
              <a:off x="2233049" y="2339604"/>
              <a:ext cx="2734825" cy="2791928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FF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AE564613-C706-611A-6162-FDFFE873BA97}"/>
                </a:ext>
              </a:extLst>
            </p:cNvPr>
            <p:cNvSpPr/>
            <p:nvPr/>
          </p:nvSpPr>
          <p:spPr>
            <a:xfrm rot="10800000">
              <a:off x="2233048" y="2314709"/>
              <a:ext cx="2734825" cy="2791928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FBC1E20-B1FC-0218-6F90-65D61DDE9967}"/>
                </a:ext>
              </a:extLst>
            </p:cNvPr>
            <p:cNvSpPr/>
            <p:nvPr/>
          </p:nvSpPr>
          <p:spPr>
            <a:xfrm>
              <a:off x="2233048" y="2314709"/>
              <a:ext cx="2734825" cy="2791928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AA767C2-CFCB-22DB-B3F5-8432C0961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131" y="2323488"/>
              <a:ext cx="0" cy="1395964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137498E-0174-D552-BC02-40F32CE2DC90}"/>
                </a:ext>
              </a:extLst>
            </p:cNvPr>
            <p:cNvCxnSpPr>
              <a:cxnSpLocks/>
            </p:cNvCxnSpPr>
            <p:nvPr/>
          </p:nvCxnSpPr>
          <p:spPr>
            <a:xfrm>
              <a:off x="3594131" y="3719451"/>
              <a:ext cx="1131201" cy="782212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DEC16E0-D981-2A6C-3817-9F2D0E9E8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2897" y="3697855"/>
              <a:ext cx="447564" cy="1337798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B48C198-E6C7-39A7-C88E-6F5E2EDFA5E2}"/>
                </a:ext>
              </a:extLst>
            </p:cNvPr>
            <p:cNvCxnSpPr>
              <a:cxnSpLocks/>
            </p:cNvCxnSpPr>
            <p:nvPr/>
          </p:nvCxnSpPr>
          <p:spPr>
            <a:xfrm>
              <a:off x="2233048" y="3718019"/>
              <a:ext cx="2734825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A120B8-4572-D2D4-0C66-062CE5F4A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2697" y="2560188"/>
              <a:ext cx="1506032" cy="230096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05B37A-0310-2990-E194-FDB79F93586D}"/>
                </a:ext>
              </a:extLst>
            </p:cNvPr>
            <p:cNvCxnSpPr>
              <a:cxnSpLocks/>
            </p:cNvCxnSpPr>
            <p:nvPr/>
          </p:nvCxnSpPr>
          <p:spPr>
            <a:xfrm>
              <a:off x="2291933" y="3342400"/>
              <a:ext cx="2620874" cy="77341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8475918-09FD-3358-C5DE-5B7578AB158C}"/>
                    </a:ext>
                  </a:extLst>
                </p:cNvPr>
                <p:cNvSpPr txBox="1"/>
                <p:nvPr/>
              </p:nvSpPr>
              <p:spPr>
                <a:xfrm>
                  <a:off x="3000076" y="2395197"/>
                  <a:ext cx="434905" cy="542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8475918-09FD-3358-C5DE-5B7578AB1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076" y="2395197"/>
                  <a:ext cx="434905" cy="542624"/>
                </a:xfrm>
                <a:prstGeom prst="rect">
                  <a:avLst/>
                </a:prstGeom>
                <a:blipFill>
                  <a:blip r:embed="rId9"/>
                  <a:stretch>
                    <a:fillRect r="-391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354531A-0296-427F-F1DB-C005472DDDDC}"/>
                    </a:ext>
                  </a:extLst>
                </p:cNvPr>
                <p:cNvSpPr txBox="1"/>
                <p:nvPr/>
              </p:nvSpPr>
              <p:spPr>
                <a:xfrm>
                  <a:off x="3257677" y="4589943"/>
                  <a:ext cx="434905" cy="542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354531A-0296-427F-F1DB-C005472DD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677" y="4589943"/>
                  <a:ext cx="434905" cy="542624"/>
                </a:xfrm>
                <a:prstGeom prst="rect">
                  <a:avLst/>
                </a:prstGeom>
                <a:blipFill>
                  <a:blip r:embed="rId10"/>
                  <a:stretch>
                    <a:fillRect r="-413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2BADA36-4383-F0EC-F645-CBAFCFF3B1C2}"/>
                    </a:ext>
                  </a:extLst>
                </p:cNvPr>
                <p:cNvSpPr txBox="1"/>
                <p:nvPr/>
              </p:nvSpPr>
              <p:spPr>
                <a:xfrm>
                  <a:off x="3959886" y="4207758"/>
                  <a:ext cx="434905" cy="542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2BADA36-4383-F0EC-F645-CBAFCFF3B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9886" y="4207758"/>
                  <a:ext cx="434905" cy="542624"/>
                </a:xfrm>
                <a:prstGeom prst="rect">
                  <a:avLst/>
                </a:prstGeom>
                <a:blipFill>
                  <a:blip r:embed="rId11"/>
                  <a:stretch>
                    <a:fillRect r="-413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90EB4D3-8F32-38F0-3182-7F6D51A540F8}"/>
              </a:ext>
            </a:extLst>
          </p:cNvPr>
          <p:cNvGrpSpPr/>
          <p:nvPr/>
        </p:nvGrpSpPr>
        <p:grpSpPr>
          <a:xfrm>
            <a:off x="6526498" y="4026952"/>
            <a:ext cx="1843929" cy="1784916"/>
            <a:chOff x="61806" y="4648149"/>
            <a:chExt cx="2230924" cy="2060541"/>
          </a:xfrm>
        </p:grpSpPr>
        <p:sp>
          <p:nvSpPr>
            <p:cNvPr id="45" name="Partial Circle 44">
              <a:extLst>
                <a:ext uri="{FF2B5EF4-FFF2-40B4-BE49-F238E27FC236}">
                  <a16:creationId xmlns:a16="http://schemas.microsoft.com/office/drawing/2014/main" id="{A45656C5-F22E-A4FC-9032-E9D8E4F7014D}"/>
                </a:ext>
              </a:extLst>
            </p:cNvPr>
            <p:cNvSpPr/>
            <p:nvPr/>
          </p:nvSpPr>
          <p:spPr>
            <a:xfrm rot="18220929">
              <a:off x="337496" y="4753457"/>
              <a:ext cx="1930257" cy="198021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0070C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6" name="Partial Circle 45">
              <a:extLst>
                <a:ext uri="{FF2B5EF4-FFF2-40B4-BE49-F238E27FC236}">
                  <a16:creationId xmlns:a16="http://schemas.microsoft.com/office/drawing/2014/main" id="{6F908D50-D9CF-05F5-64A5-9CA81A8C357F}"/>
                </a:ext>
              </a:extLst>
            </p:cNvPr>
            <p:cNvSpPr/>
            <p:nvPr/>
          </p:nvSpPr>
          <p:spPr>
            <a:xfrm rot="977257">
              <a:off x="61806" y="4706687"/>
              <a:ext cx="1980210" cy="1930257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FF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7" name="Partial Circle 46">
              <a:extLst>
                <a:ext uri="{FF2B5EF4-FFF2-40B4-BE49-F238E27FC236}">
                  <a16:creationId xmlns:a16="http://schemas.microsoft.com/office/drawing/2014/main" id="{7894ABC5-E7A3-DB84-CC54-D3185C2E0CA1}"/>
                </a:ext>
              </a:extLst>
            </p:cNvPr>
            <p:cNvSpPr/>
            <p:nvPr/>
          </p:nvSpPr>
          <p:spPr>
            <a:xfrm rot="10800000">
              <a:off x="151221" y="4648149"/>
              <a:ext cx="1980210" cy="1930257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ED75EDD-29F3-4EEF-8088-22F4BC318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79" y="4653647"/>
              <a:ext cx="0" cy="965129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055B9B8-27D6-0A8C-9AA2-D6D3BF4CB9EC}"/>
                </a:ext>
              </a:extLst>
            </p:cNvPr>
            <p:cNvCxnSpPr>
              <a:cxnSpLocks/>
            </p:cNvCxnSpPr>
            <p:nvPr/>
          </p:nvCxnSpPr>
          <p:spPr>
            <a:xfrm>
              <a:off x="1328682" y="5728670"/>
              <a:ext cx="819071" cy="540798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42E1850-2F51-858A-AEAE-0DC301A48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979" y="5706905"/>
              <a:ext cx="324068" cy="924914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A34755E-7BCE-4C01-5644-63D3F74E7990}"/>
                    </a:ext>
                  </a:extLst>
                </p:cNvPr>
                <p:cNvSpPr txBox="1"/>
                <p:nvPr/>
              </p:nvSpPr>
              <p:spPr>
                <a:xfrm>
                  <a:off x="724496" y="4951546"/>
                  <a:ext cx="314901" cy="355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A34755E-7BCE-4C01-5644-63D3F74E7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496" y="4951546"/>
                  <a:ext cx="314901" cy="355304"/>
                </a:xfrm>
                <a:prstGeom prst="rect">
                  <a:avLst/>
                </a:prstGeom>
                <a:blipFill>
                  <a:blip r:embed="rId12"/>
                  <a:stretch>
                    <a:fillRect t="-4000" r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5A1074D-5FC5-FD57-978A-46405669F7F7}"/>
                    </a:ext>
                  </a:extLst>
                </p:cNvPr>
                <p:cNvSpPr txBox="1"/>
                <p:nvPr/>
              </p:nvSpPr>
              <p:spPr>
                <a:xfrm>
                  <a:off x="852916" y="6079076"/>
                  <a:ext cx="314901" cy="355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5A1074D-5FC5-FD57-978A-46405669F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916" y="6079076"/>
                  <a:ext cx="314901" cy="355304"/>
                </a:xfrm>
                <a:prstGeom prst="rect">
                  <a:avLst/>
                </a:prstGeom>
                <a:blipFill>
                  <a:blip r:embed="rId13"/>
                  <a:stretch>
                    <a:fillRect t="-4000" r="-348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A93A0FE-2545-1ED3-D764-85CFBC19A648}"/>
                    </a:ext>
                  </a:extLst>
                </p:cNvPr>
                <p:cNvSpPr txBox="1"/>
                <p:nvPr/>
              </p:nvSpPr>
              <p:spPr>
                <a:xfrm>
                  <a:off x="1631426" y="6083504"/>
                  <a:ext cx="314901" cy="355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A93A0FE-2545-1ED3-D764-85CFBC19A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426" y="6083504"/>
                  <a:ext cx="314901" cy="355304"/>
                </a:xfrm>
                <a:prstGeom prst="rect">
                  <a:avLst/>
                </a:prstGeom>
                <a:blipFill>
                  <a:blip r:embed="rId14"/>
                  <a:stretch>
                    <a:fillRect t="-3922" r="-348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5B9D0593-B12D-CAA0-F43A-E46EEAD19E2C}"/>
              </a:ext>
            </a:extLst>
          </p:cNvPr>
          <p:cNvSpPr/>
          <p:nvPr/>
        </p:nvSpPr>
        <p:spPr>
          <a:xfrm>
            <a:off x="8646506" y="4724488"/>
            <a:ext cx="289567" cy="425358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0440D3-00E4-B764-89B1-B757ED232C7C}"/>
              </a:ext>
            </a:extLst>
          </p:cNvPr>
          <p:cNvSpPr txBox="1"/>
          <p:nvPr/>
        </p:nvSpPr>
        <p:spPr>
          <a:xfrm>
            <a:off x="6371100" y="3514146"/>
            <a:ext cx="544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i="1" dirty="0"/>
              <a:t>Normalization condition fails when combining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D4DAC8-0199-3712-5DB1-14F417E5A7CD}"/>
                  </a:ext>
                </a:extLst>
              </p:cNvPr>
              <p:cNvSpPr txBox="1"/>
              <p:nvPr/>
            </p:nvSpPr>
            <p:spPr>
              <a:xfrm>
                <a:off x="7362537" y="6079559"/>
                <a:ext cx="2907195" cy="615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l-GR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≠1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D4DAC8-0199-3712-5DB1-14F417E5A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7" y="6079559"/>
                <a:ext cx="2907195" cy="615168"/>
              </a:xfrm>
              <a:prstGeom prst="rect">
                <a:avLst/>
              </a:prstGeom>
              <a:blipFill>
                <a:blip r:embed="rId15"/>
                <a:stretch>
                  <a:fillRect l="-20126" t="-115842" r="-146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98D41E4-AE47-D377-450F-FFEC7A89EDD4}"/>
              </a:ext>
            </a:extLst>
          </p:cNvPr>
          <p:cNvSpPr/>
          <p:nvPr/>
        </p:nvSpPr>
        <p:spPr>
          <a:xfrm>
            <a:off x="10055533" y="1674324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9D5390CC-E484-700F-04CB-045E91E4DE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04143" y="1671654"/>
            <a:ext cx="247336" cy="2473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5A4BC71-960B-5CC2-4B08-DDCDBF775F88}"/>
              </a:ext>
            </a:extLst>
          </p:cNvPr>
          <p:cNvSpPr/>
          <p:nvPr/>
        </p:nvSpPr>
        <p:spPr>
          <a:xfrm>
            <a:off x="10055533" y="2267968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675CB8-D914-7882-818F-0AC86B3D8432}"/>
              </a:ext>
            </a:extLst>
          </p:cNvPr>
          <p:cNvSpPr/>
          <p:nvPr/>
        </p:nvSpPr>
        <p:spPr>
          <a:xfrm>
            <a:off x="10055533" y="2863676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0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4" grpId="0"/>
      <p:bldP spid="59" grpId="0" animBg="1"/>
      <p:bldP spid="70" grpId="0"/>
      <p:bldP spid="72" grpId="0"/>
      <p:bldP spid="2" grpId="0" animBg="1"/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9DFD6D-B3AC-5B74-F08D-FD7A964B805D}"/>
              </a:ext>
            </a:extLst>
          </p:cNvPr>
          <p:cNvSpPr/>
          <p:nvPr/>
        </p:nvSpPr>
        <p:spPr>
          <a:xfrm>
            <a:off x="5763521" y="4368230"/>
            <a:ext cx="5584304" cy="2200970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Proof idea: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6055D4-00F4-98CD-F3C6-F21CE297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189" y="6520519"/>
            <a:ext cx="2743200" cy="365125"/>
          </a:xfrm>
        </p:spPr>
        <p:txBody>
          <a:bodyPr/>
          <a:lstStyle/>
          <a:p>
            <a:fld id="{5F6A7C64-5BD3-4F49-9C24-E80A6D4A34E5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13CC72-A2E6-1001-F3C6-9484346DE8FE}"/>
              </a:ext>
            </a:extLst>
          </p:cNvPr>
          <p:cNvGrpSpPr/>
          <p:nvPr/>
        </p:nvGrpSpPr>
        <p:grpSpPr>
          <a:xfrm>
            <a:off x="3038270" y="4402749"/>
            <a:ext cx="1737184" cy="1758118"/>
            <a:chOff x="2233047" y="2314709"/>
            <a:chExt cx="2734827" cy="2817858"/>
          </a:xfrm>
        </p:grpSpPr>
        <p:sp>
          <p:nvSpPr>
            <p:cNvPr id="27" name="Partial Circle 26">
              <a:extLst>
                <a:ext uri="{FF2B5EF4-FFF2-40B4-BE49-F238E27FC236}">
                  <a16:creationId xmlns:a16="http://schemas.microsoft.com/office/drawing/2014/main" id="{16639B54-1D88-9D23-0672-148B74E65195}"/>
                </a:ext>
              </a:extLst>
            </p:cNvPr>
            <p:cNvSpPr/>
            <p:nvPr/>
          </p:nvSpPr>
          <p:spPr>
            <a:xfrm rot="18220929">
              <a:off x="2204496" y="2343260"/>
              <a:ext cx="2791928" cy="2734825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0070C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33" name="Partial Circle 32">
              <a:extLst>
                <a:ext uri="{FF2B5EF4-FFF2-40B4-BE49-F238E27FC236}">
                  <a16:creationId xmlns:a16="http://schemas.microsoft.com/office/drawing/2014/main" id="{A3C93BF2-D695-784C-1F08-4436B7989D74}"/>
                </a:ext>
              </a:extLst>
            </p:cNvPr>
            <p:cNvSpPr/>
            <p:nvPr/>
          </p:nvSpPr>
          <p:spPr>
            <a:xfrm rot="977257">
              <a:off x="2233049" y="2339604"/>
              <a:ext cx="2734825" cy="2791928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FF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AE564613-C706-611A-6162-FDFFE873BA97}"/>
                </a:ext>
              </a:extLst>
            </p:cNvPr>
            <p:cNvSpPr/>
            <p:nvPr/>
          </p:nvSpPr>
          <p:spPr>
            <a:xfrm rot="10800000">
              <a:off x="2233048" y="2314709"/>
              <a:ext cx="2734825" cy="2791928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FBC1E20-B1FC-0218-6F90-65D61DDE9967}"/>
                </a:ext>
              </a:extLst>
            </p:cNvPr>
            <p:cNvSpPr/>
            <p:nvPr/>
          </p:nvSpPr>
          <p:spPr>
            <a:xfrm>
              <a:off x="2233048" y="2314709"/>
              <a:ext cx="2734825" cy="2791928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AA767C2-CFCB-22DB-B3F5-8432C0961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131" y="2323488"/>
              <a:ext cx="0" cy="1395964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137498E-0174-D552-BC02-40F32CE2DC90}"/>
                </a:ext>
              </a:extLst>
            </p:cNvPr>
            <p:cNvCxnSpPr>
              <a:cxnSpLocks/>
            </p:cNvCxnSpPr>
            <p:nvPr/>
          </p:nvCxnSpPr>
          <p:spPr>
            <a:xfrm>
              <a:off x="3594131" y="3719451"/>
              <a:ext cx="1131201" cy="782212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DEC16E0-D981-2A6C-3817-9F2D0E9E8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2897" y="3697855"/>
              <a:ext cx="447564" cy="1337798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B48C198-E6C7-39A7-C88E-6F5E2EDFA5E2}"/>
                </a:ext>
              </a:extLst>
            </p:cNvPr>
            <p:cNvCxnSpPr>
              <a:cxnSpLocks/>
            </p:cNvCxnSpPr>
            <p:nvPr/>
          </p:nvCxnSpPr>
          <p:spPr>
            <a:xfrm>
              <a:off x="2233048" y="3718019"/>
              <a:ext cx="2734825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A120B8-4572-D2D4-0C66-062CE5F4A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2697" y="2560188"/>
              <a:ext cx="1506032" cy="230096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05B37A-0310-2990-E194-FDB79F93586D}"/>
                </a:ext>
              </a:extLst>
            </p:cNvPr>
            <p:cNvCxnSpPr>
              <a:cxnSpLocks/>
            </p:cNvCxnSpPr>
            <p:nvPr/>
          </p:nvCxnSpPr>
          <p:spPr>
            <a:xfrm>
              <a:off x="2291933" y="3342400"/>
              <a:ext cx="2620874" cy="77341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8475918-09FD-3358-C5DE-5B7578AB158C}"/>
                    </a:ext>
                  </a:extLst>
                </p:cNvPr>
                <p:cNvSpPr txBox="1"/>
                <p:nvPr/>
              </p:nvSpPr>
              <p:spPr>
                <a:xfrm>
                  <a:off x="3000076" y="2395197"/>
                  <a:ext cx="434905" cy="542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8475918-09FD-3358-C5DE-5B7578AB1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076" y="2395197"/>
                  <a:ext cx="434905" cy="542624"/>
                </a:xfrm>
                <a:prstGeom prst="rect">
                  <a:avLst/>
                </a:prstGeom>
                <a:blipFill>
                  <a:blip r:embed="rId4"/>
                  <a:stretch>
                    <a:fillRect r="-391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354531A-0296-427F-F1DB-C005472DDDDC}"/>
                    </a:ext>
                  </a:extLst>
                </p:cNvPr>
                <p:cNvSpPr txBox="1"/>
                <p:nvPr/>
              </p:nvSpPr>
              <p:spPr>
                <a:xfrm>
                  <a:off x="3257677" y="4589943"/>
                  <a:ext cx="434905" cy="542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354531A-0296-427F-F1DB-C005472DD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677" y="4589943"/>
                  <a:ext cx="434905" cy="542624"/>
                </a:xfrm>
                <a:prstGeom prst="rect">
                  <a:avLst/>
                </a:prstGeom>
                <a:blipFill>
                  <a:blip r:embed="rId5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2BADA36-4383-F0EC-F645-CBAFCFF3B1C2}"/>
                    </a:ext>
                  </a:extLst>
                </p:cNvPr>
                <p:cNvSpPr txBox="1"/>
                <p:nvPr/>
              </p:nvSpPr>
              <p:spPr>
                <a:xfrm>
                  <a:off x="3959886" y="4207758"/>
                  <a:ext cx="434905" cy="542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2BADA36-4383-F0EC-F645-CBAFCFF3B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9886" y="4207758"/>
                  <a:ext cx="434905" cy="542624"/>
                </a:xfrm>
                <a:prstGeom prst="rect">
                  <a:avLst/>
                </a:prstGeom>
                <a:blipFill>
                  <a:blip r:embed="rId6"/>
                  <a:stretch>
                    <a:fillRect r="-413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90EB4D3-8F32-38F0-3182-7F6D51A540F8}"/>
              </a:ext>
            </a:extLst>
          </p:cNvPr>
          <p:cNvGrpSpPr/>
          <p:nvPr/>
        </p:nvGrpSpPr>
        <p:grpSpPr>
          <a:xfrm>
            <a:off x="484884" y="4345821"/>
            <a:ext cx="1843929" cy="1784916"/>
            <a:chOff x="61806" y="4648149"/>
            <a:chExt cx="2230924" cy="2060541"/>
          </a:xfrm>
        </p:grpSpPr>
        <p:sp>
          <p:nvSpPr>
            <p:cNvPr id="45" name="Partial Circle 44">
              <a:extLst>
                <a:ext uri="{FF2B5EF4-FFF2-40B4-BE49-F238E27FC236}">
                  <a16:creationId xmlns:a16="http://schemas.microsoft.com/office/drawing/2014/main" id="{A45656C5-F22E-A4FC-9032-E9D8E4F7014D}"/>
                </a:ext>
              </a:extLst>
            </p:cNvPr>
            <p:cNvSpPr/>
            <p:nvPr/>
          </p:nvSpPr>
          <p:spPr>
            <a:xfrm rot="18220929">
              <a:off x="337496" y="4753457"/>
              <a:ext cx="1930257" cy="198021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0070C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6" name="Partial Circle 45">
              <a:extLst>
                <a:ext uri="{FF2B5EF4-FFF2-40B4-BE49-F238E27FC236}">
                  <a16:creationId xmlns:a16="http://schemas.microsoft.com/office/drawing/2014/main" id="{6F908D50-D9CF-05F5-64A5-9CA81A8C357F}"/>
                </a:ext>
              </a:extLst>
            </p:cNvPr>
            <p:cNvSpPr/>
            <p:nvPr/>
          </p:nvSpPr>
          <p:spPr>
            <a:xfrm rot="977257">
              <a:off x="61806" y="4706687"/>
              <a:ext cx="1980210" cy="1930257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FF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7" name="Partial Circle 46">
              <a:extLst>
                <a:ext uri="{FF2B5EF4-FFF2-40B4-BE49-F238E27FC236}">
                  <a16:creationId xmlns:a16="http://schemas.microsoft.com/office/drawing/2014/main" id="{7894ABC5-E7A3-DB84-CC54-D3185C2E0CA1}"/>
                </a:ext>
              </a:extLst>
            </p:cNvPr>
            <p:cNvSpPr/>
            <p:nvPr/>
          </p:nvSpPr>
          <p:spPr>
            <a:xfrm rot="10800000">
              <a:off x="151221" y="4648149"/>
              <a:ext cx="1980210" cy="1930257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ED75EDD-29F3-4EEF-8088-22F4BC318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79" y="4653647"/>
              <a:ext cx="0" cy="965129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055B9B8-27D6-0A8C-9AA2-D6D3BF4CB9EC}"/>
                </a:ext>
              </a:extLst>
            </p:cNvPr>
            <p:cNvCxnSpPr>
              <a:cxnSpLocks/>
            </p:cNvCxnSpPr>
            <p:nvPr/>
          </p:nvCxnSpPr>
          <p:spPr>
            <a:xfrm>
              <a:off x="1328682" y="5728670"/>
              <a:ext cx="819071" cy="540798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42E1850-2F51-858A-AEAE-0DC301A48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979" y="5706905"/>
              <a:ext cx="324068" cy="924914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A34755E-7BCE-4C01-5644-63D3F74E7990}"/>
                    </a:ext>
                  </a:extLst>
                </p:cNvPr>
                <p:cNvSpPr txBox="1"/>
                <p:nvPr/>
              </p:nvSpPr>
              <p:spPr>
                <a:xfrm>
                  <a:off x="724496" y="4951546"/>
                  <a:ext cx="314901" cy="355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A34755E-7BCE-4C01-5644-63D3F74E7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496" y="4951546"/>
                  <a:ext cx="314901" cy="355304"/>
                </a:xfrm>
                <a:prstGeom prst="rect">
                  <a:avLst/>
                </a:prstGeom>
                <a:blipFill>
                  <a:blip r:embed="rId7"/>
                  <a:stretch>
                    <a:fillRect t="-4000" r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5A1074D-5FC5-FD57-978A-46405669F7F7}"/>
                    </a:ext>
                  </a:extLst>
                </p:cNvPr>
                <p:cNvSpPr txBox="1"/>
                <p:nvPr/>
              </p:nvSpPr>
              <p:spPr>
                <a:xfrm>
                  <a:off x="852916" y="6079076"/>
                  <a:ext cx="314901" cy="355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5A1074D-5FC5-FD57-978A-46405669F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916" y="6079076"/>
                  <a:ext cx="314901" cy="355304"/>
                </a:xfrm>
                <a:prstGeom prst="rect">
                  <a:avLst/>
                </a:prstGeom>
                <a:blipFill>
                  <a:blip r:embed="rId8"/>
                  <a:stretch>
                    <a:fillRect t="-3922" r="-348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A93A0FE-2545-1ED3-D764-85CFBC19A648}"/>
                    </a:ext>
                  </a:extLst>
                </p:cNvPr>
                <p:cNvSpPr txBox="1"/>
                <p:nvPr/>
              </p:nvSpPr>
              <p:spPr>
                <a:xfrm>
                  <a:off x="1631426" y="6083504"/>
                  <a:ext cx="314901" cy="355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A93A0FE-2545-1ED3-D764-85CFBC19A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426" y="6083504"/>
                  <a:ext cx="314901" cy="355304"/>
                </a:xfrm>
                <a:prstGeom prst="rect">
                  <a:avLst/>
                </a:prstGeom>
                <a:blipFill>
                  <a:blip r:embed="rId9"/>
                  <a:stretch>
                    <a:fillRect t="-4000" r="-348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5B9D0593-B12D-CAA0-F43A-E46EEAD19E2C}"/>
              </a:ext>
            </a:extLst>
          </p:cNvPr>
          <p:cNvSpPr/>
          <p:nvPr/>
        </p:nvSpPr>
        <p:spPr>
          <a:xfrm>
            <a:off x="2604892" y="5043357"/>
            <a:ext cx="289567" cy="425358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0440D3-00E4-B764-89B1-B757ED232C7C}"/>
              </a:ext>
            </a:extLst>
          </p:cNvPr>
          <p:cNvSpPr txBox="1"/>
          <p:nvPr/>
        </p:nvSpPr>
        <p:spPr>
          <a:xfrm>
            <a:off x="329486" y="3833015"/>
            <a:ext cx="544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i="1" dirty="0"/>
              <a:t>Normalization condition fails when combining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D4DAC8-0199-3712-5DB1-14F417E5A7CD}"/>
                  </a:ext>
                </a:extLst>
              </p:cNvPr>
              <p:cNvSpPr txBox="1"/>
              <p:nvPr/>
            </p:nvSpPr>
            <p:spPr>
              <a:xfrm>
                <a:off x="1320923" y="6149592"/>
                <a:ext cx="2907195" cy="615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r>
                                <a:rPr lang="en-US" sz="1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l-GR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≠1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D4DAC8-0199-3712-5DB1-14F417E5A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923" y="6149592"/>
                <a:ext cx="2907195" cy="615168"/>
              </a:xfrm>
              <a:prstGeom prst="rect">
                <a:avLst/>
              </a:prstGeom>
              <a:blipFill>
                <a:blip r:embed="rId10"/>
                <a:stretch>
                  <a:fillRect l="-20126" t="-115842" r="-146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D77517-ED4C-041D-61E1-84A4338EAE4C}"/>
                  </a:ext>
                </a:extLst>
              </p:cNvPr>
              <p:cNvSpPr txBox="1"/>
              <p:nvPr/>
            </p:nvSpPr>
            <p:spPr>
              <a:xfrm>
                <a:off x="5778462" y="4232544"/>
                <a:ext cx="5369776" cy="2017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9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b="0" i="1" u="sng" dirty="0"/>
                  <a:t>Linear dependence </a:t>
                </a:r>
                <a:r>
                  <a:rPr lang="en-US" sz="1600" b="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,  and response function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is </a:t>
                </a:r>
                <a:r>
                  <a:rPr lang="en-US" sz="1600" i="1" u="sng" dirty="0"/>
                  <a:t>not unique.</a:t>
                </a:r>
                <a:r>
                  <a:rPr lang="en-US" sz="1600" dirty="0"/>
                  <a:t> We can we judiciously search it to find a normalized on, i.e.:</a:t>
                </a:r>
              </a:p>
              <a:p>
                <a:r>
                  <a:rPr lang="en-US" sz="1600" dirty="0"/>
                  <a:t>             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i="1" u="sng" dirty="0"/>
                  <a:t>Coarse graining</a:t>
                </a:r>
                <a:r>
                  <a:rPr lang="en-US" sz="16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into a finite outcome one to simplify the process. i.e.: </a:t>
                </a:r>
              </a:p>
              <a:p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   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with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D77517-ED4C-041D-61E1-84A4338EA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462" y="4232544"/>
                <a:ext cx="5369776" cy="2017860"/>
              </a:xfrm>
              <a:prstGeom prst="rect">
                <a:avLst/>
              </a:prstGeom>
              <a:blipFill>
                <a:blip r:embed="rId11"/>
                <a:stretch>
                  <a:fillRect l="-454" b="-26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9F8CB7D-2332-B625-8F88-DA3EECA61C29}"/>
              </a:ext>
            </a:extLst>
          </p:cNvPr>
          <p:cNvSpPr/>
          <p:nvPr/>
        </p:nvSpPr>
        <p:spPr>
          <a:xfrm>
            <a:off x="5768245" y="3813137"/>
            <a:ext cx="5569362" cy="544274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Main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34A0ACD-98BB-F116-6104-F16CA24C04AB}"/>
                  </a:ext>
                </a:extLst>
              </p:cNvPr>
              <p:cNvSpPr/>
              <p:nvPr/>
            </p:nvSpPr>
            <p:spPr>
              <a:xfrm>
                <a:off x="280861" y="895615"/>
                <a:ext cx="11106069" cy="2745148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34A0ACD-98BB-F116-6104-F16CA24C0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61" y="895615"/>
                <a:ext cx="11106069" cy="2745148"/>
              </a:xfrm>
              <a:prstGeom prst="rect">
                <a:avLst/>
              </a:prstGeom>
              <a:blipFill>
                <a:blip r:embed="rId12"/>
                <a:stretch>
                  <a:fillRect l="-164"/>
                </a:stretch>
              </a:blipFill>
              <a:ln w="444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92EF29-C5D6-D8E1-2BD3-1C67440646B3}"/>
                  </a:ext>
                </a:extLst>
              </p:cNvPr>
              <p:cNvSpPr txBox="1"/>
              <p:nvPr/>
            </p:nvSpPr>
            <p:spPr>
              <a:xfrm>
                <a:off x="446490" y="946864"/>
                <a:ext cx="10630790" cy="2309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>
                    <a:solidFill>
                      <a:schemeClr val="tx1"/>
                    </a:solidFill>
                  </a:rPr>
                  <a:t>As previously argued,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is the ‘unique’ parent POVM for simulate all PVMs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4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Any nonprojective noisy two-outcome measurement are nonextremal                                           </a:t>
                </a:r>
              </a:p>
              <a:p>
                <a:pPr lvl="1"/>
                <a:endParaRPr lang="en-US" sz="16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We now attempt to simulate a 3-outcome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0"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i="1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prstClr val="black"/>
                    </a:solidFill>
                  </a:rPr>
                  <a:t>From 3-oucome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∈{1,2,3}</m:t>
                        </m:r>
                      </m:sub>
                    </m:sSub>
                    <m:r>
                      <a:rPr lang="en-US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simulation to 4-outcome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∈{1,2,3,4}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simulation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92EF29-C5D6-D8E1-2BD3-1C6744064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90" y="946864"/>
                <a:ext cx="10630790" cy="2309158"/>
              </a:xfrm>
              <a:prstGeom prst="rect">
                <a:avLst/>
              </a:prstGeom>
              <a:blipFill>
                <a:blip r:embed="rId13"/>
                <a:stretch>
                  <a:fillRect l="-573" b="-1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D3B072CC-F7D6-5F28-6083-7EDE3893706E}"/>
              </a:ext>
            </a:extLst>
          </p:cNvPr>
          <p:cNvSpPr/>
          <p:nvPr/>
        </p:nvSpPr>
        <p:spPr>
          <a:xfrm>
            <a:off x="10055533" y="1674324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B6815981-648D-721E-3FEA-9270B0B63DA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04143" y="1671654"/>
            <a:ext cx="247336" cy="24733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98106EF-0821-B891-FD75-5125069EB21A}"/>
              </a:ext>
            </a:extLst>
          </p:cNvPr>
          <p:cNvSpPr/>
          <p:nvPr/>
        </p:nvSpPr>
        <p:spPr>
          <a:xfrm>
            <a:off x="10055533" y="2267968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C55D4B-F873-1F45-6DAA-4800BA742614}"/>
              </a:ext>
            </a:extLst>
          </p:cNvPr>
          <p:cNvSpPr/>
          <p:nvPr/>
        </p:nvSpPr>
        <p:spPr>
          <a:xfrm>
            <a:off x="10055533" y="2863676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6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BB5619E-86DD-E5C9-66E1-A1CEF068FDCB}"/>
              </a:ext>
            </a:extLst>
          </p:cNvPr>
          <p:cNvSpPr/>
          <p:nvPr/>
        </p:nvSpPr>
        <p:spPr>
          <a:xfrm>
            <a:off x="4221726" y="3936992"/>
            <a:ext cx="7649169" cy="627110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B4E97B-D0DF-F42D-32E7-34805413B2EB}"/>
              </a:ext>
            </a:extLst>
          </p:cNvPr>
          <p:cNvSpPr/>
          <p:nvPr/>
        </p:nvSpPr>
        <p:spPr>
          <a:xfrm>
            <a:off x="4221726" y="2205052"/>
            <a:ext cx="7649169" cy="627110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Proof idea: 3-outcome POVMs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F39D65B-DD94-1C13-4276-1A85342B7436}"/>
              </a:ext>
            </a:extLst>
          </p:cNvPr>
          <p:cNvGrpSpPr/>
          <p:nvPr/>
        </p:nvGrpSpPr>
        <p:grpSpPr>
          <a:xfrm>
            <a:off x="2012290" y="2173463"/>
            <a:ext cx="2048194" cy="1990689"/>
            <a:chOff x="1098749" y="2493181"/>
            <a:chExt cx="3657602" cy="3690215"/>
          </a:xfrm>
        </p:grpSpPr>
        <p:sp>
          <p:nvSpPr>
            <p:cNvPr id="53" name="Partial Circle 52">
              <a:extLst>
                <a:ext uri="{FF2B5EF4-FFF2-40B4-BE49-F238E27FC236}">
                  <a16:creationId xmlns:a16="http://schemas.microsoft.com/office/drawing/2014/main" id="{AEEE082E-26E1-55F5-712F-54CF40FBB6E5}"/>
                </a:ext>
              </a:extLst>
            </p:cNvPr>
            <p:cNvSpPr/>
            <p:nvPr/>
          </p:nvSpPr>
          <p:spPr>
            <a:xfrm rot="977257">
              <a:off x="1098751" y="2525796"/>
              <a:ext cx="3657600" cy="365760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FF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4" name="Partial Circle 53">
              <a:extLst>
                <a:ext uri="{FF2B5EF4-FFF2-40B4-BE49-F238E27FC236}">
                  <a16:creationId xmlns:a16="http://schemas.microsoft.com/office/drawing/2014/main" id="{6D23F85C-1E22-15C5-3BDA-F096839C2ECF}"/>
                </a:ext>
              </a:extLst>
            </p:cNvPr>
            <p:cNvSpPr/>
            <p:nvPr/>
          </p:nvSpPr>
          <p:spPr>
            <a:xfrm rot="18220929">
              <a:off x="1098749" y="2493181"/>
              <a:ext cx="3657600" cy="365760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0070C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5" name="Partial Circle 54">
              <a:extLst>
                <a:ext uri="{FF2B5EF4-FFF2-40B4-BE49-F238E27FC236}">
                  <a16:creationId xmlns:a16="http://schemas.microsoft.com/office/drawing/2014/main" id="{ED3AD9BE-F07F-6BEB-C53C-48F2CB36A6F2}"/>
                </a:ext>
              </a:extLst>
            </p:cNvPr>
            <p:cNvSpPr/>
            <p:nvPr/>
          </p:nvSpPr>
          <p:spPr>
            <a:xfrm rot="10800000">
              <a:off x="1098750" y="2493182"/>
              <a:ext cx="3657600" cy="365760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B3C5B13-E88A-33E2-4CC4-B64BBB360BAA}"/>
                </a:ext>
              </a:extLst>
            </p:cNvPr>
            <p:cNvSpPr/>
            <p:nvPr/>
          </p:nvSpPr>
          <p:spPr>
            <a:xfrm>
              <a:off x="1098750" y="2493182"/>
              <a:ext cx="3657600" cy="3657600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2E38A94-F4A5-82B4-96DE-E02587C55A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9084" y="2504683"/>
              <a:ext cx="0" cy="1828800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091BF13-92AF-5D5C-1F7D-5574F4976907}"/>
                </a:ext>
              </a:extLst>
            </p:cNvPr>
            <p:cNvCxnSpPr>
              <a:cxnSpLocks/>
            </p:cNvCxnSpPr>
            <p:nvPr/>
          </p:nvCxnSpPr>
          <p:spPr>
            <a:xfrm>
              <a:off x="2919084" y="4333483"/>
              <a:ext cx="1512887" cy="1024746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E0AF701-8B35-6CBA-575D-10D41E906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8971" y="4305190"/>
              <a:ext cx="598579" cy="1752599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2CABF24-37ED-A0C5-1797-A826D5640AE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750" y="4331607"/>
              <a:ext cx="365760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501D6C2-637C-6821-F248-FD49114FB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4104" y="2814776"/>
              <a:ext cx="2014192" cy="3014413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9766201-6916-80A7-480E-F193C2FA0EB2}"/>
                </a:ext>
              </a:extLst>
            </p:cNvPr>
            <p:cNvCxnSpPr>
              <a:cxnSpLocks/>
            </p:cNvCxnSpPr>
            <p:nvPr/>
          </p:nvCxnSpPr>
          <p:spPr>
            <a:xfrm>
              <a:off x="1177504" y="3839522"/>
              <a:ext cx="3505200" cy="1013215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A256693-FF09-C161-4194-7B889AFBB037}"/>
                    </a:ext>
                  </a:extLst>
                </p:cNvPr>
                <p:cNvSpPr txBox="1"/>
                <p:nvPr/>
              </p:nvSpPr>
              <p:spPr>
                <a:xfrm>
                  <a:off x="2248897" y="2634653"/>
                  <a:ext cx="581648" cy="627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A256693-FF09-C161-4194-7B889AFBB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8897" y="2634653"/>
                  <a:ext cx="581648" cy="627590"/>
                </a:xfrm>
                <a:prstGeom prst="rect">
                  <a:avLst/>
                </a:prstGeom>
                <a:blipFill>
                  <a:blip r:embed="rId4"/>
                  <a:stretch>
                    <a:fillRect r="-207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E76EF0A-D797-C6BC-91CA-62A6E4117E06}"/>
                    </a:ext>
                  </a:extLst>
                </p:cNvPr>
                <p:cNvSpPr txBox="1"/>
                <p:nvPr/>
              </p:nvSpPr>
              <p:spPr>
                <a:xfrm>
                  <a:off x="2469106" y="5473882"/>
                  <a:ext cx="581648" cy="627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E76EF0A-D797-C6BC-91CA-62A6E4117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106" y="5473882"/>
                  <a:ext cx="581648" cy="627590"/>
                </a:xfrm>
                <a:prstGeom prst="rect">
                  <a:avLst/>
                </a:prstGeom>
                <a:blipFill>
                  <a:blip r:embed="rId5"/>
                  <a:stretch>
                    <a:fillRect r="-226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89A0700-78BC-E52B-4FC3-1664CC4CBB4B}"/>
                    </a:ext>
                  </a:extLst>
                </p:cNvPr>
                <p:cNvSpPr txBox="1"/>
                <p:nvPr/>
              </p:nvSpPr>
              <p:spPr>
                <a:xfrm>
                  <a:off x="3493769" y="5056620"/>
                  <a:ext cx="581648" cy="627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89A0700-78BC-E52B-4FC3-1664CC4CBB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769" y="5056620"/>
                  <a:ext cx="581648" cy="627590"/>
                </a:xfrm>
                <a:prstGeom prst="rect">
                  <a:avLst/>
                </a:prstGeom>
                <a:blipFill>
                  <a:blip r:embed="rId6"/>
                  <a:stretch>
                    <a:fillRect r="-203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AFD326A-4324-3BFC-D4CB-2F254863D9A5}"/>
              </a:ext>
            </a:extLst>
          </p:cNvPr>
          <p:cNvSpPr/>
          <p:nvPr/>
        </p:nvSpPr>
        <p:spPr>
          <a:xfrm>
            <a:off x="371639" y="824376"/>
            <a:ext cx="10982161" cy="1006093"/>
          </a:xfrm>
          <a:prstGeom prst="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FC2640-0EC6-99C9-D054-C4F4E48480BB}"/>
                  </a:ext>
                </a:extLst>
              </p:cNvPr>
              <p:cNvSpPr txBox="1"/>
              <p:nvPr/>
            </p:nvSpPr>
            <p:spPr>
              <a:xfrm>
                <a:off x="406784" y="849400"/>
                <a:ext cx="10982161" cy="944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An extremal 3-outome POVMs can be parameterized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/>
                  <a:t>,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=1,2,3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  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   ⇒ 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≥0,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               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FC2640-0EC6-99C9-D054-C4F4E4848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4" y="849400"/>
                <a:ext cx="10982161" cy="944105"/>
              </a:xfrm>
              <a:prstGeom prst="rect">
                <a:avLst/>
              </a:prstGeom>
              <a:blipFill>
                <a:blip r:embed="rId7"/>
                <a:stretch>
                  <a:fillRect l="-611" b="-6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D8A062E-76A4-838D-0E0D-8FCA0028B9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6760" y="4621106"/>
            <a:ext cx="4835652" cy="138502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A5A3EF-A8FE-4E08-AE2A-58887C37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14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9229AEE-D99B-ED37-277A-6D9BD597222B}"/>
              </a:ext>
            </a:extLst>
          </p:cNvPr>
          <p:cNvGrpSpPr/>
          <p:nvPr/>
        </p:nvGrpSpPr>
        <p:grpSpPr>
          <a:xfrm>
            <a:off x="91487" y="4299271"/>
            <a:ext cx="2077609" cy="2020115"/>
            <a:chOff x="1774813" y="4733838"/>
            <a:chExt cx="2209039" cy="210360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FE5CA95-A59D-859D-0830-19E1A55C57B1}"/>
                </a:ext>
              </a:extLst>
            </p:cNvPr>
            <p:cNvGrpSpPr/>
            <p:nvPr/>
          </p:nvGrpSpPr>
          <p:grpSpPr>
            <a:xfrm>
              <a:off x="1835639" y="4733838"/>
              <a:ext cx="2148213" cy="2103607"/>
              <a:chOff x="1098749" y="2493181"/>
              <a:chExt cx="3657602" cy="3690215"/>
            </a:xfrm>
          </p:grpSpPr>
          <p:sp>
            <p:nvSpPr>
              <p:cNvPr id="12" name="Partial Circle 11">
                <a:extLst>
                  <a:ext uri="{FF2B5EF4-FFF2-40B4-BE49-F238E27FC236}">
                    <a16:creationId xmlns:a16="http://schemas.microsoft.com/office/drawing/2014/main" id="{446637DA-E673-7E5F-56AB-44BD3045C36B}"/>
                  </a:ext>
                </a:extLst>
              </p:cNvPr>
              <p:cNvSpPr/>
              <p:nvPr/>
            </p:nvSpPr>
            <p:spPr>
              <a:xfrm rot="977257">
                <a:off x="1098751" y="2525796"/>
                <a:ext cx="3657600" cy="3657600"/>
              </a:xfrm>
              <a:prstGeom prst="pie">
                <a:avLst>
                  <a:gd name="adj1" fmla="val 0"/>
                  <a:gd name="adj2" fmla="val 10837365"/>
                </a:avLst>
              </a:prstGeom>
              <a:solidFill>
                <a:srgbClr val="FFFF00">
                  <a:alpha val="29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Partial Circle 13">
                <a:extLst>
                  <a:ext uri="{FF2B5EF4-FFF2-40B4-BE49-F238E27FC236}">
                    <a16:creationId xmlns:a16="http://schemas.microsoft.com/office/drawing/2014/main" id="{514692EF-7A1E-EDC0-A4A6-9383FFDC60B9}"/>
                  </a:ext>
                </a:extLst>
              </p:cNvPr>
              <p:cNvSpPr/>
              <p:nvPr/>
            </p:nvSpPr>
            <p:spPr>
              <a:xfrm rot="18220929">
                <a:off x="1098749" y="2493181"/>
                <a:ext cx="3657600" cy="3657600"/>
              </a:xfrm>
              <a:prstGeom prst="pie">
                <a:avLst>
                  <a:gd name="adj1" fmla="val 0"/>
                  <a:gd name="adj2" fmla="val 10837365"/>
                </a:avLst>
              </a:prstGeom>
              <a:solidFill>
                <a:srgbClr val="0070C0">
                  <a:alpha val="29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Partial Circle 14">
                <a:extLst>
                  <a:ext uri="{FF2B5EF4-FFF2-40B4-BE49-F238E27FC236}">
                    <a16:creationId xmlns:a16="http://schemas.microsoft.com/office/drawing/2014/main" id="{8B39644C-85DA-4A35-9536-8998CBD80F13}"/>
                  </a:ext>
                </a:extLst>
              </p:cNvPr>
              <p:cNvSpPr/>
              <p:nvPr/>
            </p:nvSpPr>
            <p:spPr>
              <a:xfrm rot="10800000">
                <a:off x="1098750" y="2493182"/>
                <a:ext cx="3657600" cy="3657600"/>
              </a:xfrm>
              <a:prstGeom prst="pie">
                <a:avLst>
                  <a:gd name="adj1" fmla="val 0"/>
                  <a:gd name="adj2" fmla="val 10837365"/>
                </a:avLst>
              </a:prstGeom>
              <a:solidFill>
                <a:srgbClr val="FF0000">
                  <a:alpha val="29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BEC9F9A-36F9-5786-2AD2-FD6816DFC988}"/>
                  </a:ext>
                </a:extLst>
              </p:cNvPr>
              <p:cNvSpPr/>
              <p:nvPr/>
            </p:nvSpPr>
            <p:spPr>
              <a:xfrm>
                <a:off x="1098750" y="2493182"/>
                <a:ext cx="3657600" cy="3657600"/>
              </a:xfrm>
              <a:prstGeom prst="ellipse">
                <a:avLst/>
              </a:prstGeom>
              <a:solidFill>
                <a:schemeClr val="lt1">
                  <a:alpha val="0"/>
                </a:schemeClr>
              </a:solidFill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E031E7E-0A5E-F855-5C16-9FCE5CB5AB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8750" y="4331607"/>
                <a:ext cx="3657600" cy="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339A080-D0C7-DD66-1B0A-91C9D7F68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4104" y="2814775"/>
                <a:ext cx="2014193" cy="3014413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986B323-776A-523E-7D70-8A16CAE329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504" y="3839522"/>
                <a:ext cx="3505200" cy="1013215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84771F-BA6E-D08D-C4A4-261C3C68EF89}"/>
                    </a:ext>
                  </a:extLst>
                </p:cNvPr>
                <p:cNvSpPr txBox="1"/>
                <p:nvPr/>
              </p:nvSpPr>
              <p:spPr>
                <a:xfrm>
                  <a:off x="2492663" y="4930602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{1}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84771F-BA6E-D08D-C4A4-261C3C68E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663" y="4930602"/>
                  <a:ext cx="490022" cy="377652"/>
                </a:xfrm>
                <a:prstGeom prst="rect">
                  <a:avLst/>
                </a:prstGeom>
                <a:blipFill>
                  <a:blip r:embed="rId9"/>
                  <a:stretch>
                    <a:fillRect r="-8000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92754C4-7808-950C-C353-A4CFAC88A11D}"/>
                    </a:ext>
                  </a:extLst>
                </p:cNvPr>
                <p:cNvSpPr txBox="1"/>
                <p:nvPr/>
              </p:nvSpPr>
              <p:spPr>
                <a:xfrm>
                  <a:off x="2043887" y="5844392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{2}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92754C4-7808-950C-C353-A4CFAC88A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3887" y="5844392"/>
                  <a:ext cx="490022" cy="377652"/>
                </a:xfrm>
                <a:prstGeom prst="rect">
                  <a:avLst/>
                </a:prstGeom>
                <a:blipFill>
                  <a:blip r:embed="rId10"/>
                  <a:stretch>
                    <a:fillRect r="-8000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F06CB15-D0F4-BD90-5108-AC57667735D7}"/>
                    </a:ext>
                  </a:extLst>
                </p:cNvPr>
                <p:cNvSpPr txBox="1"/>
                <p:nvPr/>
              </p:nvSpPr>
              <p:spPr>
                <a:xfrm>
                  <a:off x="3482309" y="5703619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{3}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F06CB15-D0F4-BD90-5108-AC5766773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2309" y="5703619"/>
                  <a:ext cx="490022" cy="377652"/>
                </a:xfrm>
                <a:prstGeom prst="rect">
                  <a:avLst/>
                </a:prstGeom>
                <a:blipFill>
                  <a:blip r:embed="rId11"/>
                  <a:stretch>
                    <a:fillRect r="-7895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465EF8B-AD9E-AFD3-2BD3-2D51E17BF01F}"/>
                    </a:ext>
                  </a:extLst>
                </p:cNvPr>
                <p:cNvSpPr txBox="1"/>
                <p:nvPr/>
              </p:nvSpPr>
              <p:spPr>
                <a:xfrm>
                  <a:off x="1774813" y="5456719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{1,2}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465EF8B-AD9E-AFD3-2BD3-2D51E17BF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13" y="5456719"/>
                  <a:ext cx="490022" cy="377652"/>
                </a:xfrm>
                <a:prstGeom prst="rect">
                  <a:avLst/>
                </a:prstGeom>
                <a:blipFill>
                  <a:blip r:embed="rId12"/>
                  <a:stretch>
                    <a:fillRect r="-32895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DCDC187-998B-E266-0CFB-5560222E0656}"/>
                    </a:ext>
                  </a:extLst>
                </p:cNvPr>
                <p:cNvSpPr txBox="1"/>
                <p:nvPr/>
              </p:nvSpPr>
              <p:spPr>
                <a:xfrm>
                  <a:off x="2842957" y="6225114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{2,3}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DCDC187-998B-E266-0CFB-5560222E0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957" y="6225114"/>
                  <a:ext cx="490022" cy="377652"/>
                </a:xfrm>
                <a:prstGeom prst="rect">
                  <a:avLst/>
                </a:prstGeom>
                <a:blipFill>
                  <a:blip r:embed="rId13"/>
                  <a:stretch>
                    <a:fillRect r="-33333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E43F8BF-19DE-8E35-1630-25B74AA4205C}"/>
                    </a:ext>
                  </a:extLst>
                </p:cNvPr>
                <p:cNvSpPr txBox="1"/>
                <p:nvPr/>
              </p:nvSpPr>
              <p:spPr>
                <a:xfrm>
                  <a:off x="3212493" y="5235183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{1,3}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E43F8BF-19DE-8E35-1630-25B74AA42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493" y="5235183"/>
                  <a:ext cx="490022" cy="377652"/>
                </a:xfrm>
                <a:prstGeom prst="rect">
                  <a:avLst/>
                </a:prstGeom>
                <a:blipFill>
                  <a:blip r:embed="rId14"/>
                  <a:stretch>
                    <a:fillRect r="-33333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2DF6CA6-64AC-1F8C-D63D-315FDD3B80B8}"/>
              </a:ext>
            </a:extLst>
          </p:cNvPr>
          <p:cNvSpPr/>
          <p:nvPr/>
        </p:nvSpPr>
        <p:spPr>
          <a:xfrm rot="7697743">
            <a:off x="2016158" y="4086592"/>
            <a:ext cx="289567" cy="425358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400F25-3FF1-6D52-0324-2B667768BD71}"/>
                  </a:ext>
                </a:extLst>
              </p:cNvPr>
              <p:cNvSpPr txBox="1"/>
              <p:nvPr/>
            </p:nvSpPr>
            <p:spPr>
              <a:xfrm>
                <a:off x="2148426" y="5074540"/>
                <a:ext cx="21675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With response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acc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sz="1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0" lang="el-GR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400F25-3FF1-6D52-0324-2B667768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426" y="5074540"/>
                <a:ext cx="2167524" cy="523220"/>
              </a:xfrm>
              <a:prstGeom prst="rect">
                <a:avLst/>
              </a:prstGeom>
              <a:blipFill>
                <a:blip r:embed="rId15"/>
                <a:stretch>
                  <a:fillRect l="-843" t="-2326" r="-5056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row: Right 36">
            <a:extLst>
              <a:ext uri="{FF2B5EF4-FFF2-40B4-BE49-F238E27FC236}">
                <a16:creationId xmlns:a16="http://schemas.microsoft.com/office/drawing/2014/main" id="{77966F98-AC91-939A-6894-8B75A1EA545C}"/>
              </a:ext>
            </a:extLst>
          </p:cNvPr>
          <p:cNvSpPr/>
          <p:nvPr/>
        </p:nvSpPr>
        <p:spPr>
          <a:xfrm>
            <a:off x="4707653" y="5123471"/>
            <a:ext cx="457404" cy="425358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7813EE-D2E1-1A4A-C217-CBE1A465D681}"/>
                  </a:ext>
                </a:extLst>
              </p:cNvPr>
              <p:cNvSpPr txBox="1"/>
              <p:nvPr/>
            </p:nvSpPr>
            <p:spPr>
              <a:xfrm>
                <a:off x="261400" y="3336179"/>
                <a:ext cx="171944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i="1" dirty="0"/>
                  <a:t> devides the surface of the Bloch sphere into 6 pieces.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7813EE-D2E1-1A4A-C217-CBE1A465D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0" y="3336179"/>
                <a:ext cx="1719443" cy="738664"/>
              </a:xfrm>
              <a:prstGeom prst="rect">
                <a:avLst/>
              </a:prstGeom>
              <a:blipFill>
                <a:blip r:embed="rId16"/>
                <a:stretch>
                  <a:fillRect l="-1064" t="-1653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EABDE0-5D7C-12A3-59EF-663B6221D462}"/>
                  </a:ext>
                </a:extLst>
              </p:cNvPr>
              <p:cNvSpPr txBox="1"/>
              <p:nvPr/>
            </p:nvSpPr>
            <p:spPr>
              <a:xfrm>
                <a:off x="5738812" y="5882268"/>
                <a:ext cx="4653600" cy="314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Table I: Simulation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with coarse-grained parent POVM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/>
                  <a:t> </a:t>
                </a:r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EABDE0-5D7C-12A3-59EF-663B6221D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812" y="5882268"/>
                <a:ext cx="4653600" cy="314060"/>
              </a:xfrm>
              <a:prstGeom prst="rect">
                <a:avLst/>
              </a:prstGeom>
              <a:blipFill>
                <a:blip r:embed="rId17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F8DA6CF-391C-0809-9142-11C316E2C0B6}"/>
                  </a:ext>
                </a:extLst>
              </p:cNvPr>
              <p:cNvSpPr txBox="1"/>
              <p:nvPr/>
            </p:nvSpPr>
            <p:spPr>
              <a:xfrm>
                <a:off x="4221726" y="2209816"/>
                <a:ext cx="7806804" cy="2411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1.   The coarse-graining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sub>
                    </m:sSub>
                  </m:oMath>
                </a14:m>
                <a:r>
                  <a:rPr lang="en-US" dirty="0"/>
                  <a:t> is also not unique, but there is a natural one defined by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with 6 effects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𝒮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nary>
                      <m:nary>
                        <m:naryPr>
                          <m:chr m:val="∏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∏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dirty="0"/>
                  <a:t>     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0,1,2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{1,2,3}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Step 2.   Each individual effect could be simulated be the coarse-grained POVM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with “</a:t>
                </a:r>
                <a:r>
                  <a:rPr lang="en-US" i="1" u="sng" dirty="0"/>
                  <a:t>response value</a:t>
                </a:r>
                <a:r>
                  <a:rPr lang="en-US" dirty="0"/>
                  <a:t>“ (unnormalized).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F8DA6CF-391C-0809-9142-11C316E2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726" y="2209816"/>
                <a:ext cx="7806804" cy="2411045"/>
              </a:xfrm>
              <a:prstGeom prst="rect">
                <a:avLst/>
              </a:prstGeom>
              <a:blipFill>
                <a:blip r:embed="rId18"/>
                <a:stretch>
                  <a:fillRect l="-703" t="-1519" b="-3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76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2" grpId="0" animBg="1"/>
      <p:bldP spid="3" grpId="0" animBg="1"/>
      <p:bldP spid="4" grpId="0"/>
      <p:bldP spid="33" grpId="0" animBg="1"/>
      <p:bldP spid="35" grpId="0"/>
      <p:bldP spid="37" grpId="0" animBg="1"/>
      <p:bldP spid="38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2BAD692-563A-6258-0629-60CF9410BAA5}"/>
              </a:ext>
            </a:extLst>
          </p:cNvPr>
          <p:cNvSpPr/>
          <p:nvPr/>
        </p:nvSpPr>
        <p:spPr>
          <a:xfrm>
            <a:off x="4224567" y="4190967"/>
            <a:ext cx="7649169" cy="416260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2A800-C65E-FB86-9DA0-F52CF6371327}"/>
              </a:ext>
            </a:extLst>
          </p:cNvPr>
          <p:cNvSpPr/>
          <p:nvPr/>
        </p:nvSpPr>
        <p:spPr>
          <a:xfrm>
            <a:off x="4221726" y="2205052"/>
            <a:ext cx="7649169" cy="383282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F8DA6CF-391C-0809-9142-11C316E2C0B6}"/>
                  </a:ext>
                </a:extLst>
              </p:cNvPr>
              <p:cNvSpPr txBox="1"/>
              <p:nvPr/>
            </p:nvSpPr>
            <p:spPr>
              <a:xfrm>
                <a:off x="4221726" y="2209816"/>
                <a:ext cx="7806804" cy="2409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3. Notice that these effect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are linear dependent, with constrains: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0" dirty="0"/>
                  <a:t>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dirty="0" smtClean="0">
                        <a:latin typeface="Cambria Math" panose="02040503050406030204" pitchFamily="18" charset="0"/>
                      </a:rPr>
                      <m:t>Normalization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p>
                                </m:sSup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1600" b="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dirty="0"/>
                  <a:t>Symmetry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：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=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     </a:t>
                </a:r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sz="1600" dirty="0"/>
              </a:p>
              <a:p>
                <a:endParaRPr lang="en-US" dirty="0"/>
              </a:p>
              <a:p>
                <a:r>
                  <a:rPr lang="en-US" dirty="0"/>
                  <a:t>Step 4.   Applying these linear constrain on “</a:t>
                </a:r>
                <a:r>
                  <a:rPr lang="en-US" i="1" u="sng" dirty="0"/>
                  <a:t>response value</a:t>
                </a:r>
                <a:r>
                  <a:rPr lang="en-US" dirty="0"/>
                  <a:t>“ in the table 1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F8DA6CF-391C-0809-9142-11C316E2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726" y="2209816"/>
                <a:ext cx="7806804" cy="2409057"/>
              </a:xfrm>
              <a:prstGeom prst="rect">
                <a:avLst/>
              </a:prstGeom>
              <a:blipFill>
                <a:blip r:embed="rId3"/>
                <a:stretch>
                  <a:fillRect l="-703" t="-1519" b="-3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BDDAF16-201B-3A9B-A246-3678F0DDF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959" y="4704936"/>
            <a:ext cx="3670310" cy="1051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Proof idea: 3-outcome POVMs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F39D65B-DD94-1C13-4276-1A85342B7436}"/>
              </a:ext>
            </a:extLst>
          </p:cNvPr>
          <p:cNvGrpSpPr/>
          <p:nvPr/>
        </p:nvGrpSpPr>
        <p:grpSpPr>
          <a:xfrm>
            <a:off x="2012290" y="2173463"/>
            <a:ext cx="2048194" cy="1990689"/>
            <a:chOff x="1098749" y="2493181"/>
            <a:chExt cx="3657602" cy="3690215"/>
          </a:xfrm>
        </p:grpSpPr>
        <p:sp>
          <p:nvSpPr>
            <p:cNvPr id="53" name="Partial Circle 52">
              <a:extLst>
                <a:ext uri="{FF2B5EF4-FFF2-40B4-BE49-F238E27FC236}">
                  <a16:creationId xmlns:a16="http://schemas.microsoft.com/office/drawing/2014/main" id="{AEEE082E-26E1-55F5-712F-54CF40FBB6E5}"/>
                </a:ext>
              </a:extLst>
            </p:cNvPr>
            <p:cNvSpPr/>
            <p:nvPr/>
          </p:nvSpPr>
          <p:spPr>
            <a:xfrm rot="977257">
              <a:off x="1098751" y="2525796"/>
              <a:ext cx="3657600" cy="365760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FF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4" name="Partial Circle 53">
              <a:extLst>
                <a:ext uri="{FF2B5EF4-FFF2-40B4-BE49-F238E27FC236}">
                  <a16:creationId xmlns:a16="http://schemas.microsoft.com/office/drawing/2014/main" id="{6D23F85C-1E22-15C5-3BDA-F096839C2ECF}"/>
                </a:ext>
              </a:extLst>
            </p:cNvPr>
            <p:cNvSpPr/>
            <p:nvPr/>
          </p:nvSpPr>
          <p:spPr>
            <a:xfrm rot="18220929">
              <a:off x="1098749" y="2493181"/>
              <a:ext cx="3657600" cy="365760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0070C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5" name="Partial Circle 54">
              <a:extLst>
                <a:ext uri="{FF2B5EF4-FFF2-40B4-BE49-F238E27FC236}">
                  <a16:creationId xmlns:a16="http://schemas.microsoft.com/office/drawing/2014/main" id="{ED3AD9BE-F07F-6BEB-C53C-48F2CB36A6F2}"/>
                </a:ext>
              </a:extLst>
            </p:cNvPr>
            <p:cNvSpPr/>
            <p:nvPr/>
          </p:nvSpPr>
          <p:spPr>
            <a:xfrm rot="10800000">
              <a:off x="1098750" y="2493182"/>
              <a:ext cx="3657600" cy="3657600"/>
            </a:xfrm>
            <a:prstGeom prst="pie">
              <a:avLst>
                <a:gd name="adj1" fmla="val 0"/>
                <a:gd name="adj2" fmla="val 10837365"/>
              </a:avLst>
            </a:prstGeom>
            <a:solidFill>
              <a:srgbClr val="FF0000">
                <a:alpha val="29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B3C5B13-E88A-33E2-4CC4-B64BBB360BAA}"/>
                </a:ext>
              </a:extLst>
            </p:cNvPr>
            <p:cNvSpPr/>
            <p:nvPr/>
          </p:nvSpPr>
          <p:spPr>
            <a:xfrm>
              <a:off x="1098750" y="2493182"/>
              <a:ext cx="3657600" cy="3657600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2E38A94-F4A5-82B4-96DE-E02587C55A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9084" y="2504683"/>
              <a:ext cx="0" cy="1828800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091BF13-92AF-5D5C-1F7D-5574F4976907}"/>
                </a:ext>
              </a:extLst>
            </p:cNvPr>
            <p:cNvCxnSpPr>
              <a:cxnSpLocks/>
            </p:cNvCxnSpPr>
            <p:nvPr/>
          </p:nvCxnSpPr>
          <p:spPr>
            <a:xfrm>
              <a:off x="2919084" y="4333483"/>
              <a:ext cx="1512887" cy="1024746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E0AF701-8B35-6CBA-575D-10D41E906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8971" y="4305190"/>
              <a:ext cx="598579" cy="1752599"/>
            </a:xfrm>
            <a:prstGeom prst="straightConnector1">
              <a:avLst/>
            </a:prstGeom>
            <a:ln w="3175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2CABF24-37ED-A0C5-1797-A826D5640AE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750" y="4331607"/>
              <a:ext cx="365760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501D6C2-637C-6821-F248-FD49114FB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4104" y="2814776"/>
              <a:ext cx="2014192" cy="3014413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9766201-6916-80A7-480E-F193C2FA0EB2}"/>
                </a:ext>
              </a:extLst>
            </p:cNvPr>
            <p:cNvCxnSpPr>
              <a:cxnSpLocks/>
            </p:cNvCxnSpPr>
            <p:nvPr/>
          </p:nvCxnSpPr>
          <p:spPr>
            <a:xfrm>
              <a:off x="1177504" y="3839522"/>
              <a:ext cx="3505200" cy="1013215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A256693-FF09-C161-4194-7B889AFBB037}"/>
                    </a:ext>
                  </a:extLst>
                </p:cNvPr>
                <p:cNvSpPr txBox="1"/>
                <p:nvPr/>
              </p:nvSpPr>
              <p:spPr>
                <a:xfrm>
                  <a:off x="2248897" y="2634653"/>
                  <a:ext cx="581648" cy="627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A256693-FF09-C161-4194-7B889AFBB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8897" y="2634653"/>
                  <a:ext cx="581648" cy="627590"/>
                </a:xfrm>
                <a:prstGeom prst="rect">
                  <a:avLst/>
                </a:prstGeom>
                <a:blipFill>
                  <a:blip r:embed="rId6"/>
                  <a:stretch>
                    <a:fillRect r="-207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E76EF0A-D797-C6BC-91CA-62A6E4117E06}"/>
                    </a:ext>
                  </a:extLst>
                </p:cNvPr>
                <p:cNvSpPr txBox="1"/>
                <p:nvPr/>
              </p:nvSpPr>
              <p:spPr>
                <a:xfrm>
                  <a:off x="2469106" y="5473882"/>
                  <a:ext cx="581648" cy="627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E76EF0A-D797-C6BC-91CA-62A6E4117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106" y="5473882"/>
                  <a:ext cx="581648" cy="627590"/>
                </a:xfrm>
                <a:prstGeom prst="rect">
                  <a:avLst/>
                </a:prstGeom>
                <a:blipFill>
                  <a:blip r:embed="rId7"/>
                  <a:stretch>
                    <a:fillRect r="-226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89A0700-78BC-E52B-4FC3-1664CC4CBB4B}"/>
                    </a:ext>
                  </a:extLst>
                </p:cNvPr>
                <p:cNvSpPr txBox="1"/>
                <p:nvPr/>
              </p:nvSpPr>
              <p:spPr>
                <a:xfrm>
                  <a:off x="3493769" y="5056620"/>
                  <a:ext cx="581648" cy="627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89A0700-78BC-E52B-4FC3-1664CC4CBB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769" y="5056620"/>
                  <a:ext cx="581648" cy="627590"/>
                </a:xfrm>
                <a:prstGeom prst="rect">
                  <a:avLst/>
                </a:prstGeom>
                <a:blipFill>
                  <a:blip r:embed="rId8"/>
                  <a:stretch>
                    <a:fillRect r="-203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AFD326A-4324-3BFC-D4CB-2F254863D9A5}"/>
              </a:ext>
            </a:extLst>
          </p:cNvPr>
          <p:cNvSpPr/>
          <p:nvPr/>
        </p:nvSpPr>
        <p:spPr>
          <a:xfrm>
            <a:off x="371639" y="824376"/>
            <a:ext cx="10982161" cy="1006093"/>
          </a:xfrm>
          <a:prstGeom prst="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FC2640-0EC6-99C9-D054-C4F4E48480BB}"/>
                  </a:ext>
                </a:extLst>
              </p:cNvPr>
              <p:cNvSpPr txBox="1"/>
              <p:nvPr/>
            </p:nvSpPr>
            <p:spPr>
              <a:xfrm>
                <a:off x="406784" y="849400"/>
                <a:ext cx="10982161" cy="944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An extremal 3-outome POVMs can be parameterized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/>
                  <a:t>,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=1,2,3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  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   ⇒   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≥0,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               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FC2640-0EC6-99C9-D054-C4F4E4848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4" y="849400"/>
                <a:ext cx="10982161" cy="944105"/>
              </a:xfrm>
              <a:prstGeom prst="rect">
                <a:avLst/>
              </a:prstGeom>
              <a:blipFill>
                <a:blip r:embed="rId9"/>
                <a:stretch>
                  <a:fillRect l="-611" b="-6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A5A3EF-A8FE-4E08-AE2A-58887C37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15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9229AEE-D99B-ED37-277A-6D9BD597222B}"/>
              </a:ext>
            </a:extLst>
          </p:cNvPr>
          <p:cNvGrpSpPr/>
          <p:nvPr/>
        </p:nvGrpSpPr>
        <p:grpSpPr>
          <a:xfrm>
            <a:off x="91487" y="4299271"/>
            <a:ext cx="2077609" cy="2020115"/>
            <a:chOff x="1774813" y="4733838"/>
            <a:chExt cx="2209039" cy="210360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FE5CA95-A59D-859D-0830-19E1A55C57B1}"/>
                </a:ext>
              </a:extLst>
            </p:cNvPr>
            <p:cNvGrpSpPr/>
            <p:nvPr/>
          </p:nvGrpSpPr>
          <p:grpSpPr>
            <a:xfrm>
              <a:off x="1835639" y="4733838"/>
              <a:ext cx="2148213" cy="2103607"/>
              <a:chOff x="1098749" y="2493181"/>
              <a:chExt cx="3657602" cy="3690215"/>
            </a:xfrm>
          </p:grpSpPr>
          <p:sp>
            <p:nvSpPr>
              <p:cNvPr id="12" name="Partial Circle 11">
                <a:extLst>
                  <a:ext uri="{FF2B5EF4-FFF2-40B4-BE49-F238E27FC236}">
                    <a16:creationId xmlns:a16="http://schemas.microsoft.com/office/drawing/2014/main" id="{446637DA-E673-7E5F-56AB-44BD3045C36B}"/>
                  </a:ext>
                </a:extLst>
              </p:cNvPr>
              <p:cNvSpPr/>
              <p:nvPr/>
            </p:nvSpPr>
            <p:spPr>
              <a:xfrm rot="977257">
                <a:off x="1098751" y="2525796"/>
                <a:ext cx="3657600" cy="3657600"/>
              </a:xfrm>
              <a:prstGeom prst="pie">
                <a:avLst>
                  <a:gd name="adj1" fmla="val 0"/>
                  <a:gd name="adj2" fmla="val 10837365"/>
                </a:avLst>
              </a:prstGeom>
              <a:solidFill>
                <a:srgbClr val="FFFF00">
                  <a:alpha val="29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Partial Circle 13">
                <a:extLst>
                  <a:ext uri="{FF2B5EF4-FFF2-40B4-BE49-F238E27FC236}">
                    <a16:creationId xmlns:a16="http://schemas.microsoft.com/office/drawing/2014/main" id="{514692EF-7A1E-EDC0-A4A6-9383FFDC60B9}"/>
                  </a:ext>
                </a:extLst>
              </p:cNvPr>
              <p:cNvSpPr/>
              <p:nvPr/>
            </p:nvSpPr>
            <p:spPr>
              <a:xfrm rot="18220929">
                <a:off x="1098749" y="2493181"/>
                <a:ext cx="3657600" cy="3657600"/>
              </a:xfrm>
              <a:prstGeom prst="pie">
                <a:avLst>
                  <a:gd name="adj1" fmla="val 0"/>
                  <a:gd name="adj2" fmla="val 10837365"/>
                </a:avLst>
              </a:prstGeom>
              <a:solidFill>
                <a:srgbClr val="0070C0">
                  <a:alpha val="29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Partial Circle 14">
                <a:extLst>
                  <a:ext uri="{FF2B5EF4-FFF2-40B4-BE49-F238E27FC236}">
                    <a16:creationId xmlns:a16="http://schemas.microsoft.com/office/drawing/2014/main" id="{8B39644C-85DA-4A35-9536-8998CBD80F13}"/>
                  </a:ext>
                </a:extLst>
              </p:cNvPr>
              <p:cNvSpPr/>
              <p:nvPr/>
            </p:nvSpPr>
            <p:spPr>
              <a:xfrm rot="10800000">
                <a:off x="1098750" y="2493182"/>
                <a:ext cx="3657600" cy="3657600"/>
              </a:xfrm>
              <a:prstGeom prst="pie">
                <a:avLst>
                  <a:gd name="adj1" fmla="val 0"/>
                  <a:gd name="adj2" fmla="val 10837365"/>
                </a:avLst>
              </a:prstGeom>
              <a:solidFill>
                <a:srgbClr val="FF0000">
                  <a:alpha val="29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BEC9F9A-36F9-5786-2AD2-FD6816DFC988}"/>
                  </a:ext>
                </a:extLst>
              </p:cNvPr>
              <p:cNvSpPr/>
              <p:nvPr/>
            </p:nvSpPr>
            <p:spPr>
              <a:xfrm>
                <a:off x="1098750" y="2493182"/>
                <a:ext cx="3657600" cy="3657600"/>
              </a:xfrm>
              <a:prstGeom prst="ellipse">
                <a:avLst/>
              </a:prstGeom>
              <a:solidFill>
                <a:schemeClr val="lt1">
                  <a:alpha val="0"/>
                </a:schemeClr>
              </a:solidFill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E031E7E-0A5E-F855-5C16-9FCE5CB5AB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8750" y="4331607"/>
                <a:ext cx="3657600" cy="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339A080-D0C7-DD66-1B0A-91C9D7F68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4104" y="2814775"/>
                <a:ext cx="2014193" cy="3014413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986B323-776A-523E-7D70-8A16CAE329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7504" y="3839522"/>
                <a:ext cx="3505200" cy="1013215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84771F-BA6E-D08D-C4A4-261C3C68EF89}"/>
                    </a:ext>
                  </a:extLst>
                </p:cNvPr>
                <p:cNvSpPr txBox="1"/>
                <p:nvPr/>
              </p:nvSpPr>
              <p:spPr>
                <a:xfrm>
                  <a:off x="2492663" y="4930602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{1}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84771F-BA6E-D08D-C4A4-261C3C68E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663" y="4930602"/>
                  <a:ext cx="490022" cy="377652"/>
                </a:xfrm>
                <a:prstGeom prst="rect">
                  <a:avLst/>
                </a:prstGeom>
                <a:blipFill>
                  <a:blip r:embed="rId10"/>
                  <a:stretch>
                    <a:fillRect r="-8000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92754C4-7808-950C-C353-A4CFAC88A11D}"/>
                    </a:ext>
                  </a:extLst>
                </p:cNvPr>
                <p:cNvSpPr txBox="1"/>
                <p:nvPr/>
              </p:nvSpPr>
              <p:spPr>
                <a:xfrm>
                  <a:off x="2043887" y="5844392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{2}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92754C4-7808-950C-C353-A4CFAC88A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3887" y="5844392"/>
                  <a:ext cx="490022" cy="377652"/>
                </a:xfrm>
                <a:prstGeom prst="rect">
                  <a:avLst/>
                </a:prstGeom>
                <a:blipFill>
                  <a:blip r:embed="rId11"/>
                  <a:stretch>
                    <a:fillRect r="-8000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F06CB15-D0F4-BD90-5108-AC57667735D7}"/>
                    </a:ext>
                  </a:extLst>
                </p:cNvPr>
                <p:cNvSpPr txBox="1"/>
                <p:nvPr/>
              </p:nvSpPr>
              <p:spPr>
                <a:xfrm>
                  <a:off x="3482309" y="5703619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{3}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F06CB15-D0F4-BD90-5108-AC5766773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2309" y="5703619"/>
                  <a:ext cx="490022" cy="377652"/>
                </a:xfrm>
                <a:prstGeom prst="rect">
                  <a:avLst/>
                </a:prstGeom>
                <a:blipFill>
                  <a:blip r:embed="rId12"/>
                  <a:stretch>
                    <a:fillRect r="-7895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465EF8B-AD9E-AFD3-2BD3-2D51E17BF01F}"/>
                    </a:ext>
                  </a:extLst>
                </p:cNvPr>
                <p:cNvSpPr txBox="1"/>
                <p:nvPr/>
              </p:nvSpPr>
              <p:spPr>
                <a:xfrm>
                  <a:off x="1774813" y="5456719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{1,2}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465EF8B-AD9E-AFD3-2BD3-2D51E17BF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813" y="5456719"/>
                  <a:ext cx="490022" cy="377652"/>
                </a:xfrm>
                <a:prstGeom prst="rect">
                  <a:avLst/>
                </a:prstGeom>
                <a:blipFill>
                  <a:blip r:embed="rId13"/>
                  <a:stretch>
                    <a:fillRect r="-32895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DCDC187-998B-E266-0CFB-5560222E0656}"/>
                    </a:ext>
                  </a:extLst>
                </p:cNvPr>
                <p:cNvSpPr txBox="1"/>
                <p:nvPr/>
              </p:nvSpPr>
              <p:spPr>
                <a:xfrm>
                  <a:off x="2842957" y="6225114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{2,3}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DCDC187-998B-E266-0CFB-5560222E0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957" y="6225114"/>
                  <a:ext cx="490022" cy="377652"/>
                </a:xfrm>
                <a:prstGeom prst="rect">
                  <a:avLst/>
                </a:prstGeom>
                <a:blipFill>
                  <a:blip r:embed="rId14"/>
                  <a:stretch>
                    <a:fillRect r="-33333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E43F8BF-19DE-8E35-1630-25B74AA4205C}"/>
                    </a:ext>
                  </a:extLst>
                </p:cNvPr>
                <p:cNvSpPr txBox="1"/>
                <p:nvPr/>
              </p:nvSpPr>
              <p:spPr>
                <a:xfrm>
                  <a:off x="3212493" y="5235183"/>
                  <a:ext cx="490022" cy="3776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{1,3}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E43F8BF-19DE-8E35-1630-25B74AA42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493" y="5235183"/>
                  <a:ext cx="490022" cy="377652"/>
                </a:xfrm>
                <a:prstGeom prst="rect">
                  <a:avLst/>
                </a:prstGeom>
                <a:blipFill>
                  <a:blip r:embed="rId15"/>
                  <a:stretch>
                    <a:fillRect r="-33333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2DF6CA6-64AC-1F8C-D63D-315FDD3B80B8}"/>
              </a:ext>
            </a:extLst>
          </p:cNvPr>
          <p:cNvSpPr/>
          <p:nvPr/>
        </p:nvSpPr>
        <p:spPr>
          <a:xfrm rot="7697743">
            <a:off x="2016158" y="4086592"/>
            <a:ext cx="289567" cy="425358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7966F98-AC91-939A-6894-8B75A1EA545C}"/>
              </a:ext>
            </a:extLst>
          </p:cNvPr>
          <p:cNvSpPr/>
          <p:nvPr/>
        </p:nvSpPr>
        <p:spPr>
          <a:xfrm>
            <a:off x="6172409" y="4962049"/>
            <a:ext cx="457404" cy="425358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7813EE-D2E1-1A4A-C217-CBE1A465D681}"/>
                  </a:ext>
                </a:extLst>
              </p:cNvPr>
              <p:cNvSpPr txBox="1"/>
              <p:nvPr/>
            </p:nvSpPr>
            <p:spPr>
              <a:xfrm>
                <a:off x="261400" y="3336179"/>
                <a:ext cx="171944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i="1" dirty="0"/>
                  <a:t> devides the surface of the Bloch sphere into 6 pieces.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7813EE-D2E1-1A4A-C217-CBE1A465D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0" y="3336179"/>
                <a:ext cx="1719443" cy="738664"/>
              </a:xfrm>
              <a:prstGeom prst="rect">
                <a:avLst/>
              </a:prstGeom>
              <a:blipFill>
                <a:blip r:embed="rId16"/>
                <a:stretch>
                  <a:fillRect l="-1064" t="-1653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5788318-B94B-5FC5-5980-5227861B318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35953" y="4671536"/>
            <a:ext cx="3996583" cy="1056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9CE252-4162-6B92-E63A-EA50BF577160}"/>
              </a:ext>
            </a:extLst>
          </p:cNvPr>
          <p:cNvSpPr txBox="1"/>
          <p:nvPr/>
        </p:nvSpPr>
        <p:spPr>
          <a:xfrm>
            <a:off x="2364953" y="5696556"/>
            <a:ext cx="2791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Table I: Unnormalized  response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CC1F55-A1D7-C2AF-18DE-34FBBC1B986C}"/>
              </a:ext>
            </a:extLst>
          </p:cNvPr>
          <p:cNvSpPr txBox="1"/>
          <p:nvPr/>
        </p:nvSpPr>
        <p:spPr>
          <a:xfrm>
            <a:off x="7438416" y="5696555"/>
            <a:ext cx="2791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Table II: Normalized  response function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A0F497-D50F-D8A1-2263-8F9F7D3687D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02714" y="6037863"/>
            <a:ext cx="1619708" cy="4145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A0592E-8477-72F2-2DEF-80A6B809EDE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34243" y="6046897"/>
            <a:ext cx="1655888" cy="37618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B17BEC0-AFD3-A0D5-1C04-F80AA0916462}"/>
              </a:ext>
            </a:extLst>
          </p:cNvPr>
          <p:cNvSpPr txBox="1"/>
          <p:nvPr/>
        </p:nvSpPr>
        <p:spPr>
          <a:xfrm>
            <a:off x="6629813" y="6576241"/>
            <a:ext cx="4268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Note: Positivity after applying linear constrain need to be verified.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5775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9" grpId="0" animBg="1"/>
      <p:bldP spid="37" grpId="0" animBg="1"/>
      <p:bldP spid="10" grpId="0"/>
      <p:bldP spid="13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Proof idea: 4-outcome POVMs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EAEEABA-CB53-EC24-8745-3EA3E926A8DE}"/>
              </a:ext>
            </a:extLst>
          </p:cNvPr>
          <p:cNvGrpSpPr/>
          <p:nvPr/>
        </p:nvGrpSpPr>
        <p:grpSpPr>
          <a:xfrm>
            <a:off x="2648447" y="3817243"/>
            <a:ext cx="6370896" cy="2893432"/>
            <a:chOff x="892258" y="2105806"/>
            <a:chExt cx="9948898" cy="436558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A765D5-19EE-2140-B3D2-8A07CEE63174}"/>
                </a:ext>
              </a:extLst>
            </p:cNvPr>
            <p:cNvSpPr/>
            <p:nvPr/>
          </p:nvSpPr>
          <p:spPr>
            <a:xfrm>
              <a:off x="7039540" y="5671451"/>
              <a:ext cx="3425576" cy="783859"/>
            </a:xfrm>
            <a:custGeom>
              <a:avLst/>
              <a:gdLst>
                <a:gd name="connsiteX0" fmla="*/ 0 w 3425576"/>
                <a:gd name="connsiteY0" fmla="*/ 0 h 783859"/>
                <a:gd name="connsiteX1" fmla="*/ 536674 w 3425576"/>
                <a:gd name="connsiteY1" fmla="*/ 0 h 783859"/>
                <a:gd name="connsiteX2" fmla="*/ 1004836 w 3425576"/>
                <a:gd name="connsiteY2" fmla="*/ 0 h 783859"/>
                <a:gd name="connsiteX3" fmla="*/ 1507253 w 3425576"/>
                <a:gd name="connsiteY3" fmla="*/ 0 h 783859"/>
                <a:gd name="connsiteX4" fmla="*/ 2112439 w 3425576"/>
                <a:gd name="connsiteY4" fmla="*/ 0 h 783859"/>
                <a:gd name="connsiteX5" fmla="*/ 2649112 w 3425576"/>
                <a:gd name="connsiteY5" fmla="*/ 0 h 783859"/>
                <a:gd name="connsiteX6" fmla="*/ 3425576 w 3425576"/>
                <a:gd name="connsiteY6" fmla="*/ 0 h 783859"/>
                <a:gd name="connsiteX7" fmla="*/ 3425576 w 3425576"/>
                <a:gd name="connsiteY7" fmla="*/ 399768 h 783859"/>
                <a:gd name="connsiteX8" fmla="*/ 3425576 w 3425576"/>
                <a:gd name="connsiteY8" fmla="*/ 783859 h 783859"/>
                <a:gd name="connsiteX9" fmla="*/ 2854647 w 3425576"/>
                <a:gd name="connsiteY9" fmla="*/ 783859 h 783859"/>
                <a:gd name="connsiteX10" fmla="*/ 2352229 w 3425576"/>
                <a:gd name="connsiteY10" fmla="*/ 783859 h 783859"/>
                <a:gd name="connsiteX11" fmla="*/ 1712788 w 3425576"/>
                <a:gd name="connsiteY11" fmla="*/ 783859 h 783859"/>
                <a:gd name="connsiteX12" fmla="*/ 1176114 w 3425576"/>
                <a:gd name="connsiteY12" fmla="*/ 783859 h 783859"/>
                <a:gd name="connsiteX13" fmla="*/ 707952 w 3425576"/>
                <a:gd name="connsiteY13" fmla="*/ 783859 h 783859"/>
                <a:gd name="connsiteX14" fmla="*/ 0 w 3425576"/>
                <a:gd name="connsiteY14" fmla="*/ 783859 h 783859"/>
                <a:gd name="connsiteX15" fmla="*/ 0 w 3425576"/>
                <a:gd name="connsiteY15" fmla="*/ 407607 h 783859"/>
                <a:gd name="connsiteX16" fmla="*/ 0 w 3425576"/>
                <a:gd name="connsiteY16" fmla="*/ 0 h 783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25576" h="783859" fill="none" extrusionOk="0">
                  <a:moveTo>
                    <a:pt x="0" y="0"/>
                  </a:moveTo>
                  <a:cubicBezTo>
                    <a:pt x="113716" y="-941"/>
                    <a:pt x="382211" y="51773"/>
                    <a:pt x="536674" y="0"/>
                  </a:cubicBezTo>
                  <a:cubicBezTo>
                    <a:pt x="691137" y="-51773"/>
                    <a:pt x="775438" y="30298"/>
                    <a:pt x="1004836" y="0"/>
                  </a:cubicBezTo>
                  <a:cubicBezTo>
                    <a:pt x="1234234" y="-30298"/>
                    <a:pt x="1393511" y="16063"/>
                    <a:pt x="1507253" y="0"/>
                  </a:cubicBezTo>
                  <a:cubicBezTo>
                    <a:pt x="1620995" y="-16063"/>
                    <a:pt x="1899404" y="58381"/>
                    <a:pt x="2112439" y="0"/>
                  </a:cubicBezTo>
                  <a:cubicBezTo>
                    <a:pt x="2325474" y="-58381"/>
                    <a:pt x="2537578" y="48016"/>
                    <a:pt x="2649112" y="0"/>
                  </a:cubicBezTo>
                  <a:cubicBezTo>
                    <a:pt x="2760646" y="-48016"/>
                    <a:pt x="3204141" y="55096"/>
                    <a:pt x="3425576" y="0"/>
                  </a:cubicBezTo>
                  <a:cubicBezTo>
                    <a:pt x="3436900" y="169253"/>
                    <a:pt x="3382493" y="200485"/>
                    <a:pt x="3425576" y="399768"/>
                  </a:cubicBezTo>
                  <a:cubicBezTo>
                    <a:pt x="3468659" y="599051"/>
                    <a:pt x="3391146" y="658762"/>
                    <a:pt x="3425576" y="783859"/>
                  </a:cubicBezTo>
                  <a:cubicBezTo>
                    <a:pt x="3240267" y="802683"/>
                    <a:pt x="2986012" y="750599"/>
                    <a:pt x="2854647" y="783859"/>
                  </a:cubicBezTo>
                  <a:cubicBezTo>
                    <a:pt x="2723282" y="817119"/>
                    <a:pt x="2579132" y="736112"/>
                    <a:pt x="2352229" y="783859"/>
                  </a:cubicBezTo>
                  <a:cubicBezTo>
                    <a:pt x="2125326" y="831606"/>
                    <a:pt x="1924739" y="775483"/>
                    <a:pt x="1712788" y="783859"/>
                  </a:cubicBezTo>
                  <a:cubicBezTo>
                    <a:pt x="1500837" y="792235"/>
                    <a:pt x="1358741" y="767038"/>
                    <a:pt x="1176114" y="783859"/>
                  </a:cubicBezTo>
                  <a:cubicBezTo>
                    <a:pt x="993487" y="800680"/>
                    <a:pt x="938355" y="767239"/>
                    <a:pt x="707952" y="783859"/>
                  </a:cubicBezTo>
                  <a:cubicBezTo>
                    <a:pt x="477549" y="800479"/>
                    <a:pt x="320285" y="727759"/>
                    <a:pt x="0" y="783859"/>
                  </a:cubicBezTo>
                  <a:cubicBezTo>
                    <a:pt x="-25899" y="629027"/>
                    <a:pt x="35270" y="498624"/>
                    <a:pt x="0" y="407607"/>
                  </a:cubicBezTo>
                  <a:cubicBezTo>
                    <a:pt x="-35270" y="316590"/>
                    <a:pt x="45067" y="112005"/>
                    <a:pt x="0" y="0"/>
                  </a:cubicBezTo>
                  <a:close/>
                </a:path>
                <a:path w="3425576" h="783859" stroke="0" extrusionOk="0">
                  <a:moveTo>
                    <a:pt x="0" y="0"/>
                  </a:moveTo>
                  <a:cubicBezTo>
                    <a:pt x="242183" y="-32621"/>
                    <a:pt x="371186" y="33066"/>
                    <a:pt x="536674" y="0"/>
                  </a:cubicBezTo>
                  <a:cubicBezTo>
                    <a:pt x="702162" y="-33066"/>
                    <a:pt x="787914" y="14977"/>
                    <a:pt x="1004836" y="0"/>
                  </a:cubicBezTo>
                  <a:cubicBezTo>
                    <a:pt x="1221758" y="-14977"/>
                    <a:pt x="1404449" y="71151"/>
                    <a:pt x="1644276" y="0"/>
                  </a:cubicBezTo>
                  <a:cubicBezTo>
                    <a:pt x="1884103" y="-71151"/>
                    <a:pt x="1930080" y="63668"/>
                    <a:pt x="2180950" y="0"/>
                  </a:cubicBezTo>
                  <a:cubicBezTo>
                    <a:pt x="2431820" y="-63668"/>
                    <a:pt x="2583509" y="56380"/>
                    <a:pt x="2717624" y="0"/>
                  </a:cubicBezTo>
                  <a:cubicBezTo>
                    <a:pt x="2851739" y="-56380"/>
                    <a:pt x="3229367" y="32081"/>
                    <a:pt x="3425576" y="0"/>
                  </a:cubicBezTo>
                  <a:cubicBezTo>
                    <a:pt x="3430972" y="127960"/>
                    <a:pt x="3401473" y="255936"/>
                    <a:pt x="3425576" y="376252"/>
                  </a:cubicBezTo>
                  <a:cubicBezTo>
                    <a:pt x="3449679" y="496568"/>
                    <a:pt x="3390863" y="608030"/>
                    <a:pt x="3425576" y="783859"/>
                  </a:cubicBezTo>
                  <a:cubicBezTo>
                    <a:pt x="3313635" y="799541"/>
                    <a:pt x="3076092" y="783117"/>
                    <a:pt x="2923158" y="783859"/>
                  </a:cubicBezTo>
                  <a:cubicBezTo>
                    <a:pt x="2770224" y="784601"/>
                    <a:pt x="2478329" y="745354"/>
                    <a:pt x="2352229" y="783859"/>
                  </a:cubicBezTo>
                  <a:cubicBezTo>
                    <a:pt x="2226129" y="822364"/>
                    <a:pt x="1896024" y="771756"/>
                    <a:pt x="1781300" y="783859"/>
                  </a:cubicBezTo>
                  <a:cubicBezTo>
                    <a:pt x="1666576" y="795962"/>
                    <a:pt x="1357622" y="738906"/>
                    <a:pt x="1244626" y="783859"/>
                  </a:cubicBezTo>
                  <a:cubicBezTo>
                    <a:pt x="1131630" y="828812"/>
                    <a:pt x="820553" y="778132"/>
                    <a:pt x="605185" y="783859"/>
                  </a:cubicBezTo>
                  <a:cubicBezTo>
                    <a:pt x="389817" y="789586"/>
                    <a:pt x="181936" y="742761"/>
                    <a:pt x="0" y="783859"/>
                  </a:cubicBezTo>
                  <a:cubicBezTo>
                    <a:pt x="-26954" y="627432"/>
                    <a:pt x="16616" y="570529"/>
                    <a:pt x="0" y="407607"/>
                  </a:cubicBezTo>
                  <a:cubicBezTo>
                    <a:pt x="-16616" y="244685"/>
                    <a:pt x="43618" y="11960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34925"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A9B0F6-2FDF-9537-A904-5510ADBEE519}"/>
                </a:ext>
              </a:extLst>
            </p:cNvPr>
            <p:cNvSpPr/>
            <p:nvPr/>
          </p:nvSpPr>
          <p:spPr>
            <a:xfrm>
              <a:off x="1730754" y="5687532"/>
              <a:ext cx="3425576" cy="783859"/>
            </a:xfrm>
            <a:custGeom>
              <a:avLst/>
              <a:gdLst>
                <a:gd name="connsiteX0" fmla="*/ 0 w 3425576"/>
                <a:gd name="connsiteY0" fmla="*/ 0 h 783859"/>
                <a:gd name="connsiteX1" fmla="*/ 536674 w 3425576"/>
                <a:gd name="connsiteY1" fmla="*/ 0 h 783859"/>
                <a:gd name="connsiteX2" fmla="*/ 1004836 w 3425576"/>
                <a:gd name="connsiteY2" fmla="*/ 0 h 783859"/>
                <a:gd name="connsiteX3" fmla="*/ 1507253 w 3425576"/>
                <a:gd name="connsiteY3" fmla="*/ 0 h 783859"/>
                <a:gd name="connsiteX4" fmla="*/ 2112439 w 3425576"/>
                <a:gd name="connsiteY4" fmla="*/ 0 h 783859"/>
                <a:gd name="connsiteX5" fmla="*/ 2649112 w 3425576"/>
                <a:gd name="connsiteY5" fmla="*/ 0 h 783859"/>
                <a:gd name="connsiteX6" fmla="*/ 3425576 w 3425576"/>
                <a:gd name="connsiteY6" fmla="*/ 0 h 783859"/>
                <a:gd name="connsiteX7" fmla="*/ 3425576 w 3425576"/>
                <a:gd name="connsiteY7" fmla="*/ 399768 h 783859"/>
                <a:gd name="connsiteX8" fmla="*/ 3425576 w 3425576"/>
                <a:gd name="connsiteY8" fmla="*/ 783859 h 783859"/>
                <a:gd name="connsiteX9" fmla="*/ 2854647 w 3425576"/>
                <a:gd name="connsiteY9" fmla="*/ 783859 h 783859"/>
                <a:gd name="connsiteX10" fmla="*/ 2352229 w 3425576"/>
                <a:gd name="connsiteY10" fmla="*/ 783859 h 783859"/>
                <a:gd name="connsiteX11" fmla="*/ 1712788 w 3425576"/>
                <a:gd name="connsiteY11" fmla="*/ 783859 h 783859"/>
                <a:gd name="connsiteX12" fmla="*/ 1176114 w 3425576"/>
                <a:gd name="connsiteY12" fmla="*/ 783859 h 783859"/>
                <a:gd name="connsiteX13" fmla="*/ 707952 w 3425576"/>
                <a:gd name="connsiteY13" fmla="*/ 783859 h 783859"/>
                <a:gd name="connsiteX14" fmla="*/ 0 w 3425576"/>
                <a:gd name="connsiteY14" fmla="*/ 783859 h 783859"/>
                <a:gd name="connsiteX15" fmla="*/ 0 w 3425576"/>
                <a:gd name="connsiteY15" fmla="*/ 407607 h 783859"/>
                <a:gd name="connsiteX16" fmla="*/ 0 w 3425576"/>
                <a:gd name="connsiteY16" fmla="*/ 0 h 783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25576" h="783859" fill="none" extrusionOk="0">
                  <a:moveTo>
                    <a:pt x="0" y="0"/>
                  </a:moveTo>
                  <a:cubicBezTo>
                    <a:pt x="113716" y="-941"/>
                    <a:pt x="382211" y="51773"/>
                    <a:pt x="536674" y="0"/>
                  </a:cubicBezTo>
                  <a:cubicBezTo>
                    <a:pt x="691137" y="-51773"/>
                    <a:pt x="775438" y="30298"/>
                    <a:pt x="1004836" y="0"/>
                  </a:cubicBezTo>
                  <a:cubicBezTo>
                    <a:pt x="1234234" y="-30298"/>
                    <a:pt x="1393511" y="16063"/>
                    <a:pt x="1507253" y="0"/>
                  </a:cubicBezTo>
                  <a:cubicBezTo>
                    <a:pt x="1620995" y="-16063"/>
                    <a:pt x="1899404" y="58381"/>
                    <a:pt x="2112439" y="0"/>
                  </a:cubicBezTo>
                  <a:cubicBezTo>
                    <a:pt x="2325474" y="-58381"/>
                    <a:pt x="2537578" y="48016"/>
                    <a:pt x="2649112" y="0"/>
                  </a:cubicBezTo>
                  <a:cubicBezTo>
                    <a:pt x="2760646" y="-48016"/>
                    <a:pt x="3204141" y="55096"/>
                    <a:pt x="3425576" y="0"/>
                  </a:cubicBezTo>
                  <a:cubicBezTo>
                    <a:pt x="3436900" y="169253"/>
                    <a:pt x="3382493" y="200485"/>
                    <a:pt x="3425576" y="399768"/>
                  </a:cubicBezTo>
                  <a:cubicBezTo>
                    <a:pt x="3468659" y="599051"/>
                    <a:pt x="3391146" y="658762"/>
                    <a:pt x="3425576" y="783859"/>
                  </a:cubicBezTo>
                  <a:cubicBezTo>
                    <a:pt x="3240267" y="802683"/>
                    <a:pt x="2986012" y="750599"/>
                    <a:pt x="2854647" y="783859"/>
                  </a:cubicBezTo>
                  <a:cubicBezTo>
                    <a:pt x="2723282" y="817119"/>
                    <a:pt x="2579132" y="736112"/>
                    <a:pt x="2352229" y="783859"/>
                  </a:cubicBezTo>
                  <a:cubicBezTo>
                    <a:pt x="2125326" y="831606"/>
                    <a:pt x="1924739" y="775483"/>
                    <a:pt x="1712788" y="783859"/>
                  </a:cubicBezTo>
                  <a:cubicBezTo>
                    <a:pt x="1500837" y="792235"/>
                    <a:pt x="1358741" y="767038"/>
                    <a:pt x="1176114" y="783859"/>
                  </a:cubicBezTo>
                  <a:cubicBezTo>
                    <a:pt x="993487" y="800680"/>
                    <a:pt x="938355" y="767239"/>
                    <a:pt x="707952" y="783859"/>
                  </a:cubicBezTo>
                  <a:cubicBezTo>
                    <a:pt x="477549" y="800479"/>
                    <a:pt x="320285" y="727759"/>
                    <a:pt x="0" y="783859"/>
                  </a:cubicBezTo>
                  <a:cubicBezTo>
                    <a:pt x="-25899" y="629027"/>
                    <a:pt x="35270" y="498624"/>
                    <a:pt x="0" y="407607"/>
                  </a:cubicBezTo>
                  <a:cubicBezTo>
                    <a:pt x="-35270" y="316590"/>
                    <a:pt x="45067" y="112005"/>
                    <a:pt x="0" y="0"/>
                  </a:cubicBezTo>
                  <a:close/>
                </a:path>
                <a:path w="3425576" h="783859" stroke="0" extrusionOk="0">
                  <a:moveTo>
                    <a:pt x="0" y="0"/>
                  </a:moveTo>
                  <a:cubicBezTo>
                    <a:pt x="242183" y="-32621"/>
                    <a:pt x="371186" y="33066"/>
                    <a:pt x="536674" y="0"/>
                  </a:cubicBezTo>
                  <a:cubicBezTo>
                    <a:pt x="702162" y="-33066"/>
                    <a:pt x="787914" y="14977"/>
                    <a:pt x="1004836" y="0"/>
                  </a:cubicBezTo>
                  <a:cubicBezTo>
                    <a:pt x="1221758" y="-14977"/>
                    <a:pt x="1404449" y="71151"/>
                    <a:pt x="1644276" y="0"/>
                  </a:cubicBezTo>
                  <a:cubicBezTo>
                    <a:pt x="1884103" y="-71151"/>
                    <a:pt x="1930080" y="63668"/>
                    <a:pt x="2180950" y="0"/>
                  </a:cubicBezTo>
                  <a:cubicBezTo>
                    <a:pt x="2431820" y="-63668"/>
                    <a:pt x="2583509" y="56380"/>
                    <a:pt x="2717624" y="0"/>
                  </a:cubicBezTo>
                  <a:cubicBezTo>
                    <a:pt x="2851739" y="-56380"/>
                    <a:pt x="3229367" y="32081"/>
                    <a:pt x="3425576" y="0"/>
                  </a:cubicBezTo>
                  <a:cubicBezTo>
                    <a:pt x="3430972" y="127960"/>
                    <a:pt x="3401473" y="255936"/>
                    <a:pt x="3425576" y="376252"/>
                  </a:cubicBezTo>
                  <a:cubicBezTo>
                    <a:pt x="3449679" y="496568"/>
                    <a:pt x="3390863" y="608030"/>
                    <a:pt x="3425576" y="783859"/>
                  </a:cubicBezTo>
                  <a:cubicBezTo>
                    <a:pt x="3313635" y="799541"/>
                    <a:pt x="3076092" y="783117"/>
                    <a:pt x="2923158" y="783859"/>
                  </a:cubicBezTo>
                  <a:cubicBezTo>
                    <a:pt x="2770224" y="784601"/>
                    <a:pt x="2478329" y="745354"/>
                    <a:pt x="2352229" y="783859"/>
                  </a:cubicBezTo>
                  <a:cubicBezTo>
                    <a:pt x="2226129" y="822364"/>
                    <a:pt x="1896024" y="771756"/>
                    <a:pt x="1781300" y="783859"/>
                  </a:cubicBezTo>
                  <a:cubicBezTo>
                    <a:pt x="1666576" y="795962"/>
                    <a:pt x="1357622" y="738906"/>
                    <a:pt x="1244626" y="783859"/>
                  </a:cubicBezTo>
                  <a:cubicBezTo>
                    <a:pt x="1131630" y="828812"/>
                    <a:pt x="820553" y="778132"/>
                    <a:pt x="605185" y="783859"/>
                  </a:cubicBezTo>
                  <a:cubicBezTo>
                    <a:pt x="389817" y="789586"/>
                    <a:pt x="181936" y="742761"/>
                    <a:pt x="0" y="783859"/>
                  </a:cubicBezTo>
                  <a:cubicBezTo>
                    <a:pt x="-26954" y="627432"/>
                    <a:pt x="16616" y="570529"/>
                    <a:pt x="0" y="407607"/>
                  </a:cubicBezTo>
                  <a:cubicBezTo>
                    <a:pt x="-16616" y="244685"/>
                    <a:pt x="43618" y="11960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34925"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4F22318-7D11-2705-CF12-62E1FF28A154}"/>
                </a:ext>
              </a:extLst>
            </p:cNvPr>
            <p:cNvSpPr/>
            <p:nvPr/>
          </p:nvSpPr>
          <p:spPr>
            <a:xfrm>
              <a:off x="7272438" y="2105806"/>
              <a:ext cx="3568718" cy="3344992"/>
            </a:xfrm>
            <a:custGeom>
              <a:avLst/>
              <a:gdLst>
                <a:gd name="connsiteX0" fmla="*/ 0 w 3568718"/>
                <a:gd name="connsiteY0" fmla="*/ 1672496 h 3344992"/>
                <a:gd name="connsiteX1" fmla="*/ 1784359 w 3568718"/>
                <a:gd name="connsiteY1" fmla="*/ 0 h 3344992"/>
                <a:gd name="connsiteX2" fmla="*/ 3568718 w 3568718"/>
                <a:gd name="connsiteY2" fmla="*/ 1672496 h 3344992"/>
                <a:gd name="connsiteX3" fmla="*/ 1784359 w 3568718"/>
                <a:gd name="connsiteY3" fmla="*/ 3344992 h 3344992"/>
                <a:gd name="connsiteX4" fmla="*/ 0 w 3568718"/>
                <a:gd name="connsiteY4" fmla="*/ 1672496 h 3344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8718" h="3344992" fill="none" extrusionOk="0">
                  <a:moveTo>
                    <a:pt x="0" y="1672496"/>
                  </a:moveTo>
                  <a:cubicBezTo>
                    <a:pt x="285168" y="782631"/>
                    <a:pt x="890576" y="-188698"/>
                    <a:pt x="1784359" y="0"/>
                  </a:cubicBezTo>
                  <a:cubicBezTo>
                    <a:pt x="2717861" y="-7959"/>
                    <a:pt x="3420630" y="888226"/>
                    <a:pt x="3568718" y="1672496"/>
                  </a:cubicBezTo>
                  <a:cubicBezTo>
                    <a:pt x="3544683" y="2366981"/>
                    <a:pt x="2657224" y="3501487"/>
                    <a:pt x="1784359" y="3344992"/>
                  </a:cubicBezTo>
                  <a:cubicBezTo>
                    <a:pt x="979419" y="3446063"/>
                    <a:pt x="179975" y="2639463"/>
                    <a:pt x="0" y="1672496"/>
                  </a:cubicBezTo>
                  <a:close/>
                </a:path>
                <a:path w="3568718" h="3344992" stroke="0" extrusionOk="0">
                  <a:moveTo>
                    <a:pt x="0" y="1672496"/>
                  </a:moveTo>
                  <a:cubicBezTo>
                    <a:pt x="-218116" y="614263"/>
                    <a:pt x="594233" y="76809"/>
                    <a:pt x="1784359" y="0"/>
                  </a:cubicBezTo>
                  <a:cubicBezTo>
                    <a:pt x="2861546" y="19308"/>
                    <a:pt x="3463356" y="752152"/>
                    <a:pt x="3568718" y="1672496"/>
                  </a:cubicBezTo>
                  <a:cubicBezTo>
                    <a:pt x="3495467" y="2667723"/>
                    <a:pt x="2734942" y="3537848"/>
                    <a:pt x="1784359" y="3344992"/>
                  </a:cubicBezTo>
                  <a:cubicBezTo>
                    <a:pt x="580415" y="3225462"/>
                    <a:pt x="150355" y="2668031"/>
                    <a:pt x="0" y="1672496"/>
                  </a:cubicBezTo>
                  <a:close/>
                </a:path>
              </a:pathLst>
            </a:custGeom>
            <a:solidFill>
              <a:schemeClr val="bg1">
                <a:lumMod val="50000"/>
                <a:alpha val="25000"/>
              </a:schemeClr>
            </a:solidFill>
            <a:ln>
              <a:solidFill>
                <a:schemeClr val="bg1">
                  <a:lumMod val="50000"/>
                  <a:alpha val="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767D4D9-30D4-7F92-0F68-BA1ADDEA9CDE}"/>
                </a:ext>
              </a:extLst>
            </p:cNvPr>
            <p:cNvSpPr/>
            <p:nvPr/>
          </p:nvSpPr>
          <p:spPr>
            <a:xfrm>
              <a:off x="3669470" y="2711561"/>
              <a:ext cx="2426530" cy="2207504"/>
            </a:xfrm>
            <a:custGeom>
              <a:avLst/>
              <a:gdLst>
                <a:gd name="connsiteX0" fmla="*/ 0 w 2426530"/>
                <a:gd name="connsiteY0" fmla="*/ 1103752 h 2207504"/>
                <a:gd name="connsiteX1" fmla="*/ 1213265 w 2426530"/>
                <a:gd name="connsiteY1" fmla="*/ 0 h 2207504"/>
                <a:gd name="connsiteX2" fmla="*/ 2426530 w 2426530"/>
                <a:gd name="connsiteY2" fmla="*/ 1103752 h 2207504"/>
                <a:gd name="connsiteX3" fmla="*/ 1213265 w 2426530"/>
                <a:gd name="connsiteY3" fmla="*/ 2207504 h 2207504"/>
                <a:gd name="connsiteX4" fmla="*/ 0 w 2426530"/>
                <a:gd name="connsiteY4" fmla="*/ 1103752 h 220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6530" h="2207504" fill="none" extrusionOk="0">
                  <a:moveTo>
                    <a:pt x="0" y="1103752"/>
                  </a:moveTo>
                  <a:cubicBezTo>
                    <a:pt x="29050" y="497613"/>
                    <a:pt x="612401" y="-142422"/>
                    <a:pt x="1213265" y="0"/>
                  </a:cubicBezTo>
                  <a:cubicBezTo>
                    <a:pt x="1869180" y="-2167"/>
                    <a:pt x="2404641" y="514776"/>
                    <a:pt x="2426530" y="1103752"/>
                  </a:cubicBezTo>
                  <a:cubicBezTo>
                    <a:pt x="2422131" y="1671391"/>
                    <a:pt x="1856117" y="2245326"/>
                    <a:pt x="1213265" y="2207504"/>
                  </a:cubicBezTo>
                  <a:cubicBezTo>
                    <a:pt x="689188" y="2289236"/>
                    <a:pt x="110466" y="1739897"/>
                    <a:pt x="0" y="1103752"/>
                  </a:cubicBezTo>
                  <a:close/>
                </a:path>
                <a:path w="2426530" h="2207504" stroke="0" extrusionOk="0">
                  <a:moveTo>
                    <a:pt x="0" y="1103752"/>
                  </a:moveTo>
                  <a:cubicBezTo>
                    <a:pt x="-20351" y="481614"/>
                    <a:pt x="440648" y="38488"/>
                    <a:pt x="1213265" y="0"/>
                  </a:cubicBezTo>
                  <a:cubicBezTo>
                    <a:pt x="1989050" y="22256"/>
                    <a:pt x="2364446" y="496141"/>
                    <a:pt x="2426530" y="1103752"/>
                  </a:cubicBezTo>
                  <a:cubicBezTo>
                    <a:pt x="2292756" y="1843974"/>
                    <a:pt x="1856411" y="2356310"/>
                    <a:pt x="1213265" y="2207504"/>
                  </a:cubicBezTo>
                  <a:cubicBezTo>
                    <a:pt x="462923" y="2163584"/>
                    <a:pt x="102041" y="1762093"/>
                    <a:pt x="0" y="1103752"/>
                  </a:cubicBezTo>
                  <a:close/>
                </a:path>
              </a:pathLst>
            </a:custGeom>
            <a:solidFill>
              <a:schemeClr val="accent5">
                <a:lumMod val="50000"/>
                <a:alpha val="13000"/>
              </a:schemeClr>
            </a:solidFill>
            <a:ln>
              <a:solidFill>
                <a:schemeClr val="bg1">
                  <a:lumMod val="50000"/>
                  <a:alpha val="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74ED4D9-FAD1-8D1E-586F-F35CF8788F1B}"/>
                </a:ext>
              </a:extLst>
            </p:cNvPr>
            <p:cNvSpPr/>
            <p:nvPr/>
          </p:nvSpPr>
          <p:spPr>
            <a:xfrm>
              <a:off x="892258" y="2695611"/>
              <a:ext cx="2426530" cy="2207504"/>
            </a:xfrm>
            <a:custGeom>
              <a:avLst/>
              <a:gdLst>
                <a:gd name="connsiteX0" fmla="*/ 0 w 2426530"/>
                <a:gd name="connsiteY0" fmla="*/ 1103752 h 2207504"/>
                <a:gd name="connsiteX1" fmla="*/ 1213265 w 2426530"/>
                <a:gd name="connsiteY1" fmla="*/ 0 h 2207504"/>
                <a:gd name="connsiteX2" fmla="*/ 2426530 w 2426530"/>
                <a:gd name="connsiteY2" fmla="*/ 1103752 h 2207504"/>
                <a:gd name="connsiteX3" fmla="*/ 1213265 w 2426530"/>
                <a:gd name="connsiteY3" fmla="*/ 2207504 h 2207504"/>
                <a:gd name="connsiteX4" fmla="*/ 0 w 2426530"/>
                <a:gd name="connsiteY4" fmla="*/ 1103752 h 220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6530" h="2207504" fill="none" extrusionOk="0">
                  <a:moveTo>
                    <a:pt x="0" y="1103752"/>
                  </a:moveTo>
                  <a:cubicBezTo>
                    <a:pt x="29050" y="497613"/>
                    <a:pt x="612401" y="-142422"/>
                    <a:pt x="1213265" y="0"/>
                  </a:cubicBezTo>
                  <a:cubicBezTo>
                    <a:pt x="1869180" y="-2167"/>
                    <a:pt x="2404641" y="514776"/>
                    <a:pt x="2426530" y="1103752"/>
                  </a:cubicBezTo>
                  <a:cubicBezTo>
                    <a:pt x="2422131" y="1671391"/>
                    <a:pt x="1856117" y="2245326"/>
                    <a:pt x="1213265" y="2207504"/>
                  </a:cubicBezTo>
                  <a:cubicBezTo>
                    <a:pt x="689188" y="2289236"/>
                    <a:pt x="110466" y="1739897"/>
                    <a:pt x="0" y="1103752"/>
                  </a:cubicBezTo>
                  <a:close/>
                </a:path>
                <a:path w="2426530" h="2207504" stroke="0" extrusionOk="0">
                  <a:moveTo>
                    <a:pt x="0" y="1103752"/>
                  </a:moveTo>
                  <a:cubicBezTo>
                    <a:pt x="-20351" y="481614"/>
                    <a:pt x="440648" y="38488"/>
                    <a:pt x="1213265" y="0"/>
                  </a:cubicBezTo>
                  <a:cubicBezTo>
                    <a:pt x="1989050" y="22256"/>
                    <a:pt x="2364446" y="496141"/>
                    <a:pt x="2426530" y="1103752"/>
                  </a:cubicBezTo>
                  <a:cubicBezTo>
                    <a:pt x="2292756" y="1843974"/>
                    <a:pt x="1856411" y="2356310"/>
                    <a:pt x="1213265" y="2207504"/>
                  </a:cubicBezTo>
                  <a:cubicBezTo>
                    <a:pt x="462923" y="2163584"/>
                    <a:pt x="102041" y="1762093"/>
                    <a:pt x="0" y="1103752"/>
                  </a:cubicBezTo>
                  <a:close/>
                </a:path>
              </a:pathLst>
            </a:custGeom>
            <a:solidFill>
              <a:srgbClr val="FFC000">
                <a:alpha val="15000"/>
              </a:srgbClr>
            </a:solidFill>
            <a:ln w="12700">
              <a:solidFill>
                <a:schemeClr val="bg1">
                  <a:lumMod val="50000"/>
                  <a:alpha val="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2370DA4-E177-F020-2CDA-B12D5A1A536D}"/>
                </a:ext>
              </a:extLst>
            </p:cNvPr>
            <p:cNvGrpSpPr/>
            <p:nvPr/>
          </p:nvGrpSpPr>
          <p:grpSpPr>
            <a:xfrm>
              <a:off x="7251253" y="2179118"/>
              <a:ext cx="3568719" cy="3226457"/>
              <a:chOff x="6749559" y="2465662"/>
              <a:chExt cx="2921000" cy="2705100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4C74E17-E5CD-764C-75D6-9C3BA691CC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6786" y="3825087"/>
                <a:ext cx="995340" cy="333027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65FF14A-1150-D913-3734-481B885D21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0059" y="2465662"/>
                <a:ext cx="0" cy="2705100"/>
              </a:xfrm>
              <a:prstGeom prst="straightConnector1">
                <a:avLst/>
              </a:prstGeom>
              <a:ln w="222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DF2571C-6BE0-63DA-D013-78BB32350D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7" y="3836806"/>
                <a:ext cx="679168" cy="649080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prstDash val="sys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B6EA62B-F724-FB41-E31A-4D9B38353F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10056" y="2909271"/>
                <a:ext cx="3" cy="908941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C4C4B9C-660E-DED0-B1B7-B0FA2F5F49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9559" y="3818212"/>
                <a:ext cx="2921000" cy="0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970320B-88B5-F27C-E806-9C843FADC5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69742" y="2918896"/>
                <a:ext cx="1680634" cy="1818217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E91D582-67D9-3D69-F3F1-78A2802EE8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01546" y="3836806"/>
                <a:ext cx="108512" cy="90894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FE4A1F8-CFB6-F32F-9F24-63B2080ACB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481" y="3821684"/>
                <a:ext cx="846952" cy="317180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E4A251A-DF64-ED0B-5F1A-A2D3D4DC7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49954" y="3039788"/>
                <a:ext cx="760101" cy="766649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prstDash val="sys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B7C8926-6AAA-0955-22FC-700A5B943F52}"/>
                </a:ext>
              </a:extLst>
            </p:cNvPr>
            <p:cNvGrpSpPr/>
            <p:nvPr/>
          </p:nvGrpSpPr>
          <p:grpSpPr>
            <a:xfrm>
              <a:off x="916819" y="2695610"/>
              <a:ext cx="2300809" cy="2168643"/>
              <a:chOff x="1981200" y="849181"/>
              <a:chExt cx="2921000" cy="2705100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F049F4B6-1CE0-CDCB-66A5-524D113976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1700" y="849181"/>
                <a:ext cx="0" cy="2705100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FF18DD1-115D-DEA1-970B-D89177035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8427" y="2208606"/>
                <a:ext cx="995340" cy="33302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39272558-4A1B-B81B-4926-282C5EBEAF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1200" y="2201731"/>
                <a:ext cx="2921000" cy="0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DFB4D6E-3000-FB32-7139-53EF97BD18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01383" y="1302415"/>
                <a:ext cx="1680634" cy="1818217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FA6B5361-02AA-2B29-E2A6-8B2FDE1E69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33187" y="2220325"/>
                <a:ext cx="108512" cy="90894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13B4D9A-F460-389F-E167-DE046A9716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81595" y="1423307"/>
                <a:ext cx="760101" cy="766649"/>
              </a:xfrm>
              <a:prstGeom prst="straightConnector1">
                <a:avLst/>
              </a:prstGeom>
              <a:ln w="31750">
                <a:solidFill>
                  <a:schemeClr val="accent2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648B88D-8A6A-ADDD-CE16-F726E61746FA}"/>
                </a:ext>
              </a:extLst>
            </p:cNvPr>
            <p:cNvGrpSpPr/>
            <p:nvPr/>
          </p:nvGrpSpPr>
          <p:grpSpPr>
            <a:xfrm>
              <a:off x="3728049" y="2723316"/>
              <a:ext cx="2300807" cy="2168645"/>
              <a:chOff x="1981200" y="3717220"/>
              <a:chExt cx="2921000" cy="2705100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FB2348A-AF37-9D79-5780-03E79888FD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41697" y="4160829"/>
                <a:ext cx="3" cy="908941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5D3953A8-B302-1EA2-E6EB-F798DFBE7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1200" y="5069770"/>
                <a:ext cx="2921000" cy="0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5CBEF6C-3E40-6627-E9F5-B01D13BE3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1700" y="3717220"/>
                <a:ext cx="0" cy="2705100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1F5E9246-9B4B-F6EB-82C9-B91BA7E611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01383" y="4170454"/>
                <a:ext cx="1680634" cy="1818217"/>
              </a:xfrm>
              <a:prstGeom prst="straightConnector1">
                <a:avLst/>
              </a:prstGeom>
              <a:ln w="19050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9703B24-0DDB-1C81-1FE7-0D5185C4F2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5122" y="5073242"/>
                <a:ext cx="846952" cy="31718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EF48B23-4E13-DBE5-1132-01DCC94F54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9193" y="5069114"/>
                <a:ext cx="679168" cy="649080"/>
              </a:xfrm>
              <a:prstGeom prst="straightConnector1">
                <a:avLst/>
              </a:prstGeom>
              <a:ln w="31750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42A8486-B463-2E94-AF42-4B0F95DAF3C6}"/>
                </a:ext>
              </a:extLst>
            </p:cNvPr>
            <p:cNvSpPr txBox="1"/>
            <p:nvPr/>
          </p:nvSpPr>
          <p:spPr>
            <a:xfrm>
              <a:off x="1805627" y="5731315"/>
              <a:ext cx="3275832" cy="650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Step 1:  Construct compatible model for 3-outcome POVMs</a:t>
              </a:r>
            </a:p>
          </p:txBody>
        </p: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25CE3F08-185F-22F2-7CB1-4098B1779D9E}"/>
                </a:ext>
              </a:extLst>
            </p:cNvPr>
            <p:cNvSpPr/>
            <p:nvPr/>
          </p:nvSpPr>
          <p:spPr>
            <a:xfrm>
              <a:off x="6321276" y="3597596"/>
              <a:ext cx="725956" cy="392282"/>
            </a:xfrm>
            <a:custGeom>
              <a:avLst/>
              <a:gdLst>
                <a:gd name="connsiteX0" fmla="*/ 0 w 725956"/>
                <a:gd name="connsiteY0" fmla="*/ 98071 h 392282"/>
                <a:gd name="connsiteX1" fmla="*/ 529815 w 725956"/>
                <a:gd name="connsiteY1" fmla="*/ 98071 h 392282"/>
                <a:gd name="connsiteX2" fmla="*/ 529815 w 725956"/>
                <a:gd name="connsiteY2" fmla="*/ 0 h 392282"/>
                <a:gd name="connsiteX3" fmla="*/ 725956 w 725956"/>
                <a:gd name="connsiteY3" fmla="*/ 196141 h 392282"/>
                <a:gd name="connsiteX4" fmla="*/ 529815 w 725956"/>
                <a:gd name="connsiteY4" fmla="*/ 392282 h 392282"/>
                <a:gd name="connsiteX5" fmla="*/ 529815 w 725956"/>
                <a:gd name="connsiteY5" fmla="*/ 294212 h 392282"/>
                <a:gd name="connsiteX6" fmla="*/ 0 w 725956"/>
                <a:gd name="connsiteY6" fmla="*/ 294212 h 392282"/>
                <a:gd name="connsiteX7" fmla="*/ 0 w 725956"/>
                <a:gd name="connsiteY7" fmla="*/ 98071 h 39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5956" h="392282" fill="none" extrusionOk="0">
                  <a:moveTo>
                    <a:pt x="0" y="98071"/>
                  </a:moveTo>
                  <a:cubicBezTo>
                    <a:pt x="243740" y="34672"/>
                    <a:pt x="335134" y="114499"/>
                    <a:pt x="529815" y="98071"/>
                  </a:cubicBezTo>
                  <a:cubicBezTo>
                    <a:pt x="524065" y="61270"/>
                    <a:pt x="535629" y="20793"/>
                    <a:pt x="529815" y="0"/>
                  </a:cubicBezTo>
                  <a:cubicBezTo>
                    <a:pt x="617964" y="47498"/>
                    <a:pt x="648235" y="141470"/>
                    <a:pt x="725956" y="196141"/>
                  </a:cubicBezTo>
                  <a:cubicBezTo>
                    <a:pt x="682562" y="273043"/>
                    <a:pt x="603545" y="297618"/>
                    <a:pt x="529815" y="392282"/>
                  </a:cubicBezTo>
                  <a:cubicBezTo>
                    <a:pt x="522241" y="370980"/>
                    <a:pt x="537991" y="327887"/>
                    <a:pt x="529815" y="294212"/>
                  </a:cubicBezTo>
                  <a:cubicBezTo>
                    <a:pt x="267341" y="319841"/>
                    <a:pt x="251913" y="272132"/>
                    <a:pt x="0" y="294212"/>
                  </a:cubicBezTo>
                  <a:cubicBezTo>
                    <a:pt x="-20026" y="231538"/>
                    <a:pt x="1439" y="173361"/>
                    <a:pt x="0" y="98071"/>
                  </a:cubicBezTo>
                  <a:close/>
                </a:path>
                <a:path w="725956" h="392282" stroke="0" extrusionOk="0">
                  <a:moveTo>
                    <a:pt x="0" y="98071"/>
                  </a:moveTo>
                  <a:cubicBezTo>
                    <a:pt x="132433" y="84052"/>
                    <a:pt x="386784" y="137179"/>
                    <a:pt x="529815" y="98071"/>
                  </a:cubicBezTo>
                  <a:cubicBezTo>
                    <a:pt x="523609" y="66931"/>
                    <a:pt x="537356" y="27126"/>
                    <a:pt x="529815" y="0"/>
                  </a:cubicBezTo>
                  <a:cubicBezTo>
                    <a:pt x="625396" y="69086"/>
                    <a:pt x="643874" y="135951"/>
                    <a:pt x="725956" y="196141"/>
                  </a:cubicBezTo>
                  <a:cubicBezTo>
                    <a:pt x="693165" y="268127"/>
                    <a:pt x="557432" y="320638"/>
                    <a:pt x="529815" y="392282"/>
                  </a:cubicBezTo>
                  <a:cubicBezTo>
                    <a:pt x="526307" y="359637"/>
                    <a:pt x="533318" y="342258"/>
                    <a:pt x="529815" y="294212"/>
                  </a:cubicBezTo>
                  <a:cubicBezTo>
                    <a:pt x="362574" y="300505"/>
                    <a:pt x="125439" y="291746"/>
                    <a:pt x="0" y="294212"/>
                  </a:cubicBezTo>
                  <a:cubicBezTo>
                    <a:pt x="-6300" y="229642"/>
                    <a:pt x="1584" y="161854"/>
                    <a:pt x="0" y="98071"/>
                  </a:cubicBezTo>
                  <a:close/>
                </a:path>
              </a:pathLst>
            </a:custGeom>
            <a:ln w="19050">
              <a:extLst>
                <a:ext uri="{C807C97D-BFC1-408E-A445-0C87EB9F89A2}">
                  <ask:lineSketchStyleProps xmlns:ask="http://schemas.microsoft.com/office/drawing/2018/sketchyshapes" sd="1219033472">
                    <a:prstGeom prst="rightArrow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66638A5-04B1-3404-B9FA-9411D19383A6}"/>
                    </a:ext>
                  </a:extLst>
                </p:cNvPr>
                <p:cNvSpPr txBox="1"/>
                <p:nvPr/>
              </p:nvSpPr>
              <p:spPr>
                <a:xfrm>
                  <a:off x="2565882" y="4026964"/>
                  <a:ext cx="741142" cy="4179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66638A5-04B1-3404-B9FA-9411D19383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882" y="4026964"/>
                  <a:ext cx="741142" cy="417934"/>
                </a:xfrm>
                <a:prstGeom prst="rect">
                  <a:avLst/>
                </a:prstGeom>
                <a:blipFill>
                  <a:blip r:embed="rId4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BF3938-CBE0-50DB-DCDA-D448A227487F}"/>
                    </a:ext>
                  </a:extLst>
                </p:cNvPr>
                <p:cNvSpPr txBox="1"/>
                <p:nvPr/>
              </p:nvSpPr>
              <p:spPr>
                <a:xfrm>
                  <a:off x="1348936" y="4370745"/>
                  <a:ext cx="741142" cy="4179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BF3938-CBE0-50DB-DCDA-D448A22748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8936" y="4370745"/>
                  <a:ext cx="741142" cy="417934"/>
                </a:xfrm>
                <a:prstGeom prst="rect">
                  <a:avLst/>
                </a:prstGeom>
                <a:blipFill>
                  <a:blip r:embed="rId5"/>
                  <a:stretch>
                    <a:fillRect r="-3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1673BFA-B85A-D5D6-555F-3D649E08FDEC}"/>
                    </a:ext>
                  </a:extLst>
                </p:cNvPr>
                <p:cNvSpPr txBox="1"/>
                <p:nvPr/>
              </p:nvSpPr>
              <p:spPr>
                <a:xfrm>
                  <a:off x="1329764" y="2787440"/>
                  <a:ext cx="741142" cy="4196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1673BFA-B85A-D5D6-555F-3D649E08F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9764" y="2787440"/>
                  <a:ext cx="741142" cy="419675"/>
                </a:xfrm>
                <a:prstGeom prst="rect">
                  <a:avLst/>
                </a:prstGeom>
                <a:blipFill>
                  <a:blip r:embed="rId6"/>
                  <a:stretch>
                    <a:fillRect r="-3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D172AFA-873E-400A-29EF-0986D64E71BB}"/>
                    </a:ext>
                  </a:extLst>
                </p:cNvPr>
                <p:cNvSpPr txBox="1"/>
                <p:nvPr/>
              </p:nvSpPr>
              <p:spPr>
                <a:xfrm>
                  <a:off x="4845908" y="2744643"/>
                  <a:ext cx="741142" cy="4179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D172AFA-873E-400A-29EF-0986D64E7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5908" y="2744643"/>
                  <a:ext cx="741142" cy="417934"/>
                </a:xfrm>
                <a:prstGeom prst="rect">
                  <a:avLst/>
                </a:prstGeom>
                <a:blipFill>
                  <a:blip r:embed="rId7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5F7248F-6B4A-695F-5BAF-B6D79A09C77A}"/>
                    </a:ext>
                  </a:extLst>
                </p:cNvPr>
                <p:cNvSpPr txBox="1"/>
                <p:nvPr/>
              </p:nvSpPr>
              <p:spPr>
                <a:xfrm>
                  <a:off x="3741593" y="4004897"/>
                  <a:ext cx="741142" cy="4179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5F7248F-6B4A-695F-5BAF-B6D79A09C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1593" y="4004897"/>
                  <a:ext cx="741142" cy="417934"/>
                </a:xfrm>
                <a:prstGeom prst="rect">
                  <a:avLst/>
                </a:prstGeom>
                <a:blipFill>
                  <a:blip r:embed="rId8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922A68E-7470-36FB-A895-14E9C68CBE62}"/>
                    </a:ext>
                  </a:extLst>
                </p:cNvPr>
                <p:cNvSpPr txBox="1"/>
                <p:nvPr/>
              </p:nvSpPr>
              <p:spPr>
                <a:xfrm>
                  <a:off x="5066164" y="4283398"/>
                  <a:ext cx="741142" cy="4179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922A68E-7470-36FB-A895-14E9C68CB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6164" y="4283398"/>
                  <a:ext cx="741142" cy="417934"/>
                </a:xfrm>
                <a:prstGeom prst="rect">
                  <a:avLst/>
                </a:prstGeom>
                <a:blipFill>
                  <a:blip r:embed="rId9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FB5DA59-298F-CE4D-5BF0-93D39ECEC39A}"/>
                    </a:ext>
                  </a:extLst>
                </p:cNvPr>
                <p:cNvSpPr txBox="1"/>
                <p:nvPr/>
              </p:nvSpPr>
              <p:spPr>
                <a:xfrm>
                  <a:off x="9860618" y="4144886"/>
                  <a:ext cx="741142" cy="5108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FB5DA59-298F-CE4D-5BF0-93D39ECEC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0618" y="4144886"/>
                  <a:ext cx="741142" cy="510807"/>
                </a:xfrm>
                <a:prstGeom prst="rect">
                  <a:avLst/>
                </a:prstGeom>
                <a:blipFill>
                  <a:blip r:embed="rId10"/>
                  <a:stretch>
                    <a:fillRect r="-48052" b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2FBA103-ACD3-D754-A564-8F5F857E0442}"/>
                    </a:ext>
                  </a:extLst>
                </p:cNvPr>
                <p:cNvSpPr txBox="1"/>
                <p:nvPr/>
              </p:nvSpPr>
              <p:spPr>
                <a:xfrm>
                  <a:off x="8248618" y="4850945"/>
                  <a:ext cx="741142" cy="5108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2FBA103-ACD3-D754-A564-8F5F857E0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8618" y="4850945"/>
                  <a:ext cx="741142" cy="510807"/>
                </a:xfrm>
                <a:prstGeom prst="rect">
                  <a:avLst/>
                </a:prstGeom>
                <a:blipFill>
                  <a:blip r:embed="rId11"/>
                  <a:stretch>
                    <a:fillRect r="-48718" b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7626A58-2613-C0C1-8B26-425493E8A966}"/>
                    </a:ext>
                  </a:extLst>
                </p:cNvPr>
                <p:cNvSpPr txBox="1"/>
                <p:nvPr/>
              </p:nvSpPr>
              <p:spPr>
                <a:xfrm>
                  <a:off x="7394359" y="4112028"/>
                  <a:ext cx="741142" cy="5108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7626A58-2613-C0C1-8B26-425493E8A9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59" y="4112028"/>
                  <a:ext cx="741142" cy="510807"/>
                </a:xfrm>
                <a:prstGeom prst="rect">
                  <a:avLst/>
                </a:prstGeom>
                <a:blipFill>
                  <a:blip r:embed="rId12"/>
                  <a:stretch>
                    <a:fillRect r="-48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60B7C05-7E41-3A62-A3A4-3226816E8935}"/>
                    </a:ext>
                  </a:extLst>
                </p:cNvPr>
                <p:cNvSpPr txBox="1"/>
                <p:nvPr/>
              </p:nvSpPr>
              <p:spPr>
                <a:xfrm>
                  <a:off x="9068744" y="2462591"/>
                  <a:ext cx="741142" cy="5108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60B7C05-7E41-3A62-A3A4-3226816E8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8744" y="2462591"/>
                  <a:ext cx="741142" cy="510807"/>
                </a:xfrm>
                <a:prstGeom prst="rect">
                  <a:avLst/>
                </a:prstGeom>
                <a:blipFill>
                  <a:blip r:embed="rId13"/>
                  <a:stretch>
                    <a:fillRect r="-48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4DD5192-C3CF-DAD0-4C3C-C0ADFDEE61FC}"/>
                </a:ext>
              </a:extLst>
            </p:cNvPr>
            <p:cNvSpPr txBox="1"/>
            <p:nvPr/>
          </p:nvSpPr>
          <p:spPr>
            <a:xfrm>
              <a:off x="7156243" y="5707909"/>
              <a:ext cx="3343295" cy="650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Step 2:  Obtain compatible model for 4-outcome POVMs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C52210-EEDF-42F5-D197-44D98115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010E2B6-3B43-C83F-414E-4F18391A1BD9}"/>
                  </a:ext>
                </a:extLst>
              </p:cNvPr>
              <p:cNvSpPr/>
              <p:nvPr/>
            </p:nvSpPr>
            <p:spPr>
              <a:xfrm>
                <a:off x="280861" y="895615"/>
                <a:ext cx="11106069" cy="2568116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010E2B6-3B43-C83F-414E-4F18391A1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61" y="895615"/>
                <a:ext cx="11106069" cy="2568116"/>
              </a:xfrm>
              <a:prstGeom prst="rect">
                <a:avLst/>
              </a:prstGeom>
              <a:blipFill>
                <a:blip r:embed="rId14"/>
                <a:stretch>
                  <a:fillRect l="-164"/>
                </a:stretch>
              </a:blipFill>
              <a:ln w="444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4762026-379F-D429-1054-F02AAAE4BFC9}"/>
                  </a:ext>
                </a:extLst>
              </p:cNvPr>
              <p:cNvSpPr txBox="1"/>
              <p:nvPr/>
            </p:nvSpPr>
            <p:spPr>
              <a:xfrm>
                <a:off x="423417" y="943537"/>
                <a:ext cx="10630790" cy="2309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>
                    <a:solidFill>
                      <a:schemeClr val="tx1"/>
                    </a:solidFill>
                  </a:rPr>
                  <a:t>As previously argued,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is the ‘unique’ parent POVM for simulate all PVMs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4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Any nonprojective noisy two-outcome measurement are nonextremal                                           </a:t>
                </a:r>
              </a:p>
              <a:p>
                <a:pPr lvl="1"/>
                <a:endParaRPr lang="en-US" sz="16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We now attempt to simulate a 3-outcome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0"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i="1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prstClr val="black"/>
                    </a:solidFill>
                  </a:rPr>
                  <a:t>From 3-oucome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∈{1,2,3}</m:t>
                        </m:r>
                      </m:sub>
                    </m:sSub>
                    <m:r>
                      <a:rPr lang="en-US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simulation to 4-outcome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∈{1,2,3,4}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simulation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4762026-379F-D429-1054-F02AAAE4B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17" y="943537"/>
                <a:ext cx="10630790" cy="2309158"/>
              </a:xfrm>
              <a:prstGeom prst="rect">
                <a:avLst/>
              </a:prstGeom>
              <a:blipFill>
                <a:blip r:embed="rId15"/>
                <a:stretch>
                  <a:fillRect l="-573" b="-1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065CC322-F741-4DD3-512F-395DF3C702FC}"/>
              </a:ext>
            </a:extLst>
          </p:cNvPr>
          <p:cNvSpPr/>
          <p:nvPr/>
        </p:nvSpPr>
        <p:spPr>
          <a:xfrm>
            <a:off x="10055532" y="1671398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67" name="Graphic 66" descr="Checkmark with solid fill">
            <a:extLst>
              <a:ext uri="{FF2B5EF4-FFF2-40B4-BE49-F238E27FC236}">
                <a16:creationId xmlns:a16="http://schemas.microsoft.com/office/drawing/2014/main" id="{87FDDD6C-E2CF-CE4D-E9C7-FB54FB742AF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04143" y="1671654"/>
            <a:ext cx="247336" cy="247336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3ABDEB16-6A24-737E-B3D2-7B770F87C98C}"/>
              </a:ext>
            </a:extLst>
          </p:cNvPr>
          <p:cNvSpPr/>
          <p:nvPr/>
        </p:nvSpPr>
        <p:spPr>
          <a:xfrm>
            <a:off x="10055533" y="2267968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DA2FED7-3233-2838-DC4C-60A7E22EA0F2}"/>
              </a:ext>
            </a:extLst>
          </p:cNvPr>
          <p:cNvSpPr/>
          <p:nvPr/>
        </p:nvSpPr>
        <p:spPr>
          <a:xfrm>
            <a:off x="10055533" y="2863676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70" name="Graphic 69" descr="Checkmark with solid fill">
            <a:extLst>
              <a:ext uri="{FF2B5EF4-FFF2-40B4-BE49-F238E27FC236}">
                <a16:creationId xmlns:a16="http://schemas.microsoft.com/office/drawing/2014/main" id="{B15CB38E-BA3F-96AD-7B9B-82181B11BE2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0612" y="2250755"/>
            <a:ext cx="247336" cy="24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4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DFAEDE-7B87-E312-0AC5-394A0547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850" y="786544"/>
            <a:ext cx="4037950" cy="14660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6B9DD8E-B464-18C6-6F59-A95FD2611781}"/>
              </a:ext>
            </a:extLst>
          </p:cNvPr>
          <p:cNvSpPr/>
          <p:nvPr/>
        </p:nvSpPr>
        <p:spPr>
          <a:xfrm>
            <a:off x="235734" y="1555121"/>
            <a:ext cx="2342703" cy="346409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Proof idea: 4-outcome POVMs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1F9321-B425-8F00-6ECA-FC292109D568}"/>
                  </a:ext>
                </a:extLst>
              </p:cNvPr>
              <p:cNvSpPr txBox="1"/>
              <p:nvPr/>
            </p:nvSpPr>
            <p:spPr>
              <a:xfrm>
                <a:off x="308021" y="1535228"/>
                <a:ext cx="11284858" cy="2955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Proof sketch (step 1): 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/>
                  <a:t>Construct two 3-outcome POVMs by defining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/>
                  <a:t> based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        </a:t>
                </a:r>
              </a:p>
              <a:p>
                <a:r>
                  <a:rPr lang="en-US" dirty="0"/>
                  <a:t>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POV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POV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/>
                  <a:t>Construct normalized response function for the two 3-outcome POVMs as in the previous example.  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      </a:t>
                </a:r>
                <a:r>
                  <a:rPr lang="en-US" i="1" dirty="0">
                    <a:solidFill>
                      <a:srgbClr val="EE5C1A"/>
                    </a:solidFill>
                  </a:rPr>
                  <a:t>Important note: smoothening the response function without changing the row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EE5C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EE5C1A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1F9321-B425-8F00-6ECA-FC292109D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21" y="1535228"/>
                <a:ext cx="11284858" cy="2955361"/>
              </a:xfrm>
              <a:prstGeom prst="rect">
                <a:avLst/>
              </a:prstGeom>
              <a:blipFill>
                <a:blip r:embed="rId5"/>
                <a:stretch>
                  <a:fillRect l="-486" t="-1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1A97E7C-1434-05A9-2C3B-A6181212E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21" y="4267154"/>
            <a:ext cx="4979712" cy="1250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52386-88B6-F338-7092-80576ACDF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2478" y="4237017"/>
            <a:ext cx="4967556" cy="12502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66DE38-6E6B-6F44-22CD-6086EED0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100" y="6250475"/>
            <a:ext cx="2743200" cy="365125"/>
          </a:xfrm>
        </p:spPr>
        <p:txBody>
          <a:bodyPr/>
          <a:lstStyle/>
          <a:p>
            <a:fld id="{5F6A7C64-5BD3-4F49-9C24-E80A6D4A34E5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9D0F45-B32B-B1E8-A3B6-2D247146ADAD}"/>
                  </a:ext>
                </a:extLst>
              </p:cNvPr>
              <p:cNvSpPr txBox="1"/>
              <p:nvPr/>
            </p:nvSpPr>
            <p:spPr>
              <a:xfrm>
                <a:off x="559571" y="5932528"/>
                <a:ext cx="10755729" cy="683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0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</m:sub>
                        </m:sSub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𝒮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nary>
                    <m:nary>
                      <m:naryPr>
                        <m:chr m:val="∏"/>
                        <m:supHide m:val="on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∏"/>
                            <m:sup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∉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</m:oMath>
                </a14:m>
                <a:r>
                  <a:rPr lang="en-US" sz="1600" dirty="0"/>
                  <a:t> 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,1,2</m:t>
                        </m:r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sz="1600" dirty="0"/>
                  <a:t> are defined similarly as in the previous example.  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9D0F45-B32B-B1E8-A3B6-2D247146A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1" y="5932528"/>
                <a:ext cx="10755729" cy="683072"/>
              </a:xfrm>
              <a:prstGeom prst="rect">
                <a:avLst/>
              </a:prstGeom>
              <a:blipFill>
                <a:blip r:embed="rId8"/>
                <a:stretch>
                  <a:fillRect l="-340" t="-62500" r="-340" b="-63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34B51F-353C-E862-B110-ED65E78E5420}"/>
                  </a:ext>
                </a:extLst>
              </p:cNvPr>
              <p:cNvSpPr txBox="1"/>
              <p:nvPr/>
            </p:nvSpPr>
            <p:spPr>
              <a:xfrm>
                <a:off x="739681" y="5487316"/>
                <a:ext cx="511282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Table IIIA: Normalized  response function for simulating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POV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sz="1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34B51F-353C-E862-B110-ED65E78E5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1" y="5487316"/>
                <a:ext cx="5112822" cy="307777"/>
              </a:xfrm>
              <a:prstGeom prst="rect">
                <a:avLst/>
              </a:prstGeom>
              <a:blipFill>
                <a:blip r:embed="rId9"/>
                <a:stretch>
                  <a:fillRect l="-358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CE3A52-980B-8CD6-F166-A2229668865A}"/>
                  </a:ext>
                </a:extLst>
              </p:cNvPr>
              <p:cNvSpPr txBox="1"/>
              <p:nvPr/>
            </p:nvSpPr>
            <p:spPr>
              <a:xfrm>
                <a:off x="6202478" y="5474388"/>
                <a:ext cx="511282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Table IIIB: Normalized  response function for simulating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POV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sz="1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CE3A52-980B-8CD6-F166-A22296688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478" y="5474388"/>
                <a:ext cx="5112822" cy="307777"/>
              </a:xfrm>
              <a:prstGeom prst="rect">
                <a:avLst/>
              </a:prstGeom>
              <a:blipFill>
                <a:blip r:embed="rId10"/>
                <a:stretch>
                  <a:fillRect l="-358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11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4353BE9-D0E3-C900-70C4-716146FFD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850" y="726452"/>
            <a:ext cx="4037950" cy="14660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A3706F-AD46-CF74-D67A-7EEA072A1EB0}"/>
              </a:ext>
            </a:extLst>
          </p:cNvPr>
          <p:cNvSpPr/>
          <p:nvPr/>
        </p:nvSpPr>
        <p:spPr>
          <a:xfrm>
            <a:off x="237107" y="1562378"/>
            <a:ext cx="2342703" cy="346409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Proof idea: 4-outcome POVMs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1F9321-B425-8F00-6ECA-FC292109D568}"/>
                  </a:ext>
                </a:extLst>
              </p:cNvPr>
              <p:cNvSpPr txBox="1"/>
              <p:nvPr/>
            </p:nvSpPr>
            <p:spPr>
              <a:xfrm>
                <a:off x="237107" y="1549410"/>
                <a:ext cx="11717786" cy="2873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Proof sketch (step 2): 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/>
                  <a:t>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jointly defined an 18-effect coarse-grained POVM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/>
                  <a:t>This 18-effect coarse-grained POVM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is a common fined-graining of the two 6-effect POVM defined in step 1.</a:t>
                </a:r>
              </a:p>
              <a:p>
                <a:r>
                  <a:rPr lang="en-US" dirty="0"/>
                  <a:t>                                    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1F9321-B425-8F00-6ECA-FC292109D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07" y="1549410"/>
                <a:ext cx="11717786" cy="2873351"/>
              </a:xfrm>
              <a:prstGeom prst="rect">
                <a:avLst/>
              </a:prstGeom>
              <a:blipFill>
                <a:blip r:embed="rId5"/>
                <a:stretch>
                  <a:fillRect l="-468" t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5DBFE46-2EE0-2599-740E-2320582D8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7590" y="2496384"/>
            <a:ext cx="4966666" cy="840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89528-D521-2114-E3F2-277EE4A014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7060" y="2678565"/>
            <a:ext cx="2822301" cy="339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A450C9-3C83-A87B-270F-E3B0F7A285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8921" y="3848365"/>
            <a:ext cx="3833085" cy="4607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0E0599-AF34-2537-BC11-8AF80E8E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DC96CC-5BB6-6BD2-E7BD-1BDCA86A81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3547" y="4434048"/>
            <a:ext cx="12192000" cy="10976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8CBFAA-6DBE-EFEB-5233-CAA097C06345}"/>
              </a:ext>
            </a:extLst>
          </p:cNvPr>
          <p:cNvSpPr txBox="1"/>
          <p:nvPr/>
        </p:nvSpPr>
        <p:spPr>
          <a:xfrm>
            <a:off x="2842500" y="5411021"/>
            <a:ext cx="79627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Table </a:t>
            </a:r>
            <a:r>
              <a:rPr lang="en-US" sz="1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IV</a:t>
            </a:r>
            <a:r>
              <a:rPr lang="en-US" sz="1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Normalized  response function for simulating any 4-outcome POVM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E647EB-4455-3DC7-3BDC-E36019FCB32C}"/>
                  </a:ext>
                </a:extLst>
              </p:cNvPr>
              <p:cNvSpPr txBox="1"/>
              <p:nvPr/>
            </p:nvSpPr>
            <p:spPr>
              <a:xfrm>
                <a:off x="129209" y="5973417"/>
                <a:ext cx="10386391" cy="375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en-US" dirty="0"/>
                  <a:t> are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POV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en-US" dirty="0"/>
                  <a:t> correspondingly.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E647EB-4455-3DC7-3BDC-E36019FCB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09" y="5973417"/>
                <a:ext cx="10386391" cy="375616"/>
              </a:xfrm>
              <a:prstGeom prst="rect">
                <a:avLst/>
              </a:prstGeom>
              <a:blipFill>
                <a:blip r:embed="rId10"/>
                <a:stretch>
                  <a:fillRect l="-469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65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C52210-EEDF-42F5-D197-44D98115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6A23581-244B-6733-8350-0C6F67761EEA}"/>
                  </a:ext>
                </a:extLst>
              </p:cNvPr>
              <p:cNvSpPr/>
              <p:nvPr/>
            </p:nvSpPr>
            <p:spPr>
              <a:xfrm>
                <a:off x="280861" y="895614"/>
                <a:ext cx="11106069" cy="3232235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6A23581-244B-6733-8350-0C6F67761E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61" y="895614"/>
                <a:ext cx="11106069" cy="3232235"/>
              </a:xfrm>
              <a:prstGeom prst="rect">
                <a:avLst/>
              </a:prstGeom>
              <a:blipFill>
                <a:blip r:embed="rId4"/>
                <a:stretch>
                  <a:fillRect l="-164"/>
                </a:stretch>
              </a:blipFill>
              <a:ln w="444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56F5EE-9622-FB97-540B-D564F17AFEAC}"/>
                  </a:ext>
                </a:extLst>
              </p:cNvPr>
              <p:cNvSpPr txBox="1"/>
              <p:nvPr/>
            </p:nvSpPr>
            <p:spPr>
              <a:xfrm>
                <a:off x="446490" y="946864"/>
                <a:ext cx="10502988" cy="3235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>
                    <a:solidFill>
                      <a:schemeClr val="tx1"/>
                    </a:solidFill>
                  </a:rPr>
                  <a:t>As we argue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𝕀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is the ‘unique’ parent POVM for simulate all PVMs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±|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4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sz="2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Any nonprojective noisy two-outcome measurement are nonextremal                                           </a:t>
                </a:r>
              </a:p>
              <a:p>
                <a:pPr lvl="1"/>
                <a:endParaRPr lang="en-US" sz="16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We now attempt to simulate a 3-outcome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0"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i="1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From 3-oucome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∈{1,2,3}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simulation to 4-outcome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</m:acc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=1/2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∈{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1,2,3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,4}</m:t>
                        </m:r>
                      </m:sub>
                    </m:sSub>
                  </m:oMath>
                </a14:m>
                <a:r>
                  <a:rPr lang="en-US" dirty="0"/>
                  <a:t> simulation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These cover all the extremal qubit measurements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sz="1400" dirty="0"/>
                  <a:t>All noisy POVMs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Tr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𝕀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}  are compatible at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 sz="1400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sz="1400" dirty="0"/>
                  <a:t>Qubit Werner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⟩⟨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|+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𝕀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is </a:t>
                </a:r>
                <a:r>
                  <a:rPr lang="en-US" sz="1400" dirty="0" err="1"/>
                  <a:t>unsteerable</a:t>
                </a:r>
                <a:r>
                  <a:rPr lang="en-US" sz="1400" dirty="0"/>
                  <a:t> at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US" sz="1400" dirty="0"/>
                  <a:t>      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56F5EE-9622-FB97-540B-D564F17AF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90" y="946864"/>
                <a:ext cx="10502988" cy="3235181"/>
              </a:xfrm>
              <a:prstGeom prst="rect">
                <a:avLst/>
              </a:prstGeom>
              <a:blipFill>
                <a:blip r:embed="rId5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3F02C86-582D-8E45-10FD-A5F8C564F4E8}"/>
              </a:ext>
            </a:extLst>
          </p:cNvPr>
          <p:cNvSpPr/>
          <p:nvPr/>
        </p:nvSpPr>
        <p:spPr>
          <a:xfrm>
            <a:off x="9985968" y="1626455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6A5BBAE9-9B34-0A41-476A-F38EF94D2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4578" y="1623785"/>
            <a:ext cx="247336" cy="2473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BCE076-9A4E-181B-FE10-34C565EE8D88}"/>
              </a:ext>
            </a:extLst>
          </p:cNvPr>
          <p:cNvSpPr/>
          <p:nvPr/>
        </p:nvSpPr>
        <p:spPr>
          <a:xfrm>
            <a:off x="9982200" y="2108386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E7B3CE-B47A-399F-2C19-E0583134DCCE}"/>
              </a:ext>
            </a:extLst>
          </p:cNvPr>
          <p:cNvSpPr/>
          <p:nvPr/>
        </p:nvSpPr>
        <p:spPr>
          <a:xfrm>
            <a:off x="9982200" y="2620423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AC5AB78F-909E-987F-C7B9-F4AE7B259E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7959" y="2108386"/>
            <a:ext cx="247336" cy="247336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802C95D5-595A-3E13-FAEF-CF60FC5B99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4578" y="2596342"/>
            <a:ext cx="247336" cy="247336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C82A2800-6E00-4B32-6F99-83289EE94B75}"/>
              </a:ext>
            </a:extLst>
          </p:cNvPr>
          <p:cNvSpPr/>
          <p:nvPr/>
        </p:nvSpPr>
        <p:spPr>
          <a:xfrm>
            <a:off x="9982200" y="3225928"/>
            <a:ext cx="231913" cy="230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58" name="Graphic 57" descr="Checkmark with solid fill">
            <a:extLst>
              <a:ext uri="{FF2B5EF4-FFF2-40B4-BE49-F238E27FC236}">
                <a16:creationId xmlns:a16="http://schemas.microsoft.com/office/drawing/2014/main" id="{283D5FF3-7126-9770-7B2C-8CF56589B7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8921" y="3202505"/>
            <a:ext cx="247336" cy="2473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C0AA92-21BF-309C-0A40-344B73C30CFE}"/>
                  </a:ext>
                </a:extLst>
              </p:cNvPr>
              <p:cNvSpPr txBox="1"/>
              <p:nvPr/>
            </p:nvSpPr>
            <p:spPr>
              <a:xfrm>
                <a:off x="152400" y="4202397"/>
                <a:ext cx="11389219" cy="2185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/>
                  <a:t>Few important notes:</a:t>
                </a:r>
              </a:p>
              <a:p>
                <a:endParaRPr lang="en-US" sz="700" i="1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i="1" dirty="0"/>
                  <a:t>Uniqueness:  </a:t>
                </a:r>
                <a:r>
                  <a:rPr lang="en-US" dirty="0"/>
                  <a:t>only the simulation of PVMs have a unique solution. </a:t>
                </a:r>
              </a:p>
              <a:p>
                <a:endParaRPr lang="en-US" sz="7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i="1" dirty="0"/>
                  <a:t>Analytical:     </a:t>
                </a:r>
                <a:r>
                  <a:rPr lang="en-US" dirty="0"/>
                  <a:t>The constructed response functions could all be analytically computed. (Instead, an existence proof is given by M. Renner in a parallel pape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.)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105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i="1" dirty="0"/>
                  <a:t>LHV model:    </a:t>
                </a:r>
                <a:r>
                  <a:rPr lang="en-US" dirty="0"/>
                  <a:t>Our result can be directly used as LHV model for Bell nonlocality, which leads to the best LHV bound</a:t>
                </a:r>
                <a:r>
                  <a:rPr lang="en-US" i="1" dirty="0"/>
                  <a:t> </a:t>
                </a:r>
                <a:r>
                  <a:rPr lang="en-US" dirty="0"/>
                  <a:t>for Werner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US" i="1" dirty="0"/>
                  <a:t> (*the best model before is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0.4583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i="1" dirty="0"/>
                  <a:t>)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C0AA92-21BF-309C-0A40-344B73C30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202397"/>
                <a:ext cx="11389219" cy="2185791"/>
              </a:xfrm>
              <a:prstGeom prst="rect">
                <a:avLst/>
              </a:prstGeom>
              <a:blipFill>
                <a:blip r:embed="rId8"/>
                <a:stretch>
                  <a:fillRect l="-535" t="-1393" r="-803" b="-2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F752682-A42C-3E79-D927-2115F7EF1D2C}"/>
              </a:ext>
            </a:extLst>
          </p:cNvPr>
          <p:cNvCxnSpPr>
            <a:cxnSpLocks/>
          </p:cNvCxnSpPr>
          <p:nvPr/>
        </p:nvCxnSpPr>
        <p:spPr>
          <a:xfrm flipH="1">
            <a:off x="59480" y="6427113"/>
            <a:ext cx="3385254" cy="9638"/>
          </a:xfrm>
          <a:prstGeom prst="line">
            <a:avLst/>
          </a:prstGeom>
          <a:ln w="952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8F7A5FA-EF6C-9EE0-31F6-1EBED1D50129}"/>
              </a:ext>
            </a:extLst>
          </p:cNvPr>
          <p:cNvSpPr txBox="1"/>
          <p:nvPr/>
        </p:nvSpPr>
        <p:spPr>
          <a:xfrm>
            <a:off x="0" y="6427113"/>
            <a:ext cx="51114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 Renner, </a:t>
            </a:r>
            <a:r>
              <a:rPr lang="en-US" sz="1100" dirty="0"/>
              <a:t>arXiv:2309.12290 (2023)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S Designolle PRR 5, 043059</a:t>
            </a: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8BBDAA4D-77AD-4997-3EC4-1505D02DA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arXiv:2309.12290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17241BAE-5374-C11F-8759-70B55634F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arXiv:2309.12290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04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6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1" y="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Outlook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7355DC-4AE9-72F8-A00D-BAB255E4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4425" y="6036632"/>
            <a:ext cx="2743200" cy="365125"/>
          </a:xfrm>
        </p:spPr>
        <p:txBody>
          <a:bodyPr/>
          <a:lstStyle/>
          <a:p>
            <a:fld id="{5F6A7C64-5BD3-4F49-9C24-E80A6D4A34E5}" type="slidenum">
              <a:rPr lang="en-US" smtClean="0"/>
              <a:t>20</a:t>
            </a:fld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F7C9D7-7F46-74F0-3571-432DCEE49BF0}"/>
              </a:ext>
            </a:extLst>
          </p:cNvPr>
          <p:cNvSpPr txBox="1"/>
          <p:nvPr/>
        </p:nvSpPr>
        <p:spPr>
          <a:xfrm>
            <a:off x="5856052" y="891733"/>
            <a:ext cx="54536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The exact steering bound for qubit Werner state is given, showing that POVMs provide no advantage in steering. 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An improved LHV bound for qubit Werner state under POVM is provided 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6E16F66-C587-0191-0E00-C2BB17DCC769}"/>
                  </a:ext>
                </a:extLst>
              </p:cNvPr>
              <p:cNvSpPr txBox="1"/>
              <p:nvPr/>
            </p:nvSpPr>
            <p:spPr>
              <a:xfrm>
                <a:off x="1432068" y="1146441"/>
                <a:ext cx="4306745" cy="489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/>
                  <a:t>For</a:t>
                </a: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⟩⟨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|+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𝕀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6E16F66-C587-0191-0E00-C2BB17DCC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068" y="1146441"/>
                <a:ext cx="4306745" cy="489814"/>
              </a:xfrm>
              <a:prstGeom prst="rect">
                <a:avLst/>
              </a:prstGeom>
              <a:blipFill>
                <a:blip r:embed="rId4"/>
                <a:stretch>
                  <a:fillRect l="-1558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ectangle 92">
            <a:extLst>
              <a:ext uri="{FF2B5EF4-FFF2-40B4-BE49-F238E27FC236}">
                <a16:creationId xmlns:a16="http://schemas.microsoft.com/office/drawing/2014/main" id="{546B5398-6353-A557-3EC7-1FBDB72C8EF5}"/>
              </a:ext>
            </a:extLst>
          </p:cNvPr>
          <p:cNvSpPr/>
          <p:nvPr/>
        </p:nvSpPr>
        <p:spPr>
          <a:xfrm>
            <a:off x="173493" y="2467767"/>
            <a:ext cx="1908263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LHS model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277AEFF-8CF3-1CF3-D2D2-DF15C15F9DC3}"/>
              </a:ext>
            </a:extLst>
          </p:cNvPr>
          <p:cNvSpPr txBox="1"/>
          <p:nvPr/>
        </p:nvSpPr>
        <p:spPr>
          <a:xfrm>
            <a:off x="2368364" y="2505581"/>
            <a:ext cx="860443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For arbitrary qubit-qubit state with POVMs.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i="1" dirty="0"/>
              <a:t>Special state: e.g., T state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i="1" dirty="0"/>
              <a:t>General state: not even analytically known for PVMs             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For higher dimensional Werner state with POVMs.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i="1" dirty="0"/>
              <a:t>Geometric picture is missing.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i="1" dirty="0"/>
              <a:t>Coarse-graining cannot be easily generalized.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Better LHV bound for Werner state and other qubit-qubit state.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Constructing LHV/LHS model using finite amount of shared randomness.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i="1" dirty="0"/>
              <a:t>POVMs and PVMs became inequivalent when restricted with finite amount of share randomness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i="1" dirty="0"/>
              <a:t>How much pricier: simulating all POVMs comparing to the simulation of all PVMs (Poster 462)  </a:t>
            </a:r>
          </a:p>
          <a:p>
            <a:pPr lvl="1"/>
            <a:r>
              <a:rPr lang="en-US" dirty="0"/>
              <a:t> 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A7ADEE9-48F0-D865-B8FB-806DA5352C88}"/>
              </a:ext>
            </a:extLst>
          </p:cNvPr>
          <p:cNvSpPr/>
          <p:nvPr/>
        </p:nvSpPr>
        <p:spPr>
          <a:xfrm>
            <a:off x="5330059" y="2834945"/>
            <a:ext cx="169829" cy="188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06" name="Graphic 105" descr="Checkmark with solid fill">
            <a:extLst>
              <a:ext uri="{FF2B5EF4-FFF2-40B4-BE49-F238E27FC236}">
                <a16:creationId xmlns:a16="http://schemas.microsoft.com/office/drawing/2014/main" id="{9FC9429B-7A98-F8AC-C717-55626FA08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3530" y="2834945"/>
            <a:ext cx="202885" cy="202885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D1301C48-29AE-0B61-76CC-60B01521E48B}"/>
              </a:ext>
            </a:extLst>
          </p:cNvPr>
          <p:cNvSpPr/>
          <p:nvPr/>
        </p:nvSpPr>
        <p:spPr>
          <a:xfrm>
            <a:off x="199658" y="4316168"/>
            <a:ext cx="1908264" cy="461665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LHV model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6B78DEF-77DA-BD7A-A564-FFDE50044F06}"/>
              </a:ext>
            </a:extLst>
          </p:cNvPr>
          <p:cNvSpPr/>
          <p:nvPr/>
        </p:nvSpPr>
        <p:spPr>
          <a:xfrm>
            <a:off x="197551" y="5201236"/>
            <a:ext cx="1860148" cy="510323"/>
          </a:xfrm>
          <a:prstGeom prst="rect">
            <a:avLst/>
          </a:prstGeom>
          <a:solidFill>
            <a:srgbClr val="EE5C1A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Finite model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F38BC9D-928F-FC59-57A3-6CAF8F9D278E}"/>
              </a:ext>
            </a:extLst>
          </p:cNvPr>
          <p:cNvSpPr/>
          <p:nvPr/>
        </p:nvSpPr>
        <p:spPr>
          <a:xfrm>
            <a:off x="10295090" y="5610116"/>
            <a:ext cx="169829" cy="188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27" name="Graphic 126" descr="Checkmark with solid fill">
            <a:extLst>
              <a:ext uri="{FF2B5EF4-FFF2-40B4-BE49-F238E27FC236}">
                <a16:creationId xmlns:a16="http://schemas.microsoft.com/office/drawing/2014/main" id="{83079155-2D68-6E6F-EBB8-8832A14E8A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78561" y="5610116"/>
            <a:ext cx="202885" cy="20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5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88" grpId="0"/>
      <p:bldP spid="93" grpId="0" animBg="1"/>
      <p:bldP spid="105" grpId="0" animBg="1"/>
      <p:bldP spid="107" grpId="0" animBg="1"/>
      <p:bldP spid="125" grpId="0" animBg="1"/>
      <p:bldP spid="1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6B2432-8316-58F1-AE9A-463FF15451A6}"/>
              </a:ext>
            </a:extLst>
          </p:cNvPr>
          <p:cNvSpPr/>
          <p:nvPr/>
        </p:nvSpPr>
        <p:spPr>
          <a:xfrm>
            <a:off x="237004" y="2469340"/>
            <a:ext cx="11003616" cy="959660"/>
          </a:xfrm>
          <a:prstGeom prst="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Back up: Finite share randomness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9DED2-00B9-133A-8B8A-F8AC9CF7338F}"/>
              </a:ext>
            </a:extLst>
          </p:cNvPr>
          <p:cNvSpPr txBox="1"/>
          <p:nvPr/>
        </p:nvSpPr>
        <p:spPr>
          <a:xfrm>
            <a:off x="357487" y="2584134"/>
            <a:ext cx="11439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PVMs and POVMs are </a:t>
            </a:r>
            <a:r>
              <a:rPr lang="en-US" sz="2000" dirty="0">
                <a:solidFill>
                  <a:srgbClr val="00B050"/>
                </a:solidFill>
              </a:rPr>
              <a:t>equivalent</a:t>
            </a:r>
            <a:r>
              <a:rPr lang="en-US" sz="2000" dirty="0"/>
              <a:t> in steering, </a:t>
            </a:r>
            <a:r>
              <a:rPr lang="en-US" sz="2000" i="1" u="sng" dirty="0">
                <a:solidFill>
                  <a:srgbClr val="00B050"/>
                </a:solidFill>
              </a:rPr>
              <a:t>assuming unbounded classical share randomness;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POVMs provide </a:t>
            </a:r>
            <a:r>
              <a:rPr lang="en-US" sz="2000" dirty="0">
                <a:solidFill>
                  <a:srgbClr val="EE5C1A"/>
                </a:solidFill>
              </a:rPr>
              <a:t>advantage</a:t>
            </a:r>
            <a:r>
              <a:rPr lang="en-US" sz="2000" dirty="0"/>
              <a:t> in a restricted scenario steering,  </a:t>
            </a:r>
            <a:r>
              <a:rPr lang="en-US" sz="2000" i="1" u="sng" dirty="0">
                <a:solidFill>
                  <a:srgbClr val="EE5C1A"/>
                </a:solidFill>
              </a:rPr>
              <a:t>assuming finite shared randomness.</a:t>
            </a:r>
            <a:r>
              <a:rPr lang="en-US" sz="200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169CB7-1B2A-12E3-CBC5-D88890463E3E}"/>
              </a:ext>
            </a:extLst>
          </p:cNvPr>
          <p:cNvSpPr/>
          <p:nvPr/>
        </p:nvSpPr>
        <p:spPr>
          <a:xfrm>
            <a:off x="237004" y="941534"/>
            <a:ext cx="10993342" cy="311923"/>
          </a:xfrm>
          <a:prstGeom prst="rect">
            <a:avLst/>
          </a:prstGeom>
          <a:solidFill>
            <a:srgbClr val="EE5C1A"/>
          </a:solidFill>
          <a:ln>
            <a:solidFill>
              <a:srgbClr val="EE5C1A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Revised Problem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7D4008-ECB3-6D4D-86C1-D3453099EBBB}"/>
              </a:ext>
            </a:extLst>
          </p:cNvPr>
          <p:cNvSpPr/>
          <p:nvPr/>
        </p:nvSpPr>
        <p:spPr>
          <a:xfrm>
            <a:off x="237004" y="1260389"/>
            <a:ext cx="11003616" cy="575745"/>
          </a:xfrm>
          <a:prstGeom prst="rect">
            <a:avLst/>
          </a:prstGeom>
          <a:solidFill>
            <a:srgbClr val="EE5C1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Is there any task that PVMs can be simulated classically, while POVM can not?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AEE99D-5721-B5BE-1F16-16397B4B0205}"/>
                  </a:ext>
                </a:extLst>
              </p:cNvPr>
              <p:cNvSpPr txBox="1"/>
              <p:nvPr/>
            </p:nvSpPr>
            <p:spPr>
              <a:xfrm>
                <a:off x="3162514" y="1902270"/>
                <a:ext cx="4888599" cy="532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  <m:sup/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AEE99D-5721-B5BE-1F16-16397B4B0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514" y="1902270"/>
                <a:ext cx="4888599" cy="532838"/>
              </a:xfrm>
              <a:prstGeom prst="rect">
                <a:avLst/>
              </a:prstGeom>
              <a:blipFill>
                <a:blip r:embed="rId4"/>
                <a:stretch>
                  <a:fillRect t="-164368" b="-235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lide Number Placeholder 10">
            <a:extLst>
              <a:ext uri="{FF2B5EF4-FFF2-40B4-BE49-F238E27FC236}">
                <a16:creationId xmlns:a16="http://schemas.microsoft.com/office/drawing/2014/main" id="{08E60387-E96C-083D-6FE5-C4F8A0250D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F6A7C64-5BD3-4F49-9C24-E80A6D4A34E5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40E317F-2498-BBC8-280A-6A0D0510ED23}"/>
                  </a:ext>
                </a:extLst>
              </p:cNvPr>
              <p:cNvSpPr/>
              <p:nvPr/>
            </p:nvSpPr>
            <p:spPr>
              <a:xfrm>
                <a:off x="237004" y="3884302"/>
                <a:ext cx="10993342" cy="480500"/>
              </a:xfrm>
              <a:prstGeom prst="rect">
                <a:avLst/>
              </a:prstGeom>
              <a:solidFill>
                <a:srgbClr val="EE5C1A"/>
              </a:solidFill>
              <a:ln>
                <a:solidFill>
                  <a:srgbClr val="EE5C1A">
                    <a:alpha val="65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dirty="0"/>
                  <a:t>Result: simulating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40E317F-2498-BBC8-280A-6A0D0510ED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04" y="3884302"/>
                <a:ext cx="10993342" cy="480500"/>
              </a:xfrm>
              <a:prstGeom prst="rect">
                <a:avLst/>
              </a:prstGeom>
              <a:blipFill>
                <a:blip r:embed="rId5"/>
                <a:stretch>
                  <a:fillRect l="-554" t="-58025" b="-102469"/>
                </a:stretch>
              </a:blipFill>
              <a:ln>
                <a:solidFill>
                  <a:srgbClr val="EE5C1A">
                    <a:alpha val="65000"/>
                  </a:srgb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CAEDA5-AAC7-C21C-ABB6-D71ABDB66160}"/>
                  </a:ext>
                </a:extLst>
              </p:cNvPr>
              <p:cNvSpPr/>
              <p:nvPr/>
            </p:nvSpPr>
            <p:spPr>
              <a:xfrm>
                <a:off x="237004" y="4371733"/>
                <a:ext cx="11003616" cy="807472"/>
              </a:xfrm>
              <a:prstGeom prst="rect">
                <a:avLst/>
              </a:prstGeom>
              <a:solidFill>
                <a:srgbClr val="EE5C1A">
                  <a:alpha val="3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chemeClr val="tx1"/>
                    </a:solidFill>
                  </a:rPr>
                  <a:t>We show that 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be simulated when PVMs are applied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0.3714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chemeClr val="tx1"/>
                    </a:solidFill>
                  </a:rPr>
                  <a:t>There exists a class of 3-outcome POVMs where no simulation exists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≥≈0.3220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CAEDA5-AAC7-C21C-ABB6-D71ABDB66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04" y="4371733"/>
                <a:ext cx="11003616" cy="807472"/>
              </a:xfrm>
              <a:prstGeom prst="rect">
                <a:avLst/>
              </a:prstGeom>
              <a:blipFill>
                <a:blip r:embed="rId6"/>
                <a:stretch>
                  <a:fillRect l="-388" b="-37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D4CD5C0-A64C-DCCA-F22C-978CB590D479}"/>
              </a:ext>
            </a:extLst>
          </p:cNvPr>
          <p:cNvCxnSpPr>
            <a:cxnSpLocks/>
          </p:cNvCxnSpPr>
          <p:nvPr/>
        </p:nvCxnSpPr>
        <p:spPr>
          <a:xfrm flipH="1">
            <a:off x="59480" y="6427113"/>
            <a:ext cx="3385254" cy="9638"/>
          </a:xfrm>
          <a:prstGeom prst="line">
            <a:avLst/>
          </a:prstGeom>
          <a:ln w="952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A539C11-5174-9042-EE93-E19EBF717D20}"/>
              </a:ext>
            </a:extLst>
          </p:cNvPr>
          <p:cNvSpPr txBox="1"/>
          <p:nvPr/>
        </p:nvSpPr>
        <p:spPr>
          <a:xfrm>
            <a:off x="0" y="6538912"/>
            <a:ext cx="34447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i="1" dirty="0"/>
              <a:t>Y Zhang et al, arXiv:2302.09060 2023 (Poster 462)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6804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26" grpId="0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The full story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776898-2D40-28B0-54E4-E400F142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A7C64-5BD3-4F49-9C24-E80A6D4A34E5}" type="slidenum">
              <a:rPr lang="en-US" smtClean="0"/>
              <a:t>22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26E3B-8937-9C6D-8631-D011111008C5}"/>
              </a:ext>
            </a:extLst>
          </p:cNvPr>
          <p:cNvSpPr txBox="1"/>
          <p:nvPr/>
        </p:nvSpPr>
        <p:spPr>
          <a:xfrm>
            <a:off x="320842" y="1419847"/>
            <a:ext cx="115503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With no restriction:  A quantum system could be simulated by a classical system, but might require exponentially large  computational complexity (unbounded)</a:t>
            </a:r>
          </a:p>
          <a:p>
            <a:r>
              <a:rPr lang="en-US" dirty="0"/>
              <a:t>       </a:t>
            </a:r>
            <a:r>
              <a:rPr lang="en-US" sz="1600" i="1" dirty="0"/>
              <a:t>e.g., for a small quantum system, the preparation</a:t>
            </a:r>
            <a:r>
              <a:rPr lang="en-US" sz="1600" i="1" dirty="0">
                <a:sym typeface="Wingdings" panose="05000000000000000000" pitchFamily="2" charset="2"/>
              </a:rPr>
              <a:t> density matrix</a:t>
            </a:r>
            <a:r>
              <a:rPr lang="en-US" sz="1600" i="1" dirty="0"/>
              <a:t>, transformation</a:t>
            </a:r>
            <a:r>
              <a:rPr lang="en-US" sz="1600" i="1" dirty="0">
                <a:sym typeface="Wingdings" panose="05000000000000000000" pitchFamily="2" charset="2"/>
              </a:rPr>
              <a:t> CPTP maps, measurements POVMs</a:t>
            </a: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With restriction:  There exists quantum system that can never be classically simulated. </a:t>
            </a:r>
          </a:p>
          <a:p>
            <a:r>
              <a:rPr lang="en-US" dirty="0"/>
              <a:t>      </a:t>
            </a:r>
            <a:r>
              <a:rPr lang="en-US" sz="1600" i="1" dirty="0"/>
              <a:t>e.g., Systems that violate Bell inequality, or steering inequality can not be simulated by two labs with locality constrain.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Noisy quantum steering could be simulated classically, independent of whether PVMs or POVMs are utilized. </a:t>
            </a:r>
          </a:p>
          <a:p>
            <a:r>
              <a:rPr lang="en-US" sz="1600" dirty="0"/>
              <a:t>      </a:t>
            </a:r>
            <a:r>
              <a:rPr lang="en-US" sz="1600" i="1" dirty="0"/>
              <a:t>e.g., In LHS model of noisy Werner state, assuming </a:t>
            </a:r>
            <a:r>
              <a:rPr lang="en-US" sz="1600" i="1" dirty="0">
                <a:solidFill>
                  <a:srgbClr val="EE5C1A"/>
                </a:solidFill>
              </a:rPr>
              <a:t>unbounded classical share randomness. </a:t>
            </a:r>
            <a:endParaRPr lang="en-US" sz="1600" dirty="0">
              <a:solidFill>
                <a:srgbClr val="EE5C1A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Classical simulation of a noisy quantum system with POVMs could be more expensive (more complex)</a:t>
            </a:r>
          </a:p>
          <a:p>
            <a:r>
              <a:rPr lang="en-US" sz="1600" dirty="0"/>
              <a:t>      </a:t>
            </a:r>
            <a:r>
              <a:rPr lang="en-US" sz="1600" i="1" dirty="0"/>
              <a:t>e.g., In LHS model of noisy Werner state, assuming </a:t>
            </a:r>
            <a:r>
              <a:rPr lang="en-US" sz="1600" i="1" dirty="0">
                <a:solidFill>
                  <a:srgbClr val="00B050"/>
                </a:solidFill>
              </a:rPr>
              <a:t>bounded classical share randomness. </a:t>
            </a:r>
            <a:endParaRPr lang="en-US" sz="1600" dirty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66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2"/>
          </a:solidFill>
        </a:ln>
      </a:spPr>
      <a:bodyPr rtlCol="0" anchor="ctr"/>
      <a:lstStyle>
        <a:defPPr algn="l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27461</TotalTime>
  <Words>3297</Words>
  <Application>Microsoft Macintosh PowerPoint</Application>
  <PresentationFormat>Widescreen</PresentationFormat>
  <Paragraphs>524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ArialMT</vt:lpstr>
      <vt:lpstr>Arial</vt:lpstr>
      <vt:lpstr>Calibri</vt:lpstr>
      <vt:lpstr>Calibri Light</vt:lpstr>
      <vt:lpstr>Cambria Math</vt:lpstr>
      <vt:lpstr>Wingdings</vt:lpstr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Exact steering bound for qubit and POVMs</dc:title>
  <dc:creator>Yujie Zhang</dc:creator>
  <cp:lastModifiedBy>Zhang, Yujie</cp:lastModifiedBy>
  <cp:revision>15</cp:revision>
  <dcterms:created xsi:type="dcterms:W3CDTF">2023-10-06T05:43:15Z</dcterms:created>
  <dcterms:modified xsi:type="dcterms:W3CDTF">2026-07-23T06:39:49Z</dcterms:modified>
</cp:coreProperties>
</file>