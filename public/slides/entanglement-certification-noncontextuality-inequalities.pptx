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4"/>
  </p:notesMasterIdLst>
  <p:sldIdLst>
    <p:sldId id="260" r:id="rId2"/>
    <p:sldId id="2575" r:id="rId3"/>
    <p:sldId id="2574" r:id="rId4"/>
    <p:sldId id="2533" r:id="rId5"/>
    <p:sldId id="2555" r:id="rId6"/>
    <p:sldId id="2556" r:id="rId7"/>
    <p:sldId id="311" r:id="rId8"/>
    <p:sldId id="2537" r:id="rId9"/>
    <p:sldId id="2512" r:id="rId10"/>
    <p:sldId id="2557" r:id="rId11"/>
    <p:sldId id="2541" r:id="rId12"/>
    <p:sldId id="2543" r:id="rId13"/>
    <p:sldId id="2547" r:id="rId14"/>
    <p:sldId id="2562" r:id="rId15"/>
    <p:sldId id="2564" r:id="rId16"/>
    <p:sldId id="2566" r:id="rId17"/>
    <p:sldId id="2567" r:id="rId18"/>
    <p:sldId id="2568" r:id="rId19"/>
    <p:sldId id="2570" r:id="rId20"/>
    <p:sldId id="2571" r:id="rId21"/>
    <p:sldId id="2572" r:id="rId22"/>
    <p:sldId id="2569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9B011"/>
    <a:srgbClr val="9D56D2"/>
    <a:srgbClr val="FFE79A"/>
    <a:srgbClr val="0098FF"/>
    <a:srgbClr val="8FAADD"/>
    <a:srgbClr val="F76565"/>
    <a:srgbClr val="FF6347"/>
    <a:srgbClr val="008CF3"/>
    <a:srgbClr val="FA714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845" autoAdjust="0"/>
    <p:restoredTop sz="94693"/>
  </p:normalViewPr>
  <p:slideViewPr>
    <p:cSldViewPr snapToGrid="0">
      <p:cViewPr varScale="1">
        <p:scale>
          <a:sx n="189" d="100"/>
          <a:sy n="189" d="100"/>
        </p:scale>
        <p:origin x="200" y="4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41ABA2-B144-41CB-B678-E64B6A051CDC}" type="datetimeFigureOut">
              <a:rPr lang="en-CA" smtClean="0"/>
              <a:t>2026-07-03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2B6410-3A0D-4241-8BB0-A828190FE0A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093981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4793E5-F702-1AB9-9A2B-FF9B7309EA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AA1C746-6FD3-A169-FC14-C55B5A403D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2C81468-80C2-A1C3-3CA5-7A6F6EACD7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C4D74A-3CFB-8722-D290-AB7646D1D5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2B6410-3A0D-4241-8BB0-A828190FE0A3}" type="slidenum">
              <a:rPr lang="en-CA" smtClean="0"/>
              <a:t>12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117677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D6144D-76B2-FB45-11FF-1BA4413B01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47CF534-6656-F0CA-A82E-46B4944266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599AF7-58AD-7246-982B-D4F345C9C3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821C70-CF8B-2F94-6AEB-07028C87CB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2B6410-3A0D-4241-8BB0-A828190FE0A3}" type="slidenum">
              <a:rPr lang="en-CA" smtClean="0"/>
              <a:t>13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792535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2EC8E0-38C3-DF3E-0C6E-AA79D63EE0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F16B4CB-12CF-8B0E-EFF0-24D8D78AED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F1B3B4-0CD6-EC84-BE7E-620A483C93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E071F6-56EE-A18F-1FF9-C245AFD36F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2B6410-3A0D-4241-8BB0-A828190FE0A3}" type="slidenum">
              <a:rPr lang="en-CA" smtClean="0"/>
              <a:t>14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02800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9F8B0F-620B-D844-D237-2DFCAF2FA2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1D192D8-575F-AFC1-8F06-5B076F5659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3A3B68-6C79-296A-B2C1-EE68359316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C340D6-D217-60AA-14D8-6696BFB443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2B6410-3A0D-4241-8BB0-A828190FE0A3}" type="slidenum">
              <a:rPr lang="en-CA" smtClean="0"/>
              <a:t>15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4881201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563A80-EFE2-184A-2041-4B4BFD74CC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E91504-7D60-5EA0-33BD-79494B3B79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94F6FA5-63A7-38AE-2866-3460BB3B81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C4E311-2527-B40C-C4E9-1E6983D278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2B6410-3A0D-4241-8BB0-A828190FE0A3}" type="slidenum">
              <a:rPr lang="en-CA" smtClean="0"/>
              <a:t>16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948667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6E2915-DE7D-A88F-9F04-32748E6B61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9A8CC3-8E35-09BC-8697-B21FC98C34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9F18FCF-C9D9-7273-DCC5-84F009F0D8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B16DAE-CA11-CAB6-F0D9-81881B75535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2B6410-3A0D-4241-8BB0-A828190FE0A3}" type="slidenum">
              <a:rPr lang="en-CA" smtClean="0"/>
              <a:t>17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7134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CB30F1-0ECA-6A30-F599-D25BC7C7B8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EDAA0A-1C70-BAB3-3ECB-F2D17D2BD6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3B184E3-5F33-FA02-4F98-3BB04CECCC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3AA1AF-B848-C027-FB43-30296B887E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2B6410-3A0D-4241-8BB0-A828190FE0A3}" type="slidenum">
              <a:rPr lang="en-CA" smtClean="0"/>
              <a:t>18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7656956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0F84FE-CC2E-6FB8-B008-AB3F234F83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F46B19-C59C-BC34-1DE5-A3E395CA0B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341ECCD-484E-0759-A17D-403BF89350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EDD877-5DFC-2CA6-07B9-4CE2724242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2B6410-3A0D-4241-8BB0-A828190FE0A3}" type="slidenum">
              <a:rPr lang="en-CA" smtClean="0"/>
              <a:t>19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508290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E092D6-C352-D5CD-BAC9-561A2299F9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63F3C97-4A90-8C97-3416-07504BE459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D6C7305-1E45-F0EA-1712-AB96DCE7A1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FE3C55-7FE9-D616-A0B1-923F238DA7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2B6410-3A0D-4241-8BB0-A828190FE0A3}" type="slidenum">
              <a:rPr lang="en-CA" smtClean="0"/>
              <a:t>20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5056503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A9A503-AF59-4B71-F9AE-6D8BFB983C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635DE81-B471-E9A5-5E45-3C3E9FE33C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74FEC6-A8F6-A8F7-88AC-F4C0B4B796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D5BACD-A6C0-5A1D-EF44-23D48AF87D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2B6410-3A0D-4241-8BB0-A828190FE0A3}" type="slidenum">
              <a:rPr lang="en-CA" smtClean="0"/>
              <a:t>21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0933885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EB3E3C-DF07-5C88-388A-9D9EFB4CE4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38CBD8-C88E-9CD0-6826-BBE22964A6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923CF45-1EA4-C48B-D5BF-A6E6042629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627FD9-9FB4-6058-65A9-853F817FEE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2B6410-3A0D-4241-8BB0-A828190FE0A3}" type="slidenum">
              <a:rPr lang="en-CA" smtClean="0"/>
              <a:t>22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47597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52740" y="1028940"/>
            <a:ext cx="9719960" cy="1474115"/>
          </a:xfrm>
        </p:spPr>
        <p:txBody>
          <a:bodyPr lIns="0" anchor="b">
            <a:noAutofit/>
          </a:bodyPr>
          <a:lstStyle>
            <a:lvl1pPr algn="l">
              <a:defRPr sz="5400" b="1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SLIDE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2740" y="4266821"/>
            <a:ext cx="5486243" cy="666549"/>
          </a:xfrm>
        </p:spPr>
        <p:txBody>
          <a:bodyPr lIns="0" anchor="t">
            <a:normAutofit/>
          </a:bodyPr>
          <a:lstStyle>
            <a:lvl1pPr marL="0" indent="0" algn="l">
              <a:buNone/>
              <a:defRPr sz="1500" b="0" baseline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2740" y="2642329"/>
            <a:ext cx="1182916" cy="377962"/>
          </a:xfrm>
          <a:solidFill>
            <a:schemeClr val="accent1"/>
          </a:solidFill>
        </p:spPr>
        <p:txBody>
          <a:bodyPr/>
          <a:lstStyle>
            <a:lvl1pPr>
              <a:defRPr sz="11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fld id="{A318C6E2-4AA5-436E-9815-715E9B2235FA}" type="datetime1">
              <a:rPr lang="en-US" smtClean="0"/>
              <a:t>7/3/26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6623674" y="6377231"/>
            <a:ext cx="4293708" cy="250337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148416" y="6377231"/>
            <a:ext cx="553900" cy="250337"/>
          </a:xfrm>
        </p:spPr>
        <p:txBody>
          <a:bodyPr/>
          <a:lstStyle>
            <a:lvl1pPr algn="ctr">
              <a:defRPr/>
            </a:lvl1pPr>
          </a:lstStyle>
          <a:p>
            <a:fld id="{93005692-73BE-493E-93AB-ECD6027A7652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FA9D516E-B50C-3538-5F83-7A7E26FA7180}"/>
              </a:ext>
            </a:extLst>
          </p:cNvPr>
          <p:cNvGrpSpPr/>
          <p:nvPr userDrawn="1"/>
        </p:nvGrpSpPr>
        <p:grpSpPr>
          <a:xfrm>
            <a:off x="0" y="0"/>
            <a:ext cx="12192000" cy="397164"/>
            <a:chOff x="421830" y="1342659"/>
            <a:chExt cx="10018760" cy="290558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564C80F1-3A23-371A-2470-E4F47051B067}"/>
                </a:ext>
              </a:extLst>
            </p:cNvPr>
            <p:cNvSpPr/>
            <p:nvPr userDrawn="1"/>
          </p:nvSpPr>
          <p:spPr>
            <a:xfrm>
              <a:off x="421831" y="1487938"/>
              <a:ext cx="2532791" cy="145279"/>
            </a:xfrm>
            <a:prstGeom prst="rect">
              <a:avLst/>
            </a:prstGeom>
            <a:solidFill>
              <a:srgbClr val="F2ED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1AE94728-AA91-523E-8496-C81B9B4F7DBA}"/>
                </a:ext>
              </a:extLst>
            </p:cNvPr>
            <p:cNvSpPr/>
            <p:nvPr userDrawn="1"/>
          </p:nvSpPr>
          <p:spPr>
            <a:xfrm>
              <a:off x="2928836" y="1487938"/>
              <a:ext cx="2503918" cy="145279"/>
            </a:xfrm>
            <a:prstGeom prst="rect">
              <a:avLst/>
            </a:prstGeom>
            <a:solidFill>
              <a:srgbClr val="FAE1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9191B2D9-C1ED-03D3-DEF3-A9A462104F1B}"/>
                </a:ext>
              </a:extLst>
            </p:cNvPr>
            <p:cNvSpPr/>
            <p:nvPr userDrawn="1"/>
          </p:nvSpPr>
          <p:spPr>
            <a:xfrm>
              <a:off x="5432754" y="1487938"/>
              <a:ext cx="2503918" cy="145279"/>
            </a:xfrm>
            <a:prstGeom prst="rect">
              <a:avLst/>
            </a:prstGeom>
            <a:solidFill>
              <a:srgbClr val="FED34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106A16F2-9D54-FDAA-9A4A-51FD430B6DEC}"/>
                </a:ext>
              </a:extLst>
            </p:cNvPr>
            <p:cNvSpPr/>
            <p:nvPr userDrawn="1"/>
          </p:nvSpPr>
          <p:spPr>
            <a:xfrm>
              <a:off x="7936672" y="1487938"/>
              <a:ext cx="2503918" cy="145279"/>
            </a:xfrm>
            <a:prstGeom prst="rect">
              <a:avLst/>
            </a:prstGeom>
            <a:solidFill>
              <a:srgbClr val="EBAB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0E2637A-331B-C5E3-4052-2A4B4D0889CD}"/>
                </a:ext>
              </a:extLst>
            </p:cNvPr>
            <p:cNvSpPr/>
            <p:nvPr userDrawn="1"/>
          </p:nvSpPr>
          <p:spPr>
            <a:xfrm>
              <a:off x="421830" y="1342659"/>
              <a:ext cx="10018759" cy="145279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7" name="Picture 16" descr="University of Waterloo logo">
            <a:extLst>
              <a:ext uri="{FF2B5EF4-FFF2-40B4-BE49-F238E27FC236}">
                <a16:creationId xmlns:a16="http://schemas.microsoft.com/office/drawing/2014/main" id="{F9381018-83A5-0DDE-AA4A-B9F8D171237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3161" y="5304722"/>
            <a:ext cx="3759035" cy="1484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17986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3"/>
          </p:nvPr>
        </p:nvSpPr>
        <p:spPr>
          <a:xfrm>
            <a:off x="6094124" y="397164"/>
            <a:ext cx="6097876" cy="6460836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52740" y="1028940"/>
            <a:ext cx="5486243" cy="1474115"/>
          </a:xfrm>
        </p:spPr>
        <p:txBody>
          <a:bodyPr lIns="0" anchor="b">
            <a:noAutofit/>
          </a:bodyPr>
          <a:lstStyle>
            <a:lvl1pPr algn="l">
              <a:defRPr sz="5400" b="1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SLIDE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2740" y="4266821"/>
            <a:ext cx="5486243" cy="666549"/>
          </a:xfrm>
        </p:spPr>
        <p:txBody>
          <a:bodyPr lIns="0" anchor="t">
            <a:normAutofit/>
          </a:bodyPr>
          <a:lstStyle>
            <a:lvl1pPr marL="0" indent="0" algn="l">
              <a:buNone/>
              <a:defRPr sz="1500" b="0" baseline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2740" y="2642329"/>
            <a:ext cx="1182916" cy="377962"/>
          </a:xfrm>
          <a:solidFill>
            <a:schemeClr val="accent1"/>
          </a:solidFill>
        </p:spPr>
        <p:txBody>
          <a:bodyPr/>
          <a:lstStyle>
            <a:lvl1pPr>
              <a:defRPr sz="11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fld id="{A318C6E2-4AA5-436E-9815-715E9B2235FA}" type="datetime1">
              <a:rPr lang="en-US" smtClean="0"/>
              <a:t>7/3/26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6623674" y="6377231"/>
            <a:ext cx="4293708" cy="250337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148416" y="6377231"/>
            <a:ext cx="553900" cy="250337"/>
          </a:xfrm>
        </p:spPr>
        <p:txBody>
          <a:bodyPr/>
          <a:lstStyle>
            <a:lvl1pPr algn="ctr">
              <a:defRPr/>
            </a:lvl1pPr>
          </a:lstStyle>
          <a:p>
            <a:fld id="{93005692-73BE-493E-93AB-ECD6027A7652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570F6756-3E11-A664-FDBC-686B312F4EDA}"/>
              </a:ext>
            </a:extLst>
          </p:cNvPr>
          <p:cNvGrpSpPr/>
          <p:nvPr userDrawn="1"/>
        </p:nvGrpSpPr>
        <p:grpSpPr>
          <a:xfrm>
            <a:off x="0" y="0"/>
            <a:ext cx="12192000" cy="397164"/>
            <a:chOff x="421830" y="1342659"/>
            <a:chExt cx="10018760" cy="290558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561E4A79-7EF1-881C-448C-B5893289EE72}"/>
                </a:ext>
              </a:extLst>
            </p:cNvPr>
            <p:cNvSpPr/>
            <p:nvPr userDrawn="1"/>
          </p:nvSpPr>
          <p:spPr>
            <a:xfrm>
              <a:off x="421831" y="1487938"/>
              <a:ext cx="2532791" cy="145279"/>
            </a:xfrm>
            <a:prstGeom prst="rect">
              <a:avLst/>
            </a:prstGeom>
            <a:solidFill>
              <a:srgbClr val="F2ED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2F2ED37-6474-16ED-2345-5EC13A087CB3}"/>
                </a:ext>
              </a:extLst>
            </p:cNvPr>
            <p:cNvSpPr/>
            <p:nvPr userDrawn="1"/>
          </p:nvSpPr>
          <p:spPr>
            <a:xfrm>
              <a:off x="2928836" y="1487938"/>
              <a:ext cx="2503918" cy="145279"/>
            </a:xfrm>
            <a:prstGeom prst="rect">
              <a:avLst/>
            </a:prstGeom>
            <a:solidFill>
              <a:srgbClr val="FAE1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90628BAF-CB56-3888-5C04-D94C5B43C05A}"/>
                </a:ext>
              </a:extLst>
            </p:cNvPr>
            <p:cNvSpPr/>
            <p:nvPr userDrawn="1"/>
          </p:nvSpPr>
          <p:spPr>
            <a:xfrm>
              <a:off x="5432754" y="1487938"/>
              <a:ext cx="2503918" cy="145279"/>
            </a:xfrm>
            <a:prstGeom prst="rect">
              <a:avLst/>
            </a:prstGeom>
            <a:solidFill>
              <a:srgbClr val="FED34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22D47A3D-6975-669C-340E-F2326F6ABABA}"/>
                </a:ext>
              </a:extLst>
            </p:cNvPr>
            <p:cNvSpPr/>
            <p:nvPr userDrawn="1"/>
          </p:nvSpPr>
          <p:spPr>
            <a:xfrm>
              <a:off x="7936672" y="1487938"/>
              <a:ext cx="2503918" cy="145279"/>
            </a:xfrm>
            <a:prstGeom prst="rect">
              <a:avLst/>
            </a:prstGeom>
            <a:solidFill>
              <a:srgbClr val="EBAB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0296993A-5AA1-1101-663C-8CCD805BD6CC}"/>
                </a:ext>
              </a:extLst>
            </p:cNvPr>
            <p:cNvSpPr/>
            <p:nvPr userDrawn="1"/>
          </p:nvSpPr>
          <p:spPr>
            <a:xfrm>
              <a:off x="421830" y="1342659"/>
              <a:ext cx="10018759" cy="145279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4" name="Picture 13" descr="University of Waterloo logo">
            <a:extLst>
              <a:ext uri="{FF2B5EF4-FFF2-40B4-BE49-F238E27FC236}">
                <a16:creationId xmlns:a16="http://schemas.microsoft.com/office/drawing/2014/main" id="{023930CF-35B1-50C3-2CC3-42CBB13E416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3161" y="5304722"/>
            <a:ext cx="3759035" cy="1484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68361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52740" y="1028940"/>
            <a:ext cx="9516760" cy="1474115"/>
          </a:xfrm>
        </p:spPr>
        <p:txBody>
          <a:bodyPr lIns="0" anchor="b">
            <a:noAutofit/>
          </a:bodyPr>
          <a:lstStyle>
            <a:lvl1pPr algn="l">
              <a:defRPr sz="5400" b="1" cap="all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SLIDE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2740" y="4266821"/>
            <a:ext cx="5486243" cy="666549"/>
          </a:xfrm>
        </p:spPr>
        <p:txBody>
          <a:bodyPr lIns="0" anchor="t">
            <a:normAutofit/>
          </a:bodyPr>
          <a:lstStyle>
            <a:lvl1pPr marL="0" indent="0" algn="l">
              <a:buNone/>
              <a:defRPr sz="1500" b="0" baseline="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2740" y="2642329"/>
            <a:ext cx="1182916" cy="377962"/>
          </a:xfrm>
          <a:solidFill>
            <a:schemeClr val="accent1"/>
          </a:solidFill>
        </p:spPr>
        <p:txBody>
          <a:bodyPr/>
          <a:lstStyle>
            <a:lvl1pPr>
              <a:defRPr sz="11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fld id="{A318C6E2-4AA5-436E-9815-715E9B2235FA}" type="datetime1">
              <a:rPr lang="en-US" smtClean="0"/>
              <a:t>7/3/26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6623674" y="6377231"/>
            <a:ext cx="4293708" cy="250337"/>
          </a:xfrm>
        </p:spPr>
        <p:txBody>
          <a:bodyPr/>
          <a:lstStyle>
            <a:lvl1pPr algn="ctr">
              <a:defRPr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148416" y="6377231"/>
            <a:ext cx="553900" cy="250337"/>
          </a:xfrm>
        </p:spPr>
        <p:txBody>
          <a:bodyPr/>
          <a:lstStyle>
            <a:lvl1pPr algn="ctr">
              <a:defRPr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fld id="{93005692-73BE-493E-93AB-ECD6027A7652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667CFFB5-59B4-4102-814E-9285FB5173B4}"/>
              </a:ext>
            </a:extLst>
          </p:cNvPr>
          <p:cNvGrpSpPr/>
          <p:nvPr userDrawn="1"/>
        </p:nvGrpSpPr>
        <p:grpSpPr>
          <a:xfrm>
            <a:off x="0" y="0"/>
            <a:ext cx="12192000" cy="397164"/>
            <a:chOff x="421830" y="1342659"/>
            <a:chExt cx="10018760" cy="290558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15932F0D-9F96-7DB3-EBDF-2EEF5271C0CC}"/>
                </a:ext>
              </a:extLst>
            </p:cNvPr>
            <p:cNvSpPr/>
            <p:nvPr userDrawn="1"/>
          </p:nvSpPr>
          <p:spPr>
            <a:xfrm>
              <a:off x="421831" y="1487938"/>
              <a:ext cx="2532791" cy="145279"/>
            </a:xfrm>
            <a:prstGeom prst="rect">
              <a:avLst/>
            </a:prstGeom>
            <a:solidFill>
              <a:srgbClr val="F2ED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756A6273-7642-42A5-E18F-1DE50316C943}"/>
                </a:ext>
              </a:extLst>
            </p:cNvPr>
            <p:cNvSpPr/>
            <p:nvPr userDrawn="1"/>
          </p:nvSpPr>
          <p:spPr>
            <a:xfrm>
              <a:off x="2928836" y="1487938"/>
              <a:ext cx="2503918" cy="145279"/>
            </a:xfrm>
            <a:prstGeom prst="rect">
              <a:avLst/>
            </a:prstGeom>
            <a:solidFill>
              <a:srgbClr val="FAE1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BC044829-A5BB-8024-3D09-E1C9E32BCA68}"/>
                </a:ext>
              </a:extLst>
            </p:cNvPr>
            <p:cNvSpPr/>
            <p:nvPr userDrawn="1"/>
          </p:nvSpPr>
          <p:spPr>
            <a:xfrm>
              <a:off x="5432754" y="1487938"/>
              <a:ext cx="2503918" cy="145279"/>
            </a:xfrm>
            <a:prstGeom prst="rect">
              <a:avLst/>
            </a:prstGeom>
            <a:solidFill>
              <a:srgbClr val="FED34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9B95626F-B1B6-6C41-86AA-CC9E13CCC1F5}"/>
                </a:ext>
              </a:extLst>
            </p:cNvPr>
            <p:cNvSpPr/>
            <p:nvPr userDrawn="1"/>
          </p:nvSpPr>
          <p:spPr>
            <a:xfrm>
              <a:off x="7936672" y="1487938"/>
              <a:ext cx="2503918" cy="145279"/>
            </a:xfrm>
            <a:prstGeom prst="rect">
              <a:avLst/>
            </a:prstGeom>
            <a:solidFill>
              <a:srgbClr val="EBAB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E3422BFA-868C-6396-0C14-E3B59F179385}"/>
                </a:ext>
              </a:extLst>
            </p:cNvPr>
            <p:cNvSpPr/>
            <p:nvPr userDrawn="1"/>
          </p:nvSpPr>
          <p:spPr>
            <a:xfrm>
              <a:off x="421830" y="1342659"/>
              <a:ext cx="10018759" cy="145279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21" name="Picture 20" descr="University of Waterloo logo">
            <a:extLst>
              <a:ext uri="{FF2B5EF4-FFF2-40B4-BE49-F238E27FC236}">
                <a16:creationId xmlns:a16="http://schemas.microsoft.com/office/drawing/2014/main" id="{BBF0D8A2-F1EC-E7D7-E699-09A5BA5F004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64157" y="5304723"/>
            <a:ext cx="3759035" cy="1484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56776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Black with Imag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icture Placeholder 5"/>
          <p:cNvSpPr>
            <a:spLocks noGrp="1"/>
          </p:cNvSpPr>
          <p:nvPr>
            <p:ph type="pic" sz="quarter" idx="13"/>
          </p:nvPr>
        </p:nvSpPr>
        <p:spPr>
          <a:xfrm>
            <a:off x="6094124" y="397164"/>
            <a:ext cx="6097876" cy="6460836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52740" y="1028940"/>
            <a:ext cx="5486243" cy="1474115"/>
          </a:xfrm>
        </p:spPr>
        <p:txBody>
          <a:bodyPr lIns="0" anchor="b">
            <a:noAutofit/>
          </a:bodyPr>
          <a:lstStyle>
            <a:lvl1pPr algn="l">
              <a:defRPr sz="5400" b="1" cap="all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SLIDE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2740" y="4266821"/>
            <a:ext cx="5486243" cy="666549"/>
          </a:xfrm>
        </p:spPr>
        <p:txBody>
          <a:bodyPr lIns="0" anchor="t">
            <a:normAutofit/>
          </a:bodyPr>
          <a:lstStyle>
            <a:lvl1pPr marL="0" indent="0" algn="l">
              <a:buNone/>
              <a:defRPr sz="1500" b="0" baseline="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2740" y="2642329"/>
            <a:ext cx="1182916" cy="377962"/>
          </a:xfrm>
          <a:solidFill>
            <a:schemeClr val="accent1"/>
          </a:solidFill>
        </p:spPr>
        <p:txBody>
          <a:bodyPr/>
          <a:lstStyle>
            <a:lvl1pPr>
              <a:defRPr sz="11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fld id="{A318C6E2-4AA5-436E-9815-715E9B2235FA}" type="datetime1">
              <a:rPr lang="en-US" smtClean="0"/>
              <a:t>7/3/26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6623674" y="6377231"/>
            <a:ext cx="4293708" cy="250337"/>
          </a:xfrm>
        </p:spPr>
        <p:txBody>
          <a:bodyPr/>
          <a:lstStyle>
            <a:lvl1pPr algn="ctr">
              <a:defRPr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148416" y="6377231"/>
            <a:ext cx="553900" cy="250337"/>
          </a:xfrm>
        </p:spPr>
        <p:txBody>
          <a:bodyPr/>
          <a:lstStyle>
            <a:lvl1pPr algn="ctr">
              <a:defRPr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fld id="{93005692-73BE-493E-93AB-ECD6027A7652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02EC3763-2453-841B-0F5D-79F0D6E1A604}"/>
              </a:ext>
            </a:extLst>
          </p:cNvPr>
          <p:cNvGrpSpPr/>
          <p:nvPr userDrawn="1"/>
        </p:nvGrpSpPr>
        <p:grpSpPr>
          <a:xfrm>
            <a:off x="0" y="0"/>
            <a:ext cx="12192000" cy="397164"/>
            <a:chOff x="421830" y="1342659"/>
            <a:chExt cx="10018760" cy="290558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818602B7-0464-FA62-D3B1-AF340B30EEBD}"/>
                </a:ext>
              </a:extLst>
            </p:cNvPr>
            <p:cNvSpPr/>
            <p:nvPr userDrawn="1"/>
          </p:nvSpPr>
          <p:spPr>
            <a:xfrm>
              <a:off x="421831" y="1487938"/>
              <a:ext cx="2532791" cy="145279"/>
            </a:xfrm>
            <a:prstGeom prst="rect">
              <a:avLst/>
            </a:prstGeom>
            <a:solidFill>
              <a:srgbClr val="F2ED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09FCB91-56EE-0306-B1C4-B6EE24D72222}"/>
                </a:ext>
              </a:extLst>
            </p:cNvPr>
            <p:cNvSpPr/>
            <p:nvPr userDrawn="1"/>
          </p:nvSpPr>
          <p:spPr>
            <a:xfrm>
              <a:off x="2928836" y="1487938"/>
              <a:ext cx="2503918" cy="145279"/>
            </a:xfrm>
            <a:prstGeom prst="rect">
              <a:avLst/>
            </a:prstGeom>
            <a:solidFill>
              <a:srgbClr val="FAE1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8AC9AC06-3237-7FB8-3E71-5F0CC0F88A28}"/>
                </a:ext>
              </a:extLst>
            </p:cNvPr>
            <p:cNvSpPr/>
            <p:nvPr userDrawn="1"/>
          </p:nvSpPr>
          <p:spPr>
            <a:xfrm>
              <a:off x="5432754" y="1487938"/>
              <a:ext cx="2503918" cy="145279"/>
            </a:xfrm>
            <a:prstGeom prst="rect">
              <a:avLst/>
            </a:prstGeom>
            <a:solidFill>
              <a:srgbClr val="FED34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D5069881-5C49-1510-1B4A-A66A82513010}"/>
                </a:ext>
              </a:extLst>
            </p:cNvPr>
            <p:cNvSpPr/>
            <p:nvPr userDrawn="1"/>
          </p:nvSpPr>
          <p:spPr>
            <a:xfrm>
              <a:off x="7936672" y="1487938"/>
              <a:ext cx="2503918" cy="145279"/>
            </a:xfrm>
            <a:prstGeom prst="rect">
              <a:avLst/>
            </a:prstGeom>
            <a:solidFill>
              <a:srgbClr val="EBAB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AF94964-811F-E5B8-5769-F335900C6514}"/>
                </a:ext>
              </a:extLst>
            </p:cNvPr>
            <p:cNvSpPr/>
            <p:nvPr userDrawn="1"/>
          </p:nvSpPr>
          <p:spPr>
            <a:xfrm>
              <a:off x="421830" y="1342659"/>
              <a:ext cx="10018759" cy="145279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3" name="Picture 12" descr="University of Waterloo logo">
            <a:extLst>
              <a:ext uri="{FF2B5EF4-FFF2-40B4-BE49-F238E27FC236}">
                <a16:creationId xmlns:a16="http://schemas.microsoft.com/office/drawing/2014/main" id="{0F962198-0F7C-1A7B-DC29-ECAA32C67EB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64157" y="5304723"/>
            <a:ext cx="3759035" cy="1484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11369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D4B0C9-B47E-4B33-A656-C78D1805DA95}" type="datetime1">
              <a:rPr lang="en-US" smtClean="0"/>
              <a:t>7/3/26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24863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_M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7407696" y="685060"/>
            <a:ext cx="1420859" cy="286052"/>
          </a:xfrm>
        </p:spPr>
        <p:txBody>
          <a:bodyPr anchor="ctr">
            <a:noAutofit/>
          </a:bodyPr>
          <a:lstStyle>
            <a:lvl1pPr marL="0" indent="0" algn="ctr">
              <a:buNone/>
              <a:defRPr sz="1100" b="0" baseline="0">
                <a:solidFill>
                  <a:schemeClr val="tx1">
                    <a:lumMod val="50000"/>
                    <a:lumOff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US" dirty="0"/>
              <a:t>MENU ITEM 1</a:t>
            </a:r>
          </a:p>
        </p:txBody>
      </p:sp>
      <p:sp>
        <p:nvSpPr>
          <p:cNvPr id="9" name="Text Placeholder 7"/>
          <p:cNvSpPr>
            <a:spLocks noGrp="1"/>
          </p:cNvSpPr>
          <p:nvPr>
            <p:ph type="body" sz="quarter" idx="14" hasCustomPrompt="1"/>
          </p:nvPr>
        </p:nvSpPr>
        <p:spPr>
          <a:xfrm>
            <a:off x="8908224" y="685060"/>
            <a:ext cx="1420859" cy="286052"/>
          </a:xfrm>
        </p:spPr>
        <p:txBody>
          <a:bodyPr anchor="ctr">
            <a:noAutofit/>
          </a:bodyPr>
          <a:lstStyle>
            <a:lvl1pPr marL="0" indent="0" algn="ctr">
              <a:buNone/>
              <a:defRPr sz="1100" b="0" baseline="0">
                <a:solidFill>
                  <a:schemeClr val="tx1">
                    <a:lumMod val="50000"/>
                    <a:lumOff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US" dirty="0"/>
              <a:t>MENU ITEM 2</a:t>
            </a:r>
          </a:p>
        </p:txBody>
      </p:sp>
      <p:sp>
        <p:nvSpPr>
          <p:cNvPr id="10" name="Text Placeholder 7"/>
          <p:cNvSpPr>
            <a:spLocks noGrp="1"/>
          </p:cNvSpPr>
          <p:nvPr>
            <p:ph type="body" sz="quarter" idx="15" hasCustomPrompt="1"/>
          </p:nvPr>
        </p:nvSpPr>
        <p:spPr>
          <a:xfrm>
            <a:off x="10408752" y="685060"/>
            <a:ext cx="1420859" cy="286052"/>
          </a:xfrm>
        </p:spPr>
        <p:txBody>
          <a:bodyPr anchor="ctr">
            <a:noAutofit/>
          </a:bodyPr>
          <a:lstStyle>
            <a:lvl1pPr marL="0" indent="0" algn="ctr">
              <a:buNone/>
              <a:defRPr sz="1100" b="0">
                <a:solidFill>
                  <a:schemeClr val="tx1">
                    <a:lumMod val="50000"/>
                    <a:lumOff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US" dirty="0"/>
              <a:t>MENU ITEM 3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48C228CE-C572-4AF5-9728-AA6E475873DD}" type="datetime1">
              <a:rPr lang="en-US" smtClean="0"/>
              <a:t>7/3/26</a:t>
            </a:fld>
            <a:endParaRPr lang="en-US" dirty="0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r>
              <a:rPr lang="en-US" dirty="0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59883" y="434108"/>
            <a:ext cx="7046081" cy="895927"/>
          </a:xfrm>
        </p:spPr>
        <p:txBody>
          <a:bodyPr/>
          <a:lstStyle>
            <a:lvl1pPr>
              <a:defRPr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79225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59882" y="1709738"/>
            <a:ext cx="9399507" cy="2852737"/>
          </a:xfrm>
        </p:spPr>
        <p:txBody>
          <a:bodyPr anchor="b">
            <a:normAutofit/>
          </a:bodyPr>
          <a:lstStyle>
            <a:lvl1pPr algn="l">
              <a:defRPr sz="4000" cap="all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</a:t>
            </a:r>
            <a:br>
              <a:rPr lang="en-US" dirty="0"/>
            </a:br>
            <a:r>
              <a:rPr lang="en-US" dirty="0"/>
              <a:t>SECTION TITLE SLIDE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9882" y="4589463"/>
            <a:ext cx="9399507" cy="1500187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D43AC-4B94-471D-A170-0D88FCD1FB54}" type="datetime1">
              <a:rPr lang="en-US" smtClean="0"/>
              <a:t>7/3/26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93531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ection Header_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60521" y="3227413"/>
            <a:ext cx="8770620" cy="1212056"/>
          </a:xfrm>
        </p:spPr>
        <p:txBody>
          <a:bodyPr anchor="b">
            <a:noAutofit/>
          </a:bodyPr>
          <a:lstStyle>
            <a:lvl1pPr algn="l">
              <a:defRPr sz="4000" cap="all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CLICK TO EDIT MASTER</a:t>
            </a:r>
            <a:br>
              <a:rPr lang="en-US" dirty="0"/>
            </a:br>
            <a:r>
              <a:rPr lang="en-US" dirty="0"/>
              <a:t>SECTION TITLE SLIDE OPTION 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960521" y="4447299"/>
            <a:ext cx="8770620" cy="666549"/>
          </a:xfrm>
        </p:spPr>
        <p:txBody>
          <a:bodyPr anchor="t">
            <a:normAutofit/>
          </a:bodyPr>
          <a:lstStyle>
            <a:lvl1pPr marL="0" indent="0" algn="l">
              <a:buNone/>
              <a:defRPr sz="2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751004" y="6335309"/>
            <a:ext cx="1181114" cy="250337"/>
          </a:xfrm>
        </p:spPr>
        <p:txBody>
          <a:bodyPr/>
          <a:lstStyle/>
          <a:p>
            <a:fld id="{72EFF9E2-52BD-4C8D-9C57-79F661DB94A1}" type="datetime1">
              <a:rPr lang="en-US" smtClean="0"/>
              <a:t>7/3/26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A23CDDAC-C7BC-C026-DBF5-1F441817694A}"/>
              </a:ext>
            </a:extLst>
          </p:cNvPr>
          <p:cNvGrpSpPr/>
          <p:nvPr userDrawn="1"/>
        </p:nvGrpSpPr>
        <p:grpSpPr>
          <a:xfrm>
            <a:off x="0" y="0"/>
            <a:ext cx="12192000" cy="397164"/>
            <a:chOff x="421830" y="1342659"/>
            <a:chExt cx="10018760" cy="290558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2093E90F-8348-6507-0CA6-23A77D0FF9D3}"/>
                </a:ext>
              </a:extLst>
            </p:cNvPr>
            <p:cNvSpPr/>
            <p:nvPr userDrawn="1"/>
          </p:nvSpPr>
          <p:spPr>
            <a:xfrm>
              <a:off x="421831" y="1487938"/>
              <a:ext cx="2532791" cy="145279"/>
            </a:xfrm>
            <a:prstGeom prst="rect">
              <a:avLst/>
            </a:prstGeom>
            <a:solidFill>
              <a:srgbClr val="F2ED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610C4E9-E0C2-2B5C-6851-9D5D61545008}"/>
                </a:ext>
              </a:extLst>
            </p:cNvPr>
            <p:cNvSpPr/>
            <p:nvPr userDrawn="1"/>
          </p:nvSpPr>
          <p:spPr>
            <a:xfrm>
              <a:off x="2928836" y="1487938"/>
              <a:ext cx="2503918" cy="145279"/>
            </a:xfrm>
            <a:prstGeom prst="rect">
              <a:avLst/>
            </a:prstGeom>
            <a:solidFill>
              <a:srgbClr val="FAE1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D7BCF4D7-716F-52CC-66B7-C2694CA5B51F}"/>
                </a:ext>
              </a:extLst>
            </p:cNvPr>
            <p:cNvSpPr/>
            <p:nvPr userDrawn="1"/>
          </p:nvSpPr>
          <p:spPr>
            <a:xfrm>
              <a:off x="5432754" y="1487938"/>
              <a:ext cx="2503918" cy="145279"/>
            </a:xfrm>
            <a:prstGeom prst="rect">
              <a:avLst/>
            </a:prstGeom>
            <a:solidFill>
              <a:srgbClr val="FED34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6EE75C32-392B-B376-010B-6A75AE630CBB}"/>
                </a:ext>
              </a:extLst>
            </p:cNvPr>
            <p:cNvSpPr/>
            <p:nvPr userDrawn="1"/>
          </p:nvSpPr>
          <p:spPr>
            <a:xfrm>
              <a:off x="7936672" y="1487938"/>
              <a:ext cx="2503918" cy="145279"/>
            </a:xfrm>
            <a:prstGeom prst="rect">
              <a:avLst/>
            </a:prstGeom>
            <a:solidFill>
              <a:srgbClr val="EBAB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C0F947E-B04D-E029-09CB-EEC744D80E2B}"/>
                </a:ext>
              </a:extLst>
            </p:cNvPr>
            <p:cNvSpPr/>
            <p:nvPr userDrawn="1"/>
          </p:nvSpPr>
          <p:spPr>
            <a:xfrm>
              <a:off x="421830" y="1342659"/>
              <a:ext cx="10018759" cy="145279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628921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59883" y="434108"/>
            <a:ext cx="11569729" cy="895927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9882" y="1413164"/>
            <a:ext cx="5586855" cy="4590472"/>
          </a:xfrm>
        </p:spPr>
        <p:txBody>
          <a:bodyPr/>
          <a:lstStyle>
            <a:lvl1pPr marL="288925" indent="-288925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/>
            </a:lvl1pPr>
            <a:lvl2pPr marL="685800" indent="-228600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/>
            </a:lvl2pPr>
            <a:lvl3pPr marL="1143000" indent="-228600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/>
            </a:lvl3pPr>
            <a:lvl4pPr marL="1600200" indent="-228600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/>
            </a:lvl4pPr>
            <a:lvl5pPr marL="2057400" indent="-228600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0992" y="1413164"/>
            <a:ext cx="5658620" cy="4590472"/>
          </a:xfrm>
        </p:spPr>
        <p:txBody>
          <a:bodyPr/>
          <a:lstStyle>
            <a:lvl1pPr marL="288925" indent="-288925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/>
            </a:lvl1pPr>
            <a:lvl2pPr marL="685800" indent="-228600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/>
            </a:lvl2pPr>
            <a:lvl3pPr marL="1143000" indent="-228600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/>
            </a:lvl3pPr>
            <a:lvl4pPr marL="1600200" indent="-228600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/>
            </a:lvl4pPr>
            <a:lvl5pPr marL="2057400" indent="-228600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881F3-AB4F-4026-8B03-DBF7475676B1}" type="datetime1">
              <a:rPr lang="en-US" smtClean="0"/>
              <a:t>7/3/26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28588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9881" y="1396192"/>
            <a:ext cx="5542713" cy="670270"/>
          </a:xfrm>
        </p:spPr>
        <p:txBody>
          <a:bodyPr anchor="b">
            <a:noAutofit/>
          </a:bodyPr>
          <a:lstStyle>
            <a:lvl1pPr marL="0" indent="0">
              <a:buNone/>
              <a:defRPr sz="2800" b="1" baseline="0"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9881" y="2184400"/>
            <a:ext cx="5542713" cy="3846945"/>
          </a:xfrm>
        </p:spPr>
        <p:txBody>
          <a:bodyPr>
            <a:normAutofit/>
          </a:bodyPr>
          <a:lstStyle>
            <a:lvl1pPr marL="288925" indent="-288925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 sz="2000"/>
            </a:lvl1pPr>
            <a:lvl2pPr marL="685800" indent="-228600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 sz="1800"/>
            </a:lvl2pPr>
            <a:lvl3pPr marL="1143000" indent="-228600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 sz="1600"/>
            </a:lvl3pPr>
            <a:lvl4pPr marL="1600200" indent="-228600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 sz="1400"/>
            </a:lvl4pPr>
            <a:lvl5pPr marL="2057400" indent="-228600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36154" y="1396192"/>
            <a:ext cx="5593458" cy="670270"/>
          </a:xfrm>
        </p:spPr>
        <p:txBody>
          <a:bodyPr anchor="b">
            <a:normAutofit/>
          </a:bodyPr>
          <a:lstStyle>
            <a:lvl1pPr marL="0" indent="0">
              <a:buNone/>
              <a:defRPr sz="2800" b="1"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36154" y="2184400"/>
            <a:ext cx="5593458" cy="3846945"/>
          </a:xfrm>
        </p:spPr>
        <p:txBody>
          <a:bodyPr>
            <a:normAutofit/>
          </a:bodyPr>
          <a:lstStyle>
            <a:lvl1pPr marL="288925" indent="-288925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 sz="2000"/>
            </a:lvl1pPr>
            <a:lvl2pPr marL="685800" indent="-228600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 sz="1800"/>
            </a:lvl2pPr>
            <a:lvl3pPr marL="1143000" indent="-228600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 sz="1600"/>
            </a:lvl3pPr>
            <a:lvl4pPr marL="1600200" indent="-228600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 sz="1400"/>
            </a:lvl4pPr>
            <a:lvl5pPr marL="2057400" indent="-228600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 hasCustomPrompt="1"/>
          </p:nvPr>
        </p:nvSpPr>
        <p:spPr>
          <a:xfrm>
            <a:off x="259883" y="434108"/>
            <a:ext cx="11569729" cy="895927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F432B-3FBE-4889-963D-BF97BFBB7D3F}" type="datetime1">
              <a:rPr lang="en-US" smtClean="0"/>
              <a:t>7/3/26</a:t>
            </a:fld>
            <a:endParaRPr lang="en-US" dirty="0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14928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0CCC04-1E76-41EE-A8AC-75AD85313D09}" type="datetime1">
              <a:rPr lang="en-US" smtClean="0"/>
              <a:t>7/3/26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05428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974A9E-84AC-4661-9381-CC35B09E47F7}" type="datetime1">
              <a:rPr lang="en-US" smtClean="0"/>
              <a:t>7/3/26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03266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_NoBkg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0751004" y="6335309"/>
            <a:ext cx="1181114" cy="250337"/>
          </a:xfrm>
        </p:spPr>
        <p:txBody>
          <a:bodyPr/>
          <a:lstStyle/>
          <a:p>
            <a:fld id="{1E55829F-8847-4C2A-8DD0-690EAD78E53F}" type="datetime1">
              <a:rPr lang="en-US" smtClean="0"/>
              <a:t>7/3/26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84CEECD4-4800-71B3-500D-D8DB8ECD7D8D}"/>
              </a:ext>
            </a:extLst>
          </p:cNvPr>
          <p:cNvGrpSpPr/>
          <p:nvPr userDrawn="1"/>
        </p:nvGrpSpPr>
        <p:grpSpPr>
          <a:xfrm>
            <a:off x="0" y="0"/>
            <a:ext cx="12192000" cy="397164"/>
            <a:chOff x="421830" y="1342659"/>
            <a:chExt cx="10018760" cy="290558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E5DB53A1-9CD0-9270-2A9B-841D9E8E7C98}"/>
                </a:ext>
              </a:extLst>
            </p:cNvPr>
            <p:cNvSpPr/>
            <p:nvPr userDrawn="1"/>
          </p:nvSpPr>
          <p:spPr>
            <a:xfrm>
              <a:off x="421831" y="1487938"/>
              <a:ext cx="2532791" cy="145279"/>
            </a:xfrm>
            <a:prstGeom prst="rect">
              <a:avLst/>
            </a:prstGeom>
            <a:solidFill>
              <a:srgbClr val="F2ED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60238B9E-5961-89CA-949B-73D627619ADE}"/>
                </a:ext>
              </a:extLst>
            </p:cNvPr>
            <p:cNvSpPr/>
            <p:nvPr userDrawn="1"/>
          </p:nvSpPr>
          <p:spPr>
            <a:xfrm>
              <a:off x="2928836" y="1487938"/>
              <a:ext cx="2503918" cy="145279"/>
            </a:xfrm>
            <a:prstGeom prst="rect">
              <a:avLst/>
            </a:prstGeom>
            <a:solidFill>
              <a:srgbClr val="FAE1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A0B4FFA6-3B2D-F2A7-3300-59721970DC69}"/>
                </a:ext>
              </a:extLst>
            </p:cNvPr>
            <p:cNvSpPr/>
            <p:nvPr userDrawn="1"/>
          </p:nvSpPr>
          <p:spPr>
            <a:xfrm>
              <a:off x="5432754" y="1487938"/>
              <a:ext cx="2503918" cy="145279"/>
            </a:xfrm>
            <a:prstGeom prst="rect">
              <a:avLst/>
            </a:prstGeom>
            <a:solidFill>
              <a:srgbClr val="FED34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2795B991-F449-37E7-F856-FDA75449C532}"/>
                </a:ext>
              </a:extLst>
            </p:cNvPr>
            <p:cNvSpPr/>
            <p:nvPr userDrawn="1"/>
          </p:nvSpPr>
          <p:spPr>
            <a:xfrm>
              <a:off x="7936672" y="1487938"/>
              <a:ext cx="2503918" cy="145279"/>
            </a:xfrm>
            <a:prstGeom prst="rect">
              <a:avLst/>
            </a:prstGeom>
            <a:solidFill>
              <a:srgbClr val="EBAB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5BFF1749-63D7-B78A-277A-2B74411FA25C}"/>
                </a:ext>
              </a:extLst>
            </p:cNvPr>
            <p:cNvSpPr/>
            <p:nvPr userDrawn="1"/>
          </p:nvSpPr>
          <p:spPr>
            <a:xfrm>
              <a:off x="421830" y="1342659"/>
              <a:ext cx="10018759" cy="145279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7450172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xt or Quot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930071" y="1237675"/>
            <a:ext cx="4331855" cy="910202"/>
          </a:xfrm>
        </p:spPr>
        <p:txBody>
          <a:bodyPr anchor="b">
            <a:normAutofit/>
          </a:bodyPr>
          <a:lstStyle>
            <a:lvl1pPr algn="ctr">
              <a:defRPr sz="2800" cap="all" baseline="0"/>
            </a:lvl1pPr>
          </a:lstStyle>
          <a:p>
            <a:r>
              <a:rPr lang="en-US" dirty="0"/>
              <a:t>CONTEXT or THEME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10751004" y="6335309"/>
            <a:ext cx="1181114" cy="250337"/>
          </a:xfrm>
        </p:spPr>
        <p:txBody>
          <a:bodyPr/>
          <a:lstStyle/>
          <a:p>
            <a:fld id="{5FDFC970-B950-4395-A833-47227D4A68CA}" type="datetime1">
              <a:rPr lang="en-US" smtClean="0"/>
              <a:t>7/3/26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2" name="Straight Connector 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3930073" y="2244437"/>
            <a:ext cx="4331855" cy="0"/>
          </a:xfrm>
          <a:prstGeom prst="line">
            <a:avLst/>
          </a:prstGeom>
          <a:ln w="15875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3930073" y="4668983"/>
            <a:ext cx="4331855" cy="0"/>
          </a:xfrm>
          <a:prstGeom prst="line">
            <a:avLst/>
          </a:prstGeom>
          <a:ln w="15875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 Placeholder 14"/>
          <p:cNvSpPr>
            <a:spLocks noGrp="1"/>
          </p:cNvSpPr>
          <p:nvPr>
            <p:ph type="body" sz="quarter" idx="13"/>
          </p:nvPr>
        </p:nvSpPr>
        <p:spPr>
          <a:xfrm>
            <a:off x="660400" y="2420360"/>
            <a:ext cx="10871200" cy="2114550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2800"/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4"/>
          </p:nvPr>
        </p:nvSpPr>
        <p:spPr>
          <a:xfrm>
            <a:off x="3930072" y="4784725"/>
            <a:ext cx="4331855" cy="276225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 algn="ctr">
              <a:buNone/>
              <a:defRPr lang="en-US" sz="1200" b="1" cap="all" baseline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marL="0" lvl="0" algn="ctr"/>
            <a:r>
              <a:rPr lang="en-US"/>
              <a:t>Click to edit Master text styles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4FDE9AFA-FFD7-2347-3167-FDF1E0A34AC3}"/>
              </a:ext>
            </a:extLst>
          </p:cNvPr>
          <p:cNvGrpSpPr/>
          <p:nvPr userDrawn="1"/>
        </p:nvGrpSpPr>
        <p:grpSpPr>
          <a:xfrm>
            <a:off x="0" y="0"/>
            <a:ext cx="12192000" cy="397164"/>
            <a:chOff x="421830" y="1342659"/>
            <a:chExt cx="10018760" cy="290558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76E5C5A6-6C2A-AFEE-BD17-49528C3855FB}"/>
                </a:ext>
              </a:extLst>
            </p:cNvPr>
            <p:cNvSpPr/>
            <p:nvPr userDrawn="1"/>
          </p:nvSpPr>
          <p:spPr>
            <a:xfrm>
              <a:off x="421831" y="1487938"/>
              <a:ext cx="2532791" cy="145279"/>
            </a:xfrm>
            <a:prstGeom prst="rect">
              <a:avLst/>
            </a:prstGeom>
            <a:solidFill>
              <a:srgbClr val="F2ED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CBD549B1-F3EA-848F-3C95-AFBB4052AC0B}"/>
                </a:ext>
              </a:extLst>
            </p:cNvPr>
            <p:cNvSpPr/>
            <p:nvPr userDrawn="1"/>
          </p:nvSpPr>
          <p:spPr>
            <a:xfrm>
              <a:off x="2928836" y="1487938"/>
              <a:ext cx="2503918" cy="145279"/>
            </a:xfrm>
            <a:prstGeom prst="rect">
              <a:avLst/>
            </a:prstGeom>
            <a:solidFill>
              <a:srgbClr val="FAE1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2D0A31AE-FDE0-EF4E-8CB4-92A0FFF2647C}"/>
                </a:ext>
              </a:extLst>
            </p:cNvPr>
            <p:cNvSpPr/>
            <p:nvPr userDrawn="1"/>
          </p:nvSpPr>
          <p:spPr>
            <a:xfrm>
              <a:off x="5432754" y="1487938"/>
              <a:ext cx="2503918" cy="145279"/>
            </a:xfrm>
            <a:prstGeom prst="rect">
              <a:avLst/>
            </a:prstGeom>
            <a:solidFill>
              <a:srgbClr val="FED34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21D21763-0A4C-FA7D-9F37-F8AFE615EED6}"/>
                </a:ext>
              </a:extLst>
            </p:cNvPr>
            <p:cNvSpPr/>
            <p:nvPr userDrawn="1"/>
          </p:nvSpPr>
          <p:spPr>
            <a:xfrm>
              <a:off x="7936672" y="1487938"/>
              <a:ext cx="2503918" cy="145279"/>
            </a:xfrm>
            <a:prstGeom prst="rect">
              <a:avLst/>
            </a:prstGeom>
            <a:solidFill>
              <a:srgbClr val="EBAB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172AC8E2-F6D4-FD99-70C6-77755885A9A4}"/>
                </a:ext>
              </a:extLst>
            </p:cNvPr>
            <p:cNvSpPr/>
            <p:nvPr userDrawn="1"/>
          </p:nvSpPr>
          <p:spPr>
            <a:xfrm>
              <a:off x="421830" y="1342659"/>
              <a:ext cx="10018759" cy="145279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0716632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xt or Quote with Photo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5"/>
          </p:nvPr>
        </p:nvSpPr>
        <p:spPr>
          <a:xfrm>
            <a:off x="6350285" y="845819"/>
            <a:ext cx="5440648" cy="5407201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54362" y="1237675"/>
            <a:ext cx="4331855" cy="910202"/>
          </a:xfrm>
        </p:spPr>
        <p:txBody>
          <a:bodyPr anchor="b">
            <a:normAutofit/>
          </a:bodyPr>
          <a:lstStyle>
            <a:lvl1pPr algn="ctr">
              <a:defRPr sz="2800" cap="all" baseline="0"/>
            </a:lvl1pPr>
          </a:lstStyle>
          <a:p>
            <a:r>
              <a:rPr lang="en-US" dirty="0"/>
              <a:t>CONTEXT or THEME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10751004" y="6335309"/>
            <a:ext cx="1181114" cy="250337"/>
          </a:xfrm>
        </p:spPr>
        <p:txBody>
          <a:bodyPr/>
          <a:lstStyle/>
          <a:p>
            <a:fld id="{5FDFC970-B950-4395-A833-47227D4A68CA}" type="datetime1">
              <a:rPr lang="en-US" smtClean="0"/>
              <a:t>7/3/26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259882" y="6335309"/>
            <a:ext cx="3887245" cy="250337"/>
          </a:xfrm>
        </p:spPr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5587999" y="6335309"/>
            <a:ext cx="1016000" cy="250337"/>
          </a:xfrm>
        </p:spPr>
        <p:txBody>
          <a:bodyPr/>
          <a:lstStyle/>
          <a:p>
            <a:r>
              <a:rPr lang="en-US" dirty="0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13"/>
          </p:nvPr>
        </p:nvSpPr>
        <p:spPr>
          <a:xfrm>
            <a:off x="544943" y="2409026"/>
            <a:ext cx="4950694" cy="2114550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2200"/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4"/>
          </p:nvPr>
        </p:nvSpPr>
        <p:spPr>
          <a:xfrm>
            <a:off x="854362" y="4784725"/>
            <a:ext cx="4331855" cy="276225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 algn="ctr">
              <a:buNone/>
              <a:defRPr lang="en-US" sz="1200" b="1" cap="all" baseline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marL="0" lvl="0" algn="ctr"/>
            <a:r>
              <a:rPr lang="en-US"/>
              <a:t>Click to edit Master text styles</a:t>
            </a:r>
          </a:p>
        </p:txBody>
      </p:sp>
      <p:cxnSp>
        <p:nvCxnSpPr>
          <p:cNvPr id="10" name="Straight Connector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854363" y="2244437"/>
            <a:ext cx="4331855" cy="0"/>
          </a:xfrm>
          <a:prstGeom prst="line">
            <a:avLst/>
          </a:prstGeom>
          <a:ln w="15875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854363" y="4668983"/>
            <a:ext cx="4331855" cy="0"/>
          </a:xfrm>
          <a:prstGeom prst="line">
            <a:avLst/>
          </a:prstGeom>
          <a:ln w="15875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Group 5">
            <a:extLst>
              <a:ext uri="{FF2B5EF4-FFF2-40B4-BE49-F238E27FC236}">
                <a16:creationId xmlns:a16="http://schemas.microsoft.com/office/drawing/2014/main" id="{D72C6A36-12A8-648E-3569-D00054B97EDE}"/>
              </a:ext>
            </a:extLst>
          </p:cNvPr>
          <p:cNvGrpSpPr/>
          <p:nvPr userDrawn="1"/>
        </p:nvGrpSpPr>
        <p:grpSpPr>
          <a:xfrm>
            <a:off x="0" y="0"/>
            <a:ext cx="12192000" cy="397164"/>
            <a:chOff x="421830" y="1342659"/>
            <a:chExt cx="10018760" cy="290558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341EFA2-509C-A2DA-BAFE-6A88632CD8BD}"/>
                </a:ext>
              </a:extLst>
            </p:cNvPr>
            <p:cNvSpPr/>
            <p:nvPr userDrawn="1"/>
          </p:nvSpPr>
          <p:spPr>
            <a:xfrm>
              <a:off x="421831" y="1487938"/>
              <a:ext cx="2532791" cy="145279"/>
            </a:xfrm>
            <a:prstGeom prst="rect">
              <a:avLst/>
            </a:prstGeom>
            <a:solidFill>
              <a:srgbClr val="F2ED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C475CC21-076A-A811-68B0-7FD8CD8D56F3}"/>
                </a:ext>
              </a:extLst>
            </p:cNvPr>
            <p:cNvSpPr/>
            <p:nvPr userDrawn="1"/>
          </p:nvSpPr>
          <p:spPr>
            <a:xfrm>
              <a:off x="2928836" y="1487938"/>
              <a:ext cx="2503918" cy="145279"/>
            </a:xfrm>
            <a:prstGeom prst="rect">
              <a:avLst/>
            </a:prstGeom>
            <a:solidFill>
              <a:srgbClr val="FAE1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6C91703A-A99F-06CE-B55C-0D09FBAF811B}"/>
                </a:ext>
              </a:extLst>
            </p:cNvPr>
            <p:cNvSpPr/>
            <p:nvPr userDrawn="1"/>
          </p:nvSpPr>
          <p:spPr>
            <a:xfrm>
              <a:off x="5432754" y="1487938"/>
              <a:ext cx="2503918" cy="145279"/>
            </a:xfrm>
            <a:prstGeom prst="rect">
              <a:avLst/>
            </a:prstGeom>
            <a:solidFill>
              <a:srgbClr val="FED34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160600EF-94C1-BC1E-4FA3-4CC356E82A0C}"/>
                </a:ext>
              </a:extLst>
            </p:cNvPr>
            <p:cNvSpPr/>
            <p:nvPr userDrawn="1"/>
          </p:nvSpPr>
          <p:spPr>
            <a:xfrm>
              <a:off x="7936672" y="1487938"/>
              <a:ext cx="2503918" cy="145279"/>
            </a:xfrm>
            <a:prstGeom prst="rect">
              <a:avLst/>
            </a:prstGeom>
            <a:solidFill>
              <a:srgbClr val="EBAB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4069E7EA-C348-85EA-0BB1-F112127EBF12}"/>
                </a:ext>
              </a:extLst>
            </p:cNvPr>
            <p:cNvSpPr/>
            <p:nvPr userDrawn="1"/>
          </p:nvSpPr>
          <p:spPr>
            <a:xfrm>
              <a:off x="421830" y="1342659"/>
              <a:ext cx="10018759" cy="145279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5884388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1550988" y="3461559"/>
            <a:ext cx="9070975" cy="598488"/>
          </a:xfrm>
        </p:spPr>
        <p:txBody>
          <a:bodyPr>
            <a:normAutofit/>
          </a:bodyPr>
          <a:lstStyle>
            <a:lvl1pPr marL="0" indent="0" algn="ctr">
              <a:buNone/>
              <a:defRPr sz="3200"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</a:lstStyle>
          <a:p>
            <a:pPr lvl="0"/>
            <a:r>
              <a:rPr lang="en-US" dirty="0" err="1"/>
              <a:t>Subheader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87591" y="2382981"/>
            <a:ext cx="11569729" cy="1046019"/>
          </a:xfrm>
        </p:spPr>
        <p:txBody>
          <a:bodyPr anchor="b">
            <a:normAutofit/>
          </a:bodyPr>
          <a:lstStyle>
            <a:lvl1pPr algn="ctr">
              <a:defRPr sz="6000" cap="all" baseline="0"/>
            </a:lvl1pPr>
          </a:lstStyle>
          <a:p>
            <a:r>
              <a:rPr lang="en-US" dirty="0"/>
              <a:t>SECTION DIVIDER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10751004" y="6335309"/>
            <a:ext cx="1181114" cy="250337"/>
          </a:xfrm>
        </p:spPr>
        <p:txBody>
          <a:bodyPr/>
          <a:lstStyle/>
          <a:p>
            <a:fld id="{5FDFC970-B950-4395-A833-47227D4A68CA}" type="datetime1">
              <a:rPr lang="en-US" smtClean="0"/>
              <a:t>7/3/26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286E267E-B65C-F4B3-6286-047BB3E93079}"/>
              </a:ext>
            </a:extLst>
          </p:cNvPr>
          <p:cNvGrpSpPr/>
          <p:nvPr userDrawn="1"/>
        </p:nvGrpSpPr>
        <p:grpSpPr>
          <a:xfrm>
            <a:off x="0" y="0"/>
            <a:ext cx="12192000" cy="397164"/>
            <a:chOff x="421830" y="1342659"/>
            <a:chExt cx="10018760" cy="290558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3736B7B-B04C-12D3-2026-E56D619F8DA3}"/>
                </a:ext>
              </a:extLst>
            </p:cNvPr>
            <p:cNvSpPr/>
            <p:nvPr userDrawn="1"/>
          </p:nvSpPr>
          <p:spPr>
            <a:xfrm>
              <a:off x="421831" y="1487938"/>
              <a:ext cx="2532791" cy="145279"/>
            </a:xfrm>
            <a:prstGeom prst="rect">
              <a:avLst/>
            </a:prstGeom>
            <a:solidFill>
              <a:srgbClr val="F2ED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C6331547-A9DB-F53A-721D-FDBAE7A1BAA4}"/>
                </a:ext>
              </a:extLst>
            </p:cNvPr>
            <p:cNvSpPr/>
            <p:nvPr userDrawn="1"/>
          </p:nvSpPr>
          <p:spPr>
            <a:xfrm>
              <a:off x="2928836" y="1487938"/>
              <a:ext cx="2503918" cy="145279"/>
            </a:xfrm>
            <a:prstGeom prst="rect">
              <a:avLst/>
            </a:prstGeom>
            <a:solidFill>
              <a:srgbClr val="FAE1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7056261B-07B2-A56E-A728-17FD21096879}"/>
                </a:ext>
              </a:extLst>
            </p:cNvPr>
            <p:cNvSpPr/>
            <p:nvPr userDrawn="1"/>
          </p:nvSpPr>
          <p:spPr>
            <a:xfrm>
              <a:off x="5432754" y="1487938"/>
              <a:ext cx="2503918" cy="145279"/>
            </a:xfrm>
            <a:prstGeom prst="rect">
              <a:avLst/>
            </a:prstGeom>
            <a:solidFill>
              <a:srgbClr val="FED34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007BC18F-6CFE-55D8-BE1F-9202FC65B49C}"/>
                </a:ext>
              </a:extLst>
            </p:cNvPr>
            <p:cNvSpPr/>
            <p:nvPr userDrawn="1"/>
          </p:nvSpPr>
          <p:spPr>
            <a:xfrm>
              <a:off x="7936672" y="1487938"/>
              <a:ext cx="2503918" cy="145279"/>
            </a:xfrm>
            <a:prstGeom prst="rect">
              <a:avLst/>
            </a:prstGeom>
            <a:solidFill>
              <a:srgbClr val="EBAB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E0FCE5BD-A2E3-BD85-F1DC-9C10B47153A4}"/>
                </a:ext>
              </a:extLst>
            </p:cNvPr>
            <p:cNvSpPr/>
            <p:nvPr userDrawn="1"/>
          </p:nvSpPr>
          <p:spPr>
            <a:xfrm>
              <a:off x="421830" y="1342659"/>
              <a:ext cx="10018759" cy="145279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1701396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 2">
    <p:bg>
      <p:bgPr>
        <a:solidFill>
          <a:srgbClr val="FED34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1550988" y="3461559"/>
            <a:ext cx="9070975" cy="598488"/>
          </a:xfrm>
        </p:spPr>
        <p:txBody>
          <a:bodyPr>
            <a:normAutofit/>
          </a:bodyPr>
          <a:lstStyle>
            <a:lvl1pPr marL="0" indent="0" algn="ctr">
              <a:buNone/>
              <a:defRPr sz="3200"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</a:lstStyle>
          <a:p>
            <a:pPr lvl="0"/>
            <a:r>
              <a:rPr lang="en-US" dirty="0" err="1"/>
              <a:t>Subheader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87591" y="2382981"/>
            <a:ext cx="11569729" cy="1046019"/>
          </a:xfrm>
        </p:spPr>
        <p:txBody>
          <a:bodyPr anchor="b">
            <a:normAutofit/>
          </a:bodyPr>
          <a:lstStyle>
            <a:lvl1pPr algn="ctr">
              <a:defRPr sz="6000" cap="all" baseline="0"/>
            </a:lvl1pPr>
          </a:lstStyle>
          <a:p>
            <a:r>
              <a:rPr lang="en-US" dirty="0"/>
              <a:t>SECTION DIVIDER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10751004" y="6335309"/>
            <a:ext cx="1181114" cy="250337"/>
          </a:xfrm>
        </p:spPr>
        <p:txBody>
          <a:bodyPr/>
          <a:lstStyle/>
          <a:p>
            <a:fld id="{5FDFC970-B950-4395-A833-47227D4A68CA}" type="datetime1">
              <a:rPr lang="en-US" smtClean="0"/>
              <a:t>7/3/26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5C257420-CE83-4866-3EA3-381C0CFC3158}"/>
              </a:ext>
            </a:extLst>
          </p:cNvPr>
          <p:cNvGrpSpPr/>
          <p:nvPr userDrawn="1"/>
        </p:nvGrpSpPr>
        <p:grpSpPr>
          <a:xfrm>
            <a:off x="0" y="0"/>
            <a:ext cx="12192000" cy="397164"/>
            <a:chOff x="421830" y="1342659"/>
            <a:chExt cx="10018760" cy="290558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A8621F66-77FA-4999-E325-230D9B669B97}"/>
                </a:ext>
              </a:extLst>
            </p:cNvPr>
            <p:cNvSpPr/>
            <p:nvPr userDrawn="1"/>
          </p:nvSpPr>
          <p:spPr>
            <a:xfrm>
              <a:off x="421831" y="1487938"/>
              <a:ext cx="2532791" cy="145279"/>
            </a:xfrm>
            <a:prstGeom prst="rect">
              <a:avLst/>
            </a:prstGeom>
            <a:solidFill>
              <a:srgbClr val="F2ED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9042B54D-8327-3710-DF48-EE39609CDDA0}"/>
                </a:ext>
              </a:extLst>
            </p:cNvPr>
            <p:cNvSpPr/>
            <p:nvPr userDrawn="1"/>
          </p:nvSpPr>
          <p:spPr>
            <a:xfrm>
              <a:off x="2928836" y="1487938"/>
              <a:ext cx="2503918" cy="145279"/>
            </a:xfrm>
            <a:prstGeom prst="rect">
              <a:avLst/>
            </a:prstGeom>
            <a:solidFill>
              <a:srgbClr val="FAE1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EDCFC16C-2941-FB67-C5DD-46A3F3A9A173}"/>
                </a:ext>
              </a:extLst>
            </p:cNvPr>
            <p:cNvSpPr/>
            <p:nvPr userDrawn="1"/>
          </p:nvSpPr>
          <p:spPr>
            <a:xfrm>
              <a:off x="5432754" y="1487938"/>
              <a:ext cx="2503918" cy="145279"/>
            </a:xfrm>
            <a:prstGeom prst="rect">
              <a:avLst/>
            </a:prstGeom>
            <a:solidFill>
              <a:srgbClr val="FED34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A34C2BD1-3A50-A203-B064-3DCD3906F6F2}"/>
                </a:ext>
              </a:extLst>
            </p:cNvPr>
            <p:cNvSpPr/>
            <p:nvPr userDrawn="1"/>
          </p:nvSpPr>
          <p:spPr>
            <a:xfrm>
              <a:off x="7936672" y="1487938"/>
              <a:ext cx="2503918" cy="145279"/>
            </a:xfrm>
            <a:prstGeom prst="rect">
              <a:avLst/>
            </a:prstGeom>
            <a:solidFill>
              <a:srgbClr val="EBAB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AE1944A9-11DF-DB57-300B-F689B08F4D3C}"/>
                </a:ext>
              </a:extLst>
            </p:cNvPr>
            <p:cNvSpPr/>
            <p:nvPr userDrawn="1"/>
          </p:nvSpPr>
          <p:spPr>
            <a:xfrm>
              <a:off x="421830" y="1342659"/>
              <a:ext cx="10018759" cy="145279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7057293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1550988" y="3461559"/>
            <a:ext cx="9070975" cy="598488"/>
          </a:xfrm>
        </p:spPr>
        <p:txBody>
          <a:bodyPr>
            <a:normAutofit/>
          </a:bodyPr>
          <a:lstStyle>
            <a:lvl1pPr marL="0" indent="0" algn="ctr">
              <a:buNone/>
              <a:defRPr sz="3200">
                <a:solidFill>
                  <a:schemeClr val="bg1"/>
                </a:solidFill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</a:lstStyle>
          <a:p>
            <a:pPr lvl="0"/>
            <a:r>
              <a:rPr lang="en-US" dirty="0" err="1"/>
              <a:t>Subheader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87591" y="2382981"/>
            <a:ext cx="11569729" cy="1046019"/>
          </a:xfrm>
        </p:spPr>
        <p:txBody>
          <a:bodyPr anchor="b">
            <a:normAutofit/>
          </a:bodyPr>
          <a:lstStyle>
            <a:lvl1pPr algn="ctr">
              <a:defRPr sz="6000" cap="all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SECTION DIVIDER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10751004" y="6335309"/>
            <a:ext cx="1181114" cy="25033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FDFC970-B950-4395-A833-47227D4A68CA}" type="datetime1">
              <a:rPr lang="en-US" smtClean="0"/>
              <a:pPr/>
              <a:t>7/3/26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55AC5E88-54DB-DB07-2D2B-3EA3C0141922}"/>
              </a:ext>
            </a:extLst>
          </p:cNvPr>
          <p:cNvGrpSpPr/>
          <p:nvPr userDrawn="1"/>
        </p:nvGrpSpPr>
        <p:grpSpPr>
          <a:xfrm>
            <a:off x="0" y="0"/>
            <a:ext cx="12192000" cy="397164"/>
            <a:chOff x="421830" y="1342659"/>
            <a:chExt cx="10018760" cy="290558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7D421AC2-0BAA-41E8-5271-9D286A5CB1F7}"/>
                </a:ext>
              </a:extLst>
            </p:cNvPr>
            <p:cNvSpPr/>
            <p:nvPr userDrawn="1"/>
          </p:nvSpPr>
          <p:spPr>
            <a:xfrm>
              <a:off x="421831" y="1487938"/>
              <a:ext cx="2532791" cy="145279"/>
            </a:xfrm>
            <a:prstGeom prst="rect">
              <a:avLst/>
            </a:prstGeom>
            <a:solidFill>
              <a:srgbClr val="F2ED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1D31278D-990D-8DFD-00A2-BCCECAB47A5E}"/>
                </a:ext>
              </a:extLst>
            </p:cNvPr>
            <p:cNvSpPr/>
            <p:nvPr userDrawn="1"/>
          </p:nvSpPr>
          <p:spPr>
            <a:xfrm>
              <a:off x="2928836" y="1487938"/>
              <a:ext cx="2503918" cy="145279"/>
            </a:xfrm>
            <a:prstGeom prst="rect">
              <a:avLst/>
            </a:prstGeom>
            <a:solidFill>
              <a:srgbClr val="FAE1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0A348C4B-29F3-5E21-5DA6-F7A38594E57F}"/>
                </a:ext>
              </a:extLst>
            </p:cNvPr>
            <p:cNvSpPr/>
            <p:nvPr userDrawn="1"/>
          </p:nvSpPr>
          <p:spPr>
            <a:xfrm>
              <a:off x="5432754" y="1487938"/>
              <a:ext cx="2503918" cy="145279"/>
            </a:xfrm>
            <a:prstGeom prst="rect">
              <a:avLst/>
            </a:prstGeom>
            <a:solidFill>
              <a:srgbClr val="FED34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EC0FAD8C-7636-5833-CFCE-3253852F15EF}"/>
                </a:ext>
              </a:extLst>
            </p:cNvPr>
            <p:cNvSpPr/>
            <p:nvPr userDrawn="1"/>
          </p:nvSpPr>
          <p:spPr>
            <a:xfrm>
              <a:off x="7936672" y="1487938"/>
              <a:ext cx="2503918" cy="145279"/>
            </a:xfrm>
            <a:prstGeom prst="rect">
              <a:avLst/>
            </a:prstGeom>
            <a:solidFill>
              <a:srgbClr val="EBAB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ECC4306F-759D-AE82-8D13-D983855E47FC}"/>
                </a:ext>
              </a:extLst>
            </p:cNvPr>
            <p:cNvSpPr/>
            <p:nvPr userDrawn="1"/>
          </p:nvSpPr>
          <p:spPr>
            <a:xfrm>
              <a:off x="421830" y="1342659"/>
              <a:ext cx="10018759" cy="145279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1713189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57225" y="4581236"/>
            <a:ext cx="10877550" cy="1597891"/>
          </a:xfrm>
          <a:noFill/>
        </p:spPr>
        <p:txBody>
          <a:bodyPr wrap="square" rtlCol="0" anchor="ctr" anchorCtr="1">
            <a:noAutofit/>
          </a:bodyPr>
          <a:lstStyle>
            <a:lvl1pPr algn="ctr">
              <a:defRPr lang="en-US" sz="1800" b="0" i="0" cap="none" baseline="0">
                <a:solidFill>
                  <a:schemeClr val="tx1"/>
                </a:solidFill>
                <a:latin typeface="Verdana" charset="0"/>
                <a:ea typeface="Verdana" charset="0"/>
                <a:cs typeface="Verdana" charset="0"/>
              </a:defRPr>
            </a:lvl1pPr>
          </a:lstStyle>
          <a:p>
            <a:pPr marL="0" lvl="0" algn="ctr">
              <a:lnSpc>
                <a:spcPct val="75000"/>
              </a:lnSpc>
            </a:pPr>
            <a:r>
              <a:rPr lang="en-US" dirty="0"/>
              <a:t>Click to edit master closing slide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10751004" y="6335309"/>
            <a:ext cx="1181114" cy="250337"/>
          </a:xfrm>
        </p:spPr>
        <p:txBody>
          <a:bodyPr/>
          <a:lstStyle/>
          <a:p>
            <a:fld id="{75D660D7-90CE-4513-A3CE-C070B9421917}" type="datetime1">
              <a:rPr lang="en-US" smtClean="0"/>
              <a:t>7/3/26</a:t>
            </a:fld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9B2C18FC-29DC-30A0-0360-C5E5735072A4}"/>
              </a:ext>
            </a:extLst>
          </p:cNvPr>
          <p:cNvGrpSpPr/>
          <p:nvPr userDrawn="1"/>
        </p:nvGrpSpPr>
        <p:grpSpPr>
          <a:xfrm>
            <a:off x="0" y="0"/>
            <a:ext cx="12192000" cy="397164"/>
            <a:chOff x="421830" y="1342659"/>
            <a:chExt cx="10018760" cy="290558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36231277-A44F-A1F5-03E4-79BB667E118A}"/>
                </a:ext>
              </a:extLst>
            </p:cNvPr>
            <p:cNvSpPr/>
            <p:nvPr userDrawn="1"/>
          </p:nvSpPr>
          <p:spPr>
            <a:xfrm>
              <a:off x="421831" y="1487938"/>
              <a:ext cx="2532791" cy="145279"/>
            </a:xfrm>
            <a:prstGeom prst="rect">
              <a:avLst/>
            </a:prstGeom>
            <a:solidFill>
              <a:srgbClr val="F2ED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A269444E-AE08-770D-D564-E199EA1B706B}"/>
                </a:ext>
              </a:extLst>
            </p:cNvPr>
            <p:cNvSpPr/>
            <p:nvPr userDrawn="1"/>
          </p:nvSpPr>
          <p:spPr>
            <a:xfrm>
              <a:off x="2928836" y="1487938"/>
              <a:ext cx="2503918" cy="145279"/>
            </a:xfrm>
            <a:prstGeom prst="rect">
              <a:avLst/>
            </a:prstGeom>
            <a:solidFill>
              <a:srgbClr val="FAE1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D7691CF8-1E73-A801-14D7-6110247881EC}"/>
                </a:ext>
              </a:extLst>
            </p:cNvPr>
            <p:cNvSpPr/>
            <p:nvPr userDrawn="1"/>
          </p:nvSpPr>
          <p:spPr>
            <a:xfrm>
              <a:off x="5432754" y="1487938"/>
              <a:ext cx="2503918" cy="145279"/>
            </a:xfrm>
            <a:prstGeom prst="rect">
              <a:avLst/>
            </a:prstGeom>
            <a:solidFill>
              <a:srgbClr val="FED34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61DC9D66-33DA-E6DF-D54B-2453FA7322A6}"/>
                </a:ext>
              </a:extLst>
            </p:cNvPr>
            <p:cNvSpPr/>
            <p:nvPr userDrawn="1"/>
          </p:nvSpPr>
          <p:spPr>
            <a:xfrm>
              <a:off x="7936672" y="1487938"/>
              <a:ext cx="2503918" cy="145279"/>
            </a:xfrm>
            <a:prstGeom prst="rect">
              <a:avLst/>
            </a:prstGeom>
            <a:solidFill>
              <a:srgbClr val="EBAB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5EBB1E0F-DE82-BF28-6F15-1C179C3FA41E}"/>
                </a:ext>
              </a:extLst>
            </p:cNvPr>
            <p:cNvSpPr/>
            <p:nvPr userDrawn="1"/>
          </p:nvSpPr>
          <p:spPr>
            <a:xfrm>
              <a:off x="421830" y="1342659"/>
              <a:ext cx="10018759" cy="145279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26" name="Picture 25" descr="University of Waterloo logo">
            <a:extLst>
              <a:ext uri="{FF2B5EF4-FFF2-40B4-BE49-F238E27FC236}">
                <a16:creationId xmlns:a16="http://schemas.microsoft.com/office/drawing/2014/main" id="{5604EBD5-7BE6-8BAD-C10F-F29FF1FC023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884945" y="1204402"/>
            <a:ext cx="6407315" cy="4157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10081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Slide_AL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33425" y="4682836"/>
            <a:ext cx="10725150" cy="1559782"/>
          </a:xfrm>
          <a:noFill/>
        </p:spPr>
        <p:txBody>
          <a:bodyPr wrap="square" rtlCol="0" anchor="ctr" anchorCtr="1">
            <a:noAutofit/>
          </a:bodyPr>
          <a:lstStyle>
            <a:lvl1pPr marL="0" algn="ctr">
              <a:lnSpc>
                <a:spcPct val="75000"/>
              </a:lnSpc>
              <a:defRPr lang="en-US" sz="1800" b="0" i="0" cap="none" baseline="0">
                <a:solidFill>
                  <a:schemeClr val="bg1">
                    <a:alpha val="81000"/>
                  </a:schemeClr>
                </a:solidFill>
                <a:latin typeface="Verdana" charset="0"/>
                <a:ea typeface="Verdana" charset="0"/>
                <a:cs typeface="Verdana" charset="0"/>
              </a:defRPr>
            </a:lvl1pPr>
          </a:lstStyle>
          <a:p>
            <a:pPr marL="0" lvl="0" algn="ctr">
              <a:lnSpc>
                <a:spcPct val="75000"/>
              </a:lnSpc>
            </a:pPr>
            <a:r>
              <a:rPr lang="en-US" dirty="0"/>
              <a:t>Click to edit master closing slide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10751004" y="6335309"/>
            <a:ext cx="1181114" cy="25033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A368D4B-3D0A-49AB-8EA2-2DC8CB4594DB}" type="datetime1">
              <a:rPr lang="en-US" smtClean="0"/>
              <a:pPr/>
              <a:t>7/3/26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A3C84CBA-BDD4-B9EC-8FD3-ECC1DF539F9E}"/>
              </a:ext>
            </a:extLst>
          </p:cNvPr>
          <p:cNvGrpSpPr/>
          <p:nvPr userDrawn="1"/>
        </p:nvGrpSpPr>
        <p:grpSpPr>
          <a:xfrm>
            <a:off x="0" y="0"/>
            <a:ext cx="12192000" cy="397164"/>
            <a:chOff x="421830" y="1342659"/>
            <a:chExt cx="10018760" cy="290558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EFE04DCE-1B6E-B5CB-9E62-E45B592AFB6A}"/>
                </a:ext>
              </a:extLst>
            </p:cNvPr>
            <p:cNvSpPr/>
            <p:nvPr userDrawn="1"/>
          </p:nvSpPr>
          <p:spPr>
            <a:xfrm>
              <a:off x="421831" y="1487938"/>
              <a:ext cx="2532791" cy="145279"/>
            </a:xfrm>
            <a:prstGeom prst="rect">
              <a:avLst/>
            </a:prstGeom>
            <a:solidFill>
              <a:srgbClr val="F2ED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18AF4A26-5CAE-1F08-C93F-B41E8E5BB1DB}"/>
                </a:ext>
              </a:extLst>
            </p:cNvPr>
            <p:cNvSpPr/>
            <p:nvPr userDrawn="1"/>
          </p:nvSpPr>
          <p:spPr>
            <a:xfrm>
              <a:off x="2928836" y="1487938"/>
              <a:ext cx="2503918" cy="145279"/>
            </a:xfrm>
            <a:prstGeom prst="rect">
              <a:avLst/>
            </a:prstGeom>
            <a:solidFill>
              <a:srgbClr val="FAE1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1623493-CA34-79CF-0A7F-DF7FA3107102}"/>
                </a:ext>
              </a:extLst>
            </p:cNvPr>
            <p:cNvSpPr/>
            <p:nvPr userDrawn="1"/>
          </p:nvSpPr>
          <p:spPr>
            <a:xfrm>
              <a:off x="5432754" y="1487938"/>
              <a:ext cx="2503918" cy="145279"/>
            </a:xfrm>
            <a:prstGeom prst="rect">
              <a:avLst/>
            </a:prstGeom>
            <a:solidFill>
              <a:srgbClr val="FED34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BFBED65-B55C-005E-0B76-59B6F1DB7BD0}"/>
                </a:ext>
              </a:extLst>
            </p:cNvPr>
            <p:cNvSpPr/>
            <p:nvPr userDrawn="1"/>
          </p:nvSpPr>
          <p:spPr>
            <a:xfrm>
              <a:off x="7936672" y="1487938"/>
              <a:ext cx="2503918" cy="145279"/>
            </a:xfrm>
            <a:prstGeom prst="rect">
              <a:avLst/>
            </a:prstGeom>
            <a:solidFill>
              <a:srgbClr val="EBAB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F170495-1DE0-AF98-003E-5B61D768B50C}"/>
                </a:ext>
              </a:extLst>
            </p:cNvPr>
            <p:cNvSpPr/>
            <p:nvPr userDrawn="1"/>
          </p:nvSpPr>
          <p:spPr>
            <a:xfrm>
              <a:off x="421830" y="1342659"/>
              <a:ext cx="10018759" cy="145279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9" name="Picture 18" descr="University of Waterloo logo">
            <a:extLst>
              <a:ext uri="{FF2B5EF4-FFF2-40B4-BE49-F238E27FC236}">
                <a16:creationId xmlns:a16="http://schemas.microsoft.com/office/drawing/2014/main" id="{086A222B-79FE-32D2-AF56-76C91A4EBDD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884945" y="1204402"/>
            <a:ext cx="6407315" cy="4157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18057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losing Slide_Y+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 descr="YOU+WATERLOO">
            <a:extLst>
              <a:ext uri="{FF2B5EF4-FFF2-40B4-BE49-F238E27FC236}">
                <a16:creationId xmlns:a16="http://schemas.microsoft.com/office/drawing/2014/main" id="{28F653FE-3A86-E844-A53F-0361E59D706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153660" y="4585014"/>
            <a:ext cx="1884680" cy="53340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48ADE716-1136-A547-A8CE-EAC2B309AAB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168648" y="5270227"/>
            <a:ext cx="3854704" cy="252476"/>
          </a:xfrm>
          <a:prstGeom prst="rect">
            <a:avLst/>
          </a:prstGeom>
        </p:spPr>
      </p:pic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10751004" y="6335309"/>
            <a:ext cx="1181114" cy="250337"/>
          </a:xfrm>
        </p:spPr>
        <p:txBody>
          <a:bodyPr/>
          <a:lstStyle/>
          <a:p>
            <a:fld id="{75D660D7-90CE-4513-A3CE-C070B9421917}" type="datetime1">
              <a:rPr lang="en-US" smtClean="0"/>
              <a:t>7/3/26</a:t>
            </a:fld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6691E8C1-028B-B8F4-4256-E3712FED0E55}"/>
              </a:ext>
            </a:extLst>
          </p:cNvPr>
          <p:cNvGrpSpPr/>
          <p:nvPr userDrawn="1"/>
        </p:nvGrpSpPr>
        <p:grpSpPr>
          <a:xfrm>
            <a:off x="0" y="0"/>
            <a:ext cx="12192000" cy="397164"/>
            <a:chOff x="421830" y="1342659"/>
            <a:chExt cx="10018760" cy="290558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853E403A-BC35-D5C8-A61A-6A21441F2A47}"/>
                </a:ext>
              </a:extLst>
            </p:cNvPr>
            <p:cNvSpPr/>
            <p:nvPr userDrawn="1"/>
          </p:nvSpPr>
          <p:spPr>
            <a:xfrm>
              <a:off x="421831" y="1487938"/>
              <a:ext cx="2532791" cy="145279"/>
            </a:xfrm>
            <a:prstGeom prst="rect">
              <a:avLst/>
            </a:prstGeom>
            <a:solidFill>
              <a:srgbClr val="F2ED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E0BBAAB5-DC1C-86EB-4372-7AA35FAC264E}"/>
                </a:ext>
              </a:extLst>
            </p:cNvPr>
            <p:cNvSpPr/>
            <p:nvPr userDrawn="1"/>
          </p:nvSpPr>
          <p:spPr>
            <a:xfrm>
              <a:off x="2928836" y="1487938"/>
              <a:ext cx="2503918" cy="145279"/>
            </a:xfrm>
            <a:prstGeom prst="rect">
              <a:avLst/>
            </a:prstGeom>
            <a:solidFill>
              <a:srgbClr val="FAE1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C06E0FE3-0020-4B30-798D-E8A1A63EEAD4}"/>
                </a:ext>
              </a:extLst>
            </p:cNvPr>
            <p:cNvSpPr/>
            <p:nvPr userDrawn="1"/>
          </p:nvSpPr>
          <p:spPr>
            <a:xfrm>
              <a:off x="5432754" y="1487938"/>
              <a:ext cx="2503918" cy="145279"/>
            </a:xfrm>
            <a:prstGeom prst="rect">
              <a:avLst/>
            </a:prstGeom>
            <a:solidFill>
              <a:srgbClr val="FED34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4F32F16E-6FB3-59D9-5ABB-055FA23EB8BF}"/>
                </a:ext>
              </a:extLst>
            </p:cNvPr>
            <p:cNvSpPr/>
            <p:nvPr userDrawn="1"/>
          </p:nvSpPr>
          <p:spPr>
            <a:xfrm>
              <a:off x="7936672" y="1487938"/>
              <a:ext cx="2503918" cy="145279"/>
            </a:xfrm>
            <a:prstGeom prst="rect">
              <a:avLst/>
            </a:prstGeom>
            <a:solidFill>
              <a:srgbClr val="EBAB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A4B425B3-553E-0171-4C59-CD7445926E13}"/>
                </a:ext>
              </a:extLst>
            </p:cNvPr>
            <p:cNvSpPr/>
            <p:nvPr userDrawn="1"/>
          </p:nvSpPr>
          <p:spPr>
            <a:xfrm>
              <a:off x="421830" y="1342659"/>
              <a:ext cx="10018759" cy="145279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7" name="Picture 16" descr="University of Waterloo logo">
            <a:extLst>
              <a:ext uri="{FF2B5EF4-FFF2-40B4-BE49-F238E27FC236}">
                <a16:creationId xmlns:a16="http://schemas.microsoft.com/office/drawing/2014/main" id="{0E8EB7D6-3776-0C1B-E0DD-A6CD3262A46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225667" y="895553"/>
            <a:ext cx="5757267" cy="3735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00746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losing Slide_Y+W_AL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10751004" y="6335309"/>
            <a:ext cx="1181114" cy="25033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A368D4B-3D0A-49AB-8EA2-2DC8CB4594DB}" type="datetime1">
              <a:rPr lang="en-US" smtClean="0"/>
              <a:pPr/>
              <a:t>7/3/26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21" name="Picture 20" descr="YOU+WATERLOO">
            <a:extLst>
              <a:ext uri="{FF2B5EF4-FFF2-40B4-BE49-F238E27FC236}">
                <a16:creationId xmlns:a16="http://schemas.microsoft.com/office/drawing/2014/main" id="{61B2F895-74F6-5245-9741-0020E25D8AB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3660" y="4592032"/>
            <a:ext cx="1884680" cy="53340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1D46E8A0-B6BB-1D40-8410-044E5B20399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168648" y="5277245"/>
            <a:ext cx="3854704" cy="25247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4747904-A0FC-F14A-9236-E3A1ADBB8DEF}"/>
              </a:ext>
            </a:extLst>
          </p:cNvPr>
          <p:cNvSpPr txBox="1"/>
          <p:nvPr userDrawn="1"/>
        </p:nvSpPr>
        <p:spPr>
          <a:xfrm>
            <a:off x="4851400" y="724746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3D286E6D-0D71-65B9-5A2A-13BC64D090E5}"/>
              </a:ext>
            </a:extLst>
          </p:cNvPr>
          <p:cNvGrpSpPr/>
          <p:nvPr userDrawn="1"/>
        </p:nvGrpSpPr>
        <p:grpSpPr>
          <a:xfrm>
            <a:off x="0" y="0"/>
            <a:ext cx="12192000" cy="397164"/>
            <a:chOff x="421830" y="1342659"/>
            <a:chExt cx="10018760" cy="290558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094DCB05-C5B2-F917-DEBD-1ADFF9EF49FB}"/>
                </a:ext>
              </a:extLst>
            </p:cNvPr>
            <p:cNvSpPr/>
            <p:nvPr userDrawn="1"/>
          </p:nvSpPr>
          <p:spPr>
            <a:xfrm>
              <a:off x="421831" y="1487938"/>
              <a:ext cx="2532791" cy="145279"/>
            </a:xfrm>
            <a:prstGeom prst="rect">
              <a:avLst/>
            </a:prstGeom>
            <a:solidFill>
              <a:srgbClr val="F2ED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1EC16BE5-37EB-7BF9-91C1-1DD99FB6DF48}"/>
                </a:ext>
              </a:extLst>
            </p:cNvPr>
            <p:cNvSpPr/>
            <p:nvPr userDrawn="1"/>
          </p:nvSpPr>
          <p:spPr>
            <a:xfrm>
              <a:off x="2928836" y="1487938"/>
              <a:ext cx="2503918" cy="145279"/>
            </a:xfrm>
            <a:prstGeom prst="rect">
              <a:avLst/>
            </a:prstGeom>
            <a:solidFill>
              <a:srgbClr val="FAE1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F643753E-1D6D-DAC7-EEB3-784F18B6ACE7}"/>
                </a:ext>
              </a:extLst>
            </p:cNvPr>
            <p:cNvSpPr/>
            <p:nvPr userDrawn="1"/>
          </p:nvSpPr>
          <p:spPr>
            <a:xfrm>
              <a:off x="5432754" y="1487938"/>
              <a:ext cx="2503918" cy="145279"/>
            </a:xfrm>
            <a:prstGeom prst="rect">
              <a:avLst/>
            </a:prstGeom>
            <a:solidFill>
              <a:srgbClr val="FED34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95A03DC8-13E8-7109-1E6E-7D037DB2C7A0}"/>
                </a:ext>
              </a:extLst>
            </p:cNvPr>
            <p:cNvSpPr/>
            <p:nvPr userDrawn="1"/>
          </p:nvSpPr>
          <p:spPr>
            <a:xfrm>
              <a:off x="7936672" y="1487938"/>
              <a:ext cx="2503918" cy="145279"/>
            </a:xfrm>
            <a:prstGeom prst="rect">
              <a:avLst/>
            </a:prstGeom>
            <a:solidFill>
              <a:srgbClr val="EBAB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7187BAEF-5621-E3DD-3CE7-8D8AEF27527F}"/>
                </a:ext>
              </a:extLst>
            </p:cNvPr>
            <p:cNvSpPr/>
            <p:nvPr userDrawn="1"/>
          </p:nvSpPr>
          <p:spPr>
            <a:xfrm>
              <a:off x="421830" y="1342659"/>
              <a:ext cx="10018759" cy="145279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9" name="Picture 18" descr="University of Waterloo logo">
            <a:extLst>
              <a:ext uri="{FF2B5EF4-FFF2-40B4-BE49-F238E27FC236}">
                <a16:creationId xmlns:a16="http://schemas.microsoft.com/office/drawing/2014/main" id="{468B2007-5BEA-A5A1-19B5-A9DE3EF8F410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225666" y="895553"/>
            <a:ext cx="5757269" cy="3735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95218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883" y="434108"/>
            <a:ext cx="11569729" cy="8959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9882" y="1413163"/>
            <a:ext cx="11569729" cy="45951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38014" y="6335309"/>
            <a:ext cx="1181114" cy="2503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fld id="{5FDFC970-B950-4395-A833-47227D4A68CA}" type="datetime1">
              <a:rPr lang="en-US" smtClean="0"/>
              <a:t>7/3/26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9882" y="6335309"/>
            <a:ext cx="5226517" cy="2503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588000" y="6335309"/>
            <a:ext cx="1016000" cy="2503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US" dirty="0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5" name="Group 14"/>
          <p:cNvGrpSpPr/>
          <p:nvPr userDrawn="1"/>
        </p:nvGrpSpPr>
        <p:grpSpPr>
          <a:xfrm>
            <a:off x="0" y="0"/>
            <a:ext cx="12192000" cy="397164"/>
            <a:chOff x="421830" y="1342659"/>
            <a:chExt cx="10018760" cy="290558"/>
          </a:xfrm>
        </p:grpSpPr>
        <p:sp>
          <p:nvSpPr>
            <p:cNvPr id="16" name="Rectangle 15"/>
            <p:cNvSpPr/>
            <p:nvPr userDrawn="1"/>
          </p:nvSpPr>
          <p:spPr>
            <a:xfrm>
              <a:off x="421831" y="1487938"/>
              <a:ext cx="2532791" cy="145279"/>
            </a:xfrm>
            <a:prstGeom prst="rect">
              <a:avLst/>
            </a:prstGeom>
            <a:solidFill>
              <a:srgbClr val="F2ED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2928836" y="1487938"/>
              <a:ext cx="2503918" cy="145279"/>
            </a:xfrm>
            <a:prstGeom prst="rect">
              <a:avLst/>
            </a:prstGeom>
            <a:solidFill>
              <a:srgbClr val="FAE1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/>
            <p:cNvSpPr/>
            <p:nvPr userDrawn="1"/>
          </p:nvSpPr>
          <p:spPr>
            <a:xfrm>
              <a:off x="5432754" y="1487938"/>
              <a:ext cx="2503918" cy="145279"/>
            </a:xfrm>
            <a:prstGeom prst="rect">
              <a:avLst/>
            </a:prstGeom>
            <a:solidFill>
              <a:srgbClr val="FED34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/>
            <p:cNvSpPr/>
            <p:nvPr userDrawn="1"/>
          </p:nvSpPr>
          <p:spPr>
            <a:xfrm>
              <a:off x="7936672" y="1487938"/>
              <a:ext cx="2503918" cy="145279"/>
            </a:xfrm>
            <a:prstGeom prst="rect">
              <a:avLst/>
            </a:prstGeom>
            <a:solidFill>
              <a:srgbClr val="EBAB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/>
            <p:cNvSpPr/>
            <p:nvPr userDrawn="1"/>
          </p:nvSpPr>
          <p:spPr>
            <a:xfrm>
              <a:off x="421830" y="1342659"/>
              <a:ext cx="10018759" cy="145279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9" name="Picture 8" descr="University of Waterloo logo">
            <a:extLst>
              <a:ext uri="{FF2B5EF4-FFF2-40B4-BE49-F238E27FC236}">
                <a16:creationId xmlns:a16="http://schemas.microsoft.com/office/drawing/2014/main" id="{5AE93192-E6E4-EBD3-E1EB-1CA76925B880}"/>
              </a:ext>
            </a:extLst>
          </p:cNvPr>
          <p:cNvPicPr>
            <a:picLocks noChangeAspect="1"/>
          </p:cNvPicPr>
          <p:nvPr userDrawn="1"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42767" y="5868697"/>
            <a:ext cx="2749233" cy="1085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30777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000" b="1" kern="1200" spc="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88925" indent="-288925" algn="l" defTabSz="914400" rtl="0" eaLnBrk="1" latinLnBrk="0" hangingPunct="1">
        <a:lnSpc>
          <a:spcPct val="100000"/>
        </a:lnSpc>
        <a:spcBef>
          <a:spcPts val="800"/>
        </a:spcBef>
        <a:spcAft>
          <a:spcPts val="800"/>
        </a:spcAft>
        <a:buClr>
          <a:schemeClr val="tx1"/>
        </a:buClr>
        <a:buSzPct val="85000"/>
        <a:buFont typeface="Wingdings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800"/>
        </a:spcBef>
        <a:spcAft>
          <a:spcPts val="800"/>
        </a:spcAft>
        <a:buClr>
          <a:schemeClr val="tx1"/>
        </a:buClr>
        <a:buSzPct val="85000"/>
        <a:buFont typeface="Wingdings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800"/>
        </a:spcBef>
        <a:spcAft>
          <a:spcPts val="800"/>
        </a:spcAft>
        <a:buClr>
          <a:schemeClr val="tx1"/>
        </a:buClr>
        <a:buSzPct val="85000"/>
        <a:buFont typeface="Wingdings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800"/>
        </a:spcBef>
        <a:spcAft>
          <a:spcPts val="800"/>
        </a:spcAft>
        <a:buClr>
          <a:schemeClr val="tx1"/>
        </a:buClr>
        <a:buSzPct val="85000"/>
        <a:buFont typeface="Wingdings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800"/>
        </a:spcBef>
        <a:spcAft>
          <a:spcPts val="800"/>
        </a:spcAft>
        <a:buClr>
          <a:schemeClr val="tx1"/>
        </a:buClr>
        <a:buSzPct val="85000"/>
        <a:buFont typeface="Wingdings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7" Type="http://schemas.openxmlformats.org/officeDocument/2006/relationships/image" Target="../media/image1610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10.png"/><Relationship Id="rId5" Type="http://schemas.openxmlformats.org/officeDocument/2006/relationships/image" Target="../media/image140.png"/><Relationship Id="rId4" Type="http://schemas.openxmlformats.org/officeDocument/2006/relationships/image" Target="../media/image13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27.png"/><Relationship Id="rId18" Type="http://schemas.openxmlformats.org/officeDocument/2006/relationships/image" Target="../media/image32.png"/><Relationship Id="rId3" Type="http://schemas.openxmlformats.org/officeDocument/2006/relationships/image" Target="../media/image187.png"/><Relationship Id="rId21" Type="http://schemas.openxmlformats.org/officeDocument/2006/relationships/image" Target="../media/image35.png"/><Relationship Id="rId7" Type="http://schemas.openxmlformats.org/officeDocument/2006/relationships/image" Target="../media/image2110.png"/><Relationship Id="rId12" Type="http://schemas.openxmlformats.org/officeDocument/2006/relationships/image" Target="../media/image26.png"/><Relationship Id="rId17" Type="http://schemas.openxmlformats.org/officeDocument/2006/relationships/image" Target="../media/image31.png"/><Relationship Id="rId2" Type="http://schemas.openxmlformats.org/officeDocument/2006/relationships/image" Target="../media/image1710.png"/><Relationship Id="rId16" Type="http://schemas.openxmlformats.org/officeDocument/2006/relationships/image" Target="../media/image30.png"/><Relationship Id="rId20" Type="http://schemas.openxmlformats.org/officeDocument/2006/relationships/image" Target="../media/image3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0.png"/><Relationship Id="rId11" Type="http://schemas.openxmlformats.org/officeDocument/2006/relationships/image" Target="../media/image25.png"/><Relationship Id="rId5" Type="http://schemas.openxmlformats.org/officeDocument/2006/relationships/image" Target="../media/image110.png"/><Relationship Id="rId15" Type="http://schemas.openxmlformats.org/officeDocument/2006/relationships/image" Target="../media/image29.png"/><Relationship Id="rId10" Type="http://schemas.openxmlformats.org/officeDocument/2006/relationships/image" Target="../media/image24.png"/><Relationship Id="rId19" Type="http://schemas.openxmlformats.org/officeDocument/2006/relationships/image" Target="../media/image33.png"/><Relationship Id="rId4" Type="http://schemas.openxmlformats.org/officeDocument/2006/relationships/image" Target="../media/image190.png"/><Relationship Id="rId9" Type="http://schemas.openxmlformats.org/officeDocument/2006/relationships/image" Target="../media/image23.png"/><Relationship Id="rId14" Type="http://schemas.openxmlformats.org/officeDocument/2006/relationships/image" Target="../media/image2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187.png"/><Relationship Id="rId7" Type="http://schemas.openxmlformats.org/officeDocument/2006/relationships/image" Target="../media/image37.png"/><Relationship Id="rId2" Type="http://schemas.openxmlformats.org/officeDocument/2006/relationships/image" Target="../media/image17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png"/><Relationship Id="rId5" Type="http://schemas.openxmlformats.org/officeDocument/2006/relationships/image" Target="../media/image110.png"/><Relationship Id="rId10" Type="http://schemas.openxmlformats.org/officeDocument/2006/relationships/image" Target="../media/image40.png"/><Relationship Id="rId4" Type="http://schemas.openxmlformats.org/officeDocument/2006/relationships/image" Target="../media/image190.png"/><Relationship Id="rId9" Type="http://schemas.openxmlformats.org/officeDocument/2006/relationships/image" Target="../media/image39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13" Type="http://schemas.openxmlformats.org/officeDocument/2006/relationships/image" Target="../media/image52.png"/><Relationship Id="rId3" Type="http://schemas.openxmlformats.org/officeDocument/2006/relationships/image" Target="../media/image42.png"/><Relationship Id="rId7" Type="http://schemas.openxmlformats.org/officeDocument/2006/relationships/image" Target="../media/image46.png"/><Relationship Id="rId12" Type="http://schemas.openxmlformats.org/officeDocument/2006/relationships/image" Target="../media/image51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5.png"/><Relationship Id="rId11" Type="http://schemas.openxmlformats.org/officeDocument/2006/relationships/image" Target="../media/image50.png"/><Relationship Id="rId5" Type="http://schemas.openxmlformats.org/officeDocument/2006/relationships/image" Target="../media/image44.png"/><Relationship Id="rId10" Type="http://schemas.openxmlformats.org/officeDocument/2006/relationships/image" Target="../media/image49.png"/><Relationship Id="rId4" Type="http://schemas.openxmlformats.org/officeDocument/2006/relationships/image" Target="../media/image43.png"/><Relationship Id="rId9" Type="http://schemas.openxmlformats.org/officeDocument/2006/relationships/image" Target="../media/image48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8.png"/><Relationship Id="rId13" Type="http://schemas.openxmlformats.org/officeDocument/2006/relationships/image" Target="../media/image153.png"/><Relationship Id="rId18" Type="http://schemas.openxmlformats.org/officeDocument/2006/relationships/image" Target="../media/image158.png"/><Relationship Id="rId3" Type="http://schemas.openxmlformats.org/officeDocument/2006/relationships/image" Target="../media/image143.png"/><Relationship Id="rId7" Type="http://schemas.openxmlformats.org/officeDocument/2006/relationships/image" Target="../media/image147.png"/><Relationship Id="rId12" Type="http://schemas.openxmlformats.org/officeDocument/2006/relationships/image" Target="../media/image152.png"/><Relationship Id="rId17" Type="http://schemas.openxmlformats.org/officeDocument/2006/relationships/image" Target="../media/image157.png"/><Relationship Id="rId2" Type="http://schemas.openxmlformats.org/officeDocument/2006/relationships/image" Target="../media/image142.png"/><Relationship Id="rId16" Type="http://schemas.openxmlformats.org/officeDocument/2006/relationships/image" Target="../media/image15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6.png"/><Relationship Id="rId11" Type="http://schemas.openxmlformats.org/officeDocument/2006/relationships/image" Target="../media/image151.png"/><Relationship Id="rId5" Type="http://schemas.openxmlformats.org/officeDocument/2006/relationships/image" Target="../media/image145.png"/><Relationship Id="rId15" Type="http://schemas.openxmlformats.org/officeDocument/2006/relationships/image" Target="../media/image155.png"/><Relationship Id="rId10" Type="http://schemas.openxmlformats.org/officeDocument/2006/relationships/image" Target="../media/image150.png"/><Relationship Id="rId4" Type="http://schemas.openxmlformats.org/officeDocument/2006/relationships/image" Target="../media/image144.png"/><Relationship Id="rId9" Type="http://schemas.openxmlformats.org/officeDocument/2006/relationships/image" Target="../media/image149.png"/><Relationship Id="rId14" Type="http://schemas.openxmlformats.org/officeDocument/2006/relationships/image" Target="../media/image154.png"/></Relationships>
</file>

<file path=ppt/slides/_rels/slide10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7.png"/><Relationship Id="rId18" Type="http://schemas.openxmlformats.org/officeDocument/2006/relationships/image" Target="../media/image171.png"/><Relationship Id="rId26" Type="http://schemas.openxmlformats.org/officeDocument/2006/relationships/image" Target="../media/image48.png"/><Relationship Id="rId21" Type="http://schemas.openxmlformats.org/officeDocument/2006/relationships/image" Target="../media/image49.png"/><Relationship Id="rId34" Type="http://schemas.openxmlformats.org/officeDocument/2006/relationships/image" Target="../media/image183.png"/><Relationship Id="rId7" Type="http://schemas.openxmlformats.org/officeDocument/2006/relationships/image" Target="../media/image162.png"/><Relationship Id="rId12" Type="http://schemas.openxmlformats.org/officeDocument/2006/relationships/image" Target="../media/image36.png"/><Relationship Id="rId17" Type="http://schemas.openxmlformats.org/officeDocument/2006/relationships/image" Target="../media/image170.png"/><Relationship Id="rId25" Type="http://schemas.openxmlformats.org/officeDocument/2006/relationships/image" Target="../media/image177.png"/><Relationship Id="rId33" Type="http://schemas.openxmlformats.org/officeDocument/2006/relationships/image" Target="../media/image182.png"/><Relationship Id="rId2" Type="http://schemas.openxmlformats.org/officeDocument/2006/relationships/image" Target="../media/image142.png"/><Relationship Id="rId16" Type="http://schemas.openxmlformats.org/officeDocument/2006/relationships/image" Target="../media/image169.png"/><Relationship Id="rId20" Type="http://schemas.openxmlformats.org/officeDocument/2006/relationships/image" Target="../media/image173.png"/><Relationship Id="rId29" Type="http://schemas.openxmlformats.org/officeDocument/2006/relationships/image" Target="../media/image17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1.png"/><Relationship Id="rId11" Type="http://schemas.openxmlformats.org/officeDocument/2006/relationships/image" Target="../media/image166.png"/><Relationship Id="rId24" Type="http://schemas.openxmlformats.org/officeDocument/2006/relationships/image" Target="../media/image176.png"/><Relationship Id="rId32" Type="http://schemas.openxmlformats.org/officeDocument/2006/relationships/image" Target="../media/image181.png"/><Relationship Id="rId37" Type="http://schemas.openxmlformats.org/officeDocument/2006/relationships/image" Target="../media/image186.png"/><Relationship Id="rId5" Type="http://schemas.openxmlformats.org/officeDocument/2006/relationships/image" Target="../media/image87.png"/><Relationship Id="rId15" Type="http://schemas.openxmlformats.org/officeDocument/2006/relationships/image" Target="../media/image168.png"/><Relationship Id="rId23" Type="http://schemas.openxmlformats.org/officeDocument/2006/relationships/image" Target="../media/image175.png"/><Relationship Id="rId28" Type="http://schemas.openxmlformats.org/officeDocument/2006/relationships/image" Target="../media/image178.png"/><Relationship Id="rId36" Type="http://schemas.openxmlformats.org/officeDocument/2006/relationships/image" Target="../media/image185.png"/><Relationship Id="rId10" Type="http://schemas.openxmlformats.org/officeDocument/2006/relationships/image" Target="../media/image165.png"/><Relationship Id="rId19" Type="http://schemas.openxmlformats.org/officeDocument/2006/relationships/image" Target="../media/image172.png"/><Relationship Id="rId31" Type="http://schemas.openxmlformats.org/officeDocument/2006/relationships/image" Target="../media/image180.png"/><Relationship Id="rId4" Type="http://schemas.openxmlformats.org/officeDocument/2006/relationships/image" Target="../media/image160.png"/><Relationship Id="rId9" Type="http://schemas.openxmlformats.org/officeDocument/2006/relationships/image" Target="../media/image164.png"/><Relationship Id="rId14" Type="http://schemas.openxmlformats.org/officeDocument/2006/relationships/image" Target="../media/image167.png"/><Relationship Id="rId22" Type="http://schemas.openxmlformats.org/officeDocument/2006/relationships/image" Target="../media/image174.png"/><Relationship Id="rId27" Type="http://schemas.openxmlformats.org/officeDocument/2006/relationships/image" Target="../media/image1510.png"/><Relationship Id="rId30" Type="http://schemas.openxmlformats.org/officeDocument/2006/relationships/image" Target="../media/image56.png"/><Relationship Id="rId35" Type="http://schemas.openxmlformats.org/officeDocument/2006/relationships/image" Target="../media/image184.png"/><Relationship Id="rId8" Type="http://schemas.openxmlformats.org/officeDocument/2006/relationships/image" Target="../media/image163.png"/><Relationship Id="rId3" Type="http://schemas.openxmlformats.org/officeDocument/2006/relationships/image" Target="../media/image159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7" Type="http://schemas.openxmlformats.org/officeDocument/2006/relationships/image" Target="../media/image20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70.png"/><Relationship Id="rId5" Type="http://schemas.openxmlformats.org/officeDocument/2006/relationships/image" Target="../media/image1560.png"/><Relationship Id="rId4" Type="http://schemas.openxmlformats.org/officeDocument/2006/relationships/image" Target="../media/image1550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3.png"/><Relationship Id="rId13" Type="http://schemas.openxmlformats.org/officeDocument/2006/relationships/image" Target="../media/image205.png"/><Relationship Id="rId3" Type="http://schemas.openxmlformats.org/officeDocument/2006/relationships/image" Target="../media/image1950.png"/><Relationship Id="rId7" Type="http://schemas.openxmlformats.org/officeDocument/2006/relationships/image" Target="../media/image1990.png"/><Relationship Id="rId12" Type="http://schemas.openxmlformats.org/officeDocument/2006/relationships/image" Target="../media/image204.png"/><Relationship Id="rId17" Type="http://schemas.openxmlformats.org/officeDocument/2006/relationships/image" Target="../media/image209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20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80.png"/><Relationship Id="rId11" Type="http://schemas.openxmlformats.org/officeDocument/2006/relationships/image" Target="../media/image2030.png"/><Relationship Id="rId5" Type="http://schemas.openxmlformats.org/officeDocument/2006/relationships/image" Target="../media/image1970.png"/><Relationship Id="rId15" Type="http://schemas.openxmlformats.org/officeDocument/2006/relationships/image" Target="../media/image207.png"/><Relationship Id="rId10" Type="http://schemas.openxmlformats.org/officeDocument/2006/relationships/image" Target="../media/image2020.png"/><Relationship Id="rId4" Type="http://schemas.openxmlformats.org/officeDocument/2006/relationships/image" Target="../media/image1960.png"/><Relationship Id="rId9" Type="http://schemas.openxmlformats.org/officeDocument/2006/relationships/image" Target="../media/image2010.png"/><Relationship Id="rId14" Type="http://schemas.openxmlformats.org/officeDocument/2006/relationships/image" Target="../media/image206.png"/></Relationships>
</file>

<file path=ppt/slides/_rels/slide14.xml.rels><?xml version="1.0" encoding="UTF-8" standalone="yes"?>
<Relationships xmlns="http://schemas.openxmlformats.org/package/2006/relationships"><Relationship Id="rId18" Type="http://schemas.openxmlformats.org/officeDocument/2006/relationships/image" Target="../media/image57.png"/><Relationship Id="rId26" Type="http://schemas.openxmlformats.org/officeDocument/2006/relationships/image" Target="../media/image65.png"/><Relationship Id="rId21" Type="http://schemas.openxmlformats.org/officeDocument/2006/relationships/image" Target="../media/image60.png"/><Relationship Id="rId17" Type="http://schemas.openxmlformats.org/officeDocument/2006/relationships/image" Target="../media/image55.png"/><Relationship Id="rId25" Type="http://schemas.openxmlformats.org/officeDocument/2006/relationships/image" Target="../media/image64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54.png"/><Relationship Id="rId20" Type="http://schemas.openxmlformats.org/officeDocument/2006/relationships/image" Target="../media/image59.png"/><Relationship Id="rId29" Type="http://schemas.openxmlformats.org/officeDocument/2006/relationships/image" Target="../media/image68.png"/><Relationship Id="rId1" Type="http://schemas.openxmlformats.org/officeDocument/2006/relationships/slideLayout" Target="../slideLayouts/slideLayout2.xml"/><Relationship Id="rId24" Type="http://schemas.openxmlformats.org/officeDocument/2006/relationships/image" Target="../media/image63.png"/><Relationship Id="rId15" Type="http://schemas.openxmlformats.org/officeDocument/2006/relationships/image" Target="../media/image53.png"/><Relationship Id="rId23" Type="http://schemas.openxmlformats.org/officeDocument/2006/relationships/image" Target="../media/image62.png"/><Relationship Id="rId28" Type="http://schemas.openxmlformats.org/officeDocument/2006/relationships/image" Target="../media/image67.png"/><Relationship Id="rId19" Type="http://schemas.openxmlformats.org/officeDocument/2006/relationships/image" Target="../media/image58.png"/><Relationship Id="rId14" Type="http://schemas.openxmlformats.org/officeDocument/2006/relationships/image" Target="../media/image221.png"/><Relationship Id="rId22" Type="http://schemas.openxmlformats.org/officeDocument/2006/relationships/image" Target="../media/image61.png"/><Relationship Id="rId27" Type="http://schemas.openxmlformats.org/officeDocument/2006/relationships/image" Target="../media/image66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13" Type="http://schemas.openxmlformats.org/officeDocument/2006/relationships/image" Target="../media/image61.png"/><Relationship Id="rId18" Type="http://schemas.openxmlformats.org/officeDocument/2006/relationships/image" Target="../media/image66.png"/><Relationship Id="rId3" Type="http://schemas.openxmlformats.org/officeDocument/2006/relationships/image" Target="../media/image69.png"/><Relationship Id="rId7" Type="http://schemas.openxmlformats.org/officeDocument/2006/relationships/image" Target="../media/image54.png"/><Relationship Id="rId12" Type="http://schemas.openxmlformats.org/officeDocument/2006/relationships/image" Target="../media/image60.png"/><Relationship Id="rId17" Type="http://schemas.openxmlformats.org/officeDocument/2006/relationships/image" Target="../media/image65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64.png"/><Relationship Id="rId20" Type="http://schemas.openxmlformats.org/officeDocument/2006/relationships/image" Target="../media/image6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3.png"/><Relationship Id="rId11" Type="http://schemas.openxmlformats.org/officeDocument/2006/relationships/image" Target="../media/image59.png"/><Relationship Id="rId5" Type="http://schemas.openxmlformats.org/officeDocument/2006/relationships/image" Target="../media/image71.png"/><Relationship Id="rId15" Type="http://schemas.openxmlformats.org/officeDocument/2006/relationships/image" Target="../media/image63.png"/><Relationship Id="rId10" Type="http://schemas.openxmlformats.org/officeDocument/2006/relationships/image" Target="../media/image58.png"/><Relationship Id="rId19" Type="http://schemas.openxmlformats.org/officeDocument/2006/relationships/image" Target="../media/image67.png"/><Relationship Id="rId4" Type="http://schemas.openxmlformats.org/officeDocument/2006/relationships/image" Target="../media/image70.png"/><Relationship Id="rId9" Type="http://schemas.openxmlformats.org/officeDocument/2006/relationships/image" Target="../media/image57.png"/><Relationship Id="rId14" Type="http://schemas.openxmlformats.org/officeDocument/2006/relationships/image" Target="../media/image62.png"/></Relationships>
</file>

<file path=ppt/slides/_rels/slide16.xml.rels><?xml version="1.0" encoding="UTF-8" standalone="yes"?>
<Relationships xmlns="http://schemas.openxmlformats.org/package/2006/relationships"><Relationship Id="rId39" Type="http://schemas.openxmlformats.org/officeDocument/2006/relationships/image" Target="../media/image63.png"/><Relationship Id="rId34" Type="http://schemas.openxmlformats.org/officeDocument/2006/relationships/image" Target="../media/image58.png"/><Relationship Id="rId42" Type="http://schemas.openxmlformats.org/officeDocument/2006/relationships/image" Target="../media/image66.png"/><Relationship Id="rId33" Type="http://schemas.openxmlformats.org/officeDocument/2006/relationships/image" Target="../media/image57.png"/><Relationship Id="rId38" Type="http://schemas.openxmlformats.org/officeDocument/2006/relationships/image" Target="../media/image62.png"/><Relationship Id="rId2" Type="http://schemas.openxmlformats.org/officeDocument/2006/relationships/notesSlide" Target="../notesSlides/notesSlide5.xml"/><Relationship Id="rId29" Type="http://schemas.openxmlformats.org/officeDocument/2006/relationships/image" Target="../media/image53.png"/><Relationship Id="rId41" Type="http://schemas.openxmlformats.org/officeDocument/2006/relationships/image" Target="../media/image65.png"/><Relationship Id="rId1" Type="http://schemas.openxmlformats.org/officeDocument/2006/relationships/slideLayout" Target="../slideLayouts/slideLayout2.xml"/><Relationship Id="rId32" Type="http://schemas.openxmlformats.org/officeDocument/2006/relationships/image" Target="../media/image55.png"/><Relationship Id="rId37" Type="http://schemas.openxmlformats.org/officeDocument/2006/relationships/image" Target="../media/image61.png"/><Relationship Id="rId40" Type="http://schemas.openxmlformats.org/officeDocument/2006/relationships/image" Target="../media/image64.png"/><Relationship Id="rId28" Type="http://schemas.openxmlformats.org/officeDocument/2006/relationships/image" Target="../media/image240.png"/><Relationship Id="rId36" Type="http://schemas.openxmlformats.org/officeDocument/2006/relationships/image" Target="../media/image60.png"/><Relationship Id="rId31" Type="http://schemas.openxmlformats.org/officeDocument/2006/relationships/image" Target="../media/image54.png"/><Relationship Id="rId44" Type="http://schemas.openxmlformats.org/officeDocument/2006/relationships/image" Target="../media/image68.png"/><Relationship Id="rId30" Type="http://schemas.openxmlformats.org/officeDocument/2006/relationships/image" Target="../media/image72.png"/><Relationship Id="rId35" Type="http://schemas.openxmlformats.org/officeDocument/2006/relationships/image" Target="../media/image59.png"/><Relationship Id="rId43" Type="http://schemas.openxmlformats.org/officeDocument/2006/relationships/image" Target="../media/image67.png"/></Relationships>
</file>

<file path=ppt/slides/_rels/slide17.xml.rels><?xml version="1.0" encoding="UTF-8" standalone="yes"?>
<Relationships xmlns="http://schemas.openxmlformats.org/package/2006/relationships"><Relationship Id="rId18" Type="http://schemas.openxmlformats.org/officeDocument/2006/relationships/image" Target="../media/image226.png"/><Relationship Id="rId26" Type="http://schemas.openxmlformats.org/officeDocument/2006/relationships/image" Target="../media/image231.png"/><Relationship Id="rId21" Type="http://schemas.openxmlformats.org/officeDocument/2006/relationships/image" Target="../media/image228.png"/><Relationship Id="rId17" Type="http://schemas.openxmlformats.org/officeDocument/2006/relationships/image" Target="../media/image225.png"/><Relationship Id="rId25" Type="http://schemas.openxmlformats.org/officeDocument/2006/relationships/image" Target="../media/image180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224.png"/><Relationship Id="rId20" Type="http://schemas.openxmlformats.org/officeDocument/2006/relationships/image" Target="../media/image36.png"/><Relationship Id="rId29" Type="http://schemas.openxmlformats.org/officeDocument/2006/relationships/image" Target="../media/image53.png"/><Relationship Id="rId1" Type="http://schemas.openxmlformats.org/officeDocument/2006/relationships/slideLayout" Target="../slideLayouts/slideLayout2.xml"/><Relationship Id="rId24" Type="http://schemas.openxmlformats.org/officeDocument/2006/relationships/image" Target="../media/image96.png"/><Relationship Id="rId15" Type="http://schemas.openxmlformats.org/officeDocument/2006/relationships/image" Target="../media/image223.png"/><Relationship Id="rId23" Type="http://schemas.openxmlformats.org/officeDocument/2006/relationships/image" Target="../media/image230.png"/><Relationship Id="rId28" Type="http://schemas.openxmlformats.org/officeDocument/2006/relationships/image" Target="../media/image242.png"/><Relationship Id="rId19" Type="http://schemas.openxmlformats.org/officeDocument/2006/relationships/image" Target="../media/image227.png"/><Relationship Id="rId14" Type="http://schemas.openxmlformats.org/officeDocument/2006/relationships/image" Target="../media/image222.png"/><Relationship Id="rId22" Type="http://schemas.openxmlformats.org/officeDocument/2006/relationships/image" Target="../media/image229.png"/><Relationship Id="rId27" Type="http://schemas.openxmlformats.org/officeDocument/2006/relationships/image" Target="../media/image232.png"/><Relationship Id="rId30" Type="http://schemas.openxmlformats.org/officeDocument/2006/relationships/image" Target="../media/image73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5.png"/><Relationship Id="rId13" Type="http://schemas.openxmlformats.org/officeDocument/2006/relationships/image" Target="../media/image220.png"/><Relationship Id="rId18" Type="http://schemas.openxmlformats.org/officeDocument/2006/relationships/image" Target="../media/image226.png"/><Relationship Id="rId26" Type="http://schemas.openxmlformats.org/officeDocument/2006/relationships/image" Target="../media/image231.png"/><Relationship Id="rId3" Type="http://schemas.openxmlformats.org/officeDocument/2006/relationships/image" Target="../media/image210.png"/><Relationship Id="rId21" Type="http://schemas.openxmlformats.org/officeDocument/2006/relationships/image" Target="../media/image228.png"/><Relationship Id="rId7" Type="http://schemas.openxmlformats.org/officeDocument/2006/relationships/image" Target="../media/image214.png"/><Relationship Id="rId12" Type="http://schemas.openxmlformats.org/officeDocument/2006/relationships/image" Target="../media/image219.png"/><Relationship Id="rId17" Type="http://schemas.openxmlformats.org/officeDocument/2006/relationships/image" Target="../media/image225.png"/><Relationship Id="rId25" Type="http://schemas.openxmlformats.org/officeDocument/2006/relationships/image" Target="../media/image180.pn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224.png"/><Relationship Id="rId20" Type="http://schemas.openxmlformats.org/officeDocument/2006/relationships/image" Target="../media/image36.png"/><Relationship Id="rId29" Type="http://schemas.openxmlformats.org/officeDocument/2006/relationships/image" Target="../media/image24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3.png"/><Relationship Id="rId11" Type="http://schemas.openxmlformats.org/officeDocument/2006/relationships/image" Target="../media/image218.png"/><Relationship Id="rId24" Type="http://schemas.openxmlformats.org/officeDocument/2006/relationships/image" Target="../media/image96.png"/><Relationship Id="rId5" Type="http://schemas.openxmlformats.org/officeDocument/2006/relationships/image" Target="../media/image212.png"/><Relationship Id="rId15" Type="http://schemas.openxmlformats.org/officeDocument/2006/relationships/image" Target="../media/image223.png"/><Relationship Id="rId23" Type="http://schemas.openxmlformats.org/officeDocument/2006/relationships/image" Target="../media/image230.png"/><Relationship Id="rId28" Type="http://schemas.openxmlformats.org/officeDocument/2006/relationships/image" Target="../media/image244.png"/><Relationship Id="rId10" Type="http://schemas.openxmlformats.org/officeDocument/2006/relationships/image" Target="../media/image217.png"/><Relationship Id="rId19" Type="http://schemas.openxmlformats.org/officeDocument/2006/relationships/image" Target="../media/image227.png"/><Relationship Id="rId4" Type="http://schemas.openxmlformats.org/officeDocument/2006/relationships/image" Target="../media/image211.png"/><Relationship Id="rId9" Type="http://schemas.openxmlformats.org/officeDocument/2006/relationships/image" Target="../media/image216.png"/><Relationship Id="rId14" Type="http://schemas.openxmlformats.org/officeDocument/2006/relationships/image" Target="../media/image222.png"/><Relationship Id="rId22" Type="http://schemas.openxmlformats.org/officeDocument/2006/relationships/image" Target="../media/image229.png"/><Relationship Id="rId27" Type="http://schemas.openxmlformats.org/officeDocument/2006/relationships/image" Target="../media/image232.png"/><Relationship Id="rId30" Type="http://schemas.openxmlformats.org/officeDocument/2006/relationships/image" Target="../media/image7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A5EEAB-0A19-CBB8-4A46-A7B7E789C4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F2837F-B06D-1A7E-5569-705D408634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4661" y="1293096"/>
            <a:ext cx="11538858" cy="2125129"/>
          </a:xfrm>
        </p:spPr>
        <p:txBody>
          <a:bodyPr/>
          <a:lstStyle/>
          <a:p>
            <a:r>
              <a:rPr lang="en-CA" sz="4800" b="1" dirty="0"/>
              <a:t>Entanglement certification:</a:t>
            </a:r>
            <a:br>
              <a:rPr lang="en-CA" sz="4800" b="1" dirty="0"/>
            </a:br>
            <a:r>
              <a:rPr lang="en-CA" sz="3200" dirty="0"/>
              <a:t>N</a:t>
            </a:r>
            <a:r>
              <a:rPr lang="en-CA" sz="3200" b="1" dirty="0"/>
              <a:t>oncontextuality inequalities and self-consistent certification</a:t>
            </a:r>
            <a:br>
              <a:rPr lang="en-CA" sz="4800" b="1" dirty="0"/>
            </a:br>
            <a:br>
              <a:rPr lang="en-US" sz="4800" dirty="0"/>
            </a:br>
            <a:endParaRPr lang="en-US" sz="4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160093-A18A-C759-1327-CC3B384AD1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2740" y="3837710"/>
            <a:ext cx="1634477" cy="943012"/>
          </a:xfrm>
        </p:spPr>
        <p:txBody>
          <a:bodyPr>
            <a:noAutofit/>
          </a:bodyPr>
          <a:lstStyle/>
          <a:p>
            <a:r>
              <a:rPr lang="en-US" sz="2000" dirty="0" err="1">
                <a:solidFill>
                  <a:schemeClr val="tx1"/>
                </a:solidFill>
              </a:rPr>
              <a:t>Yujie</a:t>
            </a:r>
            <a:r>
              <a:rPr lang="en-US" sz="2000" dirty="0">
                <a:solidFill>
                  <a:schemeClr val="tx1"/>
                </a:solidFill>
              </a:rPr>
              <a:t> Zhang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B16DACE7-21CA-05B1-6A8A-EF129F7FC21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11150" y="2355661"/>
            <a:ext cx="1182916" cy="377962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prstClr val="black"/>
                </a:solidFill>
              </a:rPr>
              <a:t>07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/03/2026</a:t>
            </a:r>
          </a:p>
        </p:txBody>
      </p:sp>
      <p:sp>
        <p:nvSpPr>
          <p:cNvPr id="101" name="Rectangle 1">
            <a:extLst>
              <a:ext uri="{FF2B5EF4-FFF2-40B4-BE49-F238E27FC236}">
                <a16:creationId xmlns:a16="http://schemas.microsoft.com/office/drawing/2014/main" id="{D7057D9F-905B-C9D8-47A5-0E34D52317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1150" y="4239185"/>
            <a:ext cx="4212072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BDA21B7-E59E-3CF9-79F9-A0EFB84E5AE1}"/>
              </a:ext>
            </a:extLst>
          </p:cNvPr>
          <p:cNvSpPr txBox="1"/>
          <p:nvPr/>
        </p:nvSpPr>
        <p:spPr>
          <a:xfrm>
            <a:off x="311150" y="4381720"/>
            <a:ext cx="11490768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400" dirty="0">
                <a:solidFill>
                  <a:schemeClr val="bg2">
                    <a:lumMod val="75000"/>
                  </a:schemeClr>
                </a:solidFill>
              </a:rPr>
              <a:t>arXiv:2503.05884 (2025)</a:t>
            </a:r>
            <a:endParaRPr lang="en-CA" sz="1400" i="0" dirty="0">
              <a:solidFill>
                <a:schemeClr val="bg2">
                  <a:lumMod val="75000"/>
                </a:schemeClr>
              </a:solidFill>
              <a:effectLst/>
            </a:endParaRPr>
          </a:p>
          <a:p>
            <a:r>
              <a:rPr lang="en-CA" sz="1400" i="0" dirty="0">
                <a:solidFill>
                  <a:schemeClr val="bg2">
                    <a:lumMod val="75000"/>
                  </a:schemeClr>
                </a:solidFill>
                <a:effectLst/>
              </a:rPr>
              <a:t>arXiv:2504.02944 (2025</a:t>
            </a:r>
            <a:r>
              <a:rPr lang="en-CA" sz="1400" dirty="0">
                <a:solidFill>
                  <a:schemeClr val="bg2">
                    <a:lumMod val="75000"/>
                  </a:schemeClr>
                </a:solidFill>
              </a:rPr>
              <a:t>)</a:t>
            </a:r>
          </a:p>
          <a:p>
            <a:r>
              <a:rPr lang="en-CA" sz="1400" u="sng" dirty="0"/>
              <a:t>arXiv:2507.01122 (2025)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EB550D9-417B-DF8D-0DA0-07A1941A62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8447" y="3325499"/>
            <a:ext cx="5450813" cy="2851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68602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8319A5-4C50-9D53-1587-DE2467EEA7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1B442F32-A380-F82F-2A89-71043C2DE57F}"/>
              </a:ext>
            </a:extLst>
          </p:cNvPr>
          <p:cNvGrpSpPr/>
          <p:nvPr/>
        </p:nvGrpSpPr>
        <p:grpSpPr>
          <a:xfrm>
            <a:off x="0" y="1549668"/>
            <a:ext cx="12039600" cy="3758663"/>
            <a:chOff x="46875" y="1838394"/>
            <a:chExt cx="7831320" cy="2292643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208A70C0-70F7-3D28-D467-A1C75C5120F0}"/>
                </a:ext>
              </a:extLst>
            </p:cNvPr>
            <p:cNvSpPr/>
            <p:nvPr/>
          </p:nvSpPr>
          <p:spPr>
            <a:xfrm>
              <a:off x="236406" y="1849174"/>
              <a:ext cx="7543588" cy="2281863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2400" dirty="0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1BFE87AA-A64F-5DC1-6673-D5380C644078}"/>
                </a:ext>
              </a:extLst>
            </p:cNvPr>
            <p:cNvSpPr/>
            <p:nvPr/>
          </p:nvSpPr>
          <p:spPr>
            <a:xfrm>
              <a:off x="5738791" y="2422093"/>
              <a:ext cx="1052946" cy="1134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2400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8EDFF30C-0A48-F016-5F6C-9E7D557AA395}"/>
                </a:ext>
              </a:extLst>
            </p:cNvPr>
            <p:cNvSpPr/>
            <p:nvPr/>
          </p:nvSpPr>
          <p:spPr>
            <a:xfrm>
              <a:off x="5504191" y="2271748"/>
              <a:ext cx="415636" cy="41414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2400" dirty="0">
                  <a:solidFill>
                    <a:schemeClr val="tx1"/>
                  </a:solidFill>
                </a:rPr>
                <a:t>A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A0E87E65-6E4C-D401-E00D-471C3EE46C8F}"/>
                </a:ext>
              </a:extLst>
            </p:cNvPr>
            <p:cNvSpPr/>
            <p:nvPr/>
          </p:nvSpPr>
          <p:spPr>
            <a:xfrm>
              <a:off x="6538261" y="2271748"/>
              <a:ext cx="415636" cy="41414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2400" dirty="0">
                  <a:solidFill>
                    <a:schemeClr val="tx1"/>
                  </a:solidFill>
                </a:rPr>
                <a:t>B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" name="TextBox 8">
                  <a:extLst>
                    <a:ext uri="{FF2B5EF4-FFF2-40B4-BE49-F238E27FC236}">
                      <a16:creationId xmlns:a16="http://schemas.microsoft.com/office/drawing/2014/main" id="{BD46A8FA-59FA-6141-1360-73F53DE084BD}"/>
                    </a:ext>
                  </a:extLst>
                </p:cNvPr>
                <p:cNvSpPr txBox="1"/>
                <p:nvPr/>
              </p:nvSpPr>
              <p:spPr>
                <a:xfrm>
                  <a:off x="6093145" y="2134655"/>
                  <a:ext cx="440492" cy="225865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𝜌</m:t>
                            </m:r>
                          </m:e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𝐴𝐵</m:t>
                            </m:r>
                          </m:sup>
                        </m:sSup>
                      </m:oMath>
                    </m:oMathPara>
                  </a14:m>
                  <a:endParaRPr lang="en-US" sz="2400" dirty="0"/>
                </a:p>
              </p:txBody>
            </p:sp>
          </mc:Choice>
          <mc:Fallback>
            <p:sp>
              <p:nvSpPr>
                <p:cNvPr id="10" name="TextBox 8">
                  <a:extLst>
                    <a:ext uri="{FF2B5EF4-FFF2-40B4-BE49-F238E27FC236}">
                      <a16:creationId xmlns:a16="http://schemas.microsoft.com/office/drawing/2014/main" id="{BD46A8FA-59FA-6141-1360-73F53DE084B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93145" y="2134655"/>
                  <a:ext cx="440492" cy="225865"/>
                </a:xfrm>
                <a:prstGeom prst="rect">
                  <a:avLst/>
                </a:prstGeom>
                <a:blipFill>
                  <a:blip r:embed="rId2"/>
                  <a:stretch>
                    <a:fillRect l="-3704" b="-23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77065C8C-5868-1E2E-6413-E772E2D7633F}"/>
                </a:ext>
              </a:extLst>
            </p:cNvPr>
            <p:cNvCxnSpPr/>
            <p:nvPr/>
          </p:nvCxnSpPr>
          <p:spPr>
            <a:xfrm>
              <a:off x="6736843" y="2083021"/>
              <a:ext cx="0" cy="175614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10FD4D5C-308A-BFBB-0755-1E1761454885}"/>
                </a:ext>
              </a:extLst>
            </p:cNvPr>
            <p:cNvCxnSpPr/>
            <p:nvPr/>
          </p:nvCxnSpPr>
          <p:spPr>
            <a:xfrm>
              <a:off x="6769170" y="2734190"/>
              <a:ext cx="0" cy="175614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84DCE546-BE35-3AD2-2C32-A68A084018F5}"/>
                </a:ext>
              </a:extLst>
            </p:cNvPr>
            <p:cNvCxnSpPr/>
            <p:nvPr/>
          </p:nvCxnSpPr>
          <p:spPr>
            <a:xfrm>
              <a:off x="5688512" y="2078405"/>
              <a:ext cx="0" cy="175614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8726DE82-05B1-8F28-A642-D8BA5EFF8D10}"/>
                </a:ext>
              </a:extLst>
            </p:cNvPr>
            <p:cNvCxnSpPr/>
            <p:nvPr/>
          </p:nvCxnSpPr>
          <p:spPr>
            <a:xfrm>
              <a:off x="5725464" y="2734183"/>
              <a:ext cx="0" cy="175614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15" name="TextBox 13">
              <a:extLst>
                <a:ext uri="{FF2B5EF4-FFF2-40B4-BE49-F238E27FC236}">
                  <a16:creationId xmlns:a16="http://schemas.microsoft.com/office/drawing/2014/main" id="{E7F98768-0E5D-257A-FF8B-DDE442A8994C}"/>
                </a:ext>
              </a:extLst>
            </p:cNvPr>
            <p:cNvSpPr txBox="1"/>
            <p:nvPr/>
          </p:nvSpPr>
          <p:spPr>
            <a:xfrm>
              <a:off x="5570299" y="1838394"/>
              <a:ext cx="164401" cy="2065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600" dirty="0"/>
                <a:t>x</a:t>
              </a:r>
            </a:p>
          </p:txBody>
        </p:sp>
        <p:sp>
          <p:nvSpPr>
            <p:cNvPr id="16" name="TextBox 14">
              <a:extLst>
                <a:ext uri="{FF2B5EF4-FFF2-40B4-BE49-F238E27FC236}">
                  <a16:creationId xmlns:a16="http://schemas.microsoft.com/office/drawing/2014/main" id="{FF415198-3B75-DA64-B3D1-75887E19D88D}"/>
                </a:ext>
              </a:extLst>
            </p:cNvPr>
            <p:cNvSpPr txBox="1"/>
            <p:nvPr/>
          </p:nvSpPr>
          <p:spPr>
            <a:xfrm>
              <a:off x="6601257" y="1849174"/>
              <a:ext cx="200414" cy="2065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600" dirty="0"/>
                <a:t>y</a:t>
              </a:r>
            </a:p>
          </p:txBody>
        </p:sp>
        <p:sp>
          <p:nvSpPr>
            <p:cNvPr id="17" name="TextBox 15">
              <a:extLst>
                <a:ext uri="{FF2B5EF4-FFF2-40B4-BE49-F238E27FC236}">
                  <a16:creationId xmlns:a16="http://schemas.microsoft.com/office/drawing/2014/main" id="{FA04E575-C327-B882-B55B-06AAB64EECA3}"/>
                </a:ext>
              </a:extLst>
            </p:cNvPr>
            <p:cNvSpPr txBox="1"/>
            <p:nvPr/>
          </p:nvSpPr>
          <p:spPr>
            <a:xfrm>
              <a:off x="6614484" y="2865740"/>
              <a:ext cx="222566" cy="2065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600" dirty="0"/>
                <a:t>b</a:t>
              </a:r>
            </a:p>
          </p:txBody>
        </p:sp>
        <p:sp>
          <p:nvSpPr>
            <p:cNvPr id="18" name="TextBox 16">
              <a:extLst>
                <a:ext uri="{FF2B5EF4-FFF2-40B4-BE49-F238E27FC236}">
                  <a16:creationId xmlns:a16="http://schemas.microsoft.com/office/drawing/2014/main" id="{0DCB51D9-16E6-92F3-1203-06E69F679803}"/>
                </a:ext>
              </a:extLst>
            </p:cNvPr>
            <p:cNvSpPr txBox="1"/>
            <p:nvPr/>
          </p:nvSpPr>
          <p:spPr>
            <a:xfrm>
              <a:off x="5575389" y="2851485"/>
              <a:ext cx="222566" cy="2065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600" dirty="0"/>
                <a:t>a</a:t>
              </a: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AFD0E117-DA72-6B9D-A677-5BF7879BFA81}"/>
                </a:ext>
              </a:extLst>
            </p:cNvPr>
            <p:cNvSpPr/>
            <p:nvPr/>
          </p:nvSpPr>
          <p:spPr>
            <a:xfrm>
              <a:off x="3295273" y="2424216"/>
              <a:ext cx="1052946" cy="113456"/>
            </a:xfrm>
            <a:prstGeom prst="rect">
              <a:avLst/>
            </a:prstGeom>
            <a:solidFill>
              <a:srgbClr val="FF66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2400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F9252297-CA52-7610-1DA2-6BDC6C5AFA19}"/>
                </a:ext>
              </a:extLst>
            </p:cNvPr>
            <p:cNvSpPr/>
            <p:nvPr/>
          </p:nvSpPr>
          <p:spPr>
            <a:xfrm>
              <a:off x="3060673" y="2273871"/>
              <a:ext cx="415636" cy="41414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2400" dirty="0">
                  <a:solidFill>
                    <a:schemeClr val="tx1"/>
                  </a:solidFill>
                </a:rPr>
                <a:t>A</a:t>
              </a: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255ECA0B-DE84-A0B7-7622-9104419E69EF}"/>
                </a:ext>
              </a:extLst>
            </p:cNvPr>
            <p:cNvSpPr/>
            <p:nvPr/>
          </p:nvSpPr>
          <p:spPr>
            <a:xfrm>
              <a:off x="4094743" y="2273871"/>
              <a:ext cx="415636" cy="414146"/>
            </a:xfrm>
            <a:prstGeom prst="ellipse">
              <a:avLst/>
            </a:prstGeom>
            <a:solidFill>
              <a:srgbClr val="EE5C1A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2400" dirty="0">
                  <a:solidFill>
                    <a:schemeClr val="tx1"/>
                  </a:solidFill>
                </a:rPr>
                <a:t>B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2" name="TextBox 20">
                  <a:extLst>
                    <a:ext uri="{FF2B5EF4-FFF2-40B4-BE49-F238E27FC236}">
                      <a16:creationId xmlns:a16="http://schemas.microsoft.com/office/drawing/2014/main" id="{013E3972-9211-98B7-281D-932687843803}"/>
                    </a:ext>
                  </a:extLst>
                </p:cNvPr>
                <p:cNvSpPr txBox="1"/>
                <p:nvPr/>
              </p:nvSpPr>
              <p:spPr>
                <a:xfrm>
                  <a:off x="3643076" y="2138364"/>
                  <a:ext cx="440492" cy="225865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𝜌</m:t>
                            </m:r>
                          </m:e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𝐴𝐵</m:t>
                            </m:r>
                          </m:sup>
                        </m:sSup>
                      </m:oMath>
                    </m:oMathPara>
                  </a14:m>
                  <a:endParaRPr lang="en-US" sz="2400" dirty="0"/>
                </a:p>
              </p:txBody>
            </p:sp>
          </mc:Choice>
          <mc:Fallback>
            <p:sp>
              <p:nvSpPr>
                <p:cNvPr id="22" name="TextBox 20">
                  <a:extLst>
                    <a:ext uri="{FF2B5EF4-FFF2-40B4-BE49-F238E27FC236}">
                      <a16:creationId xmlns:a16="http://schemas.microsoft.com/office/drawing/2014/main" id="{013E3972-9211-98B7-281D-93268784380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43076" y="2138364"/>
                  <a:ext cx="440492" cy="225865"/>
                </a:xfrm>
                <a:prstGeom prst="rect">
                  <a:avLst/>
                </a:prstGeom>
                <a:blipFill>
                  <a:blip r:embed="rId3"/>
                  <a:stretch>
                    <a:fillRect l="-3704" b="-1935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C99CF4FD-D206-FE4C-EFB4-E8A2909E307D}"/>
                </a:ext>
              </a:extLst>
            </p:cNvPr>
            <p:cNvCxnSpPr/>
            <p:nvPr/>
          </p:nvCxnSpPr>
          <p:spPr>
            <a:xfrm>
              <a:off x="3254230" y="2080528"/>
              <a:ext cx="0" cy="175614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3CF70A3A-62C7-7670-9247-2CD0CAAF1E6D}"/>
                </a:ext>
              </a:extLst>
            </p:cNvPr>
            <p:cNvCxnSpPr/>
            <p:nvPr/>
          </p:nvCxnSpPr>
          <p:spPr>
            <a:xfrm>
              <a:off x="3281946" y="2736306"/>
              <a:ext cx="0" cy="175614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5" name="TextBox 23">
                  <a:extLst>
                    <a:ext uri="{FF2B5EF4-FFF2-40B4-BE49-F238E27FC236}">
                      <a16:creationId xmlns:a16="http://schemas.microsoft.com/office/drawing/2014/main" id="{62BD89B3-CC82-82A2-904A-CDF6F26C1B4E}"/>
                    </a:ext>
                  </a:extLst>
                </p:cNvPr>
                <p:cNvSpPr txBox="1"/>
                <p:nvPr/>
              </p:nvSpPr>
              <p:spPr>
                <a:xfrm>
                  <a:off x="3695882" y="2727240"/>
                  <a:ext cx="164401" cy="20650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oMath>
                    </m:oMathPara>
                  </a14:m>
                  <a:endParaRPr lang="en-US" sz="1600" dirty="0"/>
                </a:p>
              </p:txBody>
            </p:sp>
          </mc:Choice>
          <mc:Fallback>
            <p:sp>
              <p:nvSpPr>
                <p:cNvPr id="25" name="TextBox 23">
                  <a:extLst>
                    <a:ext uri="{FF2B5EF4-FFF2-40B4-BE49-F238E27FC236}">
                      <a16:creationId xmlns:a16="http://schemas.microsoft.com/office/drawing/2014/main" id="{62BD89B3-CC82-82A2-904A-CDF6F26C1B4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95882" y="2727240"/>
                  <a:ext cx="164401" cy="206505"/>
                </a:xfrm>
                <a:prstGeom prst="rect">
                  <a:avLst/>
                </a:prstGeom>
                <a:blipFill>
                  <a:blip r:embed="rId4"/>
                  <a:stretch>
                    <a:fillRect r="-476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6" name="TextBox 24">
              <a:extLst>
                <a:ext uri="{FF2B5EF4-FFF2-40B4-BE49-F238E27FC236}">
                  <a16:creationId xmlns:a16="http://schemas.microsoft.com/office/drawing/2014/main" id="{D2AB7A97-0495-8EED-ED88-322465624B3C}"/>
                </a:ext>
              </a:extLst>
            </p:cNvPr>
            <p:cNvSpPr txBox="1"/>
            <p:nvPr/>
          </p:nvSpPr>
          <p:spPr>
            <a:xfrm>
              <a:off x="3127660" y="2856504"/>
              <a:ext cx="222566" cy="2065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600" dirty="0"/>
                <a:t>a</a:t>
              </a:r>
            </a:p>
          </p:txBody>
        </p:sp>
        <p:cxnSp>
          <p:nvCxnSpPr>
            <p:cNvPr id="27" name="Connector: Curved 26">
              <a:extLst>
                <a:ext uri="{FF2B5EF4-FFF2-40B4-BE49-F238E27FC236}">
                  <a16:creationId xmlns:a16="http://schemas.microsoft.com/office/drawing/2014/main" id="{FCA8BFF9-9941-1512-4E17-CC34D3A1D4F5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6249048" y="2304689"/>
              <a:ext cx="12700" cy="740170"/>
            </a:xfrm>
            <a:prstGeom prst="curvedConnector3">
              <a:avLst>
                <a:gd name="adj1" fmla="val 2277559"/>
              </a:avLst>
            </a:prstGeom>
            <a:ln w="9525" cap="flat" cmpd="sng" algn="ctr">
              <a:solidFill>
                <a:schemeClr val="dk1"/>
              </a:solidFill>
              <a:prstDash val="dash"/>
              <a:round/>
              <a:headEnd type="triangle" w="med" len="med"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28" name="Connector: Curved 27">
              <a:extLst>
                <a:ext uri="{FF2B5EF4-FFF2-40B4-BE49-F238E27FC236}">
                  <a16:creationId xmlns:a16="http://schemas.microsoft.com/office/drawing/2014/main" id="{4A5A7756-879A-245F-A039-FCBEABD153A8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3795176" y="2308153"/>
              <a:ext cx="12700" cy="740170"/>
            </a:xfrm>
            <a:prstGeom prst="curvedConnector3">
              <a:avLst>
                <a:gd name="adj1" fmla="val 2277559"/>
              </a:avLst>
            </a:prstGeom>
            <a:ln w="9525" cap="flat" cmpd="sng" algn="ctr">
              <a:solidFill>
                <a:schemeClr val="dk1"/>
              </a:solidFill>
              <a:prstDash val="dash"/>
              <a:round/>
              <a:headEnd type="triangle" w="med" len="med"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3374550C-325D-8482-067C-AC26EDDB27BE}"/>
                </a:ext>
              </a:extLst>
            </p:cNvPr>
            <p:cNvSpPr/>
            <p:nvPr/>
          </p:nvSpPr>
          <p:spPr>
            <a:xfrm>
              <a:off x="936834" y="2423853"/>
              <a:ext cx="1052946" cy="113456"/>
            </a:xfrm>
            <a:prstGeom prst="rect">
              <a:avLst/>
            </a:prstGeom>
            <a:solidFill>
              <a:srgbClr val="FF66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2400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75ED50AF-6CFC-82B5-F276-D732B2FBF09C}"/>
                </a:ext>
              </a:extLst>
            </p:cNvPr>
            <p:cNvSpPr/>
            <p:nvPr/>
          </p:nvSpPr>
          <p:spPr>
            <a:xfrm>
              <a:off x="702234" y="2273508"/>
              <a:ext cx="415636" cy="414146"/>
            </a:xfrm>
            <a:prstGeom prst="ellipse">
              <a:avLst/>
            </a:prstGeom>
            <a:solidFill>
              <a:srgbClr val="EE5C1A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2400" dirty="0">
                  <a:solidFill>
                    <a:schemeClr val="tx1"/>
                  </a:solidFill>
                </a:rPr>
                <a:t>A</a:t>
              </a:r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955729FA-216E-FDAE-1834-056918EE109D}"/>
                </a:ext>
              </a:extLst>
            </p:cNvPr>
            <p:cNvSpPr/>
            <p:nvPr/>
          </p:nvSpPr>
          <p:spPr>
            <a:xfrm>
              <a:off x="1736304" y="2273508"/>
              <a:ext cx="415636" cy="414146"/>
            </a:xfrm>
            <a:prstGeom prst="ellipse">
              <a:avLst/>
            </a:prstGeom>
            <a:solidFill>
              <a:srgbClr val="EE5C1A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2400" dirty="0">
                  <a:solidFill>
                    <a:schemeClr val="tx1"/>
                  </a:solidFill>
                </a:rPr>
                <a:t>B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2" name="TextBox 30">
                  <a:extLst>
                    <a:ext uri="{FF2B5EF4-FFF2-40B4-BE49-F238E27FC236}">
                      <a16:creationId xmlns:a16="http://schemas.microsoft.com/office/drawing/2014/main" id="{3299AA75-1CD7-9D94-2585-238867539E1B}"/>
                    </a:ext>
                  </a:extLst>
                </p:cNvPr>
                <p:cNvSpPr txBox="1"/>
                <p:nvPr/>
              </p:nvSpPr>
              <p:spPr>
                <a:xfrm>
                  <a:off x="1253505" y="2139576"/>
                  <a:ext cx="440492" cy="225865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𝜌</m:t>
                            </m:r>
                          </m:e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𝐴𝐵</m:t>
                            </m:r>
                          </m:sup>
                        </m:sSup>
                      </m:oMath>
                    </m:oMathPara>
                  </a14:m>
                  <a:endParaRPr lang="en-US" sz="2400" dirty="0"/>
                </a:p>
              </p:txBody>
            </p:sp>
          </mc:Choice>
          <mc:Fallback>
            <p:sp>
              <p:nvSpPr>
                <p:cNvPr id="32" name="TextBox 30">
                  <a:extLst>
                    <a:ext uri="{FF2B5EF4-FFF2-40B4-BE49-F238E27FC236}">
                      <a16:creationId xmlns:a16="http://schemas.microsoft.com/office/drawing/2014/main" id="{3299AA75-1CD7-9D94-2585-238867539E1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53505" y="2139576"/>
                  <a:ext cx="440492" cy="225865"/>
                </a:xfrm>
                <a:prstGeom prst="rect">
                  <a:avLst/>
                </a:prstGeom>
                <a:blipFill>
                  <a:blip r:embed="rId5"/>
                  <a:stretch>
                    <a:fillRect l="-1818" b="-2258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3" name="Connector: Curved 32">
              <a:extLst>
                <a:ext uri="{FF2B5EF4-FFF2-40B4-BE49-F238E27FC236}">
                  <a16:creationId xmlns:a16="http://schemas.microsoft.com/office/drawing/2014/main" id="{0DF8A954-2848-5378-E01F-A7D31DD498C1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1406734" y="2295164"/>
              <a:ext cx="12700" cy="740170"/>
            </a:xfrm>
            <a:prstGeom prst="curvedConnector3">
              <a:avLst>
                <a:gd name="adj1" fmla="val 2277559"/>
              </a:avLst>
            </a:prstGeom>
            <a:ln w="38100" cap="flat" cmpd="sng" algn="ctr">
              <a:solidFill>
                <a:schemeClr val="accent2"/>
              </a:solidFill>
              <a:prstDash val="solid"/>
              <a:round/>
              <a:headEnd type="triangle" w="med" len="med"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4" name="TextBox 32">
                  <a:extLst>
                    <a:ext uri="{FF2B5EF4-FFF2-40B4-BE49-F238E27FC236}">
                      <a16:creationId xmlns:a16="http://schemas.microsoft.com/office/drawing/2014/main" id="{673A5E93-048C-95D1-E81B-570CF8037782}"/>
                    </a:ext>
                  </a:extLst>
                </p:cNvPr>
                <p:cNvSpPr txBox="1"/>
                <p:nvPr/>
              </p:nvSpPr>
              <p:spPr>
                <a:xfrm>
                  <a:off x="443797" y="3154832"/>
                  <a:ext cx="1931217" cy="30709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𝜌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nary>
                          <m:naryPr>
                            <m:supHide m:val="on"/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sty m:val="p"/>
                              </m:rPr>
                              <a:rPr lang="en-US" sz="1600" b="0" i="0" smtClean="0">
                                <a:latin typeface="Cambria Math" panose="02040503050406030204" pitchFamily="18" charset="0"/>
                              </a:rPr>
                              <m:t>Λ</m:t>
                            </m:r>
                          </m:sub>
                          <m:sup/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</m:nary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  <m:d>
                          <m:d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</m:d>
                        <m:sSup>
                          <m:sSup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𝜌</m:t>
                            </m:r>
                          </m:e>
                          <m:sup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p>
                        </m:sSup>
                        <m:d>
                          <m:d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</m:d>
                        <m:sSup>
                          <m:sSup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𝜌</m:t>
                            </m:r>
                          </m:e>
                          <m:sup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p>
                        </m:sSup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1600" dirty="0"/>
                </a:p>
              </p:txBody>
            </p:sp>
          </mc:Choice>
          <mc:Fallback>
            <p:sp>
              <p:nvSpPr>
                <p:cNvPr id="34" name="TextBox 32">
                  <a:extLst>
                    <a:ext uri="{FF2B5EF4-FFF2-40B4-BE49-F238E27FC236}">
                      <a16:creationId xmlns:a16="http://schemas.microsoft.com/office/drawing/2014/main" id="{673A5E93-048C-95D1-E81B-570CF803778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3797" y="3154832"/>
                  <a:ext cx="1931217" cy="307098"/>
                </a:xfrm>
                <a:prstGeom prst="rect">
                  <a:avLst/>
                </a:prstGeom>
                <a:blipFill>
                  <a:blip r:embed="rId6"/>
                  <a:stretch>
                    <a:fillRect l="-4274" t="-202439" b="-28292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5" name="TextBox 33">
                  <a:extLst>
                    <a:ext uri="{FF2B5EF4-FFF2-40B4-BE49-F238E27FC236}">
                      <a16:creationId xmlns:a16="http://schemas.microsoft.com/office/drawing/2014/main" id="{CAF03FFC-F988-721A-C4E2-F06CC006334C}"/>
                    </a:ext>
                  </a:extLst>
                </p:cNvPr>
                <p:cNvSpPr txBox="1"/>
                <p:nvPr/>
              </p:nvSpPr>
              <p:spPr>
                <a:xfrm>
                  <a:off x="2640536" y="3182970"/>
                  <a:ext cx="2397056" cy="30709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𝜌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sub>
                          <m:sup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p>
                        </m:sSubSup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nary>
                          <m:naryPr>
                            <m:supHide m:val="on"/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sty m:val="p"/>
                              </m:rPr>
                              <a:rPr lang="en-US" sz="1600" b="0" i="0" smtClean="0">
                                <a:latin typeface="Cambria Math" panose="02040503050406030204" pitchFamily="18" charset="0"/>
                              </a:rPr>
                              <m:t>Λ</m:t>
                            </m:r>
                          </m:sub>
                          <m:sup/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</m:nary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  <m:d>
                          <m:d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</m:d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)</m:t>
                        </m:r>
                        <m:sSup>
                          <m:sSup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𝜌</m:t>
                            </m:r>
                          </m:e>
                          <m:sup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p>
                        </m:sSup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𝜆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1600" dirty="0"/>
                </a:p>
              </p:txBody>
            </p:sp>
          </mc:Choice>
          <mc:Fallback>
            <p:sp>
              <p:nvSpPr>
                <p:cNvPr id="35" name="TextBox 33">
                  <a:extLst>
                    <a:ext uri="{FF2B5EF4-FFF2-40B4-BE49-F238E27FC236}">
                      <a16:creationId xmlns:a16="http://schemas.microsoft.com/office/drawing/2014/main" id="{CAF03FFC-F988-721A-C4E2-F06CC006334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40536" y="3182970"/>
                  <a:ext cx="2397056" cy="307098"/>
                </a:xfrm>
                <a:prstGeom prst="rect">
                  <a:avLst/>
                </a:prstGeom>
                <a:blipFill>
                  <a:blip r:embed="rId7"/>
                  <a:stretch>
                    <a:fillRect t="-202439" b="-28048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6" name="TextBox 34">
                  <a:extLst>
                    <a:ext uri="{FF2B5EF4-FFF2-40B4-BE49-F238E27FC236}">
                      <a16:creationId xmlns:a16="http://schemas.microsoft.com/office/drawing/2014/main" id="{FF096E70-90AF-9DE3-09F2-88B5CE72C17E}"/>
                    </a:ext>
                  </a:extLst>
                </p:cNvPr>
                <p:cNvSpPr txBox="1"/>
                <p:nvPr/>
              </p:nvSpPr>
              <p:spPr>
                <a:xfrm>
                  <a:off x="6144280" y="2734183"/>
                  <a:ext cx="164401" cy="20650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oMath>
                    </m:oMathPara>
                  </a14:m>
                  <a:endParaRPr lang="en-US" sz="1600" dirty="0"/>
                </a:p>
              </p:txBody>
            </p:sp>
          </mc:Choice>
          <mc:Fallback>
            <p:sp>
              <p:nvSpPr>
                <p:cNvPr id="36" name="TextBox 34">
                  <a:extLst>
                    <a:ext uri="{FF2B5EF4-FFF2-40B4-BE49-F238E27FC236}">
                      <a16:creationId xmlns:a16="http://schemas.microsoft.com/office/drawing/2014/main" id="{FF096E70-90AF-9DE3-09F2-88B5CE72C17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44280" y="2734183"/>
                  <a:ext cx="164401" cy="206505"/>
                </a:xfrm>
                <a:prstGeom prst="rect">
                  <a:avLst/>
                </a:prstGeom>
                <a:blipFill>
                  <a:blip r:embed="rId8"/>
                  <a:stretch>
                    <a:fillRect r="-1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7" name="TextBox 35">
                  <a:extLst>
                    <a:ext uri="{FF2B5EF4-FFF2-40B4-BE49-F238E27FC236}">
                      <a16:creationId xmlns:a16="http://schemas.microsoft.com/office/drawing/2014/main" id="{E899F3ED-C883-10F3-84C0-7651256AA0A7}"/>
                    </a:ext>
                  </a:extLst>
                </p:cNvPr>
                <p:cNvSpPr txBox="1"/>
                <p:nvPr/>
              </p:nvSpPr>
              <p:spPr>
                <a:xfrm>
                  <a:off x="4939392" y="3183840"/>
                  <a:ext cx="2938803" cy="30709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𝑎𝑏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𝑥𝑦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)=</m:t>
                        </m:r>
                        <m:nary>
                          <m:naryPr>
                            <m:supHide m:val="on"/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sty m:val="p"/>
                              </m:rPr>
                              <a:rPr lang="en-US" sz="1600" b="0" i="0" smtClean="0">
                                <a:latin typeface="Cambria Math" panose="02040503050406030204" pitchFamily="18" charset="0"/>
                              </a:rPr>
                              <m:t>Λ</m:t>
                            </m:r>
                          </m:sub>
                          <m:sup/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</m:nary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  <m:d>
                          <m:d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</m:d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𝜆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𝜆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1600" dirty="0"/>
                </a:p>
              </p:txBody>
            </p:sp>
          </mc:Choice>
          <mc:Fallback>
            <p:sp>
              <p:nvSpPr>
                <p:cNvPr id="37" name="TextBox 35">
                  <a:extLst>
                    <a:ext uri="{FF2B5EF4-FFF2-40B4-BE49-F238E27FC236}">
                      <a16:creationId xmlns:a16="http://schemas.microsoft.com/office/drawing/2014/main" id="{E899F3ED-C883-10F3-84C0-7651256AA0A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39392" y="3183840"/>
                  <a:ext cx="2938803" cy="307098"/>
                </a:xfrm>
                <a:prstGeom prst="rect">
                  <a:avLst/>
                </a:prstGeom>
                <a:blipFill>
                  <a:blip r:embed="rId9"/>
                  <a:stretch>
                    <a:fillRect t="-202439" b="-28048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8" name="TextBox 36">
                  <a:extLst>
                    <a:ext uri="{FF2B5EF4-FFF2-40B4-BE49-F238E27FC236}">
                      <a16:creationId xmlns:a16="http://schemas.microsoft.com/office/drawing/2014/main" id="{5BC6BEDA-0BA9-9DAF-DDB4-C8E0DBB4893F}"/>
                    </a:ext>
                  </a:extLst>
                </p:cNvPr>
                <p:cNvSpPr txBox="1"/>
                <p:nvPr/>
              </p:nvSpPr>
              <p:spPr>
                <a:xfrm>
                  <a:off x="2814124" y="3524656"/>
                  <a:ext cx="1946136" cy="233883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𝜌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sub>
                          <m:sup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p>
                        </m:sSubSup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1600" b="0" i="0" smtClean="0">
                                <a:latin typeface="Cambria Math" panose="02040503050406030204" pitchFamily="18" charset="0"/>
                              </a:rPr>
                              <m:t>Tr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𝑀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sub>
                        </m:s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⊗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𝜌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) </m:t>
                        </m:r>
                      </m:oMath>
                    </m:oMathPara>
                  </a14:m>
                  <a:endParaRPr lang="en-US" sz="1600" dirty="0"/>
                </a:p>
              </p:txBody>
            </p:sp>
          </mc:Choice>
          <mc:Fallback>
            <p:sp>
              <p:nvSpPr>
                <p:cNvPr id="38" name="TextBox 36">
                  <a:extLst>
                    <a:ext uri="{FF2B5EF4-FFF2-40B4-BE49-F238E27FC236}">
                      <a16:creationId xmlns:a16="http://schemas.microsoft.com/office/drawing/2014/main" id="{5BC6BEDA-0BA9-9DAF-DDB4-C8E0DBB4893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14124" y="3524656"/>
                  <a:ext cx="1946136" cy="233883"/>
                </a:xfrm>
                <a:prstGeom prst="rect">
                  <a:avLst/>
                </a:prstGeom>
                <a:blipFill>
                  <a:blip r:embed="rId10"/>
                  <a:stretch>
                    <a:fillRect b="-312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9" name="TextBox 37">
                  <a:extLst>
                    <a:ext uri="{FF2B5EF4-FFF2-40B4-BE49-F238E27FC236}">
                      <a16:creationId xmlns:a16="http://schemas.microsoft.com/office/drawing/2014/main" id="{007A187F-0E27-D8BB-CA99-F0E468E46D77}"/>
                    </a:ext>
                  </a:extLst>
                </p:cNvPr>
                <p:cNvSpPr txBox="1"/>
                <p:nvPr/>
              </p:nvSpPr>
              <p:spPr>
                <a:xfrm>
                  <a:off x="5133692" y="3555936"/>
                  <a:ext cx="2432473" cy="21999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sz="160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1600" i="1" smtClean="0">
                            <a:latin typeface="Cambria Math" panose="02040503050406030204" pitchFamily="18" charset="0"/>
                          </a:rPr>
                          <m:t>𝑎𝑏</m:t>
                        </m:r>
                        <m:r>
                          <a:rPr lang="en-US" sz="160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sz="1600" i="1" smtClean="0">
                            <a:latin typeface="Cambria Math" panose="02040503050406030204" pitchFamily="18" charset="0"/>
                          </a:rPr>
                          <m:t>𝑥𝑦</m:t>
                        </m:r>
                        <m:r>
                          <a:rPr lang="en-US" sz="1600" i="1" smtClean="0">
                            <a:latin typeface="Cambria Math" panose="02040503050406030204" pitchFamily="18" charset="0"/>
                          </a:rPr>
                          <m:t>)=</m:t>
                        </m:r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1600" b="0" i="0" smtClean="0">
                                <a:latin typeface="Cambria Math" panose="02040503050406030204" pitchFamily="18" charset="0"/>
                              </a:rPr>
                              <m:t>Tr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𝑀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sub>
                        </m:s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⊗</m:t>
                        </m:r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sub>
                        </m:s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𝜌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) </m:t>
                        </m:r>
                      </m:oMath>
                    </m:oMathPara>
                  </a14:m>
                  <a:endParaRPr lang="en-US" sz="1600" dirty="0"/>
                </a:p>
              </p:txBody>
            </p:sp>
          </mc:Choice>
          <mc:Fallback>
            <p:sp>
              <p:nvSpPr>
                <p:cNvPr id="39" name="TextBox 37">
                  <a:extLst>
                    <a:ext uri="{FF2B5EF4-FFF2-40B4-BE49-F238E27FC236}">
                      <a16:creationId xmlns:a16="http://schemas.microsoft.com/office/drawing/2014/main" id="{007A187F-0E27-D8BB-CA99-F0E468E46D7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33692" y="3555936"/>
                  <a:ext cx="2432473" cy="219999"/>
                </a:xfrm>
                <a:prstGeom prst="rect">
                  <a:avLst/>
                </a:prstGeom>
                <a:blipFill>
                  <a:blip r:embed="rId11"/>
                  <a:stretch>
                    <a:fillRect b="-1034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0" name="Arrow: Right 39">
              <a:extLst>
                <a:ext uri="{FF2B5EF4-FFF2-40B4-BE49-F238E27FC236}">
                  <a16:creationId xmlns:a16="http://schemas.microsoft.com/office/drawing/2014/main" id="{FEC4EE5E-0A08-A7B7-C420-896B4E3A8D3C}"/>
                </a:ext>
              </a:extLst>
            </p:cNvPr>
            <p:cNvSpPr/>
            <p:nvPr/>
          </p:nvSpPr>
          <p:spPr>
            <a:xfrm>
              <a:off x="2398488" y="2441672"/>
              <a:ext cx="415636" cy="110860"/>
            </a:xfrm>
            <a:prstGeom prst="rightArrow">
              <a:avLst/>
            </a:prstGeom>
            <a:solidFill>
              <a:srgbClr val="FF66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2400"/>
            </a:p>
          </p:txBody>
        </p:sp>
        <p:sp>
          <p:nvSpPr>
            <p:cNvPr id="41" name="Arrow: Right 40">
              <a:extLst>
                <a:ext uri="{FF2B5EF4-FFF2-40B4-BE49-F238E27FC236}">
                  <a16:creationId xmlns:a16="http://schemas.microsoft.com/office/drawing/2014/main" id="{3B5A1BEC-474C-AAC9-F178-FF65F97FE195}"/>
                </a:ext>
              </a:extLst>
            </p:cNvPr>
            <p:cNvSpPr/>
            <p:nvPr/>
          </p:nvSpPr>
          <p:spPr>
            <a:xfrm>
              <a:off x="4780811" y="2449618"/>
              <a:ext cx="415636" cy="110860"/>
            </a:xfrm>
            <a:prstGeom prst="rightArrow">
              <a:avLst/>
            </a:prstGeom>
            <a:solidFill>
              <a:srgbClr val="FF66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2400"/>
            </a:p>
          </p:txBody>
        </p:sp>
        <p:sp>
          <p:nvSpPr>
            <p:cNvPr id="42" name="TextBox 40">
              <a:extLst>
                <a:ext uri="{FF2B5EF4-FFF2-40B4-BE49-F238E27FC236}">
                  <a16:creationId xmlns:a16="http://schemas.microsoft.com/office/drawing/2014/main" id="{EB1510C3-625E-B9BE-FCC0-71AE07BE7C40}"/>
                </a:ext>
              </a:extLst>
            </p:cNvPr>
            <p:cNvSpPr txBox="1"/>
            <p:nvPr/>
          </p:nvSpPr>
          <p:spPr>
            <a:xfrm>
              <a:off x="46875" y="3823503"/>
              <a:ext cx="2867373" cy="22527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/>
                <a:t>         (a) Entanglement/separable</a:t>
              </a:r>
            </a:p>
          </p:txBody>
        </p:sp>
        <p:sp>
          <p:nvSpPr>
            <p:cNvPr id="43" name="TextBox 41">
              <a:extLst>
                <a:ext uri="{FF2B5EF4-FFF2-40B4-BE49-F238E27FC236}">
                  <a16:creationId xmlns:a16="http://schemas.microsoft.com/office/drawing/2014/main" id="{399C3AA9-B9CF-661A-BABC-572D5BF1C700}"/>
                </a:ext>
              </a:extLst>
            </p:cNvPr>
            <p:cNvSpPr txBox="1"/>
            <p:nvPr/>
          </p:nvSpPr>
          <p:spPr>
            <a:xfrm>
              <a:off x="2488826" y="3823503"/>
              <a:ext cx="2596731" cy="22527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/>
                <a:t>         (b)EPR steering/LHS model</a:t>
              </a:r>
            </a:p>
          </p:txBody>
        </p:sp>
        <p:sp>
          <p:nvSpPr>
            <p:cNvPr id="44" name="TextBox 42">
              <a:extLst>
                <a:ext uri="{FF2B5EF4-FFF2-40B4-BE49-F238E27FC236}">
                  <a16:creationId xmlns:a16="http://schemas.microsoft.com/office/drawing/2014/main" id="{A9BF70A3-A403-F541-9328-74D71B2A3FDB}"/>
                </a:ext>
              </a:extLst>
            </p:cNvPr>
            <p:cNvSpPr txBox="1"/>
            <p:nvPr/>
          </p:nvSpPr>
          <p:spPr>
            <a:xfrm>
              <a:off x="3135930" y="1852663"/>
              <a:ext cx="164401" cy="2065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600" dirty="0"/>
                <a:t>x</a:t>
              </a:r>
            </a:p>
          </p:txBody>
        </p:sp>
        <p:sp>
          <p:nvSpPr>
            <p:cNvPr id="45" name="TextBox 43">
              <a:extLst>
                <a:ext uri="{FF2B5EF4-FFF2-40B4-BE49-F238E27FC236}">
                  <a16:creationId xmlns:a16="http://schemas.microsoft.com/office/drawing/2014/main" id="{BDF84180-9C6C-5370-241E-C91CE75BD549}"/>
                </a:ext>
              </a:extLst>
            </p:cNvPr>
            <p:cNvSpPr txBox="1"/>
            <p:nvPr/>
          </p:nvSpPr>
          <p:spPr>
            <a:xfrm>
              <a:off x="5109954" y="3823503"/>
              <a:ext cx="2527483" cy="22527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/>
                <a:t>      (c)Bell nonlocality/LHV model</a:t>
              </a: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ECBCC4A9-BBA0-349E-C21F-D10F76585748}"/>
              </a:ext>
            </a:extLst>
          </p:cNvPr>
          <p:cNvSpPr txBox="1"/>
          <p:nvPr/>
        </p:nvSpPr>
        <p:spPr>
          <a:xfrm>
            <a:off x="0" y="458073"/>
            <a:ext cx="87910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</a:rPr>
              <a:t>Definition of Entanglement,  EPR steering and Bell nonlocality</a:t>
            </a:r>
            <a:endParaRPr lang="en-CA" sz="2400" dirty="0">
              <a:solidFill>
                <a:srgbClr val="0070C0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35BF7CE-DD84-DEF4-9851-19833B006A92}"/>
              </a:ext>
            </a:extLst>
          </p:cNvPr>
          <p:cNvSpPr/>
          <p:nvPr/>
        </p:nvSpPr>
        <p:spPr>
          <a:xfrm>
            <a:off x="79232" y="5374555"/>
            <a:ext cx="4657060" cy="13928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5FF1FFB6-263F-903A-D88C-31358BF38CE8}"/>
              </a:ext>
            </a:extLst>
          </p:cNvPr>
          <p:cNvCxnSpPr>
            <a:cxnSpLocks/>
          </p:cNvCxnSpPr>
          <p:nvPr/>
        </p:nvCxnSpPr>
        <p:spPr>
          <a:xfrm flipV="1">
            <a:off x="2091673" y="5172538"/>
            <a:ext cx="0" cy="4040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3A192F05-344B-8B04-3245-CE3F6C24D7E4}"/>
              </a:ext>
            </a:extLst>
          </p:cNvPr>
          <p:cNvSpPr txBox="1"/>
          <p:nvPr/>
        </p:nvSpPr>
        <p:spPr>
          <a:xfrm>
            <a:off x="904949" y="5594132"/>
            <a:ext cx="270285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Characterized by the density operator. 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403928E-27E2-1579-9933-D0E8798B1D39}"/>
              </a:ext>
            </a:extLst>
          </p:cNvPr>
          <p:cNvSpPr txBox="1"/>
          <p:nvPr/>
        </p:nvSpPr>
        <p:spPr>
          <a:xfrm>
            <a:off x="4478553" y="5628020"/>
            <a:ext cx="270285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Characterized partially by the density operator and partially by the statistics.</a:t>
            </a: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995FE59E-7D93-8B8A-FE00-494CBBC203C4}"/>
              </a:ext>
            </a:extLst>
          </p:cNvPr>
          <p:cNvCxnSpPr>
            <a:cxnSpLocks/>
          </p:cNvCxnSpPr>
          <p:nvPr/>
        </p:nvCxnSpPr>
        <p:spPr>
          <a:xfrm flipV="1">
            <a:off x="5736229" y="5172538"/>
            <a:ext cx="0" cy="4040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29A7ED20-6E42-96A5-2D64-DEEAD6637998}"/>
              </a:ext>
            </a:extLst>
          </p:cNvPr>
          <p:cNvCxnSpPr>
            <a:cxnSpLocks/>
          </p:cNvCxnSpPr>
          <p:nvPr/>
        </p:nvCxnSpPr>
        <p:spPr>
          <a:xfrm flipV="1">
            <a:off x="9972523" y="5172752"/>
            <a:ext cx="0" cy="4040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A6B2D9A8-FE54-BCF6-D0A6-9BA33BD7AF69}"/>
              </a:ext>
            </a:extLst>
          </p:cNvPr>
          <p:cNvSpPr txBox="1"/>
          <p:nvPr/>
        </p:nvSpPr>
        <p:spPr>
          <a:xfrm>
            <a:off x="8879788" y="5662564"/>
            <a:ext cx="270285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Characterized by the statistics.</a:t>
            </a:r>
          </a:p>
        </p:txBody>
      </p:sp>
    </p:spTree>
    <p:extLst>
      <p:ext uri="{BB962C8B-B14F-4D97-AF65-F5344CB8AC3E}">
        <p14:creationId xmlns:p14="http://schemas.microsoft.com/office/powerpoint/2010/main" val="24418584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F49B36-7087-0D6F-BF71-C08B370A3A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29B928C8-DD1D-4655-B913-FDCD997D2631}"/>
              </a:ext>
            </a:extLst>
          </p:cNvPr>
          <p:cNvSpPr>
            <a:spLocks noGrp="1"/>
          </p:cNvSpPr>
          <p:nvPr/>
        </p:nvSpPr>
        <p:spPr bwMode="auto">
          <a:xfrm>
            <a:off x="76200" y="966900"/>
            <a:ext cx="12039600" cy="492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lc="http://schemas.openxmlformats.org/drawingml/2006/lockedCanvas"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lc="http://schemas.openxmlformats.org/drawingml/2006/lockedCanvas"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lc="http://schemas.openxmlformats.org/drawingml/2006/lockedCanvas"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891" indent="-342891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Helvetica Neue"/>
              </a:defRPr>
            </a:lvl1pPr>
            <a:lvl2pPr marL="742932" indent="-285744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  <a:ea typeface="+mn-ea"/>
                <a:cs typeface="Helvetica Neue"/>
              </a:defRPr>
            </a:lvl2pPr>
            <a:lvl3pPr marL="1142971" indent="-228594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Helvetica Neue"/>
              </a:defRPr>
            </a:lvl3pPr>
            <a:lvl4pPr marL="1600160" indent="-228594" algn="l" rtl="0" fontAlgn="base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  <a:cs typeface="Helvetica Neue"/>
              </a:defRPr>
            </a:lvl4pPr>
            <a:lvl5pPr marL="2057349" indent="-228594" algn="l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  <a:cs typeface="Helvetica Neue"/>
              </a:defRPr>
            </a:lvl5pPr>
            <a:lvl6pPr marL="2514537" indent="-228594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726" indent="-228594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8914" indent="-228594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103" indent="-228594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buFont typeface="Wingdings" panose="05000000000000000000" pitchFamily="2" charset="2"/>
              <a:buChar char="q"/>
            </a:pPr>
            <a:r>
              <a:rPr lang="en-US" sz="1600" dirty="0"/>
              <a:t>For </a:t>
            </a:r>
            <a:r>
              <a:rPr lang="en-US" sz="1600" b="1" u="sng" dirty="0"/>
              <a:t>pure state</a:t>
            </a:r>
            <a:r>
              <a:rPr lang="en-US" sz="1600" dirty="0"/>
              <a:t>, entanglement, steering and nonlocality are </a:t>
            </a:r>
            <a:r>
              <a:rPr lang="en-US" sz="1600" b="1" u="sng" dirty="0"/>
              <a:t>equivalent concepts</a:t>
            </a:r>
            <a:r>
              <a:rPr lang="en-US" sz="1600" dirty="0"/>
              <a:t>. </a:t>
            </a:r>
          </a:p>
          <a:p>
            <a:pPr marL="0" indent="0">
              <a:buNone/>
            </a:pPr>
            <a:r>
              <a:rPr lang="en-US" altLang="zh-CN" sz="1600" dirty="0"/>
              <a:t>       </a:t>
            </a:r>
            <a:r>
              <a:rPr lang="en-US" altLang="zh-CN" sz="1400" dirty="0"/>
              <a:t>e.g. all pure entangled state violate CHSH inequality</a:t>
            </a:r>
            <a:endParaRPr lang="en-US" sz="1400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sz="1600" dirty="0"/>
              <a:t>For general </a:t>
            </a:r>
            <a:r>
              <a:rPr lang="en-US" sz="1600" b="1" u="sng" dirty="0"/>
              <a:t>mixed state</a:t>
            </a:r>
            <a:r>
              <a:rPr lang="en-US" sz="1600" dirty="0"/>
              <a:t>, entanglement, steering and nonlocality are </a:t>
            </a:r>
            <a:r>
              <a:rPr lang="en-US" sz="1600" b="1" u="sng" dirty="0"/>
              <a:t>inequivalent</a:t>
            </a:r>
            <a:r>
              <a:rPr lang="en-US" sz="1600" dirty="0"/>
              <a:t>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400" dirty="0"/>
              <a:t>Steerable states are strict subset of Entangled states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400" dirty="0"/>
              <a:t>Nonlocal states are strict subset of steerable states.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25C65B1-F4B2-4826-B268-85D34D29F1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277" y="2671683"/>
            <a:ext cx="3926547" cy="1709738"/>
          </a:xfrm>
          <a:prstGeom prst="rect">
            <a:avLst/>
          </a:prstGeom>
        </p:spPr>
      </p:pic>
      <p:pic>
        <p:nvPicPr>
          <p:cNvPr id="46" name="Picture 45" descr="Quantum Correlations: Theory | SpringerLink">
            <a:extLst>
              <a:ext uri="{FF2B5EF4-FFF2-40B4-BE49-F238E27FC236}">
                <a16:creationId xmlns:a16="http://schemas.microsoft.com/office/drawing/2014/main" id="{04B92443-A573-2AD5-6B44-BBC83E9999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09651" y="2563982"/>
            <a:ext cx="6528321" cy="19251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69244939-9BEC-9503-287C-5158606041B3}"/>
              </a:ext>
            </a:extLst>
          </p:cNvPr>
          <p:cNvSpPr/>
          <p:nvPr/>
        </p:nvSpPr>
        <p:spPr>
          <a:xfrm>
            <a:off x="79232" y="5374555"/>
            <a:ext cx="4657060" cy="13928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011AAA5C-C42E-4A42-C250-D64915B3CFFB}"/>
              </a:ext>
            </a:extLst>
          </p:cNvPr>
          <p:cNvSpPr/>
          <p:nvPr/>
        </p:nvSpPr>
        <p:spPr>
          <a:xfrm>
            <a:off x="1132266" y="5300125"/>
            <a:ext cx="9921216" cy="1053610"/>
          </a:xfrm>
          <a:prstGeom prst="roundRect">
            <a:avLst/>
          </a:prstGeom>
          <a:solidFill>
            <a:schemeClr val="bg1"/>
          </a:solidFill>
          <a:ln w="25400">
            <a:solidFill>
              <a:srgbClr val="0070C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endParaRPr lang="en-US" sz="1800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C6A50D4-7262-07D9-886E-3F8892D0F796}"/>
              </a:ext>
            </a:extLst>
          </p:cNvPr>
          <p:cNvSpPr txBox="1"/>
          <p:nvPr/>
        </p:nvSpPr>
        <p:spPr>
          <a:xfrm>
            <a:off x="1329546" y="5374555"/>
            <a:ext cx="891955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 dirty="0"/>
              <a:t>Some entangled states are also nonlocal, so they can be certified by the statistics alone.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 dirty="0">
                <a:solidFill>
                  <a:srgbClr val="FF0000"/>
                </a:solidFill>
              </a:rPr>
              <a:t>Can all entangled states be certified by statistics alone? </a:t>
            </a:r>
            <a:endParaRPr lang="en-US" sz="1600" i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92710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62AFF1-6EEC-FCA7-76D9-D6D4CB94E0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46">
            <a:extLst>
              <a:ext uri="{FF2B5EF4-FFF2-40B4-BE49-F238E27FC236}">
                <a16:creationId xmlns:a16="http://schemas.microsoft.com/office/drawing/2014/main" id="{BB6EE26D-84B4-C824-1097-2C6AA67E767A}"/>
              </a:ext>
            </a:extLst>
          </p:cNvPr>
          <p:cNvSpPr/>
          <p:nvPr/>
        </p:nvSpPr>
        <p:spPr>
          <a:xfrm>
            <a:off x="8934552" y="4374033"/>
            <a:ext cx="3136010" cy="1163882"/>
          </a:xfrm>
          <a:prstGeom prst="rect">
            <a:avLst/>
          </a:prstGeom>
          <a:ln w="254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09C2725-C892-7221-1D2A-F39F9B21BBDB}"/>
              </a:ext>
            </a:extLst>
          </p:cNvPr>
          <p:cNvSpPr/>
          <p:nvPr/>
        </p:nvSpPr>
        <p:spPr>
          <a:xfrm>
            <a:off x="68840" y="5354384"/>
            <a:ext cx="4657060" cy="13928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C481131-BCFA-CC3A-F4EC-3140E6DAAF55}"/>
              </a:ext>
            </a:extLst>
          </p:cNvPr>
          <p:cNvSpPr txBox="1"/>
          <p:nvPr/>
        </p:nvSpPr>
        <p:spPr>
          <a:xfrm>
            <a:off x="4063591" y="1012626"/>
            <a:ext cx="39071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</a:rPr>
              <a:t>Entanglement certification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51FC050-E1AE-9946-CDCA-F64C59E5F852}"/>
              </a:ext>
            </a:extLst>
          </p:cNvPr>
          <p:cNvSpPr/>
          <p:nvPr/>
        </p:nvSpPr>
        <p:spPr>
          <a:xfrm>
            <a:off x="2976143" y="2123978"/>
            <a:ext cx="5784568" cy="3558681"/>
          </a:xfrm>
          <a:prstGeom prst="rect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7DFE4AC6-C8DB-3D8B-1A12-A59F6CC6A6E2}"/>
              </a:ext>
            </a:extLst>
          </p:cNvPr>
          <p:cNvCxnSpPr>
            <a:cxnSpLocks/>
          </p:cNvCxnSpPr>
          <p:nvPr/>
        </p:nvCxnSpPr>
        <p:spPr>
          <a:xfrm>
            <a:off x="3895433" y="5972297"/>
            <a:ext cx="4071787" cy="0"/>
          </a:xfrm>
          <a:prstGeom prst="straightConnector1">
            <a:avLst/>
          </a:prstGeom>
          <a:ln w="158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CBB35304-E22C-E1DE-C53C-E7DAB3E2BD68}"/>
              </a:ext>
            </a:extLst>
          </p:cNvPr>
          <p:cNvCxnSpPr>
            <a:cxnSpLocks/>
          </p:cNvCxnSpPr>
          <p:nvPr/>
        </p:nvCxnSpPr>
        <p:spPr>
          <a:xfrm flipV="1">
            <a:off x="2468221" y="2861112"/>
            <a:ext cx="0" cy="1822175"/>
          </a:xfrm>
          <a:prstGeom prst="straightConnector1">
            <a:avLst/>
          </a:prstGeom>
          <a:ln w="158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DBB11F0F-9DB5-4765-4482-DC0C23A8F204}"/>
              </a:ext>
            </a:extLst>
          </p:cNvPr>
          <p:cNvSpPr txBox="1"/>
          <p:nvPr/>
        </p:nvSpPr>
        <p:spPr>
          <a:xfrm>
            <a:off x="5132933" y="6009760"/>
            <a:ext cx="15008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Assumptions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FCD6EF0-5D58-D5AE-5B1E-6E96B74E6ACB}"/>
              </a:ext>
            </a:extLst>
          </p:cNvPr>
          <p:cNvSpPr txBox="1"/>
          <p:nvPr/>
        </p:nvSpPr>
        <p:spPr>
          <a:xfrm>
            <a:off x="8060003" y="5767752"/>
            <a:ext cx="839862" cy="3692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weak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B278417-2E9C-4409-E220-8CA73C72CC65}"/>
              </a:ext>
            </a:extLst>
          </p:cNvPr>
          <p:cNvSpPr txBox="1"/>
          <p:nvPr/>
        </p:nvSpPr>
        <p:spPr>
          <a:xfrm>
            <a:off x="2976143" y="5767752"/>
            <a:ext cx="9192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strong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99041CE-D97C-C2E6-B8FB-3489616A8864}"/>
              </a:ext>
            </a:extLst>
          </p:cNvPr>
          <p:cNvSpPr txBox="1"/>
          <p:nvPr/>
        </p:nvSpPr>
        <p:spPr>
          <a:xfrm>
            <a:off x="2008576" y="4946121"/>
            <a:ext cx="9192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limited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02AFED5-5950-C899-4D5C-0BA8897FDCC9}"/>
              </a:ext>
            </a:extLst>
          </p:cNvPr>
          <p:cNvSpPr txBox="1"/>
          <p:nvPr/>
        </p:nvSpPr>
        <p:spPr>
          <a:xfrm>
            <a:off x="1833852" y="2265895"/>
            <a:ext cx="11728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universal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C7076F1-F756-F172-C0B6-E8567A88044A}"/>
              </a:ext>
            </a:extLst>
          </p:cNvPr>
          <p:cNvSpPr txBox="1"/>
          <p:nvPr/>
        </p:nvSpPr>
        <p:spPr>
          <a:xfrm rot="16200000">
            <a:off x="1099860" y="3442587"/>
            <a:ext cx="22288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Detection power</a:t>
            </a:r>
          </a:p>
        </p:txBody>
      </p:sp>
      <p:sp>
        <p:nvSpPr>
          <p:cNvPr id="37" name="Rectangle: Rounded Corners 2">
            <a:extLst>
              <a:ext uri="{FF2B5EF4-FFF2-40B4-BE49-F238E27FC236}">
                <a16:creationId xmlns:a16="http://schemas.microsoft.com/office/drawing/2014/main" id="{FA7874F1-80D4-D29E-108C-70169F4963A6}"/>
              </a:ext>
            </a:extLst>
          </p:cNvPr>
          <p:cNvSpPr/>
          <p:nvPr/>
        </p:nvSpPr>
        <p:spPr>
          <a:xfrm>
            <a:off x="7677728" y="4753234"/>
            <a:ext cx="752248" cy="385775"/>
          </a:xfrm>
          <a:prstGeom prst="roundRect">
            <a:avLst/>
          </a:prstGeom>
          <a:solidFill>
            <a:srgbClr val="0070C0"/>
          </a:solidFill>
          <a:ln w="41275">
            <a:solidFill>
              <a:srgbClr val="0070C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endParaRPr lang="en-US" sz="18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18010AA8-2621-DBE9-C1D7-E3D3AC0FDC9D}"/>
                  </a:ext>
                </a:extLst>
              </p:cNvPr>
              <p:cNvSpPr txBox="1"/>
              <p:nvPr/>
            </p:nvSpPr>
            <p:spPr>
              <a:xfrm>
                <a:off x="7655996" y="4761455"/>
                <a:ext cx="795711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1200" b="1" i="0" smtClean="0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𝐃𝐈</m:t>
                      </m:r>
                      <m:r>
                        <a:rPr lang="en-CA" sz="1200" b="1" i="0" smtClean="0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CA" sz="1200" b="1" i="0" smtClean="0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𝐭𝐞𝐬𝐭</m:t>
                      </m:r>
                      <m:r>
                        <a:rPr lang="en-CA" sz="1200" b="1" i="0" smtClean="0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CA" sz="1200" b="1" dirty="0">
                  <a:solidFill>
                    <a:schemeClr val="accent3">
                      <a:lumMod val="75000"/>
                    </a:schemeClr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1200" b="1" i="0" smtClean="0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CA" sz="1200" b="1" i="0" smtClean="0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𝐁𝐞𝐥𝐥</m:t>
                      </m:r>
                      <m:r>
                        <a:rPr lang="en-CA" sz="1200" b="1" i="0" smtClean="0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CA" sz="1200" b="1" i="0" smtClean="0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𝐭𝐞𝐬𝐭</m:t>
                      </m:r>
                      <m:r>
                        <a:rPr lang="en-CA" sz="1200" b="1" i="0" smtClean="0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200" b="1" dirty="0">
                  <a:solidFill>
                    <a:schemeClr val="accent3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18010AA8-2621-DBE9-C1D7-E3D3AC0FDC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55996" y="4761455"/>
                <a:ext cx="795711" cy="369332"/>
              </a:xfrm>
              <a:prstGeom prst="rect">
                <a:avLst/>
              </a:prstGeom>
              <a:blipFill>
                <a:blip r:embed="rId2"/>
                <a:stretch>
                  <a:fillRect l="-3125" t="-3226" r="-3125" b="-161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Rectangle: Rounded Corners 2">
            <a:extLst>
              <a:ext uri="{FF2B5EF4-FFF2-40B4-BE49-F238E27FC236}">
                <a16:creationId xmlns:a16="http://schemas.microsoft.com/office/drawing/2014/main" id="{49BD01F6-9C36-8F43-1119-4BA00AE808FB}"/>
              </a:ext>
            </a:extLst>
          </p:cNvPr>
          <p:cNvSpPr/>
          <p:nvPr/>
        </p:nvSpPr>
        <p:spPr>
          <a:xfrm>
            <a:off x="3153867" y="2265895"/>
            <a:ext cx="1102909" cy="385775"/>
          </a:xfrm>
          <a:prstGeom prst="roundRect">
            <a:avLst/>
          </a:prstGeom>
          <a:solidFill>
            <a:srgbClr val="0070C0"/>
          </a:solidFill>
          <a:ln w="41275">
            <a:solidFill>
              <a:srgbClr val="0070C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endParaRPr lang="en-US" sz="1800" dirty="0">
              <a:solidFill>
                <a:schemeClr val="tx1"/>
              </a:solidFill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153E170-2BD7-8AFC-E1EB-2EBD1F415C2E}"/>
              </a:ext>
            </a:extLst>
          </p:cNvPr>
          <p:cNvSpPr txBox="1"/>
          <p:nvPr/>
        </p:nvSpPr>
        <p:spPr>
          <a:xfrm>
            <a:off x="3192224" y="2274117"/>
            <a:ext cx="1064552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200" b="1" dirty="0">
                <a:solidFill>
                  <a:schemeClr val="accent3">
                    <a:lumMod val="75000"/>
                  </a:schemeClr>
                </a:solidFill>
              </a:rPr>
              <a:t>Tomography-based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0F18DCC-DD15-0240-9A0B-527DB361D4B4}"/>
              </a:ext>
            </a:extLst>
          </p:cNvPr>
          <p:cNvSpPr txBox="1"/>
          <p:nvPr/>
        </p:nvSpPr>
        <p:spPr>
          <a:xfrm>
            <a:off x="8934552" y="4478920"/>
            <a:ext cx="324344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Assumptions:  Bell causal structure</a:t>
            </a:r>
            <a:r>
              <a:rPr lang="en-US" altLang="zh-CN" sz="1400" dirty="0"/>
              <a:t>+</a:t>
            </a:r>
            <a:r>
              <a:rPr lang="zh-CN" altLang="en-US" sz="1400" dirty="0"/>
              <a:t> </a:t>
            </a:r>
            <a:r>
              <a:rPr lang="en-CA" altLang="zh-CN" sz="1400" dirty="0"/>
              <a:t>…</a:t>
            </a:r>
            <a:endParaRPr lang="en-US" sz="1400" dirty="0"/>
          </a:p>
          <a:p>
            <a:endParaRPr lang="en-US" sz="1400" dirty="0"/>
          </a:p>
          <a:p>
            <a:r>
              <a:rPr lang="en-US" sz="1400" dirty="0"/>
              <a:t>Detection power: all nonlocal states </a:t>
            </a:r>
          </a:p>
          <a:p>
            <a:r>
              <a:rPr lang="en-US" sz="1400" dirty="0"/>
              <a:t>(a strict subset of all entangled states)</a:t>
            </a: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DFEC70F3-F2B9-8C36-B1F6-6F7100CC5BA8}"/>
              </a:ext>
            </a:extLst>
          </p:cNvPr>
          <p:cNvCxnSpPr>
            <a:cxnSpLocks/>
          </p:cNvCxnSpPr>
          <p:nvPr/>
        </p:nvCxnSpPr>
        <p:spPr>
          <a:xfrm>
            <a:off x="8512935" y="4946121"/>
            <a:ext cx="386930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87A1B021-62A4-5D92-74D8-5AB6067CB761}"/>
              </a:ext>
            </a:extLst>
          </p:cNvPr>
          <p:cNvCxnSpPr>
            <a:cxnSpLocks/>
          </p:cNvCxnSpPr>
          <p:nvPr/>
        </p:nvCxnSpPr>
        <p:spPr>
          <a:xfrm flipH="1" flipV="1">
            <a:off x="3296992" y="1766705"/>
            <a:ext cx="383979" cy="456644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2" name="Rectangle 51">
            <a:extLst>
              <a:ext uri="{FF2B5EF4-FFF2-40B4-BE49-F238E27FC236}">
                <a16:creationId xmlns:a16="http://schemas.microsoft.com/office/drawing/2014/main" id="{40CB4B95-1B2C-17F4-C653-0ABFAB4BA4B7}"/>
              </a:ext>
            </a:extLst>
          </p:cNvPr>
          <p:cNvSpPr/>
          <p:nvPr/>
        </p:nvSpPr>
        <p:spPr>
          <a:xfrm>
            <a:off x="160982" y="571332"/>
            <a:ext cx="3136010" cy="1163882"/>
          </a:xfrm>
          <a:prstGeom prst="rect">
            <a:avLst/>
          </a:prstGeom>
          <a:ln w="254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4AA49BA-32B7-0A61-C4F0-34FC4903F141}"/>
              </a:ext>
            </a:extLst>
          </p:cNvPr>
          <p:cNvSpPr txBox="1"/>
          <p:nvPr/>
        </p:nvSpPr>
        <p:spPr>
          <a:xfrm>
            <a:off x="174986" y="666366"/>
            <a:ext cx="315669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Assumptions:  full characterization of the measurement devices+…</a:t>
            </a:r>
          </a:p>
          <a:p>
            <a:endParaRPr lang="en-US" sz="1400" dirty="0"/>
          </a:p>
          <a:p>
            <a:r>
              <a:rPr lang="en-US" sz="1400" dirty="0"/>
              <a:t>Detection power: all entangled states</a:t>
            </a:r>
          </a:p>
        </p:txBody>
      </p: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059420E9-FE66-0EDC-C454-0B9F3A1BED8B}"/>
              </a:ext>
            </a:extLst>
          </p:cNvPr>
          <p:cNvCxnSpPr/>
          <p:nvPr/>
        </p:nvCxnSpPr>
        <p:spPr>
          <a:xfrm>
            <a:off x="10929805" y="3529340"/>
            <a:ext cx="0" cy="160276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4827DF7C-8BFA-FE28-DD51-EEEA474DDB9D}"/>
                  </a:ext>
                </a:extLst>
              </p:cNvPr>
              <p:cNvSpPr txBox="1"/>
              <p:nvPr/>
            </p:nvSpPr>
            <p:spPr>
              <a:xfrm>
                <a:off x="10882811" y="3479533"/>
                <a:ext cx="204800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altLang="zh-CN" sz="12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sz="16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4827DF7C-8BFA-FE28-DD51-EEEA474DDB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82811" y="3479533"/>
                <a:ext cx="204800" cy="276999"/>
              </a:xfrm>
              <a:prstGeom prst="rect">
                <a:avLst/>
              </a:prstGeom>
              <a:blipFill>
                <a:blip r:embed="rId3"/>
                <a:stretch>
                  <a:fillRect r="-11111" b="-45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5A81ACAE-55CD-8C37-6058-15DDB8C6816C}"/>
              </a:ext>
            </a:extLst>
          </p:cNvPr>
          <p:cNvCxnSpPr/>
          <p:nvPr/>
        </p:nvCxnSpPr>
        <p:spPr>
          <a:xfrm>
            <a:off x="10319415" y="3527701"/>
            <a:ext cx="0" cy="160276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676F8143-EED7-6E50-9E16-B203DAE73D09}"/>
                  </a:ext>
                </a:extLst>
              </p:cNvPr>
              <p:cNvSpPr txBox="1"/>
              <p:nvPr/>
            </p:nvSpPr>
            <p:spPr>
              <a:xfrm>
                <a:off x="10272421" y="3477894"/>
                <a:ext cx="204800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altLang="zh-CN" sz="12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16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mc:Choice>
        <mc:Fallback xmlns="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676F8143-EED7-6E50-9E16-B203DAE73D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72421" y="3477894"/>
                <a:ext cx="204800" cy="2769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97B90B45-1B65-0C07-BE28-9EF37817C33A}"/>
                  </a:ext>
                </a:extLst>
              </p:cNvPr>
              <p:cNvSpPr txBox="1"/>
              <p:nvPr/>
            </p:nvSpPr>
            <p:spPr>
              <a:xfrm>
                <a:off x="10197051" y="3016586"/>
                <a:ext cx="246689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12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12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16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mc:Choice>
        <mc:Fallback xmlns="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97B90B45-1B65-0C07-BE28-9EF37817C3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97051" y="3016586"/>
                <a:ext cx="246689" cy="276999"/>
              </a:xfrm>
              <a:prstGeom prst="rect">
                <a:avLst/>
              </a:prstGeom>
              <a:blipFill>
                <a:blip r:embed="rId5"/>
                <a:stretch>
                  <a:fillRect r="-20000" b="-86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0" name="Group 59">
            <a:extLst>
              <a:ext uri="{FF2B5EF4-FFF2-40B4-BE49-F238E27FC236}">
                <a16:creationId xmlns:a16="http://schemas.microsoft.com/office/drawing/2014/main" id="{FE360762-FA62-3AC6-F48D-8E16644FF9BB}"/>
              </a:ext>
            </a:extLst>
          </p:cNvPr>
          <p:cNvGrpSpPr/>
          <p:nvPr/>
        </p:nvGrpSpPr>
        <p:grpSpPr>
          <a:xfrm>
            <a:off x="10824551" y="3538006"/>
            <a:ext cx="45719" cy="210912"/>
            <a:chOff x="6548130" y="2237014"/>
            <a:chExt cx="49658" cy="440872"/>
          </a:xfrm>
        </p:grpSpPr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5F5BBF89-6582-4588-AE54-71F7EAA383F5}"/>
                </a:ext>
              </a:extLst>
            </p:cNvPr>
            <p:cNvCxnSpPr>
              <a:cxnSpLocks/>
            </p:cNvCxnSpPr>
            <p:nvPr/>
          </p:nvCxnSpPr>
          <p:spPr>
            <a:xfrm>
              <a:off x="6548130" y="2237014"/>
              <a:ext cx="0" cy="440872"/>
            </a:xfrm>
            <a:prstGeom prst="line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D4FF00F2-88D6-BED3-CDF4-EB3F3F54947B}"/>
                </a:ext>
              </a:extLst>
            </p:cNvPr>
            <p:cNvCxnSpPr>
              <a:cxnSpLocks/>
            </p:cNvCxnSpPr>
            <p:nvPr/>
          </p:nvCxnSpPr>
          <p:spPr>
            <a:xfrm>
              <a:off x="6597788" y="2237014"/>
              <a:ext cx="0" cy="440872"/>
            </a:xfrm>
            <a:prstGeom prst="line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cxnSp>
      </p:grpSp>
      <p:sp>
        <p:nvSpPr>
          <p:cNvPr id="63" name="Flowchart: Delay 9">
            <a:extLst>
              <a:ext uri="{FF2B5EF4-FFF2-40B4-BE49-F238E27FC236}">
                <a16:creationId xmlns:a16="http://schemas.microsoft.com/office/drawing/2014/main" id="{1786CE01-B81A-4400-389E-F2BFDFF44FC4}"/>
              </a:ext>
            </a:extLst>
          </p:cNvPr>
          <p:cNvSpPr/>
          <p:nvPr/>
        </p:nvSpPr>
        <p:spPr>
          <a:xfrm rot="16200000">
            <a:off x="10700127" y="3199213"/>
            <a:ext cx="309789" cy="367797"/>
          </a:xfrm>
          <a:prstGeom prst="flowChartDelay">
            <a:avLst/>
          </a:prstGeom>
          <a:solidFill>
            <a:srgbClr val="0070C0"/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eaVert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B10EF72C-1879-A208-B1BD-D684F49F0E7B}"/>
                  </a:ext>
                </a:extLst>
              </p:cNvPr>
              <p:cNvSpPr txBox="1"/>
              <p:nvPr/>
            </p:nvSpPr>
            <p:spPr>
              <a:xfrm>
                <a:off x="10830043" y="3016586"/>
                <a:ext cx="246689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12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sz="12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16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mc:Choice>
        <mc:Fallback xmlns="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B10EF72C-1879-A208-B1BD-D684F49F0E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30043" y="3016586"/>
                <a:ext cx="246689" cy="276999"/>
              </a:xfrm>
              <a:prstGeom prst="rect">
                <a:avLst/>
              </a:prstGeom>
              <a:blipFill>
                <a:blip r:embed="rId6"/>
                <a:stretch>
                  <a:fillRect r="-14286" b="-86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5" name="Group 64">
            <a:extLst>
              <a:ext uri="{FF2B5EF4-FFF2-40B4-BE49-F238E27FC236}">
                <a16:creationId xmlns:a16="http://schemas.microsoft.com/office/drawing/2014/main" id="{FFEDCB7B-044E-6D5D-EC91-FE123724F949}"/>
              </a:ext>
            </a:extLst>
          </p:cNvPr>
          <p:cNvGrpSpPr/>
          <p:nvPr/>
        </p:nvGrpSpPr>
        <p:grpSpPr>
          <a:xfrm>
            <a:off x="10209329" y="3538006"/>
            <a:ext cx="45719" cy="210912"/>
            <a:chOff x="6548130" y="2237014"/>
            <a:chExt cx="49658" cy="440872"/>
          </a:xfrm>
        </p:grpSpPr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4C9D6E4E-42DB-C0B9-599E-B60A4B49264F}"/>
                </a:ext>
              </a:extLst>
            </p:cNvPr>
            <p:cNvCxnSpPr>
              <a:cxnSpLocks/>
            </p:cNvCxnSpPr>
            <p:nvPr/>
          </p:nvCxnSpPr>
          <p:spPr>
            <a:xfrm>
              <a:off x="6548130" y="2237014"/>
              <a:ext cx="0" cy="440872"/>
            </a:xfrm>
            <a:prstGeom prst="line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4D5F6857-6B98-C3F8-FA8B-147332213AC8}"/>
                </a:ext>
              </a:extLst>
            </p:cNvPr>
            <p:cNvCxnSpPr>
              <a:cxnSpLocks/>
            </p:cNvCxnSpPr>
            <p:nvPr/>
          </p:nvCxnSpPr>
          <p:spPr>
            <a:xfrm>
              <a:off x="6597788" y="2237014"/>
              <a:ext cx="0" cy="440872"/>
            </a:xfrm>
            <a:prstGeom prst="line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cxnSp>
      </p:grpSp>
      <p:sp>
        <p:nvSpPr>
          <p:cNvPr id="68" name="Flowchart: Delay 17">
            <a:extLst>
              <a:ext uri="{FF2B5EF4-FFF2-40B4-BE49-F238E27FC236}">
                <a16:creationId xmlns:a16="http://schemas.microsoft.com/office/drawing/2014/main" id="{1A8E116B-C9D8-AFA0-10E0-042FDC8826FB}"/>
              </a:ext>
            </a:extLst>
          </p:cNvPr>
          <p:cNvSpPr/>
          <p:nvPr/>
        </p:nvSpPr>
        <p:spPr>
          <a:xfrm rot="16200000">
            <a:off x="10073466" y="3199213"/>
            <a:ext cx="309789" cy="367797"/>
          </a:xfrm>
          <a:prstGeom prst="flowChartDelay">
            <a:avLst/>
          </a:prstGeom>
          <a:solidFill>
            <a:srgbClr val="0070C0"/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eaVert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0" dirty="0">
                <a:solidFill>
                  <a:prstClr val="black"/>
                </a:solidFill>
                <a:latin typeface="Calibri" panose="020F0502020204030204"/>
              </a:rPr>
              <a:t>N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86ED0FE5-91C7-ABF7-2595-79A83C399D0B}"/>
              </a:ext>
            </a:extLst>
          </p:cNvPr>
          <p:cNvCxnSpPr>
            <a:cxnSpLocks/>
          </p:cNvCxnSpPr>
          <p:nvPr/>
        </p:nvCxnSpPr>
        <p:spPr>
          <a:xfrm>
            <a:off x="10228143" y="3114058"/>
            <a:ext cx="0" cy="114159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547877CF-CBC1-A92B-BE84-F2674EE8FF9C}"/>
              </a:ext>
            </a:extLst>
          </p:cNvPr>
          <p:cNvCxnSpPr>
            <a:cxnSpLocks/>
          </p:cNvCxnSpPr>
          <p:nvPr/>
        </p:nvCxnSpPr>
        <p:spPr>
          <a:xfrm>
            <a:off x="10855021" y="3114058"/>
            <a:ext cx="0" cy="114159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1" name="Rectangle: Rounded Corners 10">
                <a:extLst>
                  <a:ext uri="{FF2B5EF4-FFF2-40B4-BE49-F238E27FC236}">
                    <a16:creationId xmlns:a16="http://schemas.microsoft.com/office/drawing/2014/main" id="{177A2581-EB83-C254-93C1-CF405364A271}"/>
                  </a:ext>
                </a:extLst>
              </p:cNvPr>
              <p:cNvSpPr/>
              <p:nvPr/>
            </p:nvSpPr>
            <p:spPr>
              <a:xfrm>
                <a:off x="10037432" y="3739941"/>
                <a:ext cx="1040125" cy="326380"/>
              </a:xfrm>
              <a:prstGeom prst="roundRect">
                <a:avLst/>
              </a:prstGeom>
              <a:solidFill>
                <a:srgbClr val="FFC000">
                  <a:lumMod val="40000"/>
                  <a:lumOff val="60000"/>
                </a:srgbClr>
              </a:solidFill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0" lang="en-US" sz="18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en-US" sz="18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𝜌</m:t>
                          </m:r>
                        </m:e>
                        <m:sup>
                          <m:r>
                            <a:rPr kumimoji="0" lang="en-CA" sz="18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𝐴𝐵</m:t>
                          </m:r>
                        </m:sup>
                      </m:sSup>
                    </m:oMath>
                  </m:oMathPara>
                </a14:m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71" name="Rectangle: Rounded Corners 10">
                <a:extLst>
                  <a:ext uri="{FF2B5EF4-FFF2-40B4-BE49-F238E27FC236}">
                    <a16:creationId xmlns:a16="http://schemas.microsoft.com/office/drawing/2014/main" id="{177A2581-EB83-C254-93C1-CF405364A27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37432" y="3739941"/>
                <a:ext cx="1040125" cy="326380"/>
              </a:xfrm>
              <a:prstGeom prst="roundRect">
                <a:avLst/>
              </a:prstGeom>
              <a:blipFill>
                <a:blip r:embed="rId7"/>
                <a:stretch>
                  <a:fillRect/>
                </a:stretch>
              </a:blipFill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045870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 animBg="1"/>
      <p:bldP spid="37" grpId="0" animBg="1"/>
      <p:bldP spid="36" grpId="0"/>
      <p:bldP spid="41" grpId="0"/>
      <p:bldP spid="52" grpId="0" animBg="1"/>
      <p:bldP spid="53" grpId="0"/>
      <p:bldP spid="56" grpId="0"/>
      <p:bldP spid="58" grpId="0"/>
      <p:bldP spid="59" grpId="0"/>
      <p:bldP spid="63" grpId="0" animBg="1"/>
      <p:bldP spid="64" grpId="0"/>
      <p:bldP spid="68" grpId="0" animBg="1"/>
      <p:bldP spid="71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08ACD0-CFB7-B2B2-D995-3E3EE4B955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E8AD65BA-1985-019A-48D9-39310978C762}"/>
              </a:ext>
            </a:extLst>
          </p:cNvPr>
          <p:cNvSpPr/>
          <p:nvPr/>
        </p:nvSpPr>
        <p:spPr>
          <a:xfrm>
            <a:off x="96402" y="5422757"/>
            <a:ext cx="4657060" cy="13928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154" name="Rectangle 153">
            <a:extLst>
              <a:ext uri="{FF2B5EF4-FFF2-40B4-BE49-F238E27FC236}">
                <a16:creationId xmlns:a16="http://schemas.microsoft.com/office/drawing/2014/main" id="{92E931DA-D6E7-811C-453D-11CD2CF3E6EB}"/>
              </a:ext>
            </a:extLst>
          </p:cNvPr>
          <p:cNvSpPr/>
          <p:nvPr/>
        </p:nvSpPr>
        <p:spPr>
          <a:xfrm>
            <a:off x="2976143" y="2123978"/>
            <a:ext cx="5784568" cy="3558681"/>
          </a:xfrm>
          <a:prstGeom prst="rect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B910B80-9EF0-983D-91D2-FB5342DC4B2A}"/>
              </a:ext>
            </a:extLst>
          </p:cNvPr>
          <p:cNvSpPr txBox="1"/>
          <p:nvPr/>
        </p:nvSpPr>
        <p:spPr>
          <a:xfrm>
            <a:off x="4063591" y="1012626"/>
            <a:ext cx="39071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</a:rPr>
              <a:t>Entanglement certification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98FFB9F9-1807-2A41-53BD-0F3FE6D5AF31}"/>
              </a:ext>
            </a:extLst>
          </p:cNvPr>
          <p:cNvCxnSpPr>
            <a:cxnSpLocks/>
          </p:cNvCxnSpPr>
          <p:nvPr/>
        </p:nvCxnSpPr>
        <p:spPr>
          <a:xfrm>
            <a:off x="3895433" y="5972297"/>
            <a:ext cx="4071787" cy="0"/>
          </a:xfrm>
          <a:prstGeom prst="straightConnector1">
            <a:avLst/>
          </a:prstGeom>
          <a:ln w="158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03C369F5-C1DA-0906-77D7-D1673152BCD9}"/>
              </a:ext>
            </a:extLst>
          </p:cNvPr>
          <p:cNvCxnSpPr>
            <a:cxnSpLocks/>
          </p:cNvCxnSpPr>
          <p:nvPr/>
        </p:nvCxnSpPr>
        <p:spPr>
          <a:xfrm flipV="1">
            <a:off x="2468221" y="2861112"/>
            <a:ext cx="0" cy="1822175"/>
          </a:xfrm>
          <a:prstGeom prst="straightConnector1">
            <a:avLst/>
          </a:prstGeom>
          <a:ln w="158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35D01FD7-1188-7A97-33D3-752ADA535975}"/>
              </a:ext>
            </a:extLst>
          </p:cNvPr>
          <p:cNvSpPr txBox="1"/>
          <p:nvPr/>
        </p:nvSpPr>
        <p:spPr>
          <a:xfrm>
            <a:off x="5132933" y="6009760"/>
            <a:ext cx="15008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Assumptions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49E4AAC-B049-6EAF-590B-E1E99D2CCAA6}"/>
              </a:ext>
            </a:extLst>
          </p:cNvPr>
          <p:cNvSpPr txBox="1"/>
          <p:nvPr/>
        </p:nvSpPr>
        <p:spPr>
          <a:xfrm>
            <a:off x="8060003" y="5767752"/>
            <a:ext cx="839862" cy="3692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weak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954B41F-DFB1-7BE9-AAE5-051ADFFB50C0}"/>
              </a:ext>
            </a:extLst>
          </p:cNvPr>
          <p:cNvSpPr txBox="1"/>
          <p:nvPr/>
        </p:nvSpPr>
        <p:spPr>
          <a:xfrm>
            <a:off x="2976143" y="5767752"/>
            <a:ext cx="9192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strong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53DCA05-F334-9A89-D0B2-938FCF1A7BDA}"/>
              </a:ext>
            </a:extLst>
          </p:cNvPr>
          <p:cNvSpPr txBox="1"/>
          <p:nvPr/>
        </p:nvSpPr>
        <p:spPr>
          <a:xfrm>
            <a:off x="2008576" y="4946121"/>
            <a:ext cx="9192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limited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C51519B-B15D-827B-C33A-5A56E3911859}"/>
              </a:ext>
            </a:extLst>
          </p:cNvPr>
          <p:cNvSpPr txBox="1"/>
          <p:nvPr/>
        </p:nvSpPr>
        <p:spPr>
          <a:xfrm rot="16200000">
            <a:off x="1099860" y="3442587"/>
            <a:ext cx="22288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Detection power</a:t>
            </a:r>
          </a:p>
        </p:txBody>
      </p:sp>
      <p:sp>
        <p:nvSpPr>
          <p:cNvPr id="39" name="Rectangle: Rounded Corners 2">
            <a:extLst>
              <a:ext uri="{FF2B5EF4-FFF2-40B4-BE49-F238E27FC236}">
                <a16:creationId xmlns:a16="http://schemas.microsoft.com/office/drawing/2014/main" id="{E4E4B229-E96F-5998-7742-8B9A53528802}"/>
              </a:ext>
            </a:extLst>
          </p:cNvPr>
          <p:cNvSpPr/>
          <p:nvPr/>
        </p:nvSpPr>
        <p:spPr>
          <a:xfrm>
            <a:off x="3153867" y="2265895"/>
            <a:ext cx="1102909" cy="385775"/>
          </a:xfrm>
          <a:prstGeom prst="roundRect">
            <a:avLst/>
          </a:prstGeom>
          <a:solidFill>
            <a:srgbClr val="0070C0"/>
          </a:solidFill>
          <a:ln w="41275">
            <a:solidFill>
              <a:srgbClr val="0070C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endParaRPr lang="en-US" sz="1800" dirty="0">
              <a:solidFill>
                <a:schemeClr val="tx1"/>
              </a:solidFill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8B2F8BA-25DA-29D7-965A-39681897FFC4}"/>
              </a:ext>
            </a:extLst>
          </p:cNvPr>
          <p:cNvSpPr txBox="1"/>
          <p:nvPr/>
        </p:nvSpPr>
        <p:spPr>
          <a:xfrm>
            <a:off x="3192224" y="2274117"/>
            <a:ext cx="1064552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200" b="1" dirty="0">
                <a:solidFill>
                  <a:schemeClr val="accent3">
                    <a:lumMod val="75000"/>
                  </a:schemeClr>
                </a:solidFill>
              </a:rPr>
              <a:t>Tomography-based</a:t>
            </a:r>
          </a:p>
        </p:txBody>
      </p:sp>
      <p:sp>
        <p:nvSpPr>
          <p:cNvPr id="2" name="Rectangle: Rounded Corners 2">
            <a:extLst>
              <a:ext uri="{FF2B5EF4-FFF2-40B4-BE49-F238E27FC236}">
                <a16:creationId xmlns:a16="http://schemas.microsoft.com/office/drawing/2014/main" id="{618FBC38-6A3B-B592-55C7-F333389074F5}"/>
              </a:ext>
            </a:extLst>
          </p:cNvPr>
          <p:cNvSpPr/>
          <p:nvPr/>
        </p:nvSpPr>
        <p:spPr>
          <a:xfrm>
            <a:off x="7593474" y="5317153"/>
            <a:ext cx="963483" cy="201109"/>
          </a:xfrm>
          <a:prstGeom prst="roundRect">
            <a:avLst/>
          </a:prstGeom>
          <a:solidFill>
            <a:srgbClr val="0070C0"/>
          </a:solidFill>
          <a:ln w="41275">
            <a:solidFill>
              <a:srgbClr val="0070C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endParaRPr lang="en-US" sz="18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D1B0531-C9DD-84CA-FB97-24BFCBE7AB6D}"/>
                  </a:ext>
                </a:extLst>
              </p:cNvPr>
              <p:cNvSpPr txBox="1"/>
              <p:nvPr/>
            </p:nvSpPr>
            <p:spPr>
              <a:xfrm>
                <a:off x="7541637" y="5325375"/>
                <a:ext cx="985215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CA" sz="1200" b="1" dirty="0">
                    <a:solidFill>
                      <a:schemeClr val="accent3">
                        <a:lumMod val="75000"/>
                      </a:schemeClr>
                    </a:solidFill>
                  </a:rPr>
                  <a:t>   Self </a:t>
                </a:r>
                <a14:m>
                  <m:oMath xmlns:m="http://schemas.openxmlformats.org/officeDocument/2006/math">
                    <m:r>
                      <a:rPr lang="en-CA" sz="1200" b="1" i="0" smtClean="0">
                        <a:solidFill>
                          <a:schemeClr val="accent3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𝐭𝐞𝐬𝐭𝐢𝐧𝐠</m:t>
                    </m:r>
                    <m:r>
                      <a:rPr lang="en-CA" sz="1200" b="1" i="0" smtClean="0">
                        <a:solidFill>
                          <a:schemeClr val="accent3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CA" sz="1200" b="1" dirty="0">
                  <a:solidFill>
                    <a:schemeClr val="accent3">
                      <a:lumMod val="75000"/>
                    </a:schemeClr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D1B0531-C9DD-84CA-FB97-24BFCBE7AB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41637" y="5325375"/>
                <a:ext cx="985215" cy="184666"/>
              </a:xfrm>
              <a:prstGeom prst="rect">
                <a:avLst/>
              </a:prstGeom>
              <a:blipFill>
                <a:blip r:embed="rId2"/>
                <a:stretch>
                  <a:fillRect t="-33333" r="-7595" b="-4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: Rounded Corners 2">
            <a:extLst>
              <a:ext uri="{FF2B5EF4-FFF2-40B4-BE49-F238E27FC236}">
                <a16:creationId xmlns:a16="http://schemas.microsoft.com/office/drawing/2014/main" id="{613F3E95-7ADC-07CE-81A3-4C0853E71514}"/>
              </a:ext>
            </a:extLst>
          </p:cNvPr>
          <p:cNvSpPr/>
          <p:nvPr/>
        </p:nvSpPr>
        <p:spPr>
          <a:xfrm>
            <a:off x="5154664" y="3643504"/>
            <a:ext cx="1065831" cy="385775"/>
          </a:xfrm>
          <a:prstGeom prst="roundRect">
            <a:avLst/>
          </a:prstGeom>
          <a:solidFill>
            <a:srgbClr val="0070C0"/>
          </a:solidFill>
          <a:ln w="41275">
            <a:solidFill>
              <a:srgbClr val="0070C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endParaRPr lang="en-US" sz="18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AA70517-4AC8-072E-6A4A-060CD5147D15}"/>
                  </a:ext>
                </a:extLst>
              </p:cNvPr>
              <p:cNvSpPr txBox="1"/>
              <p:nvPr/>
            </p:nvSpPr>
            <p:spPr>
              <a:xfrm>
                <a:off x="5180422" y="3651725"/>
                <a:ext cx="963067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1200" b="1" i="0" smtClean="0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𝐒𝐃𝐈</m:t>
                      </m:r>
                      <m:r>
                        <a:rPr lang="en-CA" sz="1200" b="1" i="0" smtClean="0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CA" sz="1200" b="1" i="0" smtClean="0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𝐭𝐞𝐬𝐭</m:t>
                      </m:r>
                      <m:r>
                        <a:rPr lang="en-CA" sz="1200" b="1" i="0" smtClean="0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CA" sz="1200" b="1" dirty="0">
                  <a:solidFill>
                    <a:schemeClr val="accent3">
                      <a:lumMod val="75000"/>
                    </a:schemeClr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1200" b="1" i="0" smtClean="0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CA" sz="1200" b="1" i="0" smtClean="0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𝐒𝐭𝐞𝐞𝐫𝐢𝐧𝐠</m:t>
                      </m:r>
                      <m:r>
                        <a:rPr lang="en-CA" sz="1200" b="1" i="0" smtClean="0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CA" sz="1200" b="1" i="0" smtClean="0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𝐭𝐞𝐬𝐭</m:t>
                      </m:r>
                      <m:r>
                        <a:rPr lang="en-CA" sz="1200" b="1" i="0" smtClean="0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200" b="1" dirty="0">
                  <a:solidFill>
                    <a:schemeClr val="accent3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AA70517-4AC8-072E-6A4A-060CD5147D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80422" y="3651725"/>
                <a:ext cx="963067" cy="369332"/>
              </a:xfrm>
              <a:prstGeom prst="rect">
                <a:avLst/>
              </a:prstGeom>
              <a:blipFill>
                <a:blip r:embed="rId3"/>
                <a:stretch>
                  <a:fillRect l="-7895" t="-3333" r="-14474"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: Rounded Corners 2">
            <a:extLst>
              <a:ext uri="{FF2B5EF4-FFF2-40B4-BE49-F238E27FC236}">
                <a16:creationId xmlns:a16="http://schemas.microsoft.com/office/drawing/2014/main" id="{E2C4E62A-F9E6-3992-8592-E04B23BFF573}"/>
              </a:ext>
            </a:extLst>
          </p:cNvPr>
          <p:cNvSpPr/>
          <p:nvPr/>
        </p:nvSpPr>
        <p:spPr>
          <a:xfrm>
            <a:off x="4876561" y="2311662"/>
            <a:ext cx="859340" cy="347542"/>
          </a:xfrm>
          <a:prstGeom prst="roundRect">
            <a:avLst/>
          </a:prstGeom>
          <a:solidFill>
            <a:srgbClr val="0070C0"/>
          </a:solidFill>
          <a:ln w="41275">
            <a:solidFill>
              <a:srgbClr val="0070C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endParaRPr lang="en-US" sz="18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AEC6666-0389-343A-C00B-FA119F45B2DA}"/>
                  </a:ext>
                </a:extLst>
              </p:cNvPr>
              <p:cNvSpPr txBox="1"/>
              <p:nvPr/>
            </p:nvSpPr>
            <p:spPr>
              <a:xfrm>
                <a:off x="4976592" y="2390425"/>
                <a:ext cx="963067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CA" sz="1200" b="1" dirty="0">
                    <a:solidFill>
                      <a:schemeClr val="accent3">
                        <a:lumMod val="75000"/>
                      </a:schemeClr>
                    </a:solidFill>
                  </a:rPr>
                  <a:t>M</a:t>
                </a:r>
                <a14:m>
                  <m:oMath xmlns:m="http://schemas.openxmlformats.org/officeDocument/2006/math">
                    <m:r>
                      <a:rPr lang="en-CA" sz="1200" b="1" i="0" smtClean="0">
                        <a:solidFill>
                          <a:schemeClr val="accent3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𝐃𝐈</m:t>
                    </m:r>
                    <m:r>
                      <a:rPr lang="en-CA" sz="1200" b="1" i="0" smtClean="0">
                        <a:solidFill>
                          <a:schemeClr val="accent3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CA" sz="1200" b="1" i="0" smtClean="0">
                        <a:solidFill>
                          <a:schemeClr val="accent3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𝐭𝐞𝐬𝐭</m:t>
                    </m:r>
                    <m:r>
                      <a:rPr lang="en-CA" sz="1200" b="1" i="0" smtClean="0">
                        <a:solidFill>
                          <a:schemeClr val="accent3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CA" sz="1200" b="1" dirty="0">
                  <a:solidFill>
                    <a:schemeClr val="accent3">
                      <a:lumMod val="75000"/>
                    </a:schemeClr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AEC6666-0389-343A-C00B-FA119F45B2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76592" y="2390425"/>
                <a:ext cx="963067" cy="184666"/>
              </a:xfrm>
              <a:prstGeom prst="rect">
                <a:avLst/>
              </a:prstGeom>
              <a:blipFill>
                <a:blip r:embed="rId4"/>
                <a:stretch>
                  <a:fillRect l="-9091" t="-33333" b="-4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: Rounded Corners 2">
            <a:extLst>
              <a:ext uri="{FF2B5EF4-FFF2-40B4-BE49-F238E27FC236}">
                <a16:creationId xmlns:a16="http://schemas.microsoft.com/office/drawing/2014/main" id="{C82ECE6A-DCA6-6972-4973-8FB5B2715A2C}"/>
              </a:ext>
            </a:extLst>
          </p:cNvPr>
          <p:cNvSpPr/>
          <p:nvPr/>
        </p:nvSpPr>
        <p:spPr>
          <a:xfrm>
            <a:off x="5856959" y="2295219"/>
            <a:ext cx="776783" cy="385774"/>
          </a:xfrm>
          <a:prstGeom prst="roundRect">
            <a:avLst/>
          </a:prstGeom>
          <a:solidFill>
            <a:srgbClr val="0070C0"/>
          </a:solidFill>
          <a:ln w="41275">
            <a:solidFill>
              <a:srgbClr val="0070C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endParaRPr lang="en-US" sz="1800" dirty="0">
              <a:solidFill>
                <a:schemeClr val="tx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265F319-57F9-4243-4059-78CE3DFF575E}"/>
              </a:ext>
            </a:extLst>
          </p:cNvPr>
          <p:cNvSpPr txBox="1"/>
          <p:nvPr/>
        </p:nvSpPr>
        <p:spPr>
          <a:xfrm>
            <a:off x="5874433" y="2311661"/>
            <a:ext cx="759309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200" b="1" dirty="0">
                <a:solidFill>
                  <a:schemeClr val="accent3">
                    <a:lumMod val="75000"/>
                  </a:schemeClr>
                </a:solidFill>
                <a:latin typeface="Cambria Math" panose="02040503050406030204" pitchFamily="18" charset="0"/>
              </a:rPr>
              <a:t>   DI test  (Network)</a:t>
            </a:r>
            <a:endParaRPr lang="en-CA" sz="1200" b="1" dirty="0">
              <a:solidFill>
                <a:schemeClr val="accent3">
                  <a:lumMod val="75000"/>
                </a:schemeClr>
              </a:solidFill>
              <a:latin typeface="Cambria Math" panose="02040503050406030204" pitchFamily="18" charset="0"/>
            </a:endParaRP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9DB9625-CCCE-C3CC-B7A3-3DB5EE349008}"/>
              </a:ext>
            </a:extLst>
          </p:cNvPr>
          <p:cNvCxnSpPr>
            <a:cxnSpLocks/>
          </p:cNvCxnSpPr>
          <p:nvPr/>
        </p:nvCxnSpPr>
        <p:spPr>
          <a:xfrm>
            <a:off x="6754433" y="2538609"/>
            <a:ext cx="2222141" cy="916149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E7EE6D55-CDB0-4E17-F2FA-0F243BB7E307}"/>
              </a:ext>
            </a:extLst>
          </p:cNvPr>
          <p:cNvSpPr/>
          <p:nvPr/>
        </p:nvSpPr>
        <p:spPr>
          <a:xfrm>
            <a:off x="9028090" y="3429000"/>
            <a:ext cx="2975020" cy="1886453"/>
          </a:xfrm>
          <a:prstGeom prst="rect">
            <a:avLst/>
          </a:prstGeom>
          <a:ln w="254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sz="1400" dirty="0"/>
              <a:t>Assumptions: more complex causal structure,  source independence+…</a:t>
            </a:r>
          </a:p>
          <a:p>
            <a:endParaRPr lang="en-US" sz="1400" dirty="0"/>
          </a:p>
          <a:p>
            <a:r>
              <a:rPr lang="en-US" sz="1400" dirty="0"/>
              <a:t>Detection power: universal </a:t>
            </a:r>
          </a:p>
          <a:p>
            <a:endParaRPr lang="en-US" sz="1400" dirty="0"/>
          </a:p>
          <a:p>
            <a:r>
              <a:rPr lang="en-US" sz="1400" dirty="0"/>
              <a:t>Extra complexity: </a:t>
            </a:r>
          </a:p>
          <a:p>
            <a:r>
              <a:rPr lang="en-US" sz="1400" dirty="0"/>
              <a:t>extra (entangled) sources, entangled measurements </a:t>
            </a:r>
          </a:p>
        </p:txBody>
      </p:sp>
      <p:sp>
        <p:nvSpPr>
          <p:cNvPr id="17" name="Rectangle: Rounded Corners 2">
            <a:extLst>
              <a:ext uri="{FF2B5EF4-FFF2-40B4-BE49-F238E27FC236}">
                <a16:creationId xmlns:a16="http://schemas.microsoft.com/office/drawing/2014/main" id="{12F719B1-2A84-70B4-E49A-4FD0FB76EA23}"/>
              </a:ext>
            </a:extLst>
          </p:cNvPr>
          <p:cNvSpPr/>
          <p:nvPr/>
        </p:nvSpPr>
        <p:spPr>
          <a:xfrm>
            <a:off x="7677728" y="4753234"/>
            <a:ext cx="752248" cy="385775"/>
          </a:xfrm>
          <a:prstGeom prst="roundRect">
            <a:avLst/>
          </a:prstGeom>
          <a:solidFill>
            <a:srgbClr val="0070C0"/>
          </a:solidFill>
          <a:ln w="41275">
            <a:solidFill>
              <a:srgbClr val="0070C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endParaRPr lang="en-US" sz="18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9B0CA4D8-B238-CC08-D246-8DB0B35688C5}"/>
                  </a:ext>
                </a:extLst>
              </p:cNvPr>
              <p:cNvSpPr txBox="1"/>
              <p:nvPr/>
            </p:nvSpPr>
            <p:spPr>
              <a:xfrm>
                <a:off x="7655996" y="4761455"/>
                <a:ext cx="795711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1200" b="1" i="0" smtClean="0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𝐃𝐈</m:t>
                      </m:r>
                      <m:r>
                        <a:rPr lang="en-CA" sz="1200" b="1" i="0" smtClean="0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CA" sz="1200" b="1" i="0" smtClean="0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𝐭𝐞𝐬𝐭</m:t>
                      </m:r>
                      <m:r>
                        <a:rPr lang="en-CA" sz="1200" b="1" i="0" smtClean="0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CA" sz="1200" b="1" dirty="0">
                  <a:solidFill>
                    <a:schemeClr val="accent3">
                      <a:lumMod val="75000"/>
                    </a:schemeClr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1200" b="1" i="0" smtClean="0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CA" sz="1200" b="1" i="0" smtClean="0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𝐁𝐞𝐥𝐥</m:t>
                      </m:r>
                      <m:r>
                        <a:rPr lang="en-CA" sz="1200" b="1" i="0" smtClean="0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CA" sz="1200" b="1" i="0" smtClean="0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𝐭𝐞𝐬𝐭</m:t>
                      </m:r>
                      <m:r>
                        <a:rPr lang="en-CA" sz="1200" b="1" i="0" smtClean="0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200" b="1" dirty="0">
                  <a:solidFill>
                    <a:schemeClr val="accent3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9B0CA4D8-B238-CC08-D246-8DB0B35688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55996" y="4761455"/>
                <a:ext cx="795711" cy="369332"/>
              </a:xfrm>
              <a:prstGeom prst="rect">
                <a:avLst/>
              </a:prstGeom>
              <a:blipFill>
                <a:blip r:embed="rId5"/>
                <a:stretch>
                  <a:fillRect l="-3125" t="-3226" r="-3125" b="-161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E24FF629-6235-F0C4-3D49-97B3B93931A6}"/>
              </a:ext>
            </a:extLst>
          </p:cNvPr>
          <p:cNvCxnSpPr>
            <a:cxnSpLocks/>
          </p:cNvCxnSpPr>
          <p:nvPr/>
        </p:nvCxnSpPr>
        <p:spPr>
          <a:xfrm flipH="1" flipV="1">
            <a:off x="3510579" y="1297430"/>
            <a:ext cx="1672658" cy="932232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B27ED114-B131-5FAC-1205-5F218EFC853D}"/>
              </a:ext>
            </a:extLst>
          </p:cNvPr>
          <p:cNvSpPr/>
          <p:nvPr/>
        </p:nvSpPr>
        <p:spPr>
          <a:xfrm>
            <a:off x="96403" y="449623"/>
            <a:ext cx="3599826" cy="769044"/>
          </a:xfrm>
          <a:prstGeom prst="rect">
            <a:avLst/>
          </a:prstGeom>
          <a:ln w="254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sz="1400" dirty="0"/>
              <a:t>Assumptions: full characterization of “quantum inputs.”</a:t>
            </a:r>
          </a:p>
          <a:p>
            <a:r>
              <a:rPr lang="en-US" sz="1400" dirty="0"/>
              <a:t>Extra complexity: entangled measurement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" name="Rectangle: Rounded Corners 10">
                <a:extLst>
                  <a:ext uri="{FF2B5EF4-FFF2-40B4-BE49-F238E27FC236}">
                    <a16:creationId xmlns:a16="http://schemas.microsoft.com/office/drawing/2014/main" id="{EBE3C936-6DD7-B0C3-24AC-B6A1EE9552FD}"/>
                  </a:ext>
                </a:extLst>
              </p:cNvPr>
              <p:cNvSpPr/>
              <p:nvPr/>
            </p:nvSpPr>
            <p:spPr>
              <a:xfrm>
                <a:off x="11170550" y="2687803"/>
                <a:ext cx="730948" cy="316269"/>
              </a:xfrm>
              <a:prstGeom prst="roundRect">
                <a:avLst/>
              </a:prstGeom>
              <a:solidFill>
                <a:srgbClr val="0070C0"/>
              </a:solidFill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0" lang="en-US" sz="18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en-CA" sz="18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𝜎</m:t>
                          </m:r>
                        </m:e>
                        <m:sup>
                          <m:r>
                            <a:rPr kumimoji="0" lang="en-CA" sz="18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𝐶𝐷</m:t>
                          </m:r>
                        </m:sup>
                      </m:sSup>
                    </m:oMath>
                  </m:oMathPara>
                </a14:m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61" name="Rectangle: Rounded Corners 10">
                <a:extLst>
                  <a:ext uri="{FF2B5EF4-FFF2-40B4-BE49-F238E27FC236}">
                    <a16:creationId xmlns:a16="http://schemas.microsoft.com/office/drawing/2014/main" id="{EBE3C936-6DD7-B0C3-24AC-B6A1EE9552F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70550" y="2687803"/>
                <a:ext cx="730948" cy="316269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38C7218C-FF15-97BB-03A0-F3D8D2E83E2D}"/>
              </a:ext>
            </a:extLst>
          </p:cNvPr>
          <p:cNvCxnSpPr/>
          <p:nvPr/>
        </p:nvCxnSpPr>
        <p:spPr>
          <a:xfrm>
            <a:off x="11076277" y="2467091"/>
            <a:ext cx="0" cy="160276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F45D698C-CCF4-1BA5-81F0-FED0018F44D5}"/>
                  </a:ext>
                </a:extLst>
              </p:cNvPr>
              <p:cNvSpPr txBox="1"/>
              <p:nvPr/>
            </p:nvSpPr>
            <p:spPr>
              <a:xfrm>
                <a:off x="10823219" y="2417284"/>
                <a:ext cx="204800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altLang="zh-CN" sz="12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sz="16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mc:Choice>
        <mc:Fallback xmlns="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F45D698C-CCF4-1BA5-81F0-FED0018F44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23219" y="2417284"/>
                <a:ext cx="204800" cy="276999"/>
              </a:xfrm>
              <a:prstGeom prst="rect">
                <a:avLst/>
              </a:prstGeom>
              <a:blipFill>
                <a:blip r:embed="rId7"/>
                <a:stretch>
                  <a:fillRect r="-117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976CABA9-051B-4BA5-131D-155B0A2DFBD7}"/>
              </a:ext>
            </a:extLst>
          </p:cNvPr>
          <p:cNvCxnSpPr/>
          <p:nvPr/>
        </p:nvCxnSpPr>
        <p:spPr>
          <a:xfrm>
            <a:off x="10053759" y="2465452"/>
            <a:ext cx="0" cy="160276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54C4705F-8333-EED8-A959-30F647729A0E}"/>
                  </a:ext>
                </a:extLst>
              </p:cNvPr>
              <p:cNvSpPr txBox="1"/>
              <p:nvPr/>
            </p:nvSpPr>
            <p:spPr>
              <a:xfrm>
                <a:off x="9775443" y="2454795"/>
                <a:ext cx="204800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altLang="zh-CN" sz="12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16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mc:Choice>
        <mc:Fallback xmlns="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54C4705F-8333-EED8-A959-30F647729A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75443" y="2454795"/>
                <a:ext cx="204800" cy="276999"/>
              </a:xfrm>
              <a:prstGeom prst="rect">
                <a:avLst/>
              </a:prstGeom>
              <a:blipFill>
                <a:blip r:embed="rId8"/>
                <a:stretch>
                  <a:fillRect r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AA8D68A6-CF3F-8D5B-A383-F1D31F3FB4B2}"/>
                  </a:ext>
                </a:extLst>
              </p:cNvPr>
              <p:cNvSpPr txBox="1"/>
              <p:nvPr/>
            </p:nvSpPr>
            <p:spPr>
              <a:xfrm>
                <a:off x="9931395" y="1954337"/>
                <a:ext cx="246689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12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12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16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mc:Choice>
        <mc:Fallback xmlns="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AA8D68A6-CF3F-8D5B-A383-F1D31F3FB4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31395" y="1954337"/>
                <a:ext cx="246689" cy="276999"/>
              </a:xfrm>
              <a:prstGeom prst="rect">
                <a:avLst/>
              </a:prstGeom>
              <a:blipFill>
                <a:blip r:embed="rId9"/>
                <a:stretch>
                  <a:fillRect r="-14286" b="-90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5" name="Group 74">
            <a:extLst>
              <a:ext uri="{FF2B5EF4-FFF2-40B4-BE49-F238E27FC236}">
                <a16:creationId xmlns:a16="http://schemas.microsoft.com/office/drawing/2014/main" id="{FACA5393-5DA0-63EB-3936-6B3CF2FD97E4}"/>
              </a:ext>
            </a:extLst>
          </p:cNvPr>
          <p:cNvGrpSpPr/>
          <p:nvPr/>
        </p:nvGrpSpPr>
        <p:grpSpPr>
          <a:xfrm>
            <a:off x="10764959" y="2475757"/>
            <a:ext cx="45719" cy="210912"/>
            <a:chOff x="6548130" y="2237014"/>
            <a:chExt cx="49658" cy="440872"/>
          </a:xfrm>
        </p:grpSpPr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3B6F8542-206B-7B64-4F4A-AB2C3B3482C0}"/>
                </a:ext>
              </a:extLst>
            </p:cNvPr>
            <p:cNvCxnSpPr>
              <a:cxnSpLocks/>
            </p:cNvCxnSpPr>
            <p:nvPr/>
          </p:nvCxnSpPr>
          <p:spPr>
            <a:xfrm>
              <a:off x="6548130" y="2237014"/>
              <a:ext cx="0" cy="440872"/>
            </a:xfrm>
            <a:prstGeom prst="line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C9F28587-C484-77B7-E965-1C6B831A142A}"/>
                </a:ext>
              </a:extLst>
            </p:cNvPr>
            <p:cNvCxnSpPr>
              <a:cxnSpLocks/>
            </p:cNvCxnSpPr>
            <p:nvPr/>
          </p:nvCxnSpPr>
          <p:spPr>
            <a:xfrm>
              <a:off x="6597788" y="2237014"/>
              <a:ext cx="0" cy="440872"/>
            </a:xfrm>
            <a:prstGeom prst="line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cxnSp>
      </p:grpSp>
      <p:sp>
        <p:nvSpPr>
          <p:cNvPr id="78" name="Flowchart: Delay 9">
            <a:extLst>
              <a:ext uri="{FF2B5EF4-FFF2-40B4-BE49-F238E27FC236}">
                <a16:creationId xmlns:a16="http://schemas.microsoft.com/office/drawing/2014/main" id="{2F590428-03A6-78D0-781C-D8054607AA3A}"/>
              </a:ext>
            </a:extLst>
          </p:cNvPr>
          <p:cNvSpPr/>
          <p:nvPr/>
        </p:nvSpPr>
        <p:spPr>
          <a:xfrm rot="16200000">
            <a:off x="10843329" y="1934169"/>
            <a:ext cx="309789" cy="773386"/>
          </a:xfrm>
          <a:prstGeom prst="flowChartDelay">
            <a:avLst/>
          </a:prstGeom>
          <a:solidFill>
            <a:srgbClr val="0070C0"/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eaVert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AC30E0DB-EF4E-096F-8EF2-355DBB84AA0E}"/>
                  </a:ext>
                </a:extLst>
              </p:cNvPr>
              <p:cNvSpPr txBox="1"/>
              <p:nvPr/>
            </p:nvSpPr>
            <p:spPr>
              <a:xfrm>
                <a:off x="10976515" y="1954337"/>
                <a:ext cx="246689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12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sz="12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16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mc:Choice>
        <mc:Fallback xmlns="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AC30E0DB-EF4E-096F-8EF2-355DBB84AA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76515" y="1954337"/>
                <a:ext cx="246689" cy="276999"/>
              </a:xfrm>
              <a:prstGeom prst="rect">
                <a:avLst/>
              </a:prstGeom>
              <a:blipFill>
                <a:blip r:embed="rId10"/>
                <a:stretch>
                  <a:fillRect r="-20000" b="-90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0" name="Group 79">
            <a:extLst>
              <a:ext uri="{FF2B5EF4-FFF2-40B4-BE49-F238E27FC236}">
                <a16:creationId xmlns:a16="http://schemas.microsoft.com/office/drawing/2014/main" id="{CB6F05A0-BEDE-6BDA-534B-FB44DCFD4198}"/>
              </a:ext>
            </a:extLst>
          </p:cNvPr>
          <p:cNvGrpSpPr/>
          <p:nvPr/>
        </p:nvGrpSpPr>
        <p:grpSpPr>
          <a:xfrm>
            <a:off x="10149737" y="2475757"/>
            <a:ext cx="45719" cy="210912"/>
            <a:chOff x="6548130" y="2237014"/>
            <a:chExt cx="49658" cy="440872"/>
          </a:xfrm>
        </p:grpSpPr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0EB7FCF0-B683-0AFD-2B27-B95EBA4454CD}"/>
                </a:ext>
              </a:extLst>
            </p:cNvPr>
            <p:cNvCxnSpPr>
              <a:cxnSpLocks/>
            </p:cNvCxnSpPr>
            <p:nvPr/>
          </p:nvCxnSpPr>
          <p:spPr>
            <a:xfrm>
              <a:off x="6548130" y="2237014"/>
              <a:ext cx="0" cy="440872"/>
            </a:xfrm>
            <a:prstGeom prst="line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cxn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88509121-BC1A-F815-369E-2FD2DF4CC77E}"/>
                </a:ext>
              </a:extLst>
            </p:cNvPr>
            <p:cNvCxnSpPr>
              <a:cxnSpLocks/>
            </p:cNvCxnSpPr>
            <p:nvPr/>
          </p:nvCxnSpPr>
          <p:spPr>
            <a:xfrm>
              <a:off x="6597788" y="2237014"/>
              <a:ext cx="0" cy="440872"/>
            </a:xfrm>
            <a:prstGeom prst="line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cxnSp>
      </p:grpSp>
      <p:sp>
        <p:nvSpPr>
          <p:cNvPr id="83" name="Flowchart: Delay 17">
            <a:extLst>
              <a:ext uri="{FF2B5EF4-FFF2-40B4-BE49-F238E27FC236}">
                <a16:creationId xmlns:a16="http://schemas.microsoft.com/office/drawing/2014/main" id="{C19BF3CB-CFBB-85A1-3758-0142A22BCA70}"/>
              </a:ext>
            </a:extLst>
          </p:cNvPr>
          <p:cNvSpPr/>
          <p:nvPr/>
        </p:nvSpPr>
        <p:spPr>
          <a:xfrm rot="16200000">
            <a:off x="9811079" y="1934168"/>
            <a:ext cx="309789" cy="773387"/>
          </a:xfrm>
          <a:prstGeom prst="flowChartDelay">
            <a:avLst/>
          </a:prstGeom>
          <a:solidFill>
            <a:srgbClr val="0070C0"/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eaVert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0" dirty="0">
                <a:solidFill>
                  <a:prstClr val="black"/>
                </a:solidFill>
                <a:latin typeface="Calibri" panose="020F0502020204030204"/>
              </a:rPr>
              <a:t>N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D137D9CB-5A6C-D8CA-5688-203C3C94073E}"/>
              </a:ext>
            </a:extLst>
          </p:cNvPr>
          <p:cNvCxnSpPr>
            <a:cxnSpLocks/>
          </p:cNvCxnSpPr>
          <p:nvPr/>
        </p:nvCxnSpPr>
        <p:spPr>
          <a:xfrm>
            <a:off x="9962487" y="2051809"/>
            <a:ext cx="0" cy="114159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686F95F5-3B67-CC9D-9E4D-4E88165617FC}"/>
              </a:ext>
            </a:extLst>
          </p:cNvPr>
          <p:cNvCxnSpPr>
            <a:cxnSpLocks/>
          </p:cNvCxnSpPr>
          <p:nvPr/>
        </p:nvCxnSpPr>
        <p:spPr>
          <a:xfrm>
            <a:off x="11001493" y="2051809"/>
            <a:ext cx="0" cy="114159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6" name="Rectangle: Rounded Corners 10">
                <a:extLst>
                  <a:ext uri="{FF2B5EF4-FFF2-40B4-BE49-F238E27FC236}">
                    <a16:creationId xmlns:a16="http://schemas.microsoft.com/office/drawing/2014/main" id="{AA326B18-65F3-030D-E1D0-590A6D449602}"/>
                  </a:ext>
                </a:extLst>
              </p:cNvPr>
              <p:cNvSpPr/>
              <p:nvPr/>
            </p:nvSpPr>
            <p:spPr>
              <a:xfrm>
                <a:off x="9977840" y="2677692"/>
                <a:ext cx="1040125" cy="326380"/>
              </a:xfrm>
              <a:prstGeom prst="roundRect">
                <a:avLst/>
              </a:prstGeom>
              <a:solidFill>
                <a:srgbClr val="FFC000">
                  <a:lumMod val="40000"/>
                  <a:lumOff val="60000"/>
                </a:srgbClr>
              </a:solidFill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0" lang="en-US" sz="18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en-US" sz="18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𝜌</m:t>
                          </m:r>
                        </m:e>
                        <m:sup>
                          <m:r>
                            <a:rPr kumimoji="0" lang="en-CA" sz="18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𝐴𝐵</m:t>
                          </m:r>
                        </m:sup>
                      </m:sSup>
                    </m:oMath>
                  </m:oMathPara>
                </a14:m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86" name="Rectangle: Rounded Corners 10">
                <a:extLst>
                  <a:ext uri="{FF2B5EF4-FFF2-40B4-BE49-F238E27FC236}">
                    <a16:creationId xmlns:a16="http://schemas.microsoft.com/office/drawing/2014/main" id="{AA326B18-65F3-030D-E1D0-590A6D44960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77840" y="2677692"/>
                <a:ext cx="1040125" cy="326380"/>
              </a:xfrm>
              <a:prstGeom prst="roundRect">
                <a:avLst/>
              </a:prstGeom>
              <a:blipFill>
                <a:blip r:embed="rId11"/>
                <a:stretch>
                  <a:fillRect/>
                </a:stretch>
              </a:blipFill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A656B8E3-F736-D411-6A99-613FE575BFF9}"/>
              </a:ext>
            </a:extLst>
          </p:cNvPr>
          <p:cNvCxnSpPr/>
          <p:nvPr/>
        </p:nvCxnSpPr>
        <p:spPr>
          <a:xfrm>
            <a:off x="11783894" y="2467091"/>
            <a:ext cx="0" cy="160276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EEA3E976-28AD-63B8-4739-5F4FFBF64FF9}"/>
                  </a:ext>
                </a:extLst>
              </p:cNvPr>
              <p:cNvSpPr txBox="1"/>
              <p:nvPr/>
            </p:nvSpPr>
            <p:spPr>
              <a:xfrm>
                <a:off x="11736900" y="2417284"/>
                <a:ext cx="204800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16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en-US" sz="16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mc:Choice>
        <mc:Fallback xmlns=""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EEA3E976-28AD-63B8-4739-5F4FFBF64F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36900" y="2417284"/>
                <a:ext cx="204800" cy="338554"/>
              </a:xfrm>
              <a:prstGeom prst="rect">
                <a:avLst/>
              </a:prstGeom>
              <a:blipFill>
                <a:blip r:embed="rId12"/>
                <a:stretch>
                  <a:fillRect r="-117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9" name="Group 88">
            <a:extLst>
              <a:ext uri="{FF2B5EF4-FFF2-40B4-BE49-F238E27FC236}">
                <a16:creationId xmlns:a16="http://schemas.microsoft.com/office/drawing/2014/main" id="{19172EB3-F367-05FC-5305-7B833E6D9738}"/>
              </a:ext>
            </a:extLst>
          </p:cNvPr>
          <p:cNvGrpSpPr/>
          <p:nvPr/>
        </p:nvGrpSpPr>
        <p:grpSpPr>
          <a:xfrm>
            <a:off x="11678640" y="2475757"/>
            <a:ext cx="45719" cy="210912"/>
            <a:chOff x="6548130" y="2237014"/>
            <a:chExt cx="49658" cy="440872"/>
          </a:xfrm>
        </p:grpSpPr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14F90DD5-BCC6-57C1-5953-EDE62DB4178F}"/>
                </a:ext>
              </a:extLst>
            </p:cNvPr>
            <p:cNvCxnSpPr>
              <a:cxnSpLocks/>
            </p:cNvCxnSpPr>
            <p:nvPr/>
          </p:nvCxnSpPr>
          <p:spPr>
            <a:xfrm>
              <a:off x="6548130" y="2237014"/>
              <a:ext cx="0" cy="440872"/>
            </a:xfrm>
            <a:prstGeom prst="line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cxnSp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2637165B-1656-BD03-28C4-E052BDFCF262}"/>
                </a:ext>
              </a:extLst>
            </p:cNvPr>
            <p:cNvCxnSpPr>
              <a:cxnSpLocks/>
            </p:cNvCxnSpPr>
            <p:nvPr/>
          </p:nvCxnSpPr>
          <p:spPr>
            <a:xfrm>
              <a:off x="6597788" y="2237014"/>
              <a:ext cx="0" cy="440872"/>
            </a:xfrm>
            <a:prstGeom prst="line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cxnSp>
      </p:grpSp>
      <p:sp>
        <p:nvSpPr>
          <p:cNvPr id="92" name="Flowchart: Delay 9">
            <a:extLst>
              <a:ext uri="{FF2B5EF4-FFF2-40B4-BE49-F238E27FC236}">
                <a16:creationId xmlns:a16="http://schemas.microsoft.com/office/drawing/2014/main" id="{8451D4CF-F74A-A990-B16A-526F9CBC0347}"/>
              </a:ext>
            </a:extLst>
          </p:cNvPr>
          <p:cNvSpPr/>
          <p:nvPr/>
        </p:nvSpPr>
        <p:spPr>
          <a:xfrm rot="16200000">
            <a:off x="11554216" y="2136964"/>
            <a:ext cx="309789" cy="367797"/>
          </a:xfrm>
          <a:prstGeom prst="flowChartDelay">
            <a:avLst/>
          </a:prstGeom>
          <a:solidFill>
            <a:srgbClr val="0070C0"/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eaVert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5E1058A2-2647-B4FA-38B2-F77A3CCC990E}"/>
                  </a:ext>
                </a:extLst>
              </p:cNvPr>
              <p:cNvSpPr txBox="1"/>
              <p:nvPr/>
            </p:nvSpPr>
            <p:spPr>
              <a:xfrm>
                <a:off x="11684132" y="1954337"/>
                <a:ext cx="246689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:r>
                  <a:rPr lang="en-US" sz="1200" dirty="0">
                    <a:solidFill>
                      <a:prstClr val="black"/>
                    </a:solidFill>
                  </a:rPr>
                  <a:t>c</a:t>
                </a:r>
                <a14:m>
                  <m:oMath xmlns:m="http://schemas.openxmlformats.org/officeDocument/2006/math">
                    <m:r>
                      <a:rPr lang="en-US" sz="12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16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mc:Choice>
        <mc:Fallback xmlns="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5E1058A2-2647-B4FA-38B2-F77A3CCC99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84132" y="1954337"/>
                <a:ext cx="246689" cy="461665"/>
              </a:xfrm>
              <a:prstGeom prst="rect">
                <a:avLst/>
              </a:prstGeom>
              <a:blipFill>
                <a:blip r:embed="rId13"/>
                <a:stretch>
                  <a:fillRect t="-2703" b="-54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9838D0FB-874E-B071-09EF-7D2D080C3F38}"/>
              </a:ext>
            </a:extLst>
          </p:cNvPr>
          <p:cNvCxnSpPr>
            <a:cxnSpLocks/>
          </p:cNvCxnSpPr>
          <p:nvPr/>
        </p:nvCxnSpPr>
        <p:spPr>
          <a:xfrm>
            <a:off x="11709110" y="2051809"/>
            <a:ext cx="0" cy="114159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p:grpSp>
        <p:nvGrpSpPr>
          <p:cNvPr id="95" name="Group 94">
            <a:extLst>
              <a:ext uri="{FF2B5EF4-FFF2-40B4-BE49-F238E27FC236}">
                <a16:creationId xmlns:a16="http://schemas.microsoft.com/office/drawing/2014/main" id="{D08497CD-9DC5-CD7E-8294-EE9B2DB150CD}"/>
              </a:ext>
            </a:extLst>
          </p:cNvPr>
          <p:cNvGrpSpPr/>
          <p:nvPr/>
        </p:nvGrpSpPr>
        <p:grpSpPr>
          <a:xfrm>
            <a:off x="11239200" y="2475757"/>
            <a:ext cx="45719" cy="210912"/>
            <a:chOff x="6548130" y="2237014"/>
            <a:chExt cx="49658" cy="440872"/>
          </a:xfrm>
        </p:grpSpPr>
        <p:cxnSp>
          <p:nvCxnSpPr>
            <p:cNvPr id="96" name="Straight Connector 95">
              <a:extLst>
                <a:ext uri="{FF2B5EF4-FFF2-40B4-BE49-F238E27FC236}">
                  <a16:creationId xmlns:a16="http://schemas.microsoft.com/office/drawing/2014/main" id="{05C3D42B-7AA4-DD47-CBAA-354F2FA6245F}"/>
                </a:ext>
              </a:extLst>
            </p:cNvPr>
            <p:cNvCxnSpPr>
              <a:cxnSpLocks/>
            </p:cNvCxnSpPr>
            <p:nvPr/>
          </p:nvCxnSpPr>
          <p:spPr>
            <a:xfrm>
              <a:off x="6548130" y="2237014"/>
              <a:ext cx="0" cy="440872"/>
            </a:xfrm>
            <a:prstGeom prst="line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cxnSp>
        <p:cxnSp>
          <p:nvCxnSpPr>
            <p:cNvPr id="97" name="Straight Connector 96">
              <a:extLst>
                <a:ext uri="{FF2B5EF4-FFF2-40B4-BE49-F238E27FC236}">
                  <a16:creationId xmlns:a16="http://schemas.microsoft.com/office/drawing/2014/main" id="{D91F61D6-A6F7-1ABD-3DEF-23242A73F159}"/>
                </a:ext>
              </a:extLst>
            </p:cNvPr>
            <p:cNvCxnSpPr>
              <a:cxnSpLocks/>
            </p:cNvCxnSpPr>
            <p:nvPr/>
          </p:nvCxnSpPr>
          <p:spPr>
            <a:xfrm>
              <a:off x="6597788" y="2237014"/>
              <a:ext cx="0" cy="440872"/>
            </a:xfrm>
            <a:prstGeom prst="line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8" name="Rectangle: Rounded Corners 10">
                <a:extLst>
                  <a:ext uri="{FF2B5EF4-FFF2-40B4-BE49-F238E27FC236}">
                    <a16:creationId xmlns:a16="http://schemas.microsoft.com/office/drawing/2014/main" id="{AC56D1CF-803B-EE2A-C2D6-D715EB46BE41}"/>
                  </a:ext>
                </a:extLst>
              </p:cNvPr>
              <p:cNvSpPr/>
              <p:nvPr/>
            </p:nvSpPr>
            <p:spPr>
              <a:xfrm>
                <a:off x="9094196" y="2686669"/>
                <a:ext cx="730948" cy="316269"/>
              </a:xfrm>
              <a:prstGeom prst="roundRect">
                <a:avLst/>
              </a:prstGeom>
              <a:solidFill>
                <a:srgbClr val="0070C0"/>
              </a:solidFill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0" lang="en-US" sz="18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en-CA" sz="18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𝜎</m:t>
                          </m:r>
                        </m:e>
                        <m:sup>
                          <m:r>
                            <a:rPr kumimoji="0" lang="en-CA" sz="18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𝐸𝐹</m:t>
                          </m:r>
                        </m:sup>
                      </m:sSup>
                    </m:oMath>
                  </m:oMathPara>
                </a14:m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98" name="Rectangle: Rounded Corners 10">
                <a:extLst>
                  <a:ext uri="{FF2B5EF4-FFF2-40B4-BE49-F238E27FC236}">
                    <a16:creationId xmlns:a16="http://schemas.microsoft.com/office/drawing/2014/main" id="{AC56D1CF-803B-EE2A-C2D6-D715EB46BE4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94196" y="2686669"/>
                <a:ext cx="730948" cy="316269"/>
              </a:xfrm>
              <a:prstGeom prst="roundRect">
                <a:avLst/>
              </a:prstGeom>
              <a:blipFill>
                <a:blip r:embed="rId14"/>
                <a:stretch>
                  <a:fillRect/>
                </a:stretch>
              </a:blipFill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D235F6C9-C34B-56FF-60A1-0ECEBAB6093F}"/>
              </a:ext>
            </a:extLst>
          </p:cNvPr>
          <p:cNvCxnSpPr/>
          <p:nvPr/>
        </p:nvCxnSpPr>
        <p:spPr>
          <a:xfrm>
            <a:off x="9321316" y="2467091"/>
            <a:ext cx="0" cy="160276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1A3ACB15-8E1F-C84D-F715-CD7541487363}"/>
                  </a:ext>
                </a:extLst>
              </p:cNvPr>
              <p:cNvSpPr txBox="1"/>
              <p:nvPr/>
            </p:nvSpPr>
            <p:spPr>
              <a:xfrm>
                <a:off x="9274322" y="2417284"/>
                <a:ext cx="204800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16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𝑤</m:t>
                      </m:r>
                    </m:oMath>
                  </m:oMathPara>
                </a14:m>
                <a:endParaRPr lang="en-US" sz="16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mc:Choice>
        <mc:Fallback xmlns=""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1A3ACB15-8E1F-C84D-F715-CD75414873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74322" y="2417284"/>
                <a:ext cx="204800" cy="338554"/>
              </a:xfrm>
              <a:prstGeom prst="rect">
                <a:avLst/>
              </a:prstGeom>
              <a:blipFill>
                <a:blip r:embed="rId15"/>
                <a:stretch>
                  <a:fillRect r="-411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1" name="Group 100">
            <a:extLst>
              <a:ext uri="{FF2B5EF4-FFF2-40B4-BE49-F238E27FC236}">
                <a16:creationId xmlns:a16="http://schemas.microsoft.com/office/drawing/2014/main" id="{7F0CDBFF-0B53-3BA5-3FB5-067ADC45587A}"/>
              </a:ext>
            </a:extLst>
          </p:cNvPr>
          <p:cNvGrpSpPr/>
          <p:nvPr/>
        </p:nvGrpSpPr>
        <p:grpSpPr>
          <a:xfrm>
            <a:off x="9216062" y="2475757"/>
            <a:ext cx="45719" cy="210912"/>
            <a:chOff x="6548130" y="2237014"/>
            <a:chExt cx="49658" cy="440872"/>
          </a:xfrm>
        </p:grpSpPr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3F1CEF64-F908-42CC-DC68-01D8E4538999}"/>
                </a:ext>
              </a:extLst>
            </p:cNvPr>
            <p:cNvCxnSpPr>
              <a:cxnSpLocks/>
            </p:cNvCxnSpPr>
            <p:nvPr/>
          </p:nvCxnSpPr>
          <p:spPr>
            <a:xfrm>
              <a:off x="6548130" y="2237014"/>
              <a:ext cx="0" cy="440872"/>
            </a:xfrm>
            <a:prstGeom prst="line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cxnSp>
        <p:cxnSp>
          <p:nvCxnSpPr>
            <p:cNvPr id="103" name="Straight Connector 102">
              <a:extLst>
                <a:ext uri="{FF2B5EF4-FFF2-40B4-BE49-F238E27FC236}">
                  <a16:creationId xmlns:a16="http://schemas.microsoft.com/office/drawing/2014/main" id="{02E94603-63F0-8061-C98A-B20DC2B543AC}"/>
                </a:ext>
              </a:extLst>
            </p:cNvPr>
            <p:cNvCxnSpPr>
              <a:cxnSpLocks/>
            </p:cNvCxnSpPr>
            <p:nvPr/>
          </p:nvCxnSpPr>
          <p:spPr>
            <a:xfrm>
              <a:off x="6597788" y="2237014"/>
              <a:ext cx="0" cy="440872"/>
            </a:xfrm>
            <a:prstGeom prst="line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cxnSp>
      </p:grpSp>
      <p:sp>
        <p:nvSpPr>
          <p:cNvPr id="104" name="Flowchart: Delay 9">
            <a:extLst>
              <a:ext uri="{FF2B5EF4-FFF2-40B4-BE49-F238E27FC236}">
                <a16:creationId xmlns:a16="http://schemas.microsoft.com/office/drawing/2014/main" id="{E9763EC9-AB44-D761-B373-C9D7FBBAEF91}"/>
              </a:ext>
            </a:extLst>
          </p:cNvPr>
          <p:cNvSpPr/>
          <p:nvPr/>
        </p:nvSpPr>
        <p:spPr>
          <a:xfrm rot="16200000">
            <a:off x="9091638" y="2136964"/>
            <a:ext cx="309789" cy="367797"/>
          </a:xfrm>
          <a:prstGeom prst="flowChartDelay">
            <a:avLst/>
          </a:prstGeom>
          <a:solidFill>
            <a:srgbClr val="0070C0"/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eaVert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143690F2-1321-4A09-B947-FEE11BBE3DEC}"/>
              </a:ext>
            </a:extLst>
          </p:cNvPr>
          <p:cNvSpPr txBox="1"/>
          <p:nvPr/>
        </p:nvSpPr>
        <p:spPr>
          <a:xfrm>
            <a:off x="9221554" y="1954337"/>
            <a:ext cx="24668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1200" dirty="0">
                <a:solidFill>
                  <a:prstClr val="black"/>
                </a:solidFill>
              </a:rPr>
              <a:t>d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B0CF0AB1-B73D-CD36-D575-C0E0E361216A}"/>
              </a:ext>
            </a:extLst>
          </p:cNvPr>
          <p:cNvCxnSpPr>
            <a:cxnSpLocks/>
          </p:cNvCxnSpPr>
          <p:nvPr/>
        </p:nvCxnSpPr>
        <p:spPr>
          <a:xfrm>
            <a:off x="9246532" y="2051809"/>
            <a:ext cx="0" cy="114159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22228F5A-3067-A22E-C986-87532FDE37E9}"/>
              </a:ext>
            </a:extLst>
          </p:cNvPr>
          <p:cNvGrpSpPr/>
          <p:nvPr/>
        </p:nvGrpSpPr>
        <p:grpSpPr>
          <a:xfrm>
            <a:off x="9665420" y="2475757"/>
            <a:ext cx="45719" cy="210912"/>
            <a:chOff x="6548130" y="2237014"/>
            <a:chExt cx="49658" cy="440872"/>
          </a:xfrm>
        </p:grpSpPr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8339B43D-DAEC-F99D-B30C-C9A1F3F85E4F}"/>
                </a:ext>
              </a:extLst>
            </p:cNvPr>
            <p:cNvCxnSpPr>
              <a:cxnSpLocks/>
            </p:cNvCxnSpPr>
            <p:nvPr/>
          </p:nvCxnSpPr>
          <p:spPr>
            <a:xfrm>
              <a:off x="6548130" y="2237014"/>
              <a:ext cx="0" cy="440872"/>
            </a:xfrm>
            <a:prstGeom prst="line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6997E41A-C7BF-404E-2896-A688DCE62EE1}"/>
                </a:ext>
              </a:extLst>
            </p:cNvPr>
            <p:cNvCxnSpPr>
              <a:cxnSpLocks/>
            </p:cNvCxnSpPr>
            <p:nvPr/>
          </p:nvCxnSpPr>
          <p:spPr>
            <a:xfrm>
              <a:off x="6597788" y="2237014"/>
              <a:ext cx="0" cy="440872"/>
            </a:xfrm>
            <a:prstGeom prst="line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0" name="Rectangle: Rounded Corners 10">
                <a:extLst>
                  <a:ext uri="{FF2B5EF4-FFF2-40B4-BE49-F238E27FC236}">
                    <a16:creationId xmlns:a16="http://schemas.microsoft.com/office/drawing/2014/main" id="{008655E1-3DF2-244D-F310-A56D4B5B13D8}"/>
                  </a:ext>
                </a:extLst>
              </p:cNvPr>
              <p:cNvSpPr/>
              <p:nvPr/>
            </p:nvSpPr>
            <p:spPr>
              <a:xfrm>
                <a:off x="2237272" y="1886978"/>
                <a:ext cx="369332" cy="316269"/>
              </a:xfrm>
              <a:prstGeom prst="roundRect">
                <a:avLst/>
              </a:prstGeom>
              <a:solidFill>
                <a:srgbClr val="0070C0"/>
              </a:solidFill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0" lang="en-CA" sz="18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SupPr>
                        <m:e>
                          <m:r>
                            <a:rPr kumimoji="0" lang="en-CA" sz="18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𝜎</m:t>
                          </m:r>
                        </m:e>
                        <m:sub>
                          <m:r>
                            <a:rPr kumimoji="0" lang="en-CA" sz="18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𝑦</m:t>
                          </m:r>
                        </m:sub>
                        <m:sup>
                          <m:r>
                            <a:rPr kumimoji="0" lang="en-CA" sz="18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𝐶</m:t>
                          </m:r>
                        </m:sup>
                      </m:sSubSup>
                    </m:oMath>
                  </m:oMathPara>
                </a14:m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10" name="Rectangle: Rounded Corners 10">
                <a:extLst>
                  <a:ext uri="{FF2B5EF4-FFF2-40B4-BE49-F238E27FC236}">
                    <a16:creationId xmlns:a16="http://schemas.microsoft.com/office/drawing/2014/main" id="{008655E1-3DF2-244D-F310-A56D4B5B13D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7272" y="1886978"/>
                <a:ext cx="369332" cy="316269"/>
              </a:xfrm>
              <a:prstGeom prst="roundRect">
                <a:avLst/>
              </a:prstGeom>
              <a:blipFill>
                <a:blip r:embed="rId16"/>
                <a:stretch>
                  <a:fillRect/>
                </a:stretch>
              </a:blipFill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5" name="TextBox 114">
                <a:extLst>
                  <a:ext uri="{FF2B5EF4-FFF2-40B4-BE49-F238E27FC236}">
                    <a16:creationId xmlns:a16="http://schemas.microsoft.com/office/drawing/2014/main" id="{7DC70446-0CD1-BC02-DB89-518917BF9F11}"/>
                  </a:ext>
                </a:extLst>
              </p:cNvPr>
              <p:cNvSpPr txBox="1"/>
              <p:nvPr/>
            </p:nvSpPr>
            <p:spPr>
              <a:xfrm>
                <a:off x="691694" y="1320939"/>
                <a:ext cx="246689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12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12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16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mc:Choice>
        <mc:Fallback xmlns="">
          <p:sp>
            <p:nvSpPr>
              <p:cNvPr id="115" name="TextBox 114">
                <a:extLst>
                  <a:ext uri="{FF2B5EF4-FFF2-40B4-BE49-F238E27FC236}">
                    <a16:creationId xmlns:a16="http://schemas.microsoft.com/office/drawing/2014/main" id="{7DC70446-0CD1-BC02-DB89-518917BF9F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1694" y="1320939"/>
                <a:ext cx="246689" cy="276999"/>
              </a:xfrm>
              <a:prstGeom prst="rect">
                <a:avLst/>
              </a:prstGeom>
              <a:blipFill>
                <a:blip r:embed="rId17"/>
                <a:stretch>
                  <a:fillRect r="-20000" b="-90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6" name="Group 115">
            <a:extLst>
              <a:ext uri="{FF2B5EF4-FFF2-40B4-BE49-F238E27FC236}">
                <a16:creationId xmlns:a16="http://schemas.microsoft.com/office/drawing/2014/main" id="{F12FD9D8-C145-5C03-6BAB-B750086BBFAD}"/>
              </a:ext>
            </a:extLst>
          </p:cNvPr>
          <p:cNvGrpSpPr/>
          <p:nvPr/>
        </p:nvGrpSpPr>
        <p:grpSpPr>
          <a:xfrm>
            <a:off x="1924507" y="1674932"/>
            <a:ext cx="45719" cy="210912"/>
            <a:chOff x="6548130" y="2237014"/>
            <a:chExt cx="49658" cy="440872"/>
          </a:xfrm>
        </p:grpSpPr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9D51A508-28FC-EE00-462C-FEDACC70264B}"/>
                </a:ext>
              </a:extLst>
            </p:cNvPr>
            <p:cNvCxnSpPr>
              <a:cxnSpLocks/>
            </p:cNvCxnSpPr>
            <p:nvPr/>
          </p:nvCxnSpPr>
          <p:spPr>
            <a:xfrm>
              <a:off x="6548130" y="2237014"/>
              <a:ext cx="0" cy="440872"/>
            </a:xfrm>
            <a:prstGeom prst="line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2179DF77-B3CE-B660-6835-63DDA7079651}"/>
                </a:ext>
              </a:extLst>
            </p:cNvPr>
            <p:cNvCxnSpPr>
              <a:cxnSpLocks/>
            </p:cNvCxnSpPr>
            <p:nvPr/>
          </p:nvCxnSpPr>
          <p:spPr>
            <a:xfrm>
              <a:off x="6597788" y="2237014"/>
              <a:ext cx="0" cy="440872"/>
            </a:xfrm>
            <a:prstGeom prst="line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cxnSp>
      </p:grpSp>
      <p:sp>
        <p:nvSpPr>
          <p:cNvPr id="119" name="Flowchart: Delay 9">
            <a:extLst>
              <a:ext uri="{FF2B5EF4-FFF2-40B4-BE49-F238E27FC236}">
                <a16:creationId xmlns:a16="http://schemas.microsoft.com/office/drawing/2014/main" id="{331458A4-2247-2426-50D6-1BAA8E860C6B}"/>
              </a:ext>
            </a:extLst>
          </p:cNvPr>
          <p:cNvSpPr/>
          <p:nvPr/>
        </p:nvSpPr>
        <p:spPr>
          <a:xfrm rot="16200000">
            <a:off x="2002877" y="1133344"/>
            <a:ext cx="309789" cy="773386"/>
          </a:xfrm>
          <a:prstGeom prst="flowChartDelay">
            <a:avLst/>
          </a:prstGeom>
          <a:solidFill>
            <a:srgbClr val="0070C0"/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eaVert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0" name="TextBox 119">
                <a:extLst>
                  <a:ext uri="{FF2B5EF4-FFF2-40B4-BE49-F238E27FC236}">
                    <a16:creationId xmlns:a16="http://schemas.microsoft.com/office/drawing/2014/main" id="{154A2EDF-435A-9AC7-AD50-AA6CD74E6E12}"/>
                  </a:ext>
                </a:extLst>
              </p:cNvPr>
              <p:cNvSpPr txBox="1"/>
              <p:nvPr/>
            </p:nvSpPr>
            <p:spPr>
              <a:xfrm>
                <a:off x="2148433" y="1166290"/>
                <a:ext cx="246689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12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sz="12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16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mc:Choice>
        <mc:Fallback xmlns="">
          <p:sp>
            <p:nvSpPr>
              <p:cNvPr id="120" name="TextBox 119">
                <a:extLst>
                  <a:ext uri="{FF2B5EF4-FFF2-40B4-BE49-F238E27FC236}">
                    <a16:creationId xmlns:a16="http://schemas.microsoft.com/office/drawing/2014/main" id="{154A2EDF-435A-9AC7-AD50-AA6CD74E6E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48433" y="1166290"/>
                <a:ext cx="246689" cy="276999"/>
              </a:xfrm>
              <a:prstGeom prst="rect">
                <a:avLst/>
              </a:prstGeom>
              <a:blipFill>
                <a:blip r:embed="rId18"/>
                <a:stretch>
                  <a:fillRect r="-14286" b="-86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21" name="Group 120">
            <a:extLst>
              <a:ext uri="{FF2B5EF4-FFF2-40B4-BE49-F238E27FC236}">
                <a16:creationId xmlns:a16="http://schemas.microsoft.com/office/drawing/2014/main" id="{7556E1C0-9317-993C-7EBE-107AFA154BC4}"/>
              </a:ext>
            </a:extLst>
          </p:cNvPr>
          <p:cNvGrpSpPr/>
          <p:nvPr/>
        </p:nvGrpSpPr>
        <p:grpSpPr>
          <a:xfrm>
            <a:off x="1309285" y="1674932"/>
            <a:ext cx="45719" cy="210912"/>
            <a:chOff x="6548130" y="2237014"/>
            <a:chExt cx="49658" cy="440872"/>
          </a:xfrm>
        </p:grpSpPr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B3B70E6D-218A-8F9B-D414-FC8FE0AD061A}"/>
                </a:ext>
              </a:extLst>
            </p:cNvPr>
            <p:cNvCxnSpPr>
              <a:cxnSpLocks/>
            </p:cNvCxnSpPr>
            <p:nvPr/>
          </p:nvCxnSpPr>
          <p:spPr>
            <a:xfrm>
              <a:off x="6548130" y="2237014"/>
              <a:ext cx="0" cy="440872"/>
            </a:xfrm>
            <a:prstGeom prst="line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D4F54260-DA25-2B0D-088F-81C644636C51}"/>
                </a:ext>
              </a:extLst>
            </p:cNvPr>
            <p:cNvCxnSpPr>
              <a:cxnSpLocks/>
            </p:cNvCxnSpPr>
            <p:nvPr/>
          </p:nvCxnSpPr>
          <p:spPr>
            <a:xfrm>
              <a:off x="6597788" y="2237014"/>
              <a:ext cx="0" cy="440872"/>
            </a:xfrm>
            <a:prstGeom prst="line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cxnSp>
      </p:grpSp>
      <p:sp>
        <p:nvSpPr>
          <p:cNvPr id="124" name="Flowchart: Delay 17">
            <a:extLst>
              <a:ext uri="{FF2B5EF4-FFF2-40B4-BE49-F238E27FC236}">
                <a16:creationId xmlns:a16="http://schemas.microsoft.com/office/drawing/2014/main" id="{01D8A7FE-046D-95C8-8B15-6FF2E25E4952}"/>
              </a:ext>
            </a:extLst>
          </p:cNvPr>
          <p:cNvSpPr/>
          <p:nvPr/>
        </p:nvSpPr>
        <p:spPr>
          <a:xfrm rot="16200000">
            <a:off x="970627" y="1133343"/>
            <a:ext cx="309789" cy="773387"/>
          </a:xfrm>
          <a:prstGeom prst="flowChartDelay">
            <a:avLst/>
          </a:prstGeom>
          <a:solidFill>
            <a:srgbClr val="0070C0"/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eaVert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0" dirty="0">
                <a:solidFill>
                  <a:prstClr val="black"/>
                </a:solidFill>
                <a:latin typeface="Calibri" panose="020F0502020204030204"/>
              </a:rPr>
              <a:t>N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25" name="Straight Connector 124">
            <a:extLst>
              <a:ext uri="{FF2B5EF4-FFF2-40B4-BE49-F238E27FC236}">
                <a16:creationId xmlns:a16="http://schemas.microsoft.com/office/drawing/2014/main" id="{FB048349-52C1-AFCD-3B57-1E19BD43D7F8}"/>
              </a:ext>
            </a:extLst>
          </p:cNvPr>
          <p:cNvCxnSpPr>
            <a:cxnSpLocks/>
          </p:cNvCxnSpPr>
          <p:nvPr/>
        </p:nvCxnSpPr>
        <p:spPr>
          <a:xfrm>
            <a:off x="1122035" y="1250984"/>
            <a:ext cx="0" cy="114159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p:cxnSp>
        <p:nvCxnSpPr>
          <p:cNvPr id="126" name="Straight Connector 125">
            <a:extLst>
              <a:ext uri="{FF2B5EF4-FFF2-40B4-BE49-F238E27FC236}">
                <a16:creationId xmlns:a16="http://schemas.microsoft.com/office/drawing/2014/main" id="{01BB4810-AD86-AFF1-147F-E29B5AACC5AE}"/>
              </a:ext>
            </a:extLst>
          </p:cNvPr>
          <p:cNvCxnSpPr>
            <a:cxnSpLocks/>
          </p:cNvCxnSpPr>
          <p:nvPr/>
        </p:nvCxnSpPr>
        <p:spPr>
          <a:xfrm>
            <a:off x="2161041" y="1250984"/>
            <a:ext cx="0" cy="114159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7" name="Rectangle: Rounded Corners 10">
                <a:extLst>
                  <a:ext uri="{FF2B5EF4-FFF2-40B4-BE49-F238E27FC236}">
                    <a16:creationId xmlns:a16="http://schemas.microsoft.com/office/drawing/2014/main" id="{367229E9-9402-7A3E-E321-69692F9BDAD0}"/>
                  </a:ext>
                </a:extLst>
              </p:cNvPr>
              <p:cNvSpPr/>
              <p:nvPr/>
            </p:nvSpPr>
            <p:spPr>
              <a:xfrm>
                <a:off x="1137388" y="1876867"/>
                <a:ext cx="1040125" cy="326380"/>
              </a:xfrm>
              <a:prstGeom prst="roundRect">
                <a:avLst/>
              </a:prstGeom>
              <a:solidFill>
                <a:srgbClr val="FFC000">
                  <a:lumMod val="40000"/>
                  <a:lumOff val="60000"/>
                </a:srgbClr>
              </a:solidFill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0" lang="en-US" sz="18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en-US" sz="18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𝜌</m:t>
                          </m:r>
                        </m:e>
                        <m:sup>
                          <m:r>
                            <a:rPr kumimoji="0" lang="en-CA" sz="18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𝐴𝐵</m:t>
                          </m:r>
                        </m:sup>
                      </m:sSup>
                    </m:oMath>
                  </m:oMathPara>
                </a14:m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27" name="Rectangle: Rounded Corners 10">
                <a:extLst>
                  <a:ext uri="{FF2B5EF4-FFF2-40B4-BE49-F238E27FC236}">
                    <a16:creationId xmlns:a16="http://schemas.microsoft.com/office/drawing/2014/main" id="{367229E9-9402-7A3E-E321-69692F9BDAD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7388" y="1876867"/>
                <a:ext cx="1040125" cy="326380"/>
              </a:xfrm>
              <a:prstGeom prst="roundRect">
                <a:avLst/>
              </a:prstGeom>
              <a:blipFill>
                <a:blip r:embed="rId19"/>
                <a:stretch>
                  <a:fillRect/>
                </a:stretch>
              </a:blipFill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36" name="Group 135">
            <a:extLst>
              <a:ext uri="{FF2B5EF4-FFF2-40B4-BE49-F238E27FC236}">
                <a16:creationId xmlns:a16="http://schemas.microsoft.com/office/drawing/2014/main" id="{EDDE67E0-3696-F5AF-9EE8-7091AD4A215E}"/>
              </a:ext>
            </a:extLst>
          </p:cNvPr>
          <p:cNvGrpSpPr/>
          <p:nvPr/>
        </p:nvGrpSpPr>
        <p:grpSpPr>
          <a:xfrm>
            <a:off x="2398748" y="1674932"/>
            <a:ext cx="45719" cy="210912"/>
            <a:chOff x="6548130" y="2237014"/>
            <a:chExt cx="49658" cy="440872"/>
          </a:xfrm>
        </p:grpSpPr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C6742EAA-09FF-D3E2-9620-B2E7504A8921}"/>
                </a:ext>
              </a:extLst>
            </p:cNvPr>
            <p:cNvCxnSpPr>
              <a:cxnSpLocks/>
            </p:cNvCxnSpPr>
            <p:nvPr/>
          </p:nvCxnSpPr>
          <p:spPr>
            <a:xfrm>
              <a:off x="6548130" y="2237014"/>
              <a:ext cx="0" cy="440872"/>
            </a:xfrm>
            <a:prstGeom prst="line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7747F582-AB9B-8077-5A61-762266FC55AE}"/>
                </a:ext>
              </a:extLst>
            </p:cNvPr>
            <p:cNvCxnSpPr>
              <a:cxnSpLocks/>
            </p:cNvCxnSpPr>
            <p:nvPr/>
          </p:nvCxnSpPr>
          <p:spPr>
            <a:xfrm>
              <a:off x="6597788" y="2237014"/>
              <a:ext cx="0" cy="440872"/>
            </a:xfrm>
            <a:prstGeom prst="line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39" name="Rectangle: Rounded Corners 10">
                <a:extLst>
                  <a:ext uri="{FF2B5EF4-FFF2-40B4-BE49-F238E27FC236}">
                    <a16:creationId xmlns:a16="http://schemas.microsoft.com/office/drawing/2014/main" id="{99A985F2-2E78-698B-5815-2AAEC3740BDF}"/>
                  </a:ext>
                </a:extLst>
              </p:cNvPr>
              <p:cNvSpPr/>
              <p:nvPr/>
            </p:nvSpPr>
            <p:spPr>
              <a:xfrm>
                <a:off x="668746" y="1885844"/>
                <a:ext cx="360915" cy="316269"/>
              </a:xfrm>
              <a:prstGeom prst="roundRect">
                <a:avLst/>
              </a:prstGeom>
              <a:solidFill>
                <a:srgbClr val="0070C0"/>
              </a:solidFill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0" lang="en-CA" sz="18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SupPr>
                        <m:e>
                          <m:r>
                            <a:rPr kumimoji="0" lang="en-CA" sz="18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𝜎</m:t>
                          </m:r>
                        </m:e>
                        <m:sub>
                          <m:r>
                            <a:rPr kumimoji="0" lang="en-CA" sz="18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𝑥</m:t>
                          </m:r>
                        </m:sub>
                        <m:sup>
                          <m:r>
                            <a:rPr kumimoji="0" lang="en-CA" sz="18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𝐷</m:t>
                          </m:r>
                        </m:sup>
                      </m:sSubSup>
                    </m:oMath>
                  </m:oMathPara>
                </a14:m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39" name="Rectangle: Rounded Corners 10">
                <a:extLst>
                  <a:ext uri="{FF2B5EF4-FFF2-40B4-BE49-F238E27FC236}">
                    <a16:creationId xmlns:a16="http://schemas.microsoft.com/office/drawing/2014/main" id="{99A985F2-2E78-698B-5815-2AAEC3740BD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8746" y="1885844"/>
                <a:ext cx="360915" cy="316269"/>
              </a:xfrm>
              <a:prstGeom prst="roundRect">
                <a:avLst/>
              </a:prstGeom>
              <a:blipFill>
                <a:blip r:embed="rId20"/>
                <a:stretch>
                  <a:fillRect/>
                </a:stretch>
              </a:blipFill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48" name="Group 147">
            <a:extLst>
              <a:ext uri="{FF2B5EF4-FFF2-40B4-BE49-F238E27FC236}">
                <a16:creationId xmlns:a16="http://schemas.microsoft.com/office/drawing/2014/main" id="{7AABF28C-47D9-8E1C-9725-3F3A49A39945}"/>
              </a:ext>
            </a:extLst>
          </p:cNvPr>
          <p:cNvGrpSpPr/>
          <p:nvPr/>
        </p:nvGrpSpPr>
        <p:grpSpPr>
          <a:xfrm>
            <a:off x="869938" y="1674932"/>
            <a:ext cx="45719" cy="210912"/>
            <a:chOff x="6548130" y="2237014"/>
            <a:chExt cx="49658" cy="440872"/>
          </a:xfrm>
        </p:grpSpPr>
        <p:cxnSp>
          <p:nvCxnSpPr>
            <p:cNvPr id="149" name="Straight Connector 148">
              <a:extLst>
                <a:ext uri="{FF2B5EF4-FFF2-40B4-BE49-F238E27FC236}">
                  <a16:creationId xmlns:a16="http://schemas.microsoft.com/office/drawing/2014/main" id="{B98588E6-F432-0DAE-261A-8DC5D8AFAF74}"/>
                </a:ext>
              </a:extLst>
            </p:cNvPr>
            <p:cNvCxnSpPr>
              <a:cxnSpLocks/>
            </p:cNvCxnSpPr>
            <p:nvPr/>
          </p:nvCxnSpPr>
          <p:spPr>
            <a:xfrm>
              <a:off x="6548130" y="2237014"/>
              <a:ext cx="0" cy="440872"/>
            </a:xfrm>
            <a:prstGeom prst="line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cxnSp>
        <p:cxnSp>
          <p:nvCxnSpPr>
            <p:cNvPr id="150" name="Straight Connector 149">
              <a:extLst>
                <a:ext uri="{FF2B5EF4-FFF2-40B4-BE49-F238E27FC236}">
                  <a16:creationId xmlns:a16="http://schemas.microsoft.com/office/drawing/2014/main" id="{9413EAC2-5AB7-A648-A58A-0BF190D3BD54}"/>
                </a:ext>
              </a:extLst>
            </p:cNvPr>
            <p:cNvCxnSpPr>
              <a:cxnSpLocks/>
            </p:cNvCxnSpPr>
            <p:nvPr/>
          </p:nvCxnSpPr>
          <p:spPr>
            <a:xfrm>
              <a:off x="6597788" y="2237014"/>
              <a:ext cx="0" cy="440872"/>
            </a:xfrm>
            <a:prstGeom prst="line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51" name="TextBox 150">
                <a:extLst>
                  <a:ext uri="{FF2B5EF4-FFF2-40B4-BE49-F238E27FC236}">
                    <a16:creationId xmlns:a16="http://schemas.microsoft.com/office/drawing/2014/main" id="{616A831B-1A88-BD03-8E91-D130E49C240A}"/>
                  </a:ext>
                </a:extLst>
              </p:cNvPr>
              <p:cNvSpPr txBox="1"/>
              <p:nvPr/>
            </p:nvSpPr>
            <p:spPr>
              <a:xfrm>
                <a:off x="1115732" y="1153405"/>
                <a:ext cx="246689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:r>
                  <a:rPr lang="en-US" sz="1200" dirty="0">
                    <a:solidFill>
                      <a:prstClr val="black"/>
                    </a:solidFill>
                  </a:rPr>
                  <a:t>a</a:t>
                </a:r>
                <a14:m>
                  <m:oMath xmlns:m="http://schemas.openxmlformats.org/officeDocument/2006/math">
                    <m:r>
                      <a:rPr lang="en-US" sz="12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16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mc:Choice>
        <mc:Fallback xmlns="">
          <p:sp>
            <p:nvSpPr>
              <p:cNvPr id="151" name="TextBox 150">
                <a:extLst>
                  <a:ext uri="{FF2B5EF4-FFF2-40B4-BE49-F238E27FC236}">
                    <a16:creationId xmlns:a16="http://schemas.microsoft.com/office/drawing/2014/main" id="{616A831B-1A88-BD03-8E91-D130E49C24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5732" y="1153405"/>
                <a:ext cx="246689" cy="461665"/>
              </a:xfrm>
              <a:prstGeom prst="rect">
                <a:avLst/>
              </a:prstGeom>
              <a:blipFill>
                <a:blip r:embed="rId21"/>
                <a:stretch>
                  <a:fillRect r="-4762" b="-5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3" name="TextBox 152">
            <a:extLst>
              <a:ext uri="{FF2B5EF4-FFF2-40B4-BE49-F238E27FC236}">
                <a16:creationId xmlns:a16="http://schemas.microsoft.com/office/drawing/2014/main" id="{BD745DD0-9360-B7B4-D327-66AF82066C8F}"/>
              </a:ext>
            </a:extLst>
          </p:cNvPr>
          <p:cNvSpPr txBox="1"/>
          <p:nvPr/>
        </p:nvSpPr>
        <p:spPr>
          <a:xfrm>
            <a:off x="1833852" y="2265895"/>
            <a:ext cx="11728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universal</a:t>
            </a:r>
          </a:p>
        </p:txBody>
      </p:sp>
    </p:spTree>
    <p:extLst>
      <p:ext uri="{BB962C8B-B14F-4D97-AF65-F5344CB8AC3E}">
        <p14:creationId xmlns:p14="http://schemas.microsoft.com/office/powerpoint/2010/main" val="1191936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25" grpId="0" animBg="1"/>
      <p:bldP spid="61" grpId="0" animBg="1"/>
      <p:bldP spid="71" grpId="0"/>
      <p:bldP spid="73" grpId="0"/>
      <p:bldP spid="74" grpId="0"/>
      <p:bldP spid="78" grpId="0" animBg="1"/>
      <p:bldP spid="79" grpId="0"/>
      <p:bldP spid="83" grpId="0" animBg="1"/>
      <p:bldP spid="86" grpId="0" animBg="1"/>
      <p:bldP spid="88" grpId="0"/>
      <p:bldP spid="92" grpId="0" animBg="1"/>
      <p:bldP spid="93" grpId="0"/>
      <p:bldP spid="98" grpId="0" animBg="1"/>
      <p:bldP spid="100" grpId="0"/>
      <p:bldP spid="104" grpId="0" animBg="1"/>
      <p:bldP spid="105" grpId="0"/>
      <p:bldP spid="110" grpId="0" animBg="1"/>
      <p:bldP spid="115" grpId="0"/>
      <p:bldP spid="119" grpId="0" animBg="1"/>
      <p:bldP spid="120" grpId="0"/>
      <p:bldP spid="124" grpId="0" animBg="1"/>
      <p:bldP spid="127" grpId="0" animBg="1"/>
      <p:bldP spid="139" grpId="0" animBg="1"/>
      <p:bldP spid="15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FA8A0F-2161-6D98-0EF3-9201EEFA1B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4EB3A699-9948-D616-ECD9-4E570D3E8FC7}"/>
              </a:ext>
            </a:extLst>
          </p:cNvPr>
          <p:cNvSpPr/>
          <p:nvPr/>
        </p:nvSpPr>
        <p:spPr>
          <a:xfrm>
            <a:off x="68840" y="5354384"/>
            <a:ext cx="4657060" cy="13928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CA9BFE9-EA8A-1C1C-38EB-E20D761E673A}"/>
              </a:ext>
            </a:extLst>
          </p:cNvPr>
          <p:cNvSpPr txBox="1"/>
          <p:nvPr/>
        </p:nvSpPr>
        <p:spPr>
          <a:xfrm>
            <a:off x="4063591" y="1012626"/>
            <a:ext cx="39071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</a:rPr>
              <a:t>Entanglement certification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7883CD4-030A-A91A-8B84-24309C6F55DA}"/>
              </a:ext>
            </a:extLst>
          </p:cNvPr>
          <p:cNvSpPr/>
          <p:nvPr/>
        </p:nvSpPr>
        <p:spPr>
          <a:xfrm>
            <a:off x="2976143" y="2123978"/>
            <a:ext cx="5784568" cy="3558681"/>
          </a:xfrm>
          <a:prstGeom prst="rect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B964A9ED-B4C6-3422-5241-E5E1B936CF0D}"/>
              </a:ext>
            </a:extLst>
          </p:cNvPr>
          <p:cNvCxnSpPr>
            <a:cxnSpLocks/>
          </p:cNvCxnSpPr>
          <p:nvPr/>
        </p:nvCxnSpPr>
        <p:spPr>
          <a:xfrm>
            <a:off x="3895433" y="5972297"/>
            <a:ext cx="4071787" cy="0"/>
          </a:xfrm>
          <a:prstGeom prst="straightConnector1">
            <a:avLst/>
          </a:prstGeom>
          <a:ln w="158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5A4D46A8-DAC2-5603-412B-F67ABB860163}"/>
              </a:ext>
            </a:extLst>
          </p:cNvPr>
          <p:cNvCxnSpPr>
            <a:cxnSpLocks/>
          </p:cNvCxnSpPr>
          <p:nvPr/>
        </p:nvCxnSpPr>
        <p:spPr>
          <a:xfrm flipV="1">
            <a:off x="2468221" y="2861112"/>
            <a:ext cx="0" cy="1822175"/>
          </a:xfrm>
          <a:prstGeom prst="straightConnector1">
            <a:avLst/>
          </a:prstGeom>
          <a:ln w="158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CC1735BE-6729-C921-7E81-8961205F71D7}"/>
              </a:ext>
            </a:extLst>
          </p:cNvPr>
          <p:cNvSpPr txBox="1"/>
          <p:nvPr/>
        </p:nvSpPr>
        <p:spPr>
          <a:xfrm>
            <a:off x="5132933" y="6009760"/>
            <a:ext cx="15008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Assumptions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32189AD-8EF3-6B34-8B14-E430BFD7000A}"/>
              </a:ext>
            </a:extLst>
          </p:cNvPr>
          <p:cNvSpPr txBox="1"/>
          <p:nvPr/>
        </p:nvSpPr>
        <p:spPr>
          <a:xfrm>
            <a:off x="8060003" y="5767752"/>
            <a:ext cx="839862" cy="3692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weak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9855A21-0E8E-09CC-5E1B-95915828694F}"/>
              </a:ext>
            </a:extLst>
          </p:cNvPr>
          <p:cNvSpPr txBox="1"/>
          <p:nvPr/>
        </p:nvSpPr>
        <p:spPr>
          <a:xfrm>
            <a:off x="2976143" y="5767752"/>
            <a:ext cx="9192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strong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2B9C27D-5EB2-4AE9-DC63-C9B8E1D3FABD}"/>
              </a:ext>
            </a:extLst>
          </p:cNvPr>
          <p:cNvSpPr txBox="1"/>
          <p:nvPr/>
        </p:nvSpPr>
        <p:spPr>
          <a:xfrm>
            <a:off x="2008576" y="4946121"/>
            <a:ext cx="9192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limited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3F12132-EA79-0E16-4F6E-BC955476BCCE}"/>
              </a:ext>
            </a:extLst>
          </p:cNvPr>
          <p:cNvSpPr txBox="1"/>
          <p:nvPr/>
        </p:nvSpPr>
        <p:spPr>
          <a:xfrm>
            <a:off x="1833852" y="2265895"/>
            <a:ext cx="11728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universal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3A277A4-D6F8-5E00-A12B-17F7E0467BF8}"/>
              </a:ext>
            </a:extLst>
          </p:cNvPr>
          <p:cNvSpPr txBox="1"/>
          <p:nvPr/>
        </p:nvSpPr>
        <p:spPr>
          <a:xfrm rot="16200000">
            <a:off x="1099860" y="3442587"/>
            <a:ext cx="22288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Detection power</a:t>
            </a:r>
          </a:p>
        </p:txBody>
      </p:sp>
      <p:sp>
        <p:nvSpPr>
          <p:cNvPr id="39" name="Rectangle: Rounded Corners 2">
            <a:extLst>
              <a:ext uri="{FF2B5EF4-FFF2-40B4-BE49-F238E27FC236}">
                <a16:creationId xmlns:a16="http://schemas.microsoft.com/office/drawing/2014/main" id="{018D3AF0-09BC-ED98-5ACD-BA6B0903A311}"/>
              </a:ext>
            </a:extLst>
          </p:cNvPr>
          <p:cNvSpPr/>
          <p:nvPr/>
        </p:nvSpPr>
        <p:spPr>
          <a:xfrm>
            <a:off x="3153867" y="2265895"/>
            <a:ext cx="1102909" cy="385775"/>
          </a:xfrm>
          <a:prstGeom prst="roundRect">
            <a:avLst/>
          </a:prstGeom>
          <a:solidFill>
            <a:srgbClr val="0070C0"/>
          </a:solidFill>
          <a:ln w="41275">
            <a:solidFill>
              <a:srgbClr val="0070C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endParaRPr lang="en-US" sz="1800" dirty="0">
              <a:solidFill>
                <a:schemeClr val="tx1"/>
              </a:solidFill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25D391D-4737-30DD-7626-F0166BA16FAA}"/>
              </a:ext>
            </a:extLst>
          </p:cNvPr>
          <p:cNvSpPr txBox="1"/>
          <p:nvPr/>
        </p:nvSpPr>
        <p:spPr>
          <a:xfrm>
            <a:off x="3192224" y="2274117"/>
            <a:ext cx="1064552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200" b="1" dirty="0">
                <a:solidFill>
                  <a:schemeClr val="accent3">
                    <a:lumMod val="75000"/>
                  </a:schemeClr>
                </a:solidFill>
              </a:rPr>
              <a:t>Tomography-based</a:t>
            </a:r>
          </a:p>
        </p:txBody>
      </p:sp>
      <p:sp>
        <p:nvSpPr>
          <p:cNvPr id="2" name="Rectangle: Rounded Corners 2">
            <a:extLst>
              <a:ext uri="{FF2B5EF4-FFF2-40B4-BE49-F238E27FC236}">
                <a16:creationId xmlns:a16="http://schemas.microsoft.com/office/drawing/2014/main" id="{BC7F9288-DACE-D745-0A4E-B6B72CD93853}"/>
              </a:ext>
            </a:extLst>
          </p:cNvPr>
          <p:cNvSpPr/>
          <p:nvPr/>
        </p:nvSpPr>
        <p:spPr>
          <a:xfrm>
            <a:off x="7593474" y="5317153"/>
            <a:ext cx="963483" cy="201109"/>
          </a:xfrm>
          <a:prstGeom prst="roundRect">
            <a:avLst/>
          </a:prstGeom>
          <a:solidFill>
            <a:srgbClr val="0070C0"/>
          </a:solidFill>
          <a:ln w="41275">
            <a:solidFill>
              <a:srgbClr val="0070C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endParaRPr lang="en-US" sz="18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3451866-BA01-0504-1CD1-9D82322F8CC4}"/>
                  </a:ext>
                </a:extLst>
              </p:cNvPr>
              <p:cNvSpPr txBox="1"/>
              <p:nvPr/>
            </p:nvSpPr>
            <p:spPr>
              <a:xfrm>
                <a:off x="7541637" y="5325375"/>
                <a:ext cx="985215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CA" sz="1200" b="1" dirty="0">
                    <a:solidFill>
                      <a:schemeClr val="accent3">
                        <a:lumMod val="75000"/>
                      </a:schemeClr>
                    </a:solidFill>
                  </a:rPr>
                  <a:t>   Self </a:t>
                </a:r>
                <a14:m>
                  <m:oMath xmlns:m="http://schemas.openxmlformats.org/officeDocument/2006/math">
                    <m:r>
                      <a:rPr lang="en-CA" sz="1200" b="1" i="0" smtClean="0">
                        <a:solidFill>
                          <a:schemeClr val="accent3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𝐭𝐞𝐬𝐭𝐢𝐧𝐠</m:t>
                    </m:r>
                    <m:r>
                      <a:rPr lang="en-CA" sz="1200" b="1" i="0" smtClean="0">
                        <a:solidFill>
                          <a:schemeClr val="accent3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CA" sz="1200" b="1" dirty="0">
                  <a:solidFill>
                    <a:schemeClr val="accent3">
                      <a:lumMod val="75000"/>
                    </a:schemeClr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3451866-BA01-0504-1CD1-9D82322F8C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41637" y="5325375"/>
                <a:ext cx="985215" cy="184666"/>
              </a:xfrm>
              <a:prstGeom prst="rect">
                <a:avLst/>
              </a:prstGeom>
              <a:blipFill>
                <a:blip r:embed="rId2"/>
                <a:stretch>
                  <a:fillRect t="-33333" r="-7595" b="-4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: Rounded Corners 2">
            <a:extLst>
              <a:ext uri="{FF2B5EF4-FFF2-40B4-BE49-F238E27FC236}">
                <a16:creationId xmlns:a16="http://schemas.microsoft.com/office/drawing/2014/main" id="{0E3C3E57-B59A-76DD-B6E9-AE71AD1AF9F2}"/>
              </a:ext>
            </a:extLst>
          </p:cNvPr>
          <p:cNvSpPr/>
          <p:nvPr/>
        </p:nvSpPr>
        <p:spPr>
          <a:xfrm>
            <a:off x="5154664" y="3643504"/>
            <a:ext cx="1065831" cy="385775"/>
          </a:xfrm>
          <a:prstGeom prst="roundRect">
            <a:avLst/>
          </a:prstGeom>
          <a:solidFill>
            <a:srgbClr val="0070C0"/>
          </a:solidFill>
          <a:ln w="41275">
            <a:solidFill>
              <a:srgbClr val="0070C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endParaRPr lang="en-US" sz="18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C74A747-51C6-CEC6-B388-E2E19D57B000}"/>
                  </a:ext>
                </a:extLst>
              </p:cNvPr>
              <p:cNvSpPr txBox="1"/>
              <p:nvPr/>
            </p:nvSpPr>
            <p:spPr>
              <a:xfrm>
                <a:off x="5180422" y="3651725"/>
                <a:ext cx="963067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1200" b="1" i="0" smtClean="0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𝐒𝐃𝐈</m:t>
                      </m:r>
                      <m:r>
                        <a:rPr lang="en-CA" sz="1200" b="1" i="0" smtClean="0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CA" sz="1200" b="1" i="0" smtClean="0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𝐭𝐞𝐬𝐭</m:t>
                      </m:r>
                      <m:r>
                        <a:rPr lang="en-CA" sz="1200" b="1" i="0" smtClean="0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CA" sz="1200" b="1" dirty="0">
                  <a:solidFill>
                    <a:schemeClr val="accent3">
                      <a:lumMod val="75000"/>
                    </a:schemeClr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1200" b="1" i="0" smtClean="0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CA" sz="1200" b="1" i="0" smtClean="0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𝐒𝐭𝐞𝐞𝐫𝐢𝐧𝐠</m:t>
                      </m:r>
                      <m:r>
                        <a:rPr lang="en-CA" sz="1200" b="1" i="0" smtClean="0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CA" sz="1200" b="1" i="0" smtClean="0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𝐭𝐞𝐬𝐭</m:t>
                      </m:r>
                      <m:r>
                        <a:rPr lang="en-CA" sz="1200" b="1" i="0" smtClean="0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200" b="1" dirty="0">
                  <a:solidFill>
                    <a:schemeClr val="accent3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C74A747-51C6-CEC6-B388-E2E19D57B0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80422" y="3651725"/>
                <a:ext cx="963067" cy="369332"/>
              </a:xfrm>
              <a:prstGeom prst="rect">
                <a:avLst/>
              </a:prstGeom>
              <a:blipFill>
                <a:blip r:embed="rId3"/>
                <a:stretch>
                  <a:fillRect l="-7895" t="-3333" r="-14474"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: Rounded Corners 2">
            <a:extLst>
              <a:ext uri="{FF2B5EF4-FFF2-40B4-BE49-F238E27FC236}">
                <a16:creationId xmlns:a16="http://schemas.microsoft.com/office/drawing/2014/main" id="{E324C79C-2154-733A-EB68-28C3312B90D0}"/>
              </a:ext>
            </a:extLst>
          </p:cNvPr>
          <p:cNvSpPr/>
          <p:nvPr/>
        </p:nvSpPr>
        <p:spPr>
          <a:xfrm>
            <a:off x="4876561" y="2311662"/>
            <a:ext cx="859340" cy="347542"/>
          </a:xfrm>
          <a:prstGeom prst="roundRect">
            <a:avLst/>
          </a:prstGeom>
          <a:solidFill>
            <a:srgbClr val="0070C0"/>
          </a:solidFill>
          <a:ln w="41275">
            <a:solidFill>
              <a:srgbClr val="0070C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endParaRPr lang="en-US" sz="18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AD43E08-47A5-9223-60E1-2332822D07A5}"/>
                  </a:ext>
                </a:extLst>
              </p:cNvPr>
              <p:cNvSpPr txBox="1"/>
              <p:nvPr/>
            </p:nvSpPr>
            <p:spPr>
              <a:xfrm>
                <a:off x="4976592" y="2390425"/>
                <a:ext cx="963067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CA" sz="1200" b="1" dirty="0">
                    <a:solidFill>
                      <a:schemeClr val="accent3">
                        <a:lumMod val="75000"/>
                      </a:schemeClr>
                    </a:solidFill>
                  </a:rPr>
                  <a:t>M</a:t>
                </a:r>
                <a14:m>
                  <m:oMath xmlns:m="http://schemas.openxmlformats.org/officeDocument/2006/math">
                    <m:r>
                      <a:rPr lang="en-CA" sz="1200" b="1" i="0" smtClean="0">
                        <a:solidFill>
                          <a:schemeClr val="accent3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𝐃𝐈</m:t>
                    </m:r>
                    <m:r>
                      <a:rPr lang="en-CA" sz="1200" b="1" i="0" smtClean="0">
                        <a:solidFill>
                          <a:schemeClr val="accent3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CA" sz="1200" b="1" i="0" smtClean="0">
                        <a:solidFill>
                          <a:schemeClr val="accent3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𝐭𝐞𝐬𝐭</m:t>
                    </m:r>
                    <m:r>
                      <a:rPr lang="en-CA" sz="1200" b="1" i="0" smtClean="0">
                        <a:solidFill>
                          <a:schemeClr val="accent3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CA" sz="1200" b="1" dirty="0">
                  <a:solidFill>
                    <a:schemeClr val="accent3">
                      <a:lumMod val="75000"/>
                    </a:schemeClr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AD43E08-47A5-9223-60E1-2332822D07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76592" y="2390425"/>
                <a:ext cx="963067" cy="184666"/>
              </a:xfrm>
              <a:prstGeom prst="rect">
                <a:avLst/>
              </a:prstGeom>
              <a:blipFill>
                <a:blip r:embed="rId4"/>
                <a:stretch>
                  <a:fillRect l="-9091" t="-33333" b="-4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: Rounded Corners 2">
            <a:extLst>
              <a:ext uri="{FF2B5EF4-FFF2-40B4-BE49-F238E27FC236}">
                <a16:creationId xmlns:a16="http://schemas.microsoft.com/office/drawing/2014/main" id="{BC204411-96DE-0BA5-3604-19DEF2ACF401}"/>
              </a:ext>
            </a:extLst>
          </p:cNvPr>
          <p:cNvSpPr/>
          <p:nvPr/>
        </p:nvSpPr>
        <p:spPr>
          <a:xfrm>
            <a:off x="5856959" y="2295219"/>
            <a:ext cx="776783" cy="385774"/>
          </a:xfrm>
          <a:prstGeom prst="roundRect">
            <a:avLst/>
          </a:prstGeom>
          <a:solidFill>
            <a:srgbClr val="0070C0"/>
          </a:solidFill>
          <a:ln w="41275">
            <a:solidFill>
              <a:srgbClr val="0070C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endParaRPr lang="en-US" sz="1800" dirty="0">
              <a:solidFill>
                <a:schemeClr val="tx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A9EEC68-4B35-5AE5-FFB0-800AF642B9EF}"/>
              </a:ext>
            </a:extLst>
          </p:cNvPr>
          <p:cNvSpPr txBox="1"/>
          <p:nvPr/>
        </p:nvSpPr>
        <p:spPr>
          <a:xfrm>
            <a:off x="5874433" y="2311661"/>
            <a:ext cx="759309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200" b="1" dirty="0">
                <a:solidFill>
                  <a:schemeClr val="accent3">
                    <a:lumMod val="75000"/>
                  </a:schemeClr>
                </a:solidFill>
                <a:latin typeface="Cambria Math" panose="02040503050406030204" pitchFamily="18" charset="0"/>
              </a:rPr>
              <a:t>   DI test  (Network)</a:t>
            </a:r>
            <a:endParaRPr lang="en-CA" sz="1200" b="1" dirty="0">
              <a:solidFill>
                <a:schemeClr val="accent3">
                  <a:lumMod val="75000"/>
                </a:schemeClr>
              </a:solidFill>
              <a:latin typeface="Cambria Math" panose="02040503050406030204" pitchFamily="18" charset="0"/>
            </a:endParaRPr>
          </a:p>
        </p:txBody>
      </p:sp>
      <p:sp>
        <p:nvSpPr>
          <p:cNvPr id="17" name="Rectangle: Rounded Corners 2">
            <a:extLst>
              <a:ext uri="{FF2B5EF4-FFF2-40B4-BE49-F238E27FC236}">
                <a16:creationId xmlns:a16="http://schemas.microsoft.com/office/drawing/2014/main" id="{349E430E-5F0C-9D2F-8301-CBD9CE336A77}"/>
              </a:ext>
            </a:extLst>
          </p:cNvPr>
          <p:cNvSpPr/>
          <p:nvPr/>
        </p:nvSpPr>
        <p:spPr>
          <a:xfrm>
            <a:off x="7677728" y="4753234"/>
            <a:ext cx="752248" cy="385775"/>
          </a:xfrm>
          <a:prstGeom prst="roundRect">
            <a:avLst/>
          </a:prstGeom>
          <a:solidFill>
            <a:srgbClr val="0070C0"/>
          </a:solidFill>
          <a:ln w="41275">
            <a:solidFill>
              <a:srgbClr val="0070C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endParaRPr lang="en-US" sz="18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07D29F94-6891-6AD2-42EA-6B6C9A71C979}"/>
                  </a:ext>
                </a:extLst>
              </p:cNvPr>
              <p:cNvSpPr txBox="1"/>
              <p:nvPr/>
            </p:nvSpPr>
            <p:spPr>
              <a:xfrm>
                <a:off x="7655996" y="4761455"/>
                <a:ext cx="795711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1200" b="1" i="0" smtClean="0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𝐃𝐈</m:t>
                      </m:r>
                      <m:r>
                        <a:rPr lang="en-CA" sz="1200" b="1" i="0" smtClean="0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CA" sz="1200" b="1" i="0" smtClean="0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𝐭𝐞𝐬𝐭</m:t>
                      </m:r>
                      <m:r>
                        <a:rPr lang="en-CA" sz="1200" b="1" i="0" smtClean="0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CA" sz="1200" b="1" dirty="0">
                  <a:solidFill>
                    <a:schemeClr val="accent3">
                      <a:lumMod val="75000"/>
                    </a:schemeClr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1200" b="1" i="0" smtClean="0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CA" sz="1200" b="1" i="0" smtClean="0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𝐁𝐞𝐥𝐥</m:t>
                      </m:r>
                      <m:r>
                        <a:rPr lang="en-CA" sz="1200" b="1" i="0" smtClean="0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CA" sz="1200" b="1" i="0" smtClean="0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𝐭𝐞𝐬𝐭</m:t>
                      </m:r>
                      <m:r>
                        <a:rPr lang="en-CA" sz="1200" b="1" i="0" smtClean="0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200" b="1" dirty="0">
                  <a:solidFill>
                    <a:schemeClr val="accent3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07D29F94-6891-6AD2-42EA-6B6C9A71C9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55996" y="4761455"/>
                <a:ext cx="795711" cy="369332"/>
              </a:xfrm>
              <a:prstGeom prst="rect">
                <a:avLst/>
              </a:prstGeom>
              <a:blipFill>
                <a:blip r:embed="rId5"/>
                <a:stretch>
                  <a:fillRect l="-3125" t="-3226" r="-3125" b="-161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ctangle: Rounded Corners 2">
            <a:extLst>
              <a:ext uri="{FF2B5EF4-FFF2-40B4-BE49-F238E27FC236}">
                <a16:creationId xmlns:a16="http://schemas.microsoft.com/office/drawing/2014/main" id="{A5AD201D-FCAA-E2F5-5A4E-BF606428E5D6}"/>
              </a:ext>
            </a:extLst>
          </p:cNvPr>
          <p:cNvSpPr/>
          <p:nvPr/>
        </p:nvSpPr>
        <p:spPr>
          <a:xfrm>
            <a:off x="6973692" y="2288117"/>
            <a:ext cx="1263099" cy="385775"/>
          </a:xfrm>
          <a:prstGeom prst="roundRect">
            <a:avLst/>
          </a:prstGeom>
          <a:solidFill>
            <a:schemeClr val="accent3">
              <a:lumMod val="75000"/>
            </a:schemeClr>
          </a:solidFill>
          <a:ln w="41275">
            <a:solidFill>
              <a:srgbClr val="FFC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endParaRPr lang="en-US" sz="1800" dirty="0">
              <a:solidFill>
                <a:schemeClr val="tx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60DF11E-F8CB-B6E9-9E38-FF0511DCDB63}"/>
              </a:ext>
            </a:extLst>
          </p:cNvPr>
          <p:cNvSpPr txBox="1"/>
          <p:nvPr/>
        </p:nvSpPr>
        <p:spPr>
          <a:xfrm>
            <a:off x="6999748" y="2308671"/>
            <a:ext cx="1258774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200" b="1" dirty="0">
                <a:solidFill>
                  <a:schemeClr val="accent3">
                    <a:lumMod val="75000"/>
                  </a:schemeClr>
                </a:solidFill>
              </a:rPr>
              <a:t>       </a:t>
            </a:r>
            <a:r>
              <a:rPr lang="en-US" sz="1200" b="1" dirty="0">
                <a:solidFill>
                  <a:srgbClr val="0070C0"/>
                </a:solidFill>
              </a:rPr>
              <a:t>Our test</a:t>
            </a:r>
          </a:p>
          <a:p>
            <a:r>
              <a:rPr lang="en-US" sz="1200" b="1" dirty="0">
                <a:solidFill>
                  <a:srgbClr val="0070C0"/>
                </a:solidFill>
              </a:rPr>
              <a:t>(contextuality)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B2A366B-4C9C-497F-2CA1-DBF0D7446A9B}"/>
              </a:ext>
            </a:extLst>
          </p:cNvPr>
          <p:cNvSpPr/>
          <p:nvPr/>
        </p:nvSpPr>
        <p:spPr>
          <a:xfrm>
            <a:off x="8978902" y="1930910"/>
            <a:ext cx="3136010" cy="1862468"/>
          </a:xfrm>
          <a:prstGeom prst="rect">
            <a:avLst/>
          </a:prstGeom>
          <a:ln w="254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C0ABC4D-E515-BAB2-D0EF-3D0146623AAB}"/>
              </a:ext>
            </a:extLst>
          </p:cNvPr>
          <p:cNvSpPr txBox="1"/>
          <p:nvPr/>
        </p:nvSpPr>
        <p:spPr>
          <a:xfrm>
            <a:off x="8978901" y="1977495"/>
            <a:ext cx="3136011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Assumptions:  </a:t>
            </a:r>
          </a:p>
          <a:p>
            <a:pPr marL="342900" indent="-342900">
              <a:buAutoNum type="arabicParenBoth"/>
            </a:pPr>
            <a:r>
              <a:rPr lang="en-US" sz="1400" dirty="0"/>
              <a:t>Bell causal structure</a:t>
            </a:r>
          </a:p>
          <a:p>
            <a:pPr marL="342900" indent="-342900">
              <a:buAutoNum type="arabicParenBoth"/>
            </a:pPr>
            <a:r>
              <a:rPr lang="en-US" sz="1400" dirty="0"/>
              <a:t>Tomographic completeness*</a:t>
            </a:r>
          </a:p>
          <a:p>
            <a:r>
              <a:rPr lang="en-US" sz="1400" dirty="0"/>
              <a:t>But no need to characterize devices</a:t>
            </a:r>
          </a:p>
          <a:p>
            <a:endParaRPr lang="en-US" sz="1400" dirty="0"/>
          </a:p>
          <a:p>
            <a:endParaRPr lang="en-US" sz="1400" dirty="0"/>
          </a:p>
          <a:p>
            <a:r>
              <a:rPr lang="en-US" sz="1400" dirty="0"/>
              <a:t>Detection power: all entangled states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010BB543-191D-E354-70E8-38E7186B78E3}"/>
              </a:ext>
            </a:extLst>
          </p:cNvPr>
          <p:cNvCxnSpPr>
            <a:cxnSpLocks/>
          </p:cNvCxnSpPr>
          <p:nvPr/>
        </p:nvCxnSpPr>
        <p:spPr>
          <a:xfrm>
            <a:off x="8451707" y="2512851"/>
            <a:ext cx="448158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9979D67F-A11B-D430-B30B-06F156308501}"/>
              </a:ext>
            </a:extLst>
          </p:cNvPr>
          <p:cNvCxnSpPr/>
          <p:nvPr/>
        </p:nvCxnSpPr>
        <p:spPr>
          <a:xfrm>
            <a:off x="10955562" y="4593806"/>
            <a:ext cx="0" cy="160276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B0550DCF-CC81-EBA2-78E2-4BC1E927B260}"/>
                  </a:ext>
                </a:extLst>
              </p:cNvPr>
              <p:cNvSpPr txBox="1"/>
              <p:nvPr/>
            </p:nvSpPr>
            <p:spPr>
              <a:xfrm>
                <a:off x="10908568" y="4543999"/>
                <a:ext cx="204800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altLang="zh-CN" sz="12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sz="16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B0550DCF-CC81-EBA2-78E2-4BC1E927B2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08568" y="4543999"/>
                <a:ext cx="204800" cy="276999"/>
              </a:xfrm>
              <a:prstGeom prst="rect">
                <a:avLst/>
              </a:prstGeom>
              <a:blipFill>
                <a:blip r:embed="rId6"/>
                <a:stretch>
                  <a:fillRect r="-11111" b="-4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C0EC585F-31F6-7208-90AC-476CA4ADB7E7}"/>
              </a:ext>
            </a:extLst>
          </p:cNvPr>
          <p:cNvCxnSpPr/>
          <p:nvPr/>
        </p:nvCxnSpPr>
        <p:spPr>
          <a:xfrm>
            <a:off x="10345172" y="4592167"/>
            <a:ext cx="0" cy="160276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21D4D15A-C5D2-58AF-5E82-F979A6ACC36B}"/>
                  </a:ext>
                </a:extLst>
              </p:cNvPr>
              <p:cNvSpPr txBox="1"/>
              <p:nvPr/>
            </p:nvSpPr>
            <p:spPr>
              <a:xfrm>
                <a:off x="10298178" y="4542360"/>
                <a:ext cx="204800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altLang="zh-CN" sz="12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16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21D4D15A-C5D2-58AF-5E82-F979A6ACC3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98178" y="4542360"/>
                <a:ext cx="204800" cy="27699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00ABF7CC-2FC4-6D85-1F5D-F13AFDC6BF05}"/>
                  </a:ext>
                </a:extLst>
              </p:cNvPr>
              <p:cNvSpPr txBox="1"/>
              <p:nvPr/>
            </p:nvSpPr>
            <p:spPr>
              <a:xfrm>
                <a:off x="10222808" y="4081052"/>
                <a:ext cx="246689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12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12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16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00ABF7CC-2FC4-6D85-1F5D-F13AFDC6BF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22808" y="4081052"/>
                <a:ext cx="246689" cy="276999"/>
              </a:xfrm>
              <a:prstGeom prst="rect">
                <a:avLst/>
              </a:prstGeom>
              <a:blipFill>
                <a:blip r:embed="rId8"/>
                <a:stretch>
                  <a:fillRect r="-19048" b="-4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7" name="Group 36">
            <a:extLst>
              <a:ext uri="{FF2B5EF4-FFF2-40B4-BE49-F238E27FC236}">
                <a16:creationId xmlns:a16="http://schemas.microsoft.com/office/drawing/2014/main" id="{B7EE6005-AAF8-C234-101F-98AF7A1B7C34}"/>
              </a:ext>
            </a:extLst>
          </p:cNvPr>
          <p:cNvGrpSpPr/>
          <p:nvPr/>
        </p:nvGrpSpPr>
        <p:grpSpPr>
          <a:xfrm>
            <a:off x="10850308" y="4602472"/>
            <a:ext cx="45719" cy="210912"/>
            <a:chOff x="6548130" y="2237014"/>
            <a:chExt cx="49658" cy="440872"/>
          </a:xfrm>
        </p:grpSpPr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9F9C5632-D88C-0955-7265-2CCC11865F2F}"/>
                </a:ext>
              </a:extLst>
            </p:cNvPr>
            <p:cNvCxnSpPr>
              <a:cxnSpLocks/>
            </p:cNvCxnSpPr>
            <p:nvPr/>
          </p:nvCxnSpPr>
          <p:spPr>
            <a:xfrm>
              <a:off x="6548130" y="2237014"/>
              <a:ext cx="0" cy="440872"/>
            </a:xfrm>
            <a:prstGeom prst="line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880490B6-B2C0-0371-3316-D75E6188D337}"/>
                </a:ext>
              </a:extLst>
            </p:cNvPr>
            <p:cNvCxnSpPr>
              <a:cxnSpLocks/>
            </p:cNvCxnSpPr>
            <p:nvPr/>
          </p:nvCxnSpPr>
          <p:spPr>
            <a:xfrm>
              <a:off x="6597788" y="2237014"/>
              <a:ext cx="0" cy="440872"/>
            </a:xfrm>
            <a:prstGeom prst="line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cxnSp>
      </p:grpSp>
      <p:sp>
        <p:nvSpPr>
          <p:cNvPr id="42" name="Flowchart: Delay 9">
            <a:extLst>
              <a:ext uri="{FF2B5EF4-FFF2-40B4-BE49-F238E27FC236}">
                <a16:creationId xmlns:a16="http://schemas.microsoft.com/office/drawing/2014/main" id="{A76B66FC-46BA-0D33-E538-71E3A7245386}"/>
              </a:ext>
            </a:extLst>
          </p:cNvPr>
          <p:cNvSpPr/>
          <p:nvPr/>
        </p:nvSpPr>
        <p:spPr>
          <a:xfrm rot="16200000">
            <a:off x="10725884" y="4263679"/>
            <a:ext cx="309789" cy="367797"/>
          </a:xfrm>
          <a:prstGeom prst="flowChartDelay">
            <a:avLst/>
          </a:prstGeom>
          <a:solidFill>
            <a:srgbClr val="0070C0"/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eaVert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BCB953EC-6460-FA05-61FF-94D6C823E7B2}"/>
                  </a:ext>
                </a:extLst>
              </p:cNvPr>
              <p:cNvSpPr txBox="1"/>
              <p:nvPr/>
            </p:nvSpPr>
            <p:spPr>
              <a:xfrm>
                <a:off x="10855800" y="4081052"/>
                <a:ext cx="246689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12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sz="12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16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BCB953EC-6460-FA05-61FF-94D6C823E7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55800" y="4081052"/>
                <a:ext cx="246689" cy="276999"/>
              </a:xfrm>
              <a:prstGeom prst="rect">
                <a:avLst/>
              </a:prstGeom>
              <a:blipFill>
                <a:blip r:embed="rId9"/>
                <a:stretch>
                  <a:fillRect r="-14286" b="-4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4" name="Group 43">
            <a:extLst>
              <a:ext uri="{FF2B5EF4-FFF2-40B4-BE49-F238E27FC236}">
                <a16:creationId xmlns:a16="http://schemas.microsoft.com/office/drawing/2014/main" id="{C7BEB422-E193-A5C5-F731-9985C99ACC88}"/>
              </a:ext>
            </a:extLst>
          </p:cNvPr>
          <p:cNvGrpSpPr/>
          <p:nvPr/>
        </p:nvGrpSpPr>
        <p:grpSpPr>
          <a:xfrm>
            <a:off x="10235086" y="4602472"/>
            <a:ext cx="45719" cy="210912"/>
            <a:chOff x="6548130" y="2237014"/>
            <a:chExt cx="49658" cy="440872"/>
          </a:xfrm>
        </p:grpSpPr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50712367-9980-CCCC-0FA4-96FC4B48752F}"/>
                </a:ext>
              </a:extLst>
            </p:cNvPr>
            <p:cNvCxnSpPr>
              <a:cxnSpLocks/>
            </p:cNvCxnSpPr>
            <p:nvPr/>
          </p:nvCxnSpPr>
          <p:spPr>
            <a:xfrm>
              <a:off x="6548130" y="2237014"/>
              <a:ext cx="0" cy="440872"/>
            </a:xfrm>
            <a:prstGeom prst="line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EB8C4739-8EBB-1718-27B4-B42E08DC409C}"/>
                </a:ext>
              </a:extLst>
            </p:cNvPr>
            <p:cNvCxnSpPr>
              <a:cxnSpLocks/>
            </p:cNvCxnSpPr>
            <p:nvPr/>
          </p:nvCxnSpPr>
          <p:spPr>
            <a:xfrm>
              <a:off x="6597788" y="2237014"/>
              <a:ext cx="0" cy="440872"/>
            </a:xfrm>
            <a:prstGeom prst="line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cxnSp>
      </p:grpSp>
      <p:sp>
        <p:nvSpPr>
          <p:cNvPr id="47" name="Flowchart: Delay 17">
            <a:extLst>
              <a:ext uri="{FF2B5EF4-FFF2-40B4-BE49-F238E27FC236}">
                <a16:creationId xmlns:a16="http://schemas.microsoft.com/office/drawing/2014/main" id="{6677C778-BB62-3849-5F6E-05E5E41CD37B}"/>
              </a:ext>
            </a:extLst>
          </p:cNvPr>
          <p:cNvSpPr/>
          <p:nvPr/>
        </p:nvSpPr>
        <p:spPr>
          <a:xfrm rot="16200000">
            <a:off x="10099223" y="4263679"/>
            <a:ext cx="309789" cy="367797"/>
          </a:xfrm>
          <a:prstGeom prst="flowChartDelay">
            <a:avLst/>
          </a:prstGeom>
          <a:solidFill>
            <a:srgbClr val="0070C0"/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eaVert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0" dirty="0">
                <a:solidFill>
                  <a:prstClr val="black"/>
                </a:solidFill>
                <a:latin typeface="Calibri" panose="020F0502020204030204"/>
              </a:rPr>
              <a:t>N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4522D569-1C42-A785-C2A6-1871890EF676}"/>
              </a:ext>
            </a:extLst>
          </p:cNvPr>
          <p:cNvCxnSpPr>
            <a:cxnSpLocks/>
          </p:cNvCxnSpPr>
          <p:nvPr/>
        </p:nvCxnSpPr>
        <p:spPr>
          <a:xfrm>
            <a:off x="10253900" y="4178524"/>
            <a:ext cx="0" cy="114159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65093F96-E52F-7FEC-96E4-3C295B56BECD}"/>
              </a:ext>
            </a:extLst>
          </p:cNvPr>
          <p:cNvCxnSpPr>
            <a:cxnSpLocks/>
          </p:cNvCxnSpPr>
          <p:nvPr/>
        </p:nvCxnSpPr>
        <p:spPr>
          <a:xfrm>
            <a:off x="10880778" y="4178524"/>
            <a:ext cx="0" cy="114159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Rectangle: Rounded Corners 10">
                <a:extLst>
                  <a:ext uri="{FF2B5EF4-FFF2-40B4-BE49-F238E27FC236}">
                    <a16:creationId xmlns:a16="http://schemas.microsoft.com/office/drawing/2014/main" id="{778095BF-93D4-3ACA-0146-7B5E9CA32F9E}"/>
                  </a:ext>
                </a:extLst>
              </p:cNvPr>
              <p:cNvSpPr/>
              <p:nvPr/>
            </p:nvSpPr>
            <p:spPr>
              <a:xfrm>
                <a:off x="10063189" y="4804407"/>
                <a:ext cx="1040125" cy="326380"/>
              </a:xfrm>
              <a:prstGeom prst="roundRect">
                <a:avLst/>
              </a:prstGeom>
              <a:solidFill>
                <a:srgbClr val="FFC000">
                  <a:lumMod val="40000"/>
                  <a:lumOff val="60000"/>
                </a:srgbClr>
              </a:solidFill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0" lang="en-US" sz="18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en-US" sz="18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𝜌</m:t>
                          </m:r>
                        </m:e>
                        <m:sup>
                          <m:r>
                            <a:rPr kumimoji="0" lang="en-CA" sz="18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𝐴𝐵</m:t>
                          </m:r>
                        </m:sup>
                      </m:sSup>
                    </m:oMath>
                  </m:oMathPara>
                </a14:m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50" name="Rectangle: Rounded Corners 10">
                <a:extLst>
                  <a:ext uri="{FF2B5EF4-FFF2-40B4-BE49-F238E27FC236}">
                    <a16:creationId xmlns:a16="http://schemas.microsoft.com/office/drawing/2014/main" id="{778095BF-93D4-3ACA-0146-7B5E9CA32F9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63189" y="4804407"/>
                <a:ext cx="1040125" cy="326380"/>
              </a:xfrm>
              <a:prstGeom prst="roundRect">
                <a:avLst/>
              </a:prstGeom>
              <a:blipFill>
                <a:blip r:embed="rId10"/>
                <a:stretch>
                  <a:fillRect/>
                </a:stretch>
              </a:blipFill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4" name="TextBox 53">
            <a:extLst>
              <a:ext uri="{FF2B5EF4-FFF2-40B4-BE49-F238E27FC236}">
                <a16:creationId xmlns:a16="http://schemas.microsoft.com/office/drawing/2014/main" id="{84E1737A-3B7A-644C-7FB7-83C82B0B391B}"/>
              </a:ext>
            </a:extLst>
          </p:cNvPr>
          <p:cNvSpPr txBox="1"/>
          <p:nvPr/>
        </p:nvSpPr>
        <p:spPr>
          <a:xfrm>
            <a:off x="9708140" y="6571425"/>
            <a:ext cx="24948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*: no need for state tomography </a:t>
            </a:r>
          </a:p>
        </p:txBody>
      </p:sp>
    </p:spTree>
    <p:extLst>
      <p:ext uri="{BB962C8B-B14F-4D97-AF65-F5344CB8AC3E}">
        <p14:creationId xmlns:p14="http://schemas.microsoft.com/office/powerpoint/2010/main" val="16608698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9D56DF-74F4-EDF3-EBE3-1301024C85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E640E0C-9290-6B43-2B37-23E9E743D40F}"/>
              </a:ext>
            </a:extLst>
          </p:cNvPr>
          <p:cNvSpPr/>
          <p:nvPr/>
        </p:nvSpPr>
        <p:spPr>
          <a:xfrm>
            <a:off x="425294" y="5153101"/>
            <a:ext cx="4657060" cy="13928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61A4CB9-65A2-7EAF-256C-68593EC68FC1}"/>
              </a:ext>
            </a:extLst>
          </p:cNvPr>
          <p:cNvSpPr txBox="1"/>
          <p:nvPr/>
        </p:nvSpPr>
        <p:spPr>
          <a:xfrm>
            <a:off x="425294" y="1860347"/>
            <a:ext cx="1176670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When is a set of statistics classically explainable?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534F63A-EC40-50AC-F362-0D901B074C1C}"/>
              </a:ext>
            </a:extLst>
          </p:cNvPr>
          <p:cNvSpPr txBox="1"/>
          <p:nvPr/>
        </p:nvSpPr>
        <p:spPr>
          <a:xfrm>
            <a:off x="1913006" y="4654535"/>
            <a:ext cx="909133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bg2">
                    <a:lumMod val="90000"/>
                  </a:schemeClr>
                </a:solidFill>
              </a:rPr>
              <a:t>When is a single process classical?</a:t>
            </a:r>
          </a:p>
        </p:txBody>
      </p:sp>
      <p:sp>
        <p:nvSpPr>
          <p:cNvPr id="5" name="Left Arrow 4">
            <a:extLst>
              <a:ext uri="{FF2B5EF4-FFF2-40B4-BE49-F238E27FC236}">
                <a16:creationId xmlns:a16="http://schemas.microsoft.com/office/drawing/2014/main" id="{DCBABED1-00CB-5D78-CE29-DA0654A72FAE}"/>
              </a:ext>
            </a:extLst>
          </p:cNvPr>
          <p:cNvSpPr/>
          <p:nvPr/>
        </p:nvSpPr>
        <p:spPr>
          <a:xfrm rot="16200000">
            <a:off x="5423546" y="3391100"/>
            <a:ext cx="1461571" cy="608682"/>
          </a:xfrm>
          <a:prstGeom prst="leftArrow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>
                  <a:lumMod val="9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35838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2C6358-90AA-FC72-30D6-FD4C8754E9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D983821-6E32-E4AA-0B7C-A6732C748965}"/>
              </a:ext>
            </a:extLst>
          </p:cNvPr>
          <p:cNvSpPr/>
          <p:nvPr/>
        </p:nvSpPr>
        <p:spPr>
          <a:xfrm>
            <a:off x="69366" y="5433082"/>
            <a:ext cx="4657060" cy="13928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259" name="Rectangle: Rounded Corners 2">
            <a:extLst>
              <a:ext uri="{FF2B5EF4-FFF2-40B4-BE49-F238E27FC236}">
                <a16:creationId xmlns:a16="http://schemas.microsoft.com/office/drawing/2014/main" id="{D74A64B4-2240-92AA-05F0-B2683F20BF0D}"/>
              </a:ext>
            </a:extLst>
          </p:cNvPr>
          <p:cNvSpPr/>
          <p:nvPr/>
        </p:nvSpPr>
        <p:spPr>
          <a:xfrm>
            <a:off x="2261819" y="5551953"/>
            <a:ext cx="7951882" cy="704446"/>
          </a:xfrm>
          <a:prstGeom prst="roundRect">
            <a:avLst/>
          </a:prstGeom>
          <a:solidFill>
            <a:schemeClr val="bg1"/>
          </a:solidFill>
          <a:ln w="25400">
            <a:solidFill>
              <a:srgbClr val="0070C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endParaRPr lang="en-US" sz="1800" dirty="0">
              <a:solidFill>
                <a:schemeClr val="tx1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8EF888B-B566-4E72-B02C-F242EC3ED264}"/>
              </a:ext>
            </a:extLst>
          </p:cNvPr>
          <p:cNvSpPr txBox="1"/>
          <p:nvPr/>
        </p:nvSpPr>
        <p:spPr>
          <a:xfrm>
            <a:off x="-50869" y="2097500"/>
            <a:ext cx="2928720" cy="73866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dirty="0">
                <a:latin typeface="Arial"/>
                <a:ea typeface="ＭＳ Ｐゴシック"/>
              </a:rPr>
              <a:t>A quantum representation </a:t>
            </a:r>
            <a:r>
              <a:rPr lang="en-US" sz="2400" dirty="0">
                <a:solidFill>
                  <a:schemeClr val="bg1"/>
                </a:solidFill>
                <a:latin typeface="Arial"/>
                <a:ea typeface="ＭＳ Ｐゴシック"/>
              </a:rPr>
              <a:t>f:</a:t>
            </a:r>
          </a:p>
        </p:txBody>
      </p:sp>
      <p:sp>
        <p:nvSpPr>
          <p:cNvPr id="178" name="TextBox 177">
            <a:extLst>
              <a:ext uri="{FF2B5EF4-FFF2-40B4-BE49-F238E27FC236}">
                <a16:creationId xmlns:a16="http://schemas.microsoft.com/office/drawing/2014/main" id="{A287CECC-715A-C182-51CF-82124FA2E96E}"/>
              </a:ext>
            </a:extLst>
          </p:cNvPr>
          <p:cNvSpPr txBox="1"/>
          <p:nvPr/>
        </p:nvSpPr>
        <p:spPr>
          <a:xfrm>
            <a:off x="3962" y="3804325"/>
            <a:ext cx="29868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Ontological representation</a:t>
            </a:r>
          </a:p>
        </p:txBody>
      </p:sp>
      <p:sp>
        <p:nvSpPr>
          <p:cNvPr id="252" name="TextBox 251">
            <a:extLst>
              <a:ext uri="{FF2B5EF4-FFF2-40B4-BE49-F238E27FC236}">
                <a16:creationId xmlns:a16="http://schemas.microsoft.com/office/drawing/2014/main" id="{DEBDC39D-1643-EDCA-32DC-43E25A39D7F5}"/>
              </a:ext>
            </a:extLst>
          </p:cNvPr>
          <p:cNvSpPr txBox="1"/>
          <p:nvPr/>
        </p:nvSpPr>
        <p:spPr>
          <a:xfrm>
            <a:off x="2296533" y="5610566"/>
            <a:ext cx="788245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Common view:  The quantum statistic in the</a:t>
            </a:r>
            <a:r>
              <a:rPr lang="en-US" altLang="zh-CN" sz="1600" b="1" dirty="0"/>
              <a:t> </a:t>
            </a:r>
            <a:r>
              <a:rPr lang="en-US" altLang="zh-CN" sz="1600" i="1" dirty="0"/>
              <a:t>bipartite scenario</a:t>
            </a:r>
            <a:r>
              <a:rPr lang="en-US" altLang="zh-CN" sz="1600" dirty="0"/>
              <a:t> is </a:t>
            </a:r>
            <a:r>
              <a:rPr lang="en-US" altLang="zh-CN" sz="1600" i="1" dirty="0"/>
              <a:t>classically explainable </a:t>
            </a:r>
            <a:r>
              <a:rPr lang="en-US" altLang="zh-CN" sz="1600" dirty="0"/>
              <a:t>if it admits a </a:t>
            </a:r>
            <a:r>
              <a:rPr lang="en-US" altLang="zh-CN" sz="1600" i="1" dirty="0"/>
              <a:t>local hidden variable model. </a:t>
            </a:r>
            <a:endParaRPr lang="en-US" sz="1600" i="1" dirty="0"/>
          </a:p>
        </p:txBody>
      </p:sp>
      <p:sp>
        <p:nvSpPr>
          <p:cNvPr id="258" name="TextBox 257">
            <a:extLst>
              <a:ext uri="{FF2B5EF4-FFF2-40B4-BE49-F238E27FC236}">
                <a16:creationId xmlns:a16="http://schemas.microsoft.com/office/drawing/2014/main" id="{88B513CE-8CD9-706F-CDEB-3400F6DFA33D}"/>
              </a:ext>
            </a:extLst>
          </p:cNvPr>
          <p:cNvSpPr txBox="1"/>
          <p:nvPr/>
        </p:nvSpPr>
        <p:spPr>
          <a:xfrm>
            <a:off x="0" y="416689"/>
            <a:ext cx="64586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</a:rPr>
              <a:t>Classical-explainable statistics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EF2C50D-EA5C-FF8C-5EC2-D010502E949D}"/>
              </a:ext>
            </a:extLst>
          </p:cNvPr>
          <p:cNvSpPr txBox="1"/>
          <p:nvPr/>
        </p:nvSpPr>
        <p:spPr>
          <a:xfrm>
            <a:off x="4947078" y="1172131"/>
            <a:ext cx="31346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1600" dirty="0">
                <a:solidFill>
                  <a:prstClr val="black"/>
                </a:solidFill>
                <a:latin typeface="Calibri" panose="020F0502020204030204"/>
              </a:rPr>
              <a:t>(</a:t>
            </a:r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a) Bipartite Bell circuit 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8DF46A6-2452-516B-EB99-40871BD54665}"/>
              </a:ext>
            </a:extLst>
          </p:cNvPr>
          <p:cNvSpPr txBox="1"/>
          <p:nvPr/>
        </p:nvSpPr>
        <p:spPr>
          <a:xfrm>
            <a:off x="4015553" y="4746077"/>
            <a:ext cx="4467824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600" dirty="0"/>
              <a:t>                Local hidden variable model.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BE831501-842E-5004-15A5-5DC1F00EB16D}"/>
                  </a:ext>
                </a:extLst>
              </p:cNvPr>
              <p:cNvSpPr txBox="1"/>
              <p:nvPr/>
            </p:nvSpPr>
            <p:spPr>
              <a:xfrm>
                <a:off x="6716919" y="2223946"/>
                <a:ext cx="2488630" cy="25571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1400" i="1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CA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CA" sz="1400" i="1">
                              <a:latin typeface="Cambria Math" panose="02040503050406030204" pitchFamily="18" charset="0"/>
                            </a:rPr>
                            <m:t>𝑎𝑏</m:t>
                          </m:r>
                        </m:e>
                        <m:e>
                          <m:r>
                            <a:rPr lang="en-CA" sz="1400" i="1">
                              <a:latin typeface="Cambria Math" panose="02040503050406030204" pitchFamily="18" charset="0"/>
                            </a:rPr>
                            <m:t>𝑥𝑦</m:t>
                          </m:r>
                        </m:e>
                      </m:d>
                      <m:r>
                        <a:rPr lang="en-CA" sz="1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CA" sz="1400">
                          <a:latin typeface="Cambria Math" panose="02040503050406030204" pitchFamily="18" charset="0"/>
                        </a:rPr>
                        <m:t>tr</m:t>
                      </m:r>
                      <m:r>
                        <a:rPr lang="en-CA" sz="1400" i="1">
                          <a:latin typeface="Cambria Math" panose="02040503050406030204" pitchFamily="18" charset="0"/>
                        </a:rPr>
                        <m:t>[</m:t>
                      </m:r>
                      <m:sSubSup>
                        <m:sSubSupPr>
                          <m:ctrlPr>
                            <a:rPr lang="en-CA" sz="1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CA" sz="1400" i="1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CA" sz="1400" i="1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CA" sz="1400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CA" sz="1400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  <m:sup>
                          <m:r>
                            <a:rPr lang="en-CA" sz="1400" i="1">
                              <a:latin typeface="Cambria Math" panose="02040503050406030204" pitchFamily="18" charset="0"/>
                            </a:rPr>
                            <m:t>𝐴</m:t>
                          </m:r>
                        </m:sup>
                      </m:sSubSup>
                      <m:r>
                        <a:rPr lang="en-CA" sz="1400" i="1">
                          <a:latin typeface="Cambria Math" panose="02040503050406030204" pitchFamily="18" charset="0"/>
                        </a:rPr>
                        <m:t>⊗</m:t>
                      </m:r>
                      <m:sSubSup>
                        <m:sSubSupPr>
                          <m:ctrlPr>
                            <a:rPr lang="en-CA" sz="1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CA" sz="1400" i="1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CA" sz="1400" i="1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CA" sz="1400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CA" sz="1400" i="1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  <m:sup>
                          <m:r>
                            <a:rPr lang="en-CA" sz="1400" i="1">
                              <a:latin typeface="Cambria Math" panose="02040503050406030204" pitchFamily="18" charset="0"/>
                            </a:rPr>
                            <m:t>𝐵</m:t>
                          </m:r>
                        </m:sup>
                      </m:sSubSup>
                      <m:sSup>
                        <m:sSupPr>
                          <m:ctrlPr>
                            <a:rPr lang="en-CA" sz="1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CA" sz="1400" i="1"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  <m:sup>
                          <m:r>
                            <a:rPr lang="en-CA" sz="1400" i="1">
                              <a:latin typeface="Cambria Math" panose="02040503050406030204" pitchFamily="18" charset="0"/>
                            </a:rPr>
                            <m:t>𝐴𝐵</m:t>
                          </m:r>
                        </m:sup>
                      </m:sSup>
                      <m:r>
                        <a:rPr lang="en-CA" sz="1400" i="1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BE831501-842E-5004-15A5-5DC1F00EB1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16919" y="2223946"/>
                <a:ext cx="2488630" cy="255711"/>
              </a:xfrm>
              <a:prstGeom prst="rect">
                <a:avLst/>
              </a:prstGeom>
              <a:blipFill>
                <a:blip r:embed="rId2"/>
                <a:stretch>
                  <a:fillRect l="-1015" t="-4762" r="-2538" b="-190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3865F9F6-B3D9-A051-5477-B723D0D5DDDD}"/>
                  </a:ext>
                </a:extLst>
              </p:cNvPr>
              <p:cNvSpPr txBox="1"/>
              <p:nvPr/>
            </p:nvSpPr>
            <p:spPr>
              <a:xfrm>
                <a:off x="6327292" y="3753416"/>
                <a:ext cx="3344826" cy="54835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1400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CA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CA" sz="1400" b="0" i="1" smtClean="0">
                              <a:latin typeface="Cambria Math" panose="02040503050406030204" pitchFamily="18" charset="0"/>
                            </a:rPr>
                            <m:t>𝑎𝑏</m:t>
                          </m:r>
                        </m:e>
                        <m:e>
                          <m:r>
                            <a:rPr lang="en-CA" sz="1400" b="0" i="1" smtClean="0">
                              <a:latin typeface="Cambria Math" panose="02040503050406030204" pitchFamily="18" charset="0"/>
                            </a:rPr>
                            <m:t>𝑥𝑦</m:t>
                          </m:r>
                        </m:e>
                      </m:d>
                      <m:r>
                        <a:rPr lang="en-CA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CA" sz="1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US" sz="1400" i="1" ker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i="1" ker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CA" sz="1400" i="1" ker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1400" i="1" ker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i="1" ker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CA" sz="1400" i="1" ker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</m:sub>
                        <m:sup/>
                        <m:e>
                          <m:r>
                            <a:rPr lang="en-US" sz="1400" i="1" ker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sz="1400" i="1" ker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1400" i="1" ker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i="1" ker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CA" sz="1400" i="1" ker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1400" i="1" ker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i="1" ker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CA" sz="1400" i="1" ker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  <m:r>
                            <a:rPr lang="en-US" sz="1400" i="1" ker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en-US" sz="1400" i="1" ker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sz="1400" i="1" ker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CA" sz="1400" i="1" ker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sz="1400" i="1" ker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sz="1400" i="1" ker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sz="1400" i="1" ker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1400" i="1" ker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CA" sz="1400" i="1" ker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  <m:r>
                            <a:rPr lang="en-US" sz="1400" i="1" ker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en-US" sz="1400" i="1" ker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sz="1400" i="1" ker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CA" sz="1400" i="1" ker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sz="1400" i="1" ker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sz="1400" i="1" ker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sz="1400" i="1" ker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sz="1400" i="1" ker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CA" sz="1400" i="1" ker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  <m:r>
                            <a:rPr lang="en-US" sz="1400" i="1" ker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CA" sz="1400" b="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3865F9F6-B3D9-A051-5477-B723D0D5DD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27292" y="3753416"/>
                <a:ext cx="3344826" cy="548355"/>
              </a:xfrm>
              <a:prstGeom prst="rect">
                <a:avLst/>
              </a:prstGeom>
              <a:blipFill>
                <a:blip r:embed="rId3"/>
                <a:stretch>
                  <a:fillRect l="-1136" t="-138636" r="-1515" b="-1931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Arrow: Down 81">
            <a:extLst>
              <a:ext uri="{FF2B5EF4-FFF2-40B4-BE49-F238E27FC236}">
                <a16:creationId xmlns:a16="http://schemas.microsoft.com/office/drawing/2014/main" id="{D2C895D6-04E1-F702-AE12-5C6919EF865A}"/>
              </a:ext>
            </a:extLst>
          </p:cNvPr>
          <p:cNvSpPr/>
          <p:nvPr/>
        </p:nvSpPr>
        <p:spPr>
          <a:xfrm>
            <a:off x="7968666" y="3114303"/>
            <a:ext cx="454365" cy="284609"/>
          </a:xfrm>
          <a:prstGeom prst="downArrow">
            <a:avLst/>
          </a:prstGeom>
          <a:solidFill>
            <a:sysClr val="window" lastClr="FFFFFF">
              <a:lumMod val="85000"/>
            </a:sysClr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14E99279-2250-E1B3-55F1-CE76D7584A70}"/>
              </a:ext>
            </a:extLst>
          </p:cNvPr>
          <p:cNvCxnSpPr>
            <a:cxnSpLocks/>
            <a:stCxn id="66" idx="2"/>
          </p:cNvCxnSpPr>
          <p:nvPr/>
        </p:nvCxnSpPr>
        <p:spPr>
          <a:xfrm flipH="1">
            <a:off x="4395777" y="3858179"/>
            <a:ext cx="2476" cy="340734"/>
          </a:xfrm>
          <a:prstGeom prst="line">
            <a:avLst/>
          </a:prstGeom>
          <a:noFill/>
          <a:ln w="15875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6" name="Rectangle: Rounded Corners 40">
                <a:extLst>
                  <a:ext uri="{FF2B5EF4-FFF2-40B4-BE49-F238E27FC236}">
                    <a16:creationId xmlns:a16="http://schemas.microsoft.com/office/drawing/2014/main" id="{59B70EE7-73B1-C378-08F4-0F1FED9148DA}"/>
                  </a:ext>
                </a:extLst>
              </p:cNvPr>
              <p:cNvSpPr/>
              <p:nvPr/>
            </p:nvSpPr>
            <p:spPr>
              <a:xfrm>
                <a:off x="4091286" y="3591254"/>
                <a:ext cx="613934" cy="266925"/>
              </a:xfrm>
              <a:prstGeom prst="roundRect">
                <a:avLst/>
              </a:prstGeom>
              <a:solidFill>
                <a:srgbClr val="70AD47">
                  <a:lumMod val="40000"/>
                  <a:lumOff val="60000"/>
                  <a:alpha val="96000"/>
                </a:srgbClr>
              </a:solidFill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1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 </m:t>
                      </m:r>
                      <m:r>
                        <a:rPr kumimoji="0" lang="en-US" sz="11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𝑝</m:t>
                      </m:r>
                      <m:r>
                        <a:rPr kumimoji="0" lang="en-US" sz="11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(</m:t>
                      </m:r>
                      <m:r>
                        <a:rPr kumimoji="0" lang="en-CA" sz="11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𝑏</m:t>
                      </m:r>
                      <m:r>
                        <a:rPr kumimoji="0" lang="en-US" sz="11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|</m:t>
                      </m:r>
                      <m:sSub>
                        <m:sSubPr>
                          <m:ctrlPr>
                            <a:rPr kumimoji="0" lang="en-US" sz="11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CA" sz="11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𝑦</m:t>
                          </m:r>
                          <m:r>
                            <a:rPr kumimoji="0" lang="en-US" sz="11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𝜆</m:t>
                          </m:r>
                        </m:e>
                        <m:sub>
                          <m:r>
                            <a:rPr kumimoji="0" lang="en-CA" sz="11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𝐵</m:t>
                          </m:r>
                        </m:sub>
                      </m:sSub>
                      <m:r>
                        <a:rPr kumimoji="0" lang="en-US" sz="11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)</m:t>
                      </m:r>
                    </m:oMath>
                  </m:oMathPara>
                </a14:m>
                <a:endPara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66" name="Rectangle: Rounded Corners 40">
                <a:extLst>
                  <a:ext uri="{FF2B5EF4-FFF2-40B4-BE49-F238E27FC236}">
                    <a16:creationId xmlns:a16="http://schemas.microsoft.com/office/drawing/2014/main" id="{59B70EE7-73B1-C378-08F4-0F1FED9148D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91286" y="3591254"/>
                <a:ext cx="613934" cy="266925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" name="Rectangle: Rounded Corners 33">
                <a:extLst>
                  <a:ext uri="{FF2B5EF4-FFF2-40B4-BE49-F238E27FC236}">
                    <a16:creationId xmlns:a16="http://schemas.microsoft.com/office/drawing/2014/main" id="{6457B286-853D-B021-B065-12DCBEFE417D}"/>
                  </a:ext>
                </a:extLst>
              </p:cNvPr>
              <p:cNvSpPr/>
              <p:nvPr/>
            </p:nvSpPr>
            <p:spPr>
              <a:xfrm>
                <a:off x="3450405" y="4191508"/>
                <a:ext cx="1170006" cy="398885"/>
              </a:xfrm>
              <a:prstGeom prst="roundRect">
                <a:avLst/>
              </a:prstGeom>
              <a:solidFill>
                <a:srgbClr val="70AD47">
                  <a:lumMod val="40000"/>
                  <a:lumOff val="60000"/>
                  <a:alpha val="96000"/>
                </a:srgbClr>
              </a:solidFill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1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𝑝</m:t>
                      </m:r>
                      <m:r>
                        <a:rPr kumimoji="0" lang="en-US" sz="11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(</m:t>
                      </m:r>
                      <m:sSub>
                        <m:sSubPr>
                          <m:ctrlPr>
                            <a:rPr kumimoji="0" lang="en-US" sz="11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11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𝜆</m:t>
                          </m:r>
                        </m:e>
                        <m:sub>
                          <m:r>
                            <a:rPr kumimoji="0" lang="en-CA" sz="11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𝐴</m:t>
                          </m:r>
                        </m:sub>
                      </m:sSub>
                      <m:sSub>
                        <m:sSubPr>
                          <m:ctrlPr>
                            <a:rPr kumimoji="0" lang="en-US" sz="11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11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𝜆</m:t>
                          </m:r>
                        </m:e>
                        <m:sub>
                          <m:r>
                            <a:rPr kumimoji="0" lang="en-CA" sz="11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𝐵</m:t>
                          </m:r>
                        </m:sub>
                      </m:sSub>
                      <m:r>
                        <a:rPr kumimoji="0" lang="en-US" sz="11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)</m:t>
                      </m:r>
                    </m:oMath>
                  </m:oMathPara>
                </a14:m>
                <a:endPara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67" name="Rectangle: Rounded Corners 33">
                <a:extLst>
                  <a:ext uri="{FF2B5EF4-FFF2-40B4-BE49-F238E27FC236}">
                    <a16:creationId xmlns:a16="http://schemas.microsoft.com/office/drawing/2014/main" id="{6457B286-853D-B021-B065-12DCBEFE417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50405" y="4191508"/>
                <a:ext cx="1170006" cy="398885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2FF0411A-1BD1-9D9B-D4DB-8966D4AB024A}"/>
              </a:ext>
            </a:extLst>
          </p:cNvPr>
          <p:cNvCxnSpPr>
            <a:cxnSpLocks/>
            <a:stCxn id="70" idx="2"/>
          </p:cNvCxnSpPr>
          <p:nvPr/>
        </p:nvCxnSpPr>
        <p:spPr>
          <a:xfrm flipH="1">
            <a:off x="3693298" y="3857227"/>
            <a:ext cx="2476" cy="340734"/>
          </a:xfrm>
          <a:prstGeom prst="line">
            <a:avLst/>
          </a:prstGeom>
          <a:noFill/>
          <a:ln w="15875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0" name="Rectangle: Rounded Corners 82">
                <a:extLst>
                  <a:ext uri="{FF2B5EF4-FFF2-40B4-BE49-F238E27FC236}">
                    <a16:creationId xmlns:a16="http://schemas.microsoft.com/office/drawing/2014/main" id="{BF120B4F-BE5A-2A74-3BFB-A4B7C53DBD35}"/>
                  </a:ext>
                </a:extLst>
              </p:cNvPr>
              <p:cNvSpPr/>
              <p:nvPr/>
            </p:nvSpPr>
            <p:spPr>
              <a:xfrm>
                <a:off x="3388807" y="3590302"/>
                <a:ext cx="613934" cy="266925"/>
              </a:xfrm>
              <a:prstGeom prst="roundRect">
                <a:avLst/>
              </a:prstGeom>
              <a:solidFill>
                <a:srgbClr val="70AD47">
                  <a:lumMod val="40000"/>
                  <a:lumOff val="60000"/>
                  <a:alpha val="96000"/>
                </a:srgbClr>
              </a:solidFill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1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 </m:t>
                      </m:r>
                      <m:r>
                        <a:rPr kumimoji="0" lang="en-US" sz="11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𝑝</m:t>
                      </m:r>
                      <m:r>
                        <a:rPr kumimoji="0" lang="en-US" sz="11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(</m:t>
                      </m:r>
                      <m:r>
                        <a:rPr kumimoji="0" lang="en-CA" sz="11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𝑎</m:t>
                      </m:r>
                      <m:r>
                        <a:rPr kumimoji="0" lang="en-US" sz="11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|</m:t>
                      </m:r>
                      <m:sSub>
                        <m:sSubPr>
                          <m:ctrlPr>
                            <a:rPr kumimoji="0" lang="en-US" sz="11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CA" sz="11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𝑥</m:t>
                          </m:r>
                          <m:r>
                            <a:rPr kumimoji="0" lang="en-US" sz="11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𝜆</m:t>
                          </m:r>
                        </m:e>
                        <m:sub>
                          <m:r>
                            <a:rPr kumimoji="0" lang="en-CA" sz="11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𝐴</m:t>
                          </m:r>
                        </m:sub>
                      </m:sSub>
                      <m:r>
                        <a:rPr kumimoji="0" lang="en-US" sz="11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)</m:t>
                      </m:r>
                    </m:oMath>
                  </m:oMathPara>
                </a14:m>
                <a:endPara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70" name="Rectangle: Rounded Corners 82">
                <a:extLst>
                  <a:ext uri="{FF2B5EF4-FFF2-40B4-BE49-F238E27FC236}">
                    <a16:creationId xmlns:a16="http://schemas.microsoft.com/office/drawing/2014/main" id="{BF120B4F-BE5A-2A74-3BFB-A4B7C53DBD3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8807" y="3590302"/>
                <a:ext cx="613934" cy="266925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1" name="Arrow: Down 81">
            <a:extLst>
              <a:ext uri="{FF2B5EF4-FFF2-40B4-BE49-F238E27FC236}">
                <a16:creationId xmlns:a16="http://schemas.microsoft.com/office/drawing/2014/main" id="{441B86D9-19FD-A8D6-5A28-89367B2F91E8}"/>
              </a:ext>
            </a:extLst>
          </p:cNvPr>
          <p:cNvSpPr/>
          <p:nvPr/>
        </p:nvSpPr>
        <p:spPr>
          <a:xfrm>
            <a:off x="3859742" y="3115273"/>
            <a:ext cx="454365" cy="284609"/>
          </a:xfrm>
          <a:prstGeom prst="downArrow">
            <a:avLst/>
          </a:prstGeom>
          <a:solidFill>
            <a:sysClr val="window" lastClr="FFFFFF">
              <a:lumMod val="85000"/>
            </a:sysClr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CB94C32B-5DE2-5FA1-8938-7CBEF7B098EC}"/>
              </a:ext>
            </a:extLst>
          </p:cNvPr>
          <p:cNvCxnSpPr/>
          <p:nvPr/>
        </p:nvCxnSpPr>
        <p:spPr>
          <a:xfrm>
            <a:off x="4445810" y="2232267"/>
            <a:ext cx="0" cy="160276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3A802530-A816-FE7C-5DE0-839C2F617B9B}"/>
                  </a:ext>
                </a:extLst>
              </p:cNvPr>
              <p:cNvSpPr txBox="1"/>
              <p:nvPr/>
            </p:nvSpPr>
            <p:spPr>
              <a:xfrm>
                <a:off x="4398816" y="2182460"/>
                <a:ext cx="204800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altLang="zh-CN" sz="12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sz="16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mc:Choice>
        <mc:Fallback xmlns="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3A802530-A816-FE7C-5DE0-839C2F617B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98816" y="2182460"/>
                <a:ext cx="204800" cy="276999"/>
              </a:xfrm>
              <a:prstGeom prst="rect">
                <a:avLst/>
              </a:prstGeom>
              <a:blipFill>
                <a:blip r:embed="rId7"/>
                <a:stretch>
                  <a:fillRect r="-17647" b="-4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44684DBD-9370-D04C-BA10-A83FCF26755D}"/>
              </a:ext>
            </a:extLst>
          </p:cNvPr>
          <p:cNvCxnSpPr/>
          <p:nvPr/>
        </p:nvCxnSpPr>
        <p:spPr>
          <a:xfrm>
            <a:off x="3835420" y="2230628"/>
            <a:ext cx="0" cy="160276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BE0FD5D8-C98E-93C7-1E20-D0780E525A06}"/>
                  </a:ext>
                </a:extLst>
              </p:cNvPr>
              <p:cNvSpPr txBox="1"/>
              <p:nvPr/>
            </p:nvSpPr>
            <p:spPr>
              <a:xfrm>
                <a:off x="3788426" y="2180821"/>
                <a:ext cx="204800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altLang="zh-CN" sz="12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16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mc:Choice>
        <mc:Fallback xmlns="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BE0FD5D8-C98E-93C7-1E20-D0780E525A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88426" y="2180821"/>
                <a:ext cx="204800" cy="27699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54DFE52E-0515-A8D7-3EA3-964E4E09BE8C}"/>
                  </a:ext>
                </a:extLst>
              </p:cNvPr>
              <p:cNvSpPr txBox="1"/>
              <p:nvPr/>
            </p:nvSpPr>
            <p:spPr>
              <a:xfrm>
                <a:off x="3713056" y="1719513"/>
                <a:ext cx="246689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12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12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16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mc:Choice>
        <mc:Fallback xmlns="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54DFE52E-0515-A8D7-3EA3-964E4E09BE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3056" y="1719513"/>
                <a:ext cx="246689" cy="276999"/>
              </a:xfrm>
              <a:prstGeom prst="rect">
                <a:avLst/>
              </a:prstGeom>
              <a:blipFill>
                <a:blip r:embed="rId9"/>
                <a:stretch>
                  <a:fillRect r="-20000" b="-4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7" name="Group 76">
            <a:extLst>
              <a:ext uri="{FF2B5EF4-FFF2-40B4-BE49-F238E27FC236}">
                <a16:creationId xmlns:a16="http://schemas.microsoft.com/office/drawing/2014/main" id="{70550C6E-C8C2-9587-7035-3CBE4FF426AF}"/>
              </a:ext>
            </a:extLst>
          </p:cNvPr>
          <p:cNvGrpSpPr/>
          <p:nvPr/>
        </p:nvGrpSpPr>
        <p:grpSpPr>
          <a:xfrm>
            <a:off x="4340556" y="2240933"/>
            <a:ext cx="45719" cy="210912"/>
            <a:chOff x="6548130" y="2237014"/>
            <a:chExt cx="49658" cy="440872"/>
          </a:xfrm>
        </p:grpSpPr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C1444C48-43B4-1923-660F-0B75345F921E}"/>
                </a:ext>
              </a:extLst>
            </p:cNvPr>
            <p:cNvCxnSpPr>
              <a:cxnSpLocks/>
            </p:cNvCxnSpPr>
            <p:nvPr/>
          </p:nvCxnSpPr>
          <p:spPr>
            <a:xfrm>
              <a:off x="6548130" y="2237014"/>
              <a:ext cx="0" cy="440872"/>
            </a:xfrm>
            <a:prstGeom prst="line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C3F35DF4-495F-A33D-D9F1-A2DC379B590B}"/>
                </a:ext>
              </a:extLst>
            </p:cNvPr>
            <p:cNvCxnSpPr>
              <a:cxnSpLocks/>
            </p:cNvCxnSpPr>
            <p:nvPr/>
          </p:nvCxnSpPr>
          <p:spPr>
            <a:xfrm>
              <a:off x="6597788" y="2237014"/>
              <a:ext cx="0" cy="440872"/>
            </a:xfrm>
            <a:prstGeom prst="line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cxnSp>
      </p:grpSp>
      <p:sp>
        <p:nvSpPr>
          <p:cNvPr id="80" name="Flowchart: Delay 9">
            <a:extLst>
              <a:ext uri="{FF2B5EF4-FFF2-40B4-BE49-F238E27FC236}">
                <a16:creationId xmlns:a16="http://schemas.microsoft.com/office/drawing/2014/main" id="{A11ED52B-A0D9-BF57-8DEB-F509918B13B2}"/>
              </a:ext>
            </a:extLst>
          </p:cNvPr>
          <p:cNvSpPr/>
          <p:nvPr/>
        </p:nvSpPr>
        <p:spPr>
          <a:xfrm rot="16200000">
            <a:off x="4216132" y="1902140"/>
            <a:ext cx="309789" cy="367797"/>
          </a:xfrm>
          <a:prstGeom prst="flowChartDelay">
            <a:avLst/>
          </a:prstGeom>
          <a:solidFill>
            <a:srgbClr val="FFE79A"/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eaVert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F27C173C-8009-81FC-832B-5D9668A98D29}"/>
                  </a:ext>
                </a:extLst>
              </p:cNvPr>
              <p:cNvSpPr txBox="1"/>
              <p:nvPr/>
            </p:nvSpPr>
            <p:spPr>
              <a:xfrm>
                <a:off x="4346048" y="1719513"/>
                <a:ext cx="246689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12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sz="12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16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mc:Choice>
        <mc:Fallback xmlns="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F27C173C-8009-81FC-832B-5D9668A98D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46048" y="1719513"/>
                <a:ext cx="246689" cy="276999"/>
              </a:xfrm>
              <a:prstGeom prst="rect">
                <a:avLst/>
              </a:prstGeom>
              <a:blipFill>
                <a:blip r:embed="rId10"/>
                <a:stretch>
                  <a:fillRect r="-15000" b="-4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2" name="Group 81">
            <a:extLst>
              <a:ext uri="{FF2B5EF4-FFF2-40B4-BE49-F238E27FC236}">
                <a16:creationId xmlns:a16="http://schemas.microsoft.com/office/drawing/2014/main" id="{E5A02998-6307-3949-A593-8CC4C66512BC}"/>
              </a:ext>
            </a:extLst>
          </p:cNvPr>
          <p:cNvGrpSpPr/>
          <p:nvPr/>
        </p:nvGrpSpPr>
        <p:grpSpPr>
          <a:xfrm>
            <a:off x="3725334" y="2240933"/>
            <a:ext cx="45719" cy="210912"/>
            <a:chOff x="6548130" y="2237014"/>
            <a:chExt cx="49658" cy="440872"/>
          </a:xfrm>
        </p:grpSpPr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E4483ED7-F951-D450-2649-AE2B6B9D42B0}"/>
                </a:ext>
              </a:extLst>
            </p:cNvPr>
            <p:cNvCxnSpPr>
              <a:cxnSpLocks/>
            </p:cNvCxnSpPr>
            <p:nvPr/>
          </p:nvCxnSpPr>
          <p:spPr>
            <a:xfrm>
              <a:off x="6548130" y="2237014"/>
              <a:ext cx="0" cy="440872"/>
            </a:xfrm>
            <a:prstGeom prst="line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5C1E730B-37A6-D7B5-8285-DEE5E8CB74A9}"/>
                </a:ext>
              </a:extLst>
            </p:cNvPr>
            <p:cNvCxnSpPr>
              <a:cxnSpLocks/>
            </p:cNvCxnSpPr>
            <p:nvPr/>
          </p:nvCxnSpPr>
          <p:spPr>
            <a:xfrm>
              <a:off x="6597788" y="2237014"/>
              <a:ext cx="0" cy="440872"/>
            </a:xfrm>
            <a:prstGeom prst="line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cxnSp>
      </p:grpSp>
      <p:sp>
        <p:nvSpPr>
          <p:cNvPr id="85" name="Flowchart: Delay 17">
            <a:extLst>
              <a:ext uri="{FF2B5EF4-FFF2-40B4-BE49-F238E27FC236}">
                <a16:creationId xmlns:a16="http://schemas.microsoft.com/office/drawing/2014/main" id="{3CD39FF6-5EC9-94F4-5EBC-545BBA61B9BC}"/>
              </a:ext>
            </a:extLst>
          </p:cNvPr>
          <p:cNvSpPr/>
          <p:nvPr/>
        </p:nvSpPr>
        <p:spPr>
          <a:xfrm rot="16200000">
            <a:off x="3586780" y="1912601"/>
            <a:ext cx="309789" cy="367797"/>
          </a:xfrm>
          <a:prstGeom prst="flowChartDelay">
            <a:avLst/>
          </a:prstGeom>
          <a:solidFill>
            <a:srgbClr val="FFE79A"/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eaVert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0" dirty="0">
                <a:solidFill>
                  <a:prstClr val="black"/>
                </a:solidFill>
                <a:latin typeface="Calibri" panose="020F0502020204030204"/>
              </a:rPr>
              <a:t>N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1E3347FD-3CAE-AF8E-038C-9368561ED57D}"/>
              </a:ext>
            </a:extLst>
          </p:cNvPr>
          <p:cNvCxnSpPr>
            <a:cxnSpLocks/>
          </p:cNvCxnSpPr>
          <p:nvPr/>
        </p:nvCxnSpPr>
        <p:spPr>
          <a:xfrm>
            <a:off x="3744148" y="1816985"/>
            <a:ext cx="0" cy="114159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35F3D694-03F2-E508-118E-6330C40A8616}"/>
              </a:ext>
            </a:extLst>
          </p:cNvPr>
          <p:cNvCxnSpPr>
            <a:cxnSpLocks/>
          </p:cNvCxnSpPr>
          <p:nvPr/>
        </p:nvCxnSpPr>
        <p:spPr>
          <a:xfrm>
            <a:off x="4371026" y="1816985"/>
            <a:ext cx="0" cy="114159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8" name="Rectangle: Rounded Corners 10">
                <a:extLst>
                  <a:ext uri="{FF2B5EF4-FFF2-40B4-BE49-F238E27FC236}">
                    <a16:creationId xmlns:a16="http://schemas.microsoft.com/office/drawing/2014/main" id="{3C7A7F03-F807-3B2B-C3C6-D1C899AC3DA9}"/>
                  </a:ext>
                </a:extLst>
              </p:cNvPr>
              <p:cNvSpPr/>
              <p:nvPr/>
            </p:nvSpPr>
            <p:spPr>
              <a:xfrm>
                <a:off x="3553437" y="2442868"/>
                <a:ext cx="1040125" cy="326380"/>
              </a:xfrm>
              <a:prstGeom prst="roundRect">
                <a:avLst/>
              </a:prstGeom>
              <a:solidFill>
                <a:srgbClr val="FFC000">
                  <a:lumMod val="40000"/>
                  <a:lumOff val="60000"/>
                </a:srgbClr>
              </a:solidFill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0" lang="en-US" sz="18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en-US" sz="18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𝜌</m:t>
                          </m:r>
                        </m:e>
                        <m:sup>
                          <m:r>
                            <a:rPr kumimoji="0" lang="en-CA" sz="18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𝐴𝐵</m:t>
                          </m:r>
                        </m:sup>
                      </m:sSup>
                    </m:oMath>
                  </m:oMathPara>
                </a14:m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88" name="Rectangle: Rounded Corners 10">
                <a:extLst>
                  <a:ext uri="{FF2B5EF4-FFF2-40B4-BE49-F238E27FC236}">
                    <a16:creationId xmlns:a16="http://schemas.microsoft.com/office/drawing/2014/main" id="{3C7A7F03-F807-3B2B-C3C6-D1C899AC3DA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3437" y="2442868"/>
                <a:ext cx="1040125" cy="326380"/>
              </a:xfrm>
              <a:prstGeom prst="roundRect">
                <a:avLst/>
              </a:prstGeom>
              <a:blipFill>
                <a:blip r:embed="rId11"/>
                <a:stretch>
                  <a:fillRect/>
                </a:stretch>
              </a:blipFill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0DF770CC-F519-BCDD-FB5F-671745E6C28B}"/>
                  </a:ext>
                </a:extLst>
              </p:cNvPr>
              <p:cNvSpPr txBox="1"/>
              <p:nvPr/>
            </p:nvSpPr>
            <p:spPr>
              <a:xfrm>
                <a:off x="4367944" y="3883731"/>
                <a:ext cx="430123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CA" sz="1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0DF770CC-F519-BCDD-FB5F-671745E6C2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67944" y="3883731"/>
                <a:ext cx="430123" cy="307777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AF2D1C54-3C37-0568-7985-1C8D0922C9B3}"/>
                  </a:ext>
                </a:extLst>
              </p:cNvPr>
              <p:cNvSpPr txBox="1"/>
              <p:nvPr/>
            </p:nvSpPr>
            <p:spPr>
              <a:xfrm>
                <a:off x="3636656" y="3879495"/>
                <a:ext cx="430123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CA" sz="1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AF2D1C54-3C37-0568-7985-1C8D0922C9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6656" y="3879495"/>
                <a:ext cx="430123" cy="307777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92325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9" grpId="0" animBg="1"/>
      <p:bldP spid="178" grpId="0"/>
      <p:bldP spid="252" grpId="0"/>
      <p:bldP spid="18" grpId="0"/>
      <p:bldP spid="22" grpId="0"/>
      <p:bldP spid="66" grpId="0" animBg="1"/>
      <p:bldP spid="67" grpId="0" animBg="1"/>
      <p:bldP spid="70" grpId="0" animBg="1"/>
      <p:bldP spid="89" grpId="0"/>
      <p:bldP spid="9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6D5450-208A-1162-9C3F-5C873A47FE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83BC0F8-46BF-5C9B-2054-98A78A25A4DD}"/>
              </a:ext>
            </a:extLst>
          </p:cNvPr>
          <p:cNvSpPr/>
          <p:nvPr/>
        </p:nvSpPr>
        <p:spPr>
          <a:xfrm>
            <a:off x="219653" y="5465135"/>
            <a:ext cx="4657060" cy="13928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D31C4ACF-39C2-2C55-2B45-1E862F80DD52}"/>
                  </a:ext>
                </a:extLst>
              </p:cNvPr>
              <p:cNvSpPr txBox="1"/>
              <p:nvPr/>
            </p:nvSpPr>
            <p:spPr>
              <a:xfrm>
                <a:off x="3991740" y="1149917"/>
                <a:ext cx="7674015" cy="34607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Wingdings" pitchFamily="2" charset="2"/>
                  <a:buChar char="q"/>
                </a:pPr>
                <a:r>
                  <a:rPr lang="en-US" sz="1400" dirty="0"/>
                  <a:t>The quantum circuit predict statistics. </a:t>
                </a:r>
              </a:p>
              <a:p>
                <a:endParaRPr lang="en-CA" sz="1400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1400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CA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CA" sz="1400" b="0" i="1" smtClean="0">
                              <a:latin typeface="Cambria Math" panose="02040503050406030204" pitchFamily="18" charset="0"/>
                            </a:rPr>
                            <m:t>𝑎𝑏</m:t>
                          </m:r>
                        </m:e>
                        <m:e>
                          <m:r>
                            <a:rPr lang="en-CA" sz="1400" b="0" i="1" smtClean="0">
                              <a:latin typeface="Cambria Math" panose="02040503050406030204" pitchFamily="18" charset="0"/>
                            </a:rPr>
                            <m:t>𝑥𝑦</m:t>
                          </m:r>
                        </m:e>
                      </m:d>
                      <m:r>
                        <a:rPr lang="en-CA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CA" sz="1400" b="0" i="0" smtClean="0">
                          <a:latin typeface="Cambria Math" panose="02040503050406030204" pitchFamily="18" charset="0"/>
                        </a:rPr>
                        <m:t>tr</m:t>
                      </m:r>
                      <m:r>
                        <a:rPr lang="en-CA" sz="1400" b="0" i="1" smtClean="0">
                          <a:latin typeface="Cambria Math" panose="02040503050406030204" pitchFamily="18" charset="0"/>
                        </a:rPr>
                        <m:t>[</m:t>
                      </m:r>
                      <m:sSubSup>
                        <m:sSubSupPr>
                          <m:ctrlPr>
                            <a:rPr lang="en-CA" sz="1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CA" sz="14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CA" sz="1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CA" sz="1400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CA" sz="1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  <m:sup>
                          <m:r>
                            <a:rPr lang="en-CA" sz="14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p>
                      </m:sSubSup>
                      <m:r>
                        <a:rPr lang="en-CA" sz="1400" b="0" i="1" smtClean="0">
                          <a:latin typeface="Cambria Math" panose="02040503050406030204" pitchFamily="18" charset="0"/>
                        </a:rPr>
                        <m:t>⊗</m:t>
                      </m:r>
                      <m:sSubSup>
                        <m:sSubSupPr>
                          <m:ctrlPr>
                            <a:rPr lang="en-CA" sz="1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CA" sz="1400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CA" sz="14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CA" sz="1400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CA" sz="1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  <m:sup>
                          <m:r>
                            <a:rPr lang="en-CA" sz="14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p>
                      </m:sSubSup>
                      <m:sSup>
                        <m:sSupPr>
                          <m:ctrlPr>
                            <a:rPr lang="en-CA" sz="1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CA" sz="1400" b="0" i="1" smtClean="0"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  <m:sup>
                          <m:r>
                            <a:rPr lang="en-CA" sz="1400" b="0" i="1" smtClean="0">
                              <a:latin typeface="Cambria Math" panose="02040503050406030204" pitchFamily="18" charset="0"/>
                            </a:rPr>
                            <m:t>𝐴𝐵</m:t>
                          </m:r>
                        </m:sup>
                      </m:sSup>
                      <m:r>
                        <a:rPr lang="en-CA" sz="1400" b="0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sz="1400" dirty="0"/>
              </a:p>
              <a:p>
                <a:endParaRPr lang="en-US" sz="1400" dirty="0"/>
              </a:p>
              <a:p>
                <a:pPr marL="285750" indent="-285750">
                  <a:buFont typeface="Wingdings" pitchFamily="2" charset="2"/>
                  <a:buChar char="q"/>
                </a:pPr>
                <a:r>
                  <a:rPr lang="en-US" sz="1400" dirty="0"/>
                  <a:t>It is </a:t>
                </a:r>
                <a:r>
                  <a:rPr lang="en-US" sz="1400" i="1" dirty="0"/>
                  <a:t>classically explainable</a:t>
                </a:r>
                <a:r>
                  <a:rPr lang="en-US" sz="1400" dirty="0"/>
                  <a:t>, if it can be reproduced by</a:t>
                </a:r>
              </a:p>
              <a:p>
                <a:endParaRPr lang="en-US" sz="1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1400" i="1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CA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CA" sz="1400" i="1">
                              <a:latin typeface="Cambria Math" panose="02040503050406030204" pitchFamily="18" charset="0"/>
                            </a:rPr>
                            <m:t>𝑎𝑏</m:t>
                          </m:r>
                        </m:e>
                        <m:e>
                          <m:r>
                            <a:rPr lang="en-CA" sz="1400" i="1">
                              <a:latin typeface="Cambria Math" panose="02040503050406030204" pitchFamily="18" charset="0"/>
                            </a:rPr>
                            <m:t>𝑥𝑦</m:t>
                          </m:r>
                        </m:e>
                      </m:d>
                      <m:r>
                        <a:rPr lang="en-CA" sz="14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CA" sz="1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US" sz="1400" i="1" ker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i="1" ker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CA" sz="1400" i="1" ker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1400" i="1" ker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i="1" ker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CA" sz="1400" i="1" ker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</m:sub>
                        <m:sup/>
                        <m:e>
                          <m:r>
                            <a:rPr lang="en-US" sz="1400" i="1" ker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sz="1400" i="1" ker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1400" i="1" ker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i="1" ker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CA" sz="1400" i="1" ker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1400" i="1" ker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i="1" ker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CA" sz="1400" i="1" ker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  <m:r>
                            <a:rPr lang="en-US" sz="1400" i="1" ker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en-US" sz="1400" i="1" ker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sz="1400" i="1" ker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CA" sz="1400" i="1" ker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sz="1400" i="1" ker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sz="1400" i="1" ker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sz="1400" i="1" ker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1400" i="1" ker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CA" sz="1400" i="1" ker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  <m:r>
                            <a:rPr lang="en-US" sz="1400" i="1" ker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en-US" sz="1400" i="1" ker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sz="1400" i="1" ker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CA" sz="1400" i="1" ker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sz="1400" i="1" ker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sz="1400" i="1" ker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sz="1400" i="1" ker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sz="1400" i="1" ker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CA" sz="1400" i="1" ker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  <m:r>
                            <a:rPr lang="en-US" sz="1400" i="1" ker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CA" sz="1400" kern="0" dirty="0">
                  <a:solidFill>
                    <a:prstClr val="black"/>
                  </a:solidFill>
                </a:endParaRPr>
              </a:p>
              <a:p>
                <a:endParaRPr lang="en-US" sz="1400" dirty="0"/>
              </a:p>
              <a:p>
                <a:r>
                  <a:rPr lang="en-US" sz="1400" dirty="0"/>
                  <a:t>       Where each ontological processes and composition ontological processes should satisfy :</a:t>
                </a:r>
              </a:p>
              <a:p>
                <a:endParaRPr lang="en-US" sz="1400" dirty="0"/>
              </a:p>
              <a:p>
                <a:endParaRPr lang="en-US" sz="1400" dirty="0"/>
              </a:p>
              <a:p>
                <a:r>
                  <a:rPr lang="en-US" sz="1400" dirty="0"/>
                  <a:t> </a:t>
                </a:r>
              </a:p>
              <a:p>
                <a:r>
                  <a:rPr lang="en-US" sz="1400" dirty="0"/>
                  <a:t>     </a:t>
                </a:r>
                <a:endParaRPr lang="en-CA" sz="1400" b="0" dirty="0"/>
              </a:p>
              <a:p>
                <a:endParaRPr lang="en-US" sz="1400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D31C4ACF-39C2-2C55-2B45-1E862F80DD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91740" y="1149917"/>
                <a:ext cx="7674015" cy="3460756"/>
              </a:xfrm>
              <a:prstGeom prst="rect">
                <a:avLst/>
              </a:prstGeom>
              <a:blipFill>
                <a:blip r:embed="rId2"/>
                <a:stretch>
                  <a:fillRect l="-165" t="-3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18102BDC-BBD1-D0F2-2093-FB0C1FDDF288}"/>
              </a:ext>
            </a:extLst>
          </p:cNvPr>
          <p:cNvCxnSpPr>
            <a:cxnSpLocks/>
          </p:cNvCxnSpPr>
          <p:nvPr/>
        </p:nvCxnSpPr>
        <p:spPr>
          <a:xfrm>
            <a:off x="1164955" y="3181084"/>
            <a:ext cx="0" cy="160276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CE68BACD-1965-0EE9-0934-3BEEB68AA78E}"/>
                  </a:ext>
                </a:extLst>
              </p:cNvPr>
              <p:cNvSpPr txBox="1"/>
              <p:nvPr/>
            </p:nvSpPr>
            <p:spPr>
              <a:xfrm>
                <a:off x="1117961" y="3131277"/>
                <a:ext cx="204800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altLang="zh-CN" sz="12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sz="16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mc:Choice>
        <mc:Fallback xmlns="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CE68BACD-1965-0EE9-0934-3BEEB68AA7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7961" y="3131277"/>
                <a:ext cx="204800" cy="276999"/>
              </a:xfrm>
              <a:prstGeom prst="rect">
                <a:avLst/>
              </a:prstGeom>
              <a:blipFill>
                <a:blip r:embed="rId3"/>
                <a:stretch>
                  <a:fillRect r="-1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3BFEB748-62F0-8ED0-9FE0-45DC04EAF4C1}"/>
              </a:ext>
            </a:extLst>
          </p:cNvPr>
          <p:cNvCxnSpPr>
            <a:cxnSpLocks/>
          </p:cNvCxnSpPr>
          <p:nvPr/>
        </p:nvCxnSpPr>
        <p:spPr>
          <a:xfrm>
            <a:off x="554565" y="3179445"/>
            <a:ext cx="0" cy="160276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B752F540-8A75-25AC-D4C7-00379D873317}"/>
                  </a:ext>
                </a:extLst>
              </p:cNvPr>
              <p:cNvSpPr txBox="1"/>
              <p:nvPr/>
            </p:nvSpPr>
            <p:spPr>
              <a:xfrm>
                <a:off x="507571" y="3129638"/>
                <a:ext cx="204800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altLang="zh-CN" sz="12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16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mc:Choice>
        <mc:Fallback xmlns=""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B752F540-8A75-25AC-D4C7-00379D8733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571" y="3129638"/>
                <a:ext cx="204800" cy="2769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0A362022-0DFA-67F0-E035-D1B9EE51818A}"/>
                  </a:ext>
                </a:extLst>
              </p:cNvPr>
              <p:cNvSpPr txBox="1"/>
              <p:nvPr/>
            </p:nvSpPr>
            <p:spPr>
              <a:xfrm>
                <a:off x="432201" y="2668330"/>
                <a:ext cx="246689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12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12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16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mc:Choice>
        <mc:Fallback xmlns=""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0A362022-0DFA-67F0-E035-D1B9EE5181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2201" y="2668330"/>
                <a:ext cx="246689" cy="276999"/>
              </a:xfrm>
              <a:prstGeom prst="rect">
                <a:avLst/>
              </a:prstGeom>
              <a:blipFill>
                <a:blip r:embed="rId5"/>
                <a:stretch>
                  <a:fillRect r="-20000" b="-90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6" name="Group 95">
            <a:extLst>
              <a:ext uri="{FF2B5EF4-FFF2-40B4-BE49-F238E27FC236}">
                <a16:creationId xmlns:a16="http://schemas.microsoft.com/office/drawing/2014/main" id="{C7D1FFC7-77AA-E6F2-11CA-CAC4A7E14AF8}"/>
              </a:ext>
            </a:extLst>
          </p:cNvPr>
          <p:cNvGrpSpPr/>
          <p:nvPr/>
        </p:nvGrpSpPr>
        <p:grpSpPr>
          <a:xfrm>
            <a:off x="1059701" y="3189750"/>
            <a:ext cx="45719" cy="210912"/>
            <a:chOff x="6548130" y="2237014"/>
            <a:chExt cx="49658" cy="440872"/>
          </a:xfrm>
        </p:grpSpPr>
        <p:cxnSp>
          <p:nvCxnSpPr>
            <p:cNvPr id="97" name="Straight Connector 96">
              <a:extLst>
                <a:ext uri="{FF2B5EF4-FFF2-40B4-BE49-F238E27FC236}">
                  <a16:creationId xmlns:a16="http://schemas.microsoft.com/office/drawing/2014/main" id="{EEDBDEC1-B3B0-9FE4-349B-1BDE7E84B464}"/>
                </a:ext>
              </a:extLst>
            </p:cNvPr>
            <p:cNvCxnSpPr>
              <a:cxnSpLocks/>
            </p:cNvCxnSpPr>
            <p:nvPr/>
          </p:nvCxnSpPr>
          <p:spPr>
            <a:xfrm>
              <a:off x="6548130" y="2237014"/>
              <a:ext cx="0" cy="440872"/>
            </a:xfrm>
            <a:prstGeom prst="line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cxn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95CA5150-712E-CDA1-7659-CF5CBC2AFAE8}"/>
                </a:ext>
              </a:extLst>
            </p:cNvPr>
            <p:cNvCxnSpPr>
              <a:cxnSpLocks/>
            </p:cNvCxnSpPr>
            <p:nvPr/>
          </p:nvCxnSpPr>
          <p:spPr>
            <a:xfrm>
              <a:off x="6597788" y="2237014"/>
              <a:ext cx="0" cy="440872"/>
            </a:xfrm>
            <a:prstGeom prst="line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cxnSp>
      </p:grpSp>
      <p:sp>
        <p:nvSpPr>
          <p:cNvPr id="99" name="Flowchart: Delay 9">
            <a:extLst>
              <a:ext uri="{FF2B5EF4-FFF2-40B4-BE49-F238E27FC236}">
                <a16:creationId xmlns:a16="http://schemas.microsoft.com/office/drawing/2014/main" id="{20E3F5E8-D377-4B11-9E56-D005FF48E772}"/>
              </a:ext>
            </a:extLst>
          </p:cNvPr>
          <p:cNvSpPr/>
          <p:nvPr/>
        </p:nvSpPr>
        <p:spPr>
          <a:xfrm rot="16200000">
            <a:off x="935277" y="2850957"/>
            <a:ext cx="309789" cy="367797"/>
          </a:xfrm>
          <a:prstGeom prst="flowChartDelay">
            <a:avLst/>
          </a:prstGeom>
          <a:solidFill>
            <a:srgbClr val="FFC000">
              <a:lumMod val="40000"/>
              <a:lumOff val="60000"/>
            </a:srgbClr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eaVert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1C0C5822-9C8E-47A1-9DE4-552C7BC0A8D3}"/>
                  </a:ext>
                </a:extLst>
              </p:cNvPr>
              <p:cNvSpPr txBox="1"/>
              <p:nvPr/>
            </p:nvSpPr>
            <p:spPr>
              <a:xfrm>
                <a:off x="1065193" y="2668330"/>
                <a:ext cx="246689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12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sz="12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16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mc:Choice>
        <mc:Fallback xmlns=""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1C0C5822-9C8E-47A1-9DE4-552C7BC0A8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5193" y="2668330"/>
                <a:ext cx="246689" cy="276999"/>
              </a:xfrm>
              <a:prstGeom prst="rect">
                <a:avLst/>
              </a:prstGeom>
              <a:blipFill>
                <a:blip r:embed="rId6"/>
                <a:stretch>
                  <a:fillRect r="-15000" b="-90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1" name="Group 100">
            <a:extLst>
              <a:ext uri="{FF2B5EF4-FFF2-40B4-BE49-F238E27FC236}">
                <a16:creationId xmlns:a16="http://schemas.microsoft.com/office/drawing/2014/main" id="{49145E56-A135-CBE8-A552-6223AB5CE6A0}"/>
              </a:ext>
            </a:extLst>
          </p:cNvPr>
          <p:cNvGrpSpPr/>
          <p:nvPr/>
        </p:nvGrpSpPr>
        <p:grpSpPr>
          <a:xfrm>
            <a:off x="444479" y="3189750"/>
            <a:ext cx="45719" cy="210912"/>
            <a:chOff x="6548130" y="2237014"/>
            <a:chExt cx="49658" cy="440872"/>
          </a:xfrm>
        </p:grpSpPr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80E2BA13-325E-D1B5-7F8A-A3B81C75073F}"/>
                </a:ext>
              </a:extLst>
            </p:cNvPr>
            <p:cNvCxnSpPr>
              <a:cxnSpLocks/>
            </p:cNvCxnSpPr>
            <p:nvPr/>
          </p:nvCxnSpPr>
          <p:spPr>
            <a:xfrm>
              <a:off x="6548130" y="2237014"/>
              <a:ext cx="0" cy="440872"/>
            </a:xfrm>
            <a:prstGeom prst="line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cxnSp>
        <p:cxnSp>
          <p:nvCxnSpPr>
            <p:cNvPr id="103" name="Straight Connector 102">
              <a:extLst>
                <a:ext uri="{FF2B5EF4-FFF2-40B4-BE49-F238E27FC236}">
                  <a16:creationId xmlns:a16="http://schemas.microsoft.com/office/drawing/2014/main" id="{786CAF78-240F-CF21-6E30-9D52F3FDAF1B}"/>
                </a:ext>
              </a:extLst>
            </p:cNvPr>
            <p:cNvCxnSpPr>
              <a:cxnSpLocks/>
            </p:cNvCxnSpPr>
            <p:nvPr/>
          </p:nvCxnSpPr>
          <p:spPr>
            <a:xfrm>
              <a:off x="6597788" y="2237014"/>
              <a:ext cx="0" cy="440872"/>
            </a:xfrm>
            <a:prstGeom prst="line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cxnSp>
      </p:grpSp>
      <p:sp>
        <p:nvSpPr>
          <p:cNvPr id="104" name="Flowchart: Delay 17">
            <a:extLst>
              <a:ext uri="{FF2B5EF4-FFF2-40B4-BE49-F238E27FC236}">
                <a16:creationId xmlns:a16="http://schemas.microsoft.com/office/drawing/2014/main" id="{0BEA65CC-1C91-FB27-8C4B-211F0A8C3E49}"/>
              </a:ext>
            </a:extLst>
          </p:cNvPr>
          <p:cNvSpPr/>
          <p:nvPr/>
        </p:nvSpPr>
        <p:spPr>
          <a:xfrm rot="16200000">
            <a:off x="308616" y="2850957"/>
            <a:ext cx="309789" cy="367797"/>
          </a:xfrm>
          <a:prstGeom prst="flowChartDelay">
            <a:avLst/>
          </a:prstGeom>
          <a:solidFill>
            <a:srgbClr val="FFC000">
              <a:lumMod val="40000"/>
              <a:lumOff val="60000"/>
            </a:srgbClr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eaVert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0" dirty="0">
                <a:solidFill>
                  <a:prstClr val="black"/>
                </a:solidFill>
                <a:latin typeface="Calibri" panose="020F0502020204030204"/>
              </a:rPr>
              <a:t>N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D1AF42BA-E2B0-AA91-3F5D-E71231281580}"/>
              </a:ext>
            </a:extLst>
          </p:cNvPr>
          <p:cNvCxnSpPr>
            <a:cxnSpLocks/>
          </p:cNvCxnSpPr>
          <p:nvPr/>
        </p:nvCxnSpPr>
        <p:spPr>
          <a:xfrm>
            <a:off x="463293" y="2765802"/>
            <a:ext cx="0" cy="114159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93BBA908-2C57-A5AB-282B-72740075F83E}"/>
              </a:ext>
            </a:extLst>
          </p:cNvPr>
          <p:cNvCxnSpPr>
            <a:cxnSpLocks/>
          </p:cNvCxnSpPr>
          <p:nvPr/>
        </p:nvCxnSpPr>
        <p:spPr>
          <a:xfrm>
            <a:off x="1090171" y="2765802"/>
            <a:ext cx="0" cy="114159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7" name="Rectangle: Rounded Corners 10">
                <a:extLst>
                  <a:ext uri="{FF2B5EF4-FFF2-40B4-BE49-F238E27FC236}">
                    <a16:creationId xmlns:a16="http://schemas.microsoft.com/office/drawing/2014/main" id="{F2A91265-3E59-AFDB-C45D-375CBBF037B2}"/>
                  </a:ext>
                </a:extLst>
              </p:cNvPr>
              <p:cNvSpPr/>
              <p:nvPr/>
            </p:nvSpPr>
            <p:spPr>
              <a:xfrm>
                <a:off x="279612" y="3406637"/>
                <a:ext cx="994458" cy="406232"/>
              </a:xfrm>
              <a:prstGeom prst="roundRect">
                <a:avLst/>
              </a:prstGeom>
              <a:solidFill>
                <a:srgbClr val="FFC000">
                  <a:lumMod val="40000"/>
                  <a:lumOff val="60000"/>
                </a:srgbClr>
              </a:solidFill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CA" sz="18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𝜌</m:t>
                      </m:r>
                    </m:oMath>
                  </m:oMathPara>
                </a14:m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07" name="Rectangle: Rounded Corners 10">
                <a:extLst>
                  <a:ext uri="{FF2B5EF4-FFF2-40B4-BE49-F238E27FC236}">
                    <a16:creationId xmlns:a16="http://schemas.microsoft.com/office/drawing/2014/main" id="{F2A91265-3E59-AFDB-C45D-375CBBF037B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612" y="3406637"/>
                <a:ext cx="994458" cy="406232"/>
              </a:xfrm>
              <a:prstGeom prst="roundRect">
                <a:avLst/>
              </a:prstGeom>
              <a:blipFill>
                <a:blip r:embed="rId7"/>
                <a:stretch>
                  <a:fillRect/>
                </a:stretch>
              </a:blipFill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5" name="TextBox 114">
            <a:extLst>
              <a:ext uri="{FF2B5EF4-FFF2-40B4-BE49-F238E27FC236}">
                <a16:creationId xmlns:a16="http://schemas.microsoft.com/office/drawing/2014/main" id="{26C002E6-02E0-2536-5D03-25FCD3FCF157}"/>
              </a:ext>
            </a:extLst>
          </p:cNvPr>
          <p:cNvSpPr txBox="1"/>
          <p:nvPr/>
        </p:nvSpPr>
        <p:spPr>
          <a:xfrm>
            <a:off x="2194520" y="3971047"/>
            <a:ext cx="141578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1200" dirty="0">
                <a:solidFill>
                  <a:prstClr val="black"/>
                </a:solidFill>
                <a:latin typeface="Calibri" panose="020F0502020204030204"/>
              </a:rPr>
              <a:t>Ontological model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1C2D2898-ACAB-D71F-6167-9A3D4C60A8B3}"/>
              </a:ext>
            </a:extLst>
          </p:cNvPr>
          <p:cNvSpPr txBox="1"/>
          <p:nvPr/>
        </p:nvSpPr>
        <p:spPr>
          <a:xfrm>
            <a:off x="210521" y="3957753"/>
            <a:ext cx="141578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1200" dirty="0">
                <a:solidFill>
                  <a:prstClr val="black"/>
                </a:solidFill>
                <a:latin typeface="Calibri" panose="020F0502020204030204"/>
              </a:rPr>
              <a:t>Quantum circuit</a:t>
            </a:r>
          </a:p>
        </p:txBody>
      </p:sp>
      <p:sp>
        <p:nvSpPr>
          <p:cNvPr id="117" name="Arrow: Right 117">
            <a:extLst>
              <a:ext uri="{FF2B5EF4-FFF2-40B4-BE49-F238E27FC236}">
                <a16:creationId xmlns:a16="http://schemas.microsoft.com/office/drawing/2014/main" id="{4192AED8-7CB6-65D3-19DD-52D6C1E7325B}"/>
              </a:ext>
            </a:extLst>
          </p:cNvPr>
          <p:cNvSpPr/>
          <p:nvPr/>
        </p:nvSpPr>
        <p:spPr>
          <a:xfrm>
            <a:off x="1599675" y="3202298"/>
            <a:ext cx="394729" cy="426178"/>
          </a:xfrm>
          <a:prstGeom prst="rightArrow">
            <a:avLst/>
          </a:prstGeom>
          <a:solidFill>
            <a:srgbClr val="A5A5A5"/>
          </a:solidFill>
          <a:ln w="12700" cap="flat" cmpd="sng" algn="ctr">
            <a:solidFill>
              <a:srgbClr val="A5A5A5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ABD110A7-9E07-5ED0-93E0-933881E06710}"/>
              </a:ext>
            </a:extLst>
          </p:cNvPr>
          <p:cNvSpPr txBox="1"/>
          <p:nvPr/>
        </p:nvSpPr>
        <p:spPr>
          <a:xfrm>
            <a:off x="1379409" y="2732981"/>
            <a:ext cx="9063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prstClr val="black"/>
                </a:solidFill>
                <a:latin typeface="Calibri" panose="020F0502020204030204"/>
              </a:rPr>
              <a:t>Linear</a:t>
            </a:r>
          </a:p>
          <a:p>
            <a:r>
              <a:rPr lang="en-US" sz="1200" dirty="0">
                <a:solidFill>
                  <a:prstClr val="black"/>
                </a:solidFill>
                <a:latin typeface="Calibri" panose="020F0502020204030204"/>
              </a:rPr>
              <a:t>Diag. Pres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9" name="TextBox 118">
                <a:extLst>
                  <a:ext uri="{FF2B5EF4-FFF2-40B4-BE49-F238E27FC236}">
                    <a16:creationId xmlns:a16="http://schemas.microsoft.com/office/drawing/2014/main" id="{53B37082-9552-50DC-7072-E0834CA7C6EB}"/>
                  </a:ext>
                </a:extLst>
              </p:cNvPr>
              <p:cNvSpPr txBox="1"/>
              <p:nvPr/>
            </p:nvSpPr>
            <p:spPr>
              <a:xfrm>
                <a:off x="4091395" y="4008685"/>
                <a:ext cx="4471056" cy="226408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342900" indent="-342900">
                  <a:buFont typeface="+mj-lt"/>
                  <a:buAutoNum type="arabi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CA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𝕆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CA" sz="12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N</m:t>
                        </m:r>
                      </m:sub>
                    </m:sSub>
                    <m:r>
                      <a:rPr lang="en-US" altLang="zh-CN" sz="1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CA" altLang="zh-CN" sz="1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{{</m:t>
                    </m:r>
                    <m:sSub>
                      <m:sSubPr>
                        <m:ctrlPr>
                          <a:rPr lang="en-CA" altLang="zh-CN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altLang="zh-CN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CA" altLang="zh-CN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  <m:r>
                          <a:rPr lang="en-CA" altLang="zh-CN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CA" altLang="zh-CN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CA" altLang="zh-CN" sz="1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}|</m:t>
                    </m:r>
                    <m:nary>
                      <m:naryPr>
                        <m:chr m:val="∑"/>
                        <m:supHide m:val="on"/>
                        <m:ctrlPr>
                          <a:rPr lang="en-CA" altLang="zh-CN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CA" altLang="zh-CN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  <m:r>
                          <a:rPr lang="en-CA" altLang="zh-CN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CA" altLang="zh-CN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CA" altLang="zh-CN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altLang="zh-CN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CA" altLang="zh-CN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CA" altLang="zh-CN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CA" altLang="zh-CN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  <m:sSubSup>
                          <m:sSubSupPr>
                            <m:ctrlPr>
                              <a:rPr lang="en-CA" altLang="zh-CN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CA" altLang="zh-CN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CA" altLang="zh-CN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CA" altLang="zh-CN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CA" altLang="zh-CN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sub>
                          <m:sup>
                            <m:r>
                              <a:rPr lang="en-CA" altLang="zh-CN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𝐴</m:t>
                            </m:r>
                          </m:sup>
                        </m:sSubSup>
                      </m:e>
                    </m:nary>
                    <m:r>
                      <a:rPr lang="en-US" sz="120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CA" sz="1200" b="0" i="1" smtClean="0">
                        <a:latin typeface="Cambria Math" panose="02040503050406030204" pitchFamily="18" charset="0"/>
                      </a:rPr>
                      <m:t>=0}  </m:t>
                    </m:r>
                  </m:oMath>
                </a14:m>
                <a:endParaRPr lang="en-CA" sz="1200" dirty="0"/>
              </a:p>
              <a:p>
                <a:pPr marL="342900" indent="-342900">
                  <a:buFont typeface="+mj-lt"/>
                  <a:buAutoNum type="arabicPeriod"/>
                </a:pPr>
                <a:endParaRPr lang="en-CA" sz="1200" dirty="0"/>
              </a:p>
              <a:p>
                <a:pPr marL="342900" indent="-342900">
                  <a:buFont typeface="+mj-lt"/>
                  <a:buAutoNum type="arabi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CA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𝕆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CA" sz="12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M</m:t>
                        </m:r>
                      </m:sub>
                    </m:sSub>
                    <m:r>
                      <a:rPr lang="en-US" altLang="zh-CN" sz="1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CA" altLang="zh-CN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CA" altLang="zh-CN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CA" altLang="zh-CN" sz="1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CA" altLang="zh-CN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  <m:sub>
                                <m:r>
                                  <a:rPr lang="en-CA" altLang="zh-CN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𝑏</m:t>
                                </m:r>
                                <m:r>
                                  <a:rPr lang="en-CA" altLang="zh-CN" sz="1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CA" altLang="zh-CN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𝑦</m:t>
                                </m:r>
                              </m:sub>
                            </m:sSub>
                          </m:e>
                        </m:d>
                      </m:e>
                      <m:e>
                        <m:nary>
                          <m:naryPr>
                            <m:chr m:val="∑"/>
                            <m:supHide m:val="on"/>
                            <m:ctrlPr>
                              <a:rPr lang="en-CA" altLang="zh-CN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CA" altLang="zh-CN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en-CA" altLang="zh-CN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CA" altLang="zh-CN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sub>
                          <m:sup/>
                          <m:e>
                            <m:sSub>
                              <m:sSubPr>
                                <m:ctrlPr>
                                  <a:rPr lang="en-CA" altLang="zh-CN" sz="1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CA" altLang="zh-CN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  <m:sub>
                                <m:r>
                                  <a:rPr lang="en-CA" altLang="zh-CN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𝑏</m:t>
                                </m:r>
                                <m:r>
                                  <a:rPr lang="en-CA" altLang="zh-CN" sz="1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CA" altLang="zh-CN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𝑦</m:t>
                                </m:r>
                              </m:sub>
                            </m:sSub>
                            <m:sSubSup>
                              <m:sSubSupPr>
                                <m:ctrlPr>
                                  <a:rPr lang="en-CA" altLang="zh-CN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CA" altLang="zh-CN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𝑀</m:t>
                                </m:r>
                              </m:e>
                              <m:sub>
                                <m:r>
                                  <a:rPr lang="en-CA" altLang="zh-CN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𝑏</m:t>
                                </m:r>
                                <m:r>
                                  <a:rPr lang="en-CA" altLang="zh-CN" sz="1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|</m:t>
                                </m:r>
                                <m:r>
                                  <a:rPr lang="en-CA" altLang="zh-CN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𝑦</m:t>
                                </m:r>
                              </m:sub>
                              <m:sup>
                                <m:r>
                                  <a:rPr lang="en-CA" altLang="zh-CN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𝐵</m:t>
                                </m:r>
                              </m:sup>
                            </m:sSubSup>
                          </m:e>
                        </m:nary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CA" sz="1200" i="1">
                            <a:latin typeface="Cambria Math" panose="02040503050406030204" pitchFamily="18" charset="0"/>
                          </a:rPr>
                          <m:t>=0</m:t>
                        </m:r>
                      </m:e>
                    </m:d>
                  </m:oMath>
                </a14:m>
                <a:endParaRPr lang="en-CA" sz="1200" dirty="0"/>
              </a:p>
              <a:p>
                <a:pPr marL="342900" indent="-342900">
                  <a:buFont typeface="+mj-lt"/>
                  <a:buAutoNum type="arabicPeriod"/>
                </a:pPr>
                <a:endParaRPr lang="en-US" sz="1200" dirty="0"/>
              </a:p>
              <a:p>
                <a:pPr marL="342900" indent="-342900">
                  <a:buFont typeface="+mj-lt"/>
                  <a:buAutoNum type="arabi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CA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𝕆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CA" sz="12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N</m:t>
                        </m:r>
                        <m:r>
                          <a:rPr lang="en-CA" sz="12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∘</m:t>
                        </m:r>
                        <m:r>
                          <m:rPr>
                            <m:sty m:val="p"/>
                          </m:rPr>
                          <a:rPr lang="en-CA" sz="12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P</m:t>
                        </m:r>
                      </m:sub>
                    </m:sSub>
                    <m:r>
                      <a:rPr lang="en-US" altLang="zh-CN" sz="12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CA" altLang="zh-CN" sz="1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{{</m:t>
                    </m:r>
                    <m:sSub>
                      <m:sSubPr>
                        <m:ctrlPr>
                          <a:rPr lang="en-CA" altLang="zh-CN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altLang="zh-CN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𝛾</m:t>
                        </m:r>
                      </m:e>
                      <m:sub>
                        <m:r>
                          <a:rPr lang="en-CA" altLang="zh-CN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  <m:r>
                          <a:rPr lang="en-CA" altLang="zh-CN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CA" altLang="zh-CN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CA" altLang="zh-CN" sz="1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}|</m:t>
                    </m:r>
                    <m:nary>
                      <m:naryPr>
                        <m:chr m:val="∑"/>
                        <m:supHide m:val="on"/>
                        <m:ctrlPr>
                          <a:rPr lang="en-CA" altLang="zh-CN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CA" altLang="zh-CN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  <m:r>
                          <a:rPr lang="en-CA" altLang="zh-CN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CA" altLang="zh-CN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CA" altLang="zh-CN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altLang="zh-CN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𝛾</m:t>
                            </m:r>
                          </m:e>
                          <m:sub>
                            <m:r>
                              <a:rPr lang="en-CA" altLang="zh-CN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CA" altLang="zh-CN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CA" altLang="zh-CN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  <m:sSubSup>
                          <m:sSubSupPr>
                            <m:ctrlPr>
                              <a:rPr lang="en-CA" altLang="zh-CN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acc>
                              <m:accPr>
                                <m:chr m:val="̃"/>
                                <m:ctrlPr>
                                  <a:rPr lang="en-CA" altLang="zh-CN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CA" altLang="zh-CN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𝜌</m:t>
                                </m:r>
                              </m:e>
                            </m:acc>
                          </m:e>
                          <m:sub>
                            <m:r>
                              <a:rPr lang="en-CA" altLang="zh-CN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CA" altLang="zh-CN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CA" altLang="zh-CN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sub>
                          <m:sup>
                            <m:r>
                              <a:rPr lang="en-CA" altLang="zh-CN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𝐵</m:t>
                            </m:r>
                          </m:sup>
                        </m:sSubSup>
                        <m:r>
                          <a:rPr lang="en-CA" altLang="zh-CN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CA" sz="1200" b="0" i="1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CA" sz="1200" i="1">
                            <a:latin typeface="Cambria Math" panose="02040503050406030204" pitchFamily="18" charset="0"/>
                          </a:rPr>
                          <m:t>}</m:t>
                        </m:r>
                      </m:e>
                    </m:nary>
                  </m:oMath>
                </a14:m>
                <a:endParaRPr lang="en-US" sz="1200" dirty="0"/>
              </a:p>
              <a:p>
                <a:pPr lvl="1"/>
                <a14:m>
                  <m:oMath xmlns:m="http://schemas.openxmlformats.org/officeDocument/2006/math">
                    <m:sSubSup>
                      <m:sSubSupPr>
                        <m:ctrlPr>
                          <a:rPr lang="en-CA" altLang="zh-CN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̃"/>
                            <m:ctrlPr>
                              <a:rPr lang="en-CA" altLang="zh-CN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CA" altLang="zh-CN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𝜌</m:t>
                            </m:r>
                          </m:e>
                        </m:acc>
                      </m:e>
                      <m:sub>
                        <m:r>
                          <a:rPr lang="en-CA" altLang="zh-CN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  <m:r>
                          <a:rPr lang="en-CA" altLang="zh-CN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|</m:t>
                        </m:r>
                        <m:r>
                          <a:rPr lang="en-CA" altLang="zh-CN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sub>
                      <m:sup>
                        <m:r>
                          <a:rPr lang="en-CA" altLang="zh-CN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</m:sup>
                    </m:sSubSup>
                  </m:oMath>
                </a14:m>
                <a:r>
                  <a:rPr lang="en-US" sz="1200" dirty="0"/>
                  <a:t>:=</a:t>
                </a:r>
                <a:r>
                  <a:rPr lang="en-CA" altLang="zh-CN" sz="12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A" altLang="zh-CN" sz="12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CA" altLang="zh-CN" sz="1200" dirty="0">
                            <a:latin typeface="Cambria Math" panose="02040503050406030204" pitchFamily="18" charset="0"/>
                          </a:rPr>
                          <m:t>t</m:t>
                        </m:r>
                        <m:r>
                          <m:rPr>
                            <m:sty m:val="p"/>
                          </m:rPr>
                          <a:rPr lang="en-CA" altLang="zh-CN" sz="1200" b="0" i="0" dirty="0" smtClean="0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CA" altLang="zh-CN" sz="1200" b="0" i="0" dirty="0" smtClean="0">
                            <a:latin typeface="Cambria Math" panose="02040503050406030204" pitchFamily="18" charset="0"/>
                          </a:rPr>
                          <m:t>A</m:t>
                        </m:r>
                      </m:sub>
                    </m:sSub>
                    <m:r>
                      <a:rPr lang="en-CA" altLang="zh-CN" sz="1200" b="0" i="0" dirty="0" smtClean="0">
                        <a:latin typeface="Cambria Math" panose="02040503050406030204" pitchFamily="18" charset="0"/>
                      </a:rPr>
                      <m:t>[</m:t>
                    </m:r>
                    <m:d>
                      <m:dPr>
                        <m:ctrlPr>
                          <a:rPr lang="en-CA" altLang="zh-CN" sz="12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CA" sz="12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CA" sz="1200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CA" sz="12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CA" sz="1200" i="1"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CA" sz="12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  <m:sup>
                            <m:r>
                              <a:rPr lang="en-CA" sz="1200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p>
                        </m:sSubSup>
                        <m:r>
                          <a:rPr lang="en-CA" sz="1200">
                            <a:latin typeface="Cambria Math" panose="02040503050406030204" pitchFamily="18" charset="0"/>
                          </a:rPr>
                          <m:t>⊗</m:t>
                        </m:r>
                        <m:sSup>
                          <m:sSupPr>
                            <m:ctrlPr>
                              <a:rPr lang="en-CA" sz="12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CA" sz="1200">
                                <a:latin typeface="Cambria Math" panose="02040503050406030204" pitchFamily="18" charset="0"/>
                              </a:rPr>
                              <m:t>I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CA" sz="1200" b="0" i="0" smtClean="0">
                                <a:latin typeface="Cambria Math" panose="02040503050406030204" pitchFamily="18" charset="0"/>
                              </a:rPr>
                              <m:t>B</m:t>
                            </m:r>
                          </m:sup>
                        </m:sSup>
                      </m:e>
                    </m:d>
                    <m:sSup>
                      <m:sSupPr>
                        <m:ctrlPr>
                          <a:rPr lang="en-CA" sz="1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sz="1200" b="0" i="1" smtClean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p>
                        <m:r>
                          <a:rPr lang="en-CA" sz="1200" b="0" i="1" smtClean="0">
                            <a:latin typeface="Cambria Math" panose="02040503050406030204" pitchFamily="18" charset="0"/>
                          </a:rPr>
                          <m:t>𝐴𝐵</m:t>
                        </m:r>
                      </m:sup>
                    </m:sSup>
                    <m:r>
                      <a:rPr lang="en-CA" sz="1200" i="1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sz="1200" dirty="0"/>
              </a:p>
              <a:p>
                <a:pPr lvl="1"/>
                <a:endParaRPr lang="en-US" sz="1200" dirty="0"/>
              </a:p>
              <a:p>
                <a:pPr marL="342900" indent="-342900">
                  <a:buFont typeface="+mj-lt"/>
                  <a:buAutoNum type="arabi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CA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𝕆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CA" sz="12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M</m:t>
                        </m:r>
                        <m:r>
                          <a:rPr lang="en-CA" sz="12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∘</m:t>
                        </m:r>
                        <m:r>
                          <m:rPr>
                            <m:sty m:val="p"/>
                          </m:rPr>
                          <a:rPr lang="en-CA" sz="12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P</m:t>
                        </m:r>
                      </m:sub>
                    </m:sSub>
                    <m:r>
                      <a:rPr lang="en-US" altLang="zh-CN" sz="1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CA" altLang="zh-CN" sz="1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{{</m:t>
                    </m:r>
                    <m:sSub>
                      <m:sSubPr>
                        <m:ctrlPr>
                          <a:rPr lang="en-CA" altLang="zh-CN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altLang="zh-CN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𝜂</m:t>
                        </m:r>
                      </m:e>
                      <m:sub>
                        <m:r>
                          <a:rPr lang="en-CA" altLang="zh-CN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  <m:r>
                          <a:rPr lang="en-CA" altLang="zh-CN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CA" altLang="zh-CN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 lang="en-CA" altLang="zh-CN" sz="1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}|</m:t>
                    </m:r>
                    <m:nary>
                      <m:naryPr>
                        <m:chr m:val="∑"/>
                        <m:supHide m:val="on"/>
                        <m:ctrlPr>
                          <a:rPr lang="en-CA" altLang="zh-CN" sz="12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CA" altLang="zh-CN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  <m:r>
                          <a:rPr lang="en-CA" altLang="zh-CN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CA" altLang="zh-CN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CA" altLang="zh-CN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altLang="zh-CN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CA" altLang="zh-CN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en-CA" altLang="zh-CN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CA" altLang="zh-CN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  <m:sSubSup>
                          <m:sSubSupPr>
                            <m:ctrlPr>
                              <a:rPr lang="en-CA" altLang="zh-CN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acc>
                              <m:accPr>
                                <m:chr m:val="̃"/>
                                <m:ctrlPr>
                                  <a:rPr lang="en-CA" altLang="zh-CN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CA" altLang="zh-CN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𝜌</m:t>
                                </m:r>
                              </m:e>
                            </m:acc>
                          </m:e>
                          <m:sub>
                            <m:r>
                              <a:rPr lang="en-CA" altLang="zh-CN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en-CA" altLang="zh-CN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CA" altLang="zh-CN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sub>
                          <m:sup>
                            <m:r>
                              <a:rPr lang="en-CA" altLang="zh-CN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𝐴</m:t>
                            </m:r>
                          </m:sup>
                        </m:sSubSup>
                        <m:r>
                          <a:rPr lang="en-CA" sz="1200" b="0" i="1" smtClean="0">
                            <a:latin typeface="Cambria Math" panose="02040503050406030204" pitchFamily="18" charset="0"/>
                          </a:rPr>
                          <m:t>=0</m:t>
                        </m:r>
                        <m:r>
                          <a:rPr lang="en-CA" sz="1200" i="1">
                            <a:latin typeface="Cambria Math" panose="02040503050406030204" pitchFamily="18" charset="0"/>
                          </a:rPr>
                          <m:t>}</m:t>
                        </m:r>
                      </m:e>
                    </m:nary>
                  </m:oMath>
                </a14:m>
                <a:endParaRPr lang="en-US" sz="1200" dirty="0"/>
              </a:p>
              <a:p>
                <a:pPr lvl="1"/>
                <a14:m>
                  <m:oMath xmlns:m="http://schemas.openxmlformats.org/officeDocument/2006/math">
                    <m:sSubSup>
                      <m:sSubSupPr>
                        <m:ctrlPr>
                          <a:rPr lang="en-CA" altLang="zh-CN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̃"/>
                            <m:ctrlPr>
                              <a:rPr lang="en-CA" altLang="zh-CN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CA" altLang="zh-CN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𝜌</m:t>
                            </m:r>
                          </m:e>
                        </m:acc>
                      </m:e>
                      <m:sub>
                        <m:r>
                          <a:rPr lang="en-CA" altLang="zh-CN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  <m:r>
                          <a:rPr lang="en-CA" altLang="zh-CN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|</m:t>
                        </m:r>
                        <m:r>
                          <a:rPr lang="en-CA" altLang="zh-CN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sub>
                      <m:sup>
                        <m:r>
                          <a:rPr lang="en-CA" altLang="zh-CN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sup>
                    </m:sSubSup>
                    <m:r>
                      <a:rPr lang="en-CA" altLang="zh-CN" sz="1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CA" sz="1200" dirty="0"/>
                  <a:t>:=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CA" sz="1200">
                        <a:latin typeface="Cambria Math" panose="02040503050406030204" pitchFamily="18" charset="0"/>
                      </a:rPr>
                      <m:t>tr</m:t>
                    </m:r>
                    <m:d>
                      <m:dPr>
                        <m:begChr m:val="["/>
                        <m:endChr m:val="]"/>
                        <m:ctrlPr>
                          <a:rPr lang="en-CA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CA" sz="1200">
                            <a:latin typeface="Cambria Math" panose="02040503050406030204" pitchFamily="18" charset="0"/>
                          </a:rPr>
                          <m:t>I</m:t>
                        </m:r>
                        <m:r>
                          <a:rPr lang="en-CA" sz="1200" i="1">
                            <a:latin typeface="Cambria Math" panose="02040503050406030204" pitchFamily="18" charset="0"/>
                          </a:rPr>
                          <m:t>⊗</m:t>
                        </m:r>
                        <m:sSub>
                          <m:sSubPr>
                            <m:ctrlPr>
                              <a:rPr lang="en-CA" sz="1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1200" i="1">
                                <a:latin typeface="Cambria Math" panose="02040503050406030204" pitchFamily="18" charset="0"/>
                              </a:rPr>
                              <m:t>𝑀</m:t>
                            </m:r>
                          </m:e>
                          <m:sub>
                            <m:r>
                              <a:rPr lang="en-CA" sz="1200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en-CA" sz="1200" i="1"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CA" sz="12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  <m:r>
                          <a:rPr lang="en-CA" sz="1200" i="1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</m:d>
                  </m:oMath>
                </a14:m>
                <a:endParaRPr lang="en-US" sz="1200" dirty="0"/>
              </a:p>
              <a:p>
                <a:pPr lvl="1"/>
                <a:endParaRPr lang="en-US" sz="1200" dirty="0"/>
              </a:p>
              <a:p>
                <a:r>
                  <a:rPr lang="en-US" sz="1200" i="1" dirty="0"/>
                  <a:t>5. </a:t>
                </a:r>
                <a14:m>
                  <m:oMath xmlns:m="http://schemas.openxmlformats.org/officeDocument/2006/math">
                    <m:r>
                      <a:rPr lang="en-CA" sz="1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 </m:t>
                    </m:r>
                    <m:sSub>
                      <m:sSubPr>
                        <m:ctrlPr>
                          <a:rPr lang="en-CA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. </m:t>
                        </m:r>
                        <m:r>
                          <a:rPr lang="en-US" sz="12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𝕆</m:t>
                        </m:r>
                      </m:e>
                      <m:sub>
                        <m:acc>
                          <m:accPr>
                            <m:chr m:val="̃"/>
                            <m:ctrlPr>
                              <a:rPr lang="en-CA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CA" sz="12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P</m:t>
                            </m:r>
                          </m:e>
                        </m:acc>
                      </m:sub>
                    </m:sSub>
                    <m:r>
                      <a:rPr lang="en-US" altLang="zh-CN" sz="1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CA" altLang="zh-CN" sz="1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{{</m:t>
                    </m:r>
                    <m:sSub>
                      <m:sSubPr>
                        <m:ctrlPr>
                          <a:rPr lang="en-CA" altLang="zh-CN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altLang="zh-CN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𝜉</m:t>
                        </m:r>
                      </m:e>
                      <m:sub>
                        <m:r>
                          <a:rPr lang="en-CA" altLang="zh-CN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𝑎𝑏𝑥𝑦</m:t>
                        </m:r>
                      </m:sub>
                    </m:sSub>
                    <m:r>
                      <a:rPr lang="en-CA" altLang="zh-CN" sz="1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}|</m:t>
                    </m:r>
                    <m:sSup>
                      <m:sSupPr>
                        <m:ctrlPr>
                          <a:rPr lang="en-CA" altLang="zh-CN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altLang="zh-CN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𝜌</m:t>
                        </m:r>
                      </m:e>
                      <m:sup>
                        <m:r>
                          <a:rPr lang="en-CA" altLang="zh-CN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𝐴𝐵</m:t>
                        </m:r>
                      </m:sup>
                    </m:sSup>
                    <m:r>
                      <a:rPr lang="en-CA" altLang="zh-CN" sz="1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CA" altLang="zh-CN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CA" altLang="zh-CN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𝑎𝑏𝑥𝑦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CA" altLang="zh-CN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altLang="zh-CN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𝜉</m:t>
                            </m:r>
                          </m:e>
                          <m:sub>
                            <m:r>
                              <a:rPr lang="en-CA" altLang="zh-CN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𝑎𝑏𝑥𝑦</m:t>
                            </m:r>
                          </m:sub>
                        </m:sSub>
                        <m:sSubSup>
                          <m:sSubSupPr>
                            <m:ctrlPr>
                              <a:rPr lang="en-CA" altLang="zh-CN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acc>
                              <m:accPr>
                                <m:chr m:val="̃"/>
                                <m:ctrlPr>
                                  <a:rPr lang="en-CA" altLang="zh-CN" sz="1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CA" altLang="zh-CN" sz="1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𝜌</m:t>
                                </m:r>
                              </m:e>
                            </m:acc>
                          </m:e>
                          <m:sub>
                            <m:r>
                              <a:rPr lang="en-CA" altLang="zh-CN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en-CA" altLang="zh-CN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CA" altLang="zh-CN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sub>
                          <m:sup>
                            <m:r>
                              <a:rPr lang="en-CA" altLang="zh-CN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𝐴</m:t>
                            </m:r>
                          </m:sup>
                        </m:sSubSup>
                        <m:r>
                          <a:rPr lang="en-CA" altLang="zh-CN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⊗</m:t>
                        </m:r>
                        <m:sSubSup>
                          <m:sSubSupPr>
                            <m:ctrlPr>
                              <a:rPr lang="en-CA" altLang="zh-CN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acc>
                              <m:accPr>
                                <m:chr m:val="̃"/>
                                <m:ctrlPr>
                                  <a:rPr lang="en-CA" altLang="zh-CN" sz="1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CA" altLang="zh-CN" sz="1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𝜌</m:t>
                                </m:r>
                              </m:e>
                            </m:acc>
                          </m:e>
                          <m:sub>
                            <m:r>
                              <a:rPr lang="en-CA" altLang="zh-CN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CA" altLang="zh-CN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CA" altLang="zh-CN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sub>
                          <m:sup>
                            <m:r>
                              <a:rPr lang="en-CA" altLang="zh-CN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𝐵</m:t>
                            </m:r>
                          </m:sup>
                        </m:sSubSup>
                      </m:e>
                    </m:nary>
                    <m:r>
                      <a:rPr lang="en-CA" altLang="zh-CN" sz="1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}</m:t>
                    </m:r>
                  </m:oMath>
                </a14:m>
                <a:endParaRPr lang="en-US" sz="1200" i="1" dirty="0"/>
              </a:p>
            </p:txBody>
          </p:sp>
        </mc:Choice>
        <mc:Fallback xmlns="">
          <p:sp>
            <p:nvSpPr>
              <p:cNvPr id="119" name="TextBox 118">
                <a:extLst>
                  <a:ext uri="{FF2B5EF4-FFF2-40B4-BE49-F238E27FC236}">
                    <a16:creationId xmlns:a16="http://schemas.microsoft.com/office/drawing/2014/main" id="{53B37082-9552-50DC-7072-E0834CA7C6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91395" y="4008685"/>
                <a:ext cx="4471056" cy="2264081"/>
              </a:xfrm>
              <a:prstGeom prst="rect">
                <a:avLst/>
              </a:prstGeom>
              <a:blipFill>
                <a:blip r:embed="rId8"/>
                <a:stretch>
                  <a:fillRect l="-2266" t="-13408" b="-206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1" name="TextBox 120">
                <a:extLst>
                  <a:ext uri="{FF2B5EF4-FFF2-40B4-BE49-F238E27FC236}">
                    <a16:creationId xmlns:a16="http://schemas.microsoft.com/office/drawing/2014/main" id="{B2512BF5-BB91-1591-4C05-71B2CE0BC9E3}"/>
                  </a:ext>
                </a:extLst>
              </p:cNvPr>
              <p:cNvSpPr txBox="1"/>
              <p:nvPr/>
            </p:nvSpPr>
            <p:spPr>
              <a:xfrm>
                <a:off x="8192451" y="4084411"/>
                <a:ext cx="3721254" cy="216828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342900" indent="-342900">
                  <a:buFont typeface="+mj-lt"/>
                  <a:buAutoNum type="arabicPeriod"/>
                </a:pPr>
                <a:r>
                  <a:rPr lang="en-CA" altLang="zh-CN" sz="1200" b="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CA" altLang="zh-CN" sz="1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nary>
                      <m:naryPr>
                        <m:chr m:val="∑"/>
                        <m:supHide m:val="on"/>
                        <m:ctrlPr>
                          <a:rPr lang="en-CA" altLang="zh-CN" sz="12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CA" altLang="zh-CN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  <m:r>
                          <a:rPr lang="en-CA" altLang="zh-CN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CA" altLang="zh-CN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CA" altLang="zh-CN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altLang="zh-CN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CA" altLang="zh-CN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CA" altLang="zh-CN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CA" altLang="zh-CN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e>
                    </m:nary>
                    <m:r>
                      <a:rPr lang="en-CA" sz="1200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CA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sz="12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e>
                        <m:r>
                          <a:rPr lang="en-CA" sz="12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CA" sz="12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CA" sz="12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1200" i="1"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CA" sz="12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</m:e>
                    </m:d>
                    <m:r>
                      <a:rPr lang="en-CA" sz="1200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sz="1200" dirty="0"/>
              </a:p>
              <a:p>
                <a:pPr marL="342900" indent="-342900">
                  <a:buFont typeface="+mj-lt"/>
                  <a:buAutoNum type="arabicPeriod"/>
                </a:pPr>
                <a:endParaRPr lang="en-US" sz="1200" dirty="0"/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CA" altLang="zh-CN" sz="12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CA" altLang="zh-CN" sz="12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nary>
                      <m:naryPr>
                        <m:chr m:val="∑"/>
                        <m:supHide m:val="on"/>
                        <m:ctrlPr>
                          <a:rPr lang="en-CA" altLang="zh-CN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CA" altLang="zh-CN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  <m:r>
                          <a:rPr lang="en-CA" altLang="zh-CN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CA" altLang="zh-CN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CA" altLang="zh-CN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altLang="zh-CN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CA" altLang="zh-CN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en-CA" altLang="zh-CN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CA" altLang="zh-CN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e>
                    </m:nary>
                    <m:r>
                      <a:rPr lang="en-CA" sz="1200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CA" sz="12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CA" sz="1200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CA" sz="1200" i="1">
                        <a:latin typeface="Cambria Math" panose="02040503050406030204" pitchFamily="18" charset="0"/>
                      </a:rPr>
                      <m:t>|</m:t>
                    </m:r>
                    <m:r>
                      <a:rPr lang="en-CA" sz="12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CA" sz="12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CA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sz="1200" i="1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CA" sz="12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en-CA" sz="1200" i="1">
                        <a:latin typeface="Cambria Math" panose="02040503050406030204" pitchFamily="18" charset="0"/>
                      </a:rPr>
                      <m:t>)=0</m:t>
                    </m:r>
                  </m:oMath>
                </a14:m>
                <a:endParaRPr lang="en-CA" sz="1200" i="1" dirty="0">
                  <a:latin typeface="Cambria Math" panose="02040503050406030204" pitchFamily="18" charset="0"/>
                </a:endParaRPr>
              </a:p>
              <a:p>
                <a:pPr marL="342900" indent="-342900">
                  <a:buFont typeface="+mj-lt"/>
                  <a:buAutoNum type="arabicPeriod"/>
                </a:pPr>
                <a:endParaRPr lang="en-CA" sz="1200" i="1" dirty="0">
                  <a:latin typeface="Cambria Math" panose="02040503050406030204" pitchFamily="18" charset="0"/>
                </a:endParaRP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CA" altLang="zh-CN" sz="1200" b="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CA" altLang="zh-CN" sz="1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nary>
                      <m:naryPr>
                        <m:chr m:val="∑"/>
                        <m:supHide m:val="on"/>
                        <m:ctrlPr>
                          <a:rPr lang="en-CA" altLang="zh-CN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CA" altLang="zh-CN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  <m:r>
                          <a:rPr lang="en-CA" altLang="zh-CN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CA" altLang="zh-CN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CA" altLang="zh-CN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altLang="zh-CN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𝛾</m:t>
                            </m:r>
                          </m:e>
                          <m:sub>
                            <m:r>
                              <a:rPr lang="en-CA" altLang="zh-CN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CA" altLang="zh-CN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CA" altLang="zh-CN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e>
                    </m:nary>
                    <m:acc>
                      <m:accPr>
                        <m:chr m:val="̃"/>
                        <m:ctrlPr>
                          <a:rPr lang="en-CA" altLang="zh-CN" sz="12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CA" altLang="zh-CN" sz="12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</m:acc>
                    <m:d>
                      <m:dPr>
                        <m:ctrlPr>
                          <a:rPr lang="en-CA" altLang="zh-CN" sz="12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CA" altLang="zh-CN" sz="1200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altLang="zh-CN" sz="1200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CA" altLang="zh-CN" sz="1200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CA" altLang="zh-CN" sz="1200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CA" altLang="zh-CN" sz="1200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</m:e>
                      <m:e>
                        <m:r>
                          <a:rPr lang="en-CA" altLang="zh-CN" sz="12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CA" altLang="zh-CN" sz="1200" b="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CA" sz="1200" i="1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n-CA" sz="1200" i="1" dirty="0">
                  <a:latin typeface="Cambria Math" panose="02040503050406030204" pitchFamily="18" charset="0"/>
                </a:endParaRPr>
              </a:p>
              <a:p>
                <a:pPr lvl="1"/>
                <a:r>
                  <a:rPr lang="en-CA" altLang="zh-CN" sz="1200" b="0" dirty="0">
                    <a:solidFill>
                      <a:prstClr val="black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CA" altLang="zh-CN" sz="12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CA" altLang="zh-CN" sz="12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</m:acc>
                    <m:d>
                      <m:dPr>
                        <m:ctrlPr>
                          <a:rPr lang="en-CA" altLang="zh-CN" sz="1200" b="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CA" altLang="zh-CN" sz="1200" b="0" i="1" dirty="0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altLang="zh-CN" sz="1200" b="0" i="1" dirty="0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CA" altLang="zh-CN" sz="1200" b="0" i="1" dirty="0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CA" altLang="zh-CN" sz="1200" b="0" i="1" dirty="0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CA" altLang="zh-CN" sz="1200" b="0" i="1" dirty="0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</m:e>
                      <m:e>
                        <m:r>
                          <a:rPr lang="en-CA" altLang="zh-CN" sz="1200" b="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CA" altLang="zh-CN" sz="1200" b="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≔</m:t>
                    </m:r>
                    <m:nary>
                      <m:naryPr>
                        <m:chr m:val="∑"/>
                        <m:limLoc m:val="subSup"/>
                        <m:supHide m:val="on"/>
                        <m:ctrlPr>
                          <a:rPr lang="en-CA" altLang="zh-CN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sSub>
                          <m:sSubPr>
                            <m:ctrlPr>
                              <a:rPr lang="en-CA" altLang="zh-CN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altLang="zh-CN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CA" altLang="zh-CN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</m:sub>
                      <m:sup/>
                      <m:e>
                        <m:r>
                          <a:rPr lang="en-US" sz="1200" i="1" ker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sz="1200" i="1" ker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1200" i="1" ker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i="1" ker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CA" sz="1200" i="1" ker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  <m:sSub>
                          <m:sSubPr>
                            <m:ctrlPr>
                              <a:rPr lang="en-US" sz="1200" i="1" ker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i="1" ker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CA" sz="1200" i="1" ker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  <m:r>
                          <a:rPr lang="en-US" sz="1200" i="1" ker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CA" sz="12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CA" sz="12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CA" sz="12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CA" sz="12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CA" sz="12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CA" sz="12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CA" sz="12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12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CA" sz="12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  <m:r>
                          <a:rPr lang="en-CA" sz="12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endParaRPr lang="en-US" sz="1200" dirty="0"/>
              </a:p>
              <a:p>
                <a:pPr lvl="1"/>
                <a:endParaRPr lang="en-US" sz="1200" dirty="0"/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CA" altLang="zh-CN" sz="1200" b="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CA" altLang="zh-CN" sz="1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nary>
                      <m:naryPr>
                        <m:chr m:val="∑"/>
                        <m:supHide m:val="on"/>
                        <m:ctrlPr>
                          <a:rPr lang="en-CA" altLang="zh-CN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CA" altLang="zh-CN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  <m:r>
                          <a:rPr lang="en-CA" altLang="zh-CN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CA" altLang="zh-CN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CA" altLang="zh-CN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altLang="zh-CN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𝜂</m:t>
                            </m:r>
                          </m:e>
                          <m:sub>
                            <m:r>
                              <a:rPr lang="en-CA" altLang="zh-CN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en-CA" altLang="zh-CN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CA" altLang="zh-CN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e>
                    </m:nary>
                    <m:acc>
                      <m:accPr>
                        <m:chr m:val="̃"/>
                        <m:ctrlPr>
                          <a:rPr lang="en-CA" altLang="zh-CN" sz="12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CA" altLang="zh-CN" sz="12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</m:acc>
                    <m:d>
                      <m:dPr>
                        <m:ctrlPr>
                          <a:rPr lang="en-CA" altLang="zh-CN" sz="12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CA" altLang="zh-CN" sz="1200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altLang="zh-CN" sz="1200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en-CA" altLang="zh-CN" sz="1200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CA" altLang="zh-CN" sz="1200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CA" altLang="zh-CN" sz="1200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</m:e>
                      <m:e>
                        <m:r>
                          <a:rPr lang="en-CA" altLang="zh-CN" sz="12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CA" altLang="zh-CN" sz="1200" b="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CA" sz="1200" i="1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n-CA" sz="1200" dirty="0"/>
              </a:p>
              <a:p>
                <a:pPr lvl="1"/>
                <a:r>
                  <a:rPr lang="en-CA" altLang="zh-CN" sz="1200" dirty="0">
                    <a:solidFill>
                      <a:prstClr val="black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CA" altLang="zh-CN" sz="12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CA" altLang="zh-CN" sz="12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</m:acc>
                    <m:d>
                      <m:dPr>
                        <m:ctrlPr>
                          <a:rPr lang="en-CA" altLang="zh-CN" sz="12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CA" altLang="zh-CN" sz="1200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altLang="zh-CN" sz="1200" b="0" i="1" dirty="0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en-CA" altLang="zh-CN" sz="1200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CA" altLang="zh-CN" sz="1200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CA" altLang="zh-CN" sz="1200" b="0" i="1" dirty="0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</m:e>
                      <m:e>
                        <m:r>
                          <a:rPr lang="en-CA" altLang="zh-CN" sz="1200" b="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CA" altLang="zh-CN" sz="1200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≔</m:t>
                    </m:r>
                    <m:nary>
                      <m:naryPr>
                        <m:chr m:val="∑"/>
                        <m:limLoc m:val="subSup"/>
                        <m:supHide m:val="on"/>
                        <m:ctrlPr>
                          <a:rPr lang="en-CA" altLang="zh-CN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sSub>
                          <m:sSubPr>
                            <m:ctrlPr>
                              <a:rPr lang="en-CA" altLang="zh-CN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altLang="zh-CN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CA" altLang="zh-CN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</m:sub>
                      <m:sup/>
                      <m:e>
                        <m:r>
                          <a:rPr lang="en-US" sz="1200" i="1" ker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sz="1200" i="1" ker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1200" i="1" ker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i="1" ker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CA" sz="1200" i="1" ker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  <m:sSub>
                          <m:sSubPr>
                            <m:ctrlPr>
                              <a:rPr lang="en-US" sz="1200" i="1" ker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i="1" ker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CA" sz="1200" i="1" ker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  <m:r>
                          <a:rPr lang="en-US" sz="1200" i="1" ker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CA" sz="1200" i="1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CA" sz="12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CA" sz="1200" i="1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CA" sz="1200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CA" sz="1200" i="1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CA" sz="12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CA" sz="1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1200" i="1"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CA" sz="1200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  <m:r>
                          <a:rPr lang="en-CA" sz="1200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endParaRPr lang="en-US" sz="1200" i="1" dirty="0"/>
              </a:p>
              <a:p>
                <a:pPr lvl="1"/>
                <a:endParaRPr lang="en-US" sz="1200" i="1" dirty="0"/>
              </a:p>
              <a:p>
                <a:r>
                  <a:rPr lang="en-US" sz="1200" dirty="0"/>
                  <a:t>5.        </a:t>
                </a:r>
                <a14:m>
                  <m:oMath xmlns:m="http://schemas.openxmlformats.org/officeDocument/2006/math">
                    <m:r>
                      <a:rPr lang="en-US" sz="1200" i="1" ker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sz="1200" i="1" ker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200" i="1" ker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i="1" ker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CA" sz="1200" i="1" ker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  <m:sSub>
                          <m:sSubPr>
                            <m:ctrlPr>
                              <a:rPr lang="en-US" sz="1200" i="1" ker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i="1" ker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CA" sz="1200" i="1" ker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</m:e>
                    </m:d>
                    <m:r>
                      <a:rPr lang="en-CA" sz="1200" b="0" i="1" kern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CA" altLang="zh-CN" sz="12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CA" altLang="zh-CN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CA" altLang="zh-CN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𝑎𝑏𝑥𝑦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CA" altLang="zh-CN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altLang="zh-CN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𝜉</m:t>
                            </m:r>
                          </m:e>
                          <m:sub>
                            <m:r>
                              <a:rPr lang="en-CA" altLang="zh-CN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𝑎𝑏𝑥𝑦</m:t>
                            </m:r>
                          </m:sub>
                        </m:sSub>
                        <m:acc>
                          <m:accPr>
                            <m:chr m:val="̃"/>
                            <m:ctrlPr>
                              <a:rPr lang="en-CA" altLang="zh-CN" sz="12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CA" altLang="zh-CN" sz="12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e>
                        </m:acc>
                        <m:d>
                          <m:dPr>
                            <m:ctrlPr>
                              <a:rPr lang="en-CA" altLang="zh-CN" sz="1200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CA" altLang="zh-CN" sz="1200" i="1" dirty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CA" altLang="zh-CN" sz="1200" i="1" dirty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𝑏</m:t>
                                </m:r>
                                <m:r>
                                  <a:rPr lang="en-CA" altLang="zh-CN" sz="1200" i="1" dirty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CA" altLang="zh-CN" sz="1200" i="1" dirty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𝜆</m:t>
                                </m:r>
                              </m:e>
                              <m:sub>
                                <m:r>
                                  <a:rPr lang="en-CA" altLang="zh-CN" sz="1200" i="1" dirty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𝐴</m:t>
                                </m:r>
                              </m:sub>
                            </m:sSub>
                          </m:e>
                          <m:e>
                            <m:r>
                              <a:rPr lang="en-CA" altLang="zh-CN" sz="1200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</m:e>
                    </m:nary>
                    <m:acc>
                      <m:accPr>
                        <m:chr m:val="̃"/>
                        <m:ctrlPr>
                          <a:rPr lang="en-CA" altLang="zh-CN" sz="12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CA" altLang="zh-CN" sz="12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</m:acc>
                    <m:d>
                      <m:dPr>
                        <m:ctrlPr>
                          <a:rPr lang="en-CA" altLang="zh-CN" sz="12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CA" altLang="zh-CN" sz="1200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altLang="zh-CN" sz="1200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CA" altLang="zh-CN" sz="1200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CA" altLang="zh-CN" sz="1200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CA" altLang="zh-CN" sz="1200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</m:e>
                      <m:e>
                        <m:r>
                          <a:rPr lang="en-CA" altLang="zh-CN" sz="12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endParaRPr lang="en-US" sz="1200" dirty="0"/>
              </a:p>
            </p:txBody>
          </p:sp>
        </mc:Choice>
        <mc:Fallback xmlns="">
          <p:sp>
            <p:nvSpPr>
              <p:cNvPr id="121" name="TextBox 120">
                <a:extLst>
                  <a:ext uri="{FF2B5EF4-FFF2-40B4-BE49-F238E27FC236}">
                    <a16:creationId xmlns:a16="http://schemas.microsoft.com/office/drawing/2014/main" id="{B2512BF5-BB91-1591-4C05-71B2CE0BC9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92451" y="4084411"/>
                <a:ext cx="3721254" cy="2168286"/>
              </a:xfrm>
              <a:prstGeom prst="rect">
                <a:avLst/>
              </a:prstGeom>
              <a:blipFill>
                <a:blip r:embed="rId9"/>
                <a:stretch>
                  <a:fillRect l="-2730" t="-14535" b="-197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2" name="Right Arrow 121">
            <a:extLst>
              <a:ext uri="{FF2B5EF4-FFF2-40B4-BE49-F238E27FC236}">
                <a16:creationId xmlns:a16="http://schemas.microsoft.com/office/drawing/2014/main" id="{66DA4ED4-DA52-4A4D-9482-E517AFD3AC5C}"/>
              </a:ext>
            </a:extLst>
          </p:cNvPr>
          <p:cNvSpPr/>
          <p:nvPr/>
        </p:nvSpPr>
        <p:spPr>
          <a:xfrm>
            <a:off x="7340104" y="3754685"/>
            <a:ext cx="509286" cy="406135"/>
          </a:xfrm>
          <a:prstGeom prst="right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FA8909E1-8008-4A03-6735-C047CBBCDFD2}"/>
              </a:ext>
            </a:extLst>
          </p:cNvPr>
          <p:cNvSpPr txBox="1"/>
          <p:nvPr/>
        </p:nvSpPr>
        <p:spPr>
          <a:xfrm>
            <a:off x="0" y="397103"/>
            <a:ext cx="119137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</a:rPr>
              <a:t>Classical bipartite state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A93C1B8-D114-B9D1-0D7B-C8E21EF85FDC}"/>
              </a:ext>
            </a:extLst>
          </p:cNvPr>
          <p:cNvSpPr txBox="1"/>
          <p:nvPr/>
        </p:nvSpPr>
        <p:spPr>
          <a:xfrm>
            <a:off x="9733767" y="2604429"/>
            <a:ext cx="21219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70C0"/>
                </a:solidFill>
              </a:rPr>
              <a:t>(diagram-preservation)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FD4427E-FC6C-4D37-C7C5-20AC9FF6BE47}"/>
              </a:ext>
            </a:extLst>
          </p:cNvPr>
          <p:cNvSpPr txBox="1"/>
          <p:nvPr/>
        </p:nvSpPr>
        <p:spPr>
          <a:xfrm>
            <a:off x="10831024" y="4216315"/>
            <a:ext cx="10720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70C0"/>
                </a:solidFill>
              </a:rPr>
              <a:t>(linearity)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8354305-C521-AAD0-19DD-990F9E073DBB}"/>
              </a:ext>
            </a:extLst>
          </p:cNvPr>
          <p:cNvSpPr/>
          <p:nvPr/>
        </p:nvSpPr>
        <p:spPr>
          <a:xfrm>
            <a:off x="3999550" y="4745287"/>
            <a:ext cx="7527041" cy="1755997"/>
          </a:xfrm>
          <a:prstGeom prst="rect">
            <a:avLst/>
          </a:prstGeom>
          <a:solidFill>
            <a:schemeClr val="bg1">
              <a:alpha val="9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797309A-4380-2BC6-A9CB-90DCF45FFDA5}"/>
              </a:ext>
            </a:extLst>
          </p:cNvPr>
          <p:cNvCxnSpPr/>
          <p:nvPr/>
        </p:nvCxnSpPr>
        <p:spPr>
          <a:xfrm>
            <a:off x="2654649" y="3104722"/>
            <a:ext cx="0" cy="160276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F1B2C939-6B87-A0F2-C346-5A598F2DF4F5}"/>
                  </a:ext>
                </a:extLst>
              </p:cNvPr>
              <p:cNvSpPr txBox="1"/>
              <p:nvPr/>
            </p:nvSpPr>
            <p:spPr>
              <a:xfrm>
                <a:off x="2633413" y="3081489"/>
                <a:ext cx="229932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altLang="zh-CN" sz="12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16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F1B2C939-6B87-A0F2-C346-5A598F2DF4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3413" y="3081489"/>
                <a:ext cx="229932" cy="276999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A873F70-62CB-7E86-E640-CF1C5D8ABBDD}"/>
              </a:ext>
            </a:extLst>
          </p:cNvPr>
          <p:cNvCxnSpPr/>
          <p:nvPr/>
        </p:nvCxnSpPr>
        <p:spPr>
          <a:xfrm>
            <a:off x="3342726" y="3103902"/>
            <a:ext cx="0" cy="160276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C7F586FC-009F-DC33-8951-35773548B4F2}"/>
                  </a:ext>
                </a:extLst>
              </p:cNvPr>
              <p:cNvSpPr txBox="1"/>
              <p:nvPr/>
            </p:nvSpPr>
            <p:spPr>
              <a:xfrm>
                <a:off x="3295732" y="3054095"/>
                <a:ext cx="204800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altLang="zh-CN" sz="12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sz="16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C7F586FC-009F-DC33-8951-35773548B4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95732" y="3054095"/>
                <a:ext cx="204800" cy="276999"/>
              </a:xfrm>
              <a:prstGeom prst="rect">
                <a:avLst/>
              </a:prstGeom>
              <a:blipFill>
                <a:blip r:embed="rId11"/>
                <a:stretch>
                  <a:fillRect r="-17647" b="-4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D60BC7C3-A309-6C77-33B3-8A5E0C490B8E}"/>
              </a:ext>
            </a:extLst>
          </p:cNvPr>
          <p:cNvCxnSpPr>
            <a:cxnSpLocks/>
            <a:stCxn id="21" idx="2"/>
          </p:cNvCxnSpPr>
          <p:nvPr/>
        </p:nvCxnSpPr>
        <p:spPr>
          <a:xfrm flipH="1">
            <a:off x="3269057" y="3110416"/>
            <a:ext cx="2476" cy="340734"/>
          </a:xfrm>
          <a:prstGeom prst="line">
            <a:avLst/>
          </a:prstGeom>
          <a:noFill/>
          <a:ln w="15875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: Rounded Corners 40">
                <a:extLst>
                  <a:ext uri="{FF2B5EF4-FFF2-40B4-BE49-F238E27FC236}">
                    <a16:creationId xmlns:a16="http://schemas.microsoft.com/office/drawing/2014/main" id="{46B9161D-D233-694E-6240-0979CA79E2E7}"/>
                  </a:ext>
                </a:extLst>
              </p:cNvPr>
              <p:cNvSpPr/>
              <p:nvPr/>
            </p:nvSpPr>
            <p:spPr>
              <a:xfrm>
                <a:off x="2964566" y="2843491"/>
                <a:ext cx="613934" cy="266925"/>
              </a:xfrm>
              <a:prstGeom prst="roundRect">
                <a:avLst/>
              </a:prstGeom>
              <a:solidFill>
                <a:srgbClr val="70AD47">
                  <a:lumMod val="40000"/>
                  <a:lumOff val="60000"/>
                  <a:alpha val="96000"/>
                </a:srgbClr>
              </a:solidFill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1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 </m:t>
                      </m:r>
                      <m:r>
                        <a:rPr kumimoji="0" lang="en-US" sz="11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𝑝</m:t>
                      </m:r>
                      <m:r>
                        <a:rPr kumimoji="0" lang="en-US" sz="11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(</m:t>
                      </m:r>
                      <m:r>
                        <a:rPr kumimoji="0" lang="en-CA" sz="11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𝑏</m:t>
                      </m:r>
                      <m:r>
                        <a:rPr kumimoji="0" lang="en-US" sz="11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|</m:t>
                      </m:r>
                      <m:sSub>
                        <m:sSubPr>
                          <m:ctrlPr>
                            <a:rPr kumimoji="0" lang="en-US" sz="11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CA" sz="11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𝑦</m:t>
                          </m:r>
                          <m:r>
                            <a:rPr kumimoji="0" lang="en-US" sz="11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𝜆</m:t>
                          </m:r>
                        </m:e>
                        <m:sub>
                          <m:r>
                            <a:rPr kumimoji="0" lang="en-CA" sz="11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𝐵</m:t>
                          </m:r>
                        </m:sub>
                      </m:sSub>
                      <m:r>
                        <a:rPr kumimoji="0" lang="en-US" sz="11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)</m:t>
                      </m:r>
                    </m:oMath>
                  </m:oMathPara>
                </a14:m>
                <a:endPara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21" name="Rectangle: Rounded Corners 40">
                <a:extLst>
                  <a:ext uri="{FF2B5EF4-FFF2-40B4-BE49-F238E27FC236}">
                    <a16:creationId xmlns:a16="http://schemas.microsoft.com/office/drawing/2014/main" id="{46B9161D-D233-694E-6240-0979CA79E2E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4566" y="2843491"/>
                <a:ext cx="613934" cy="266925"/>
              </a:xfrm>
              <a:prstGeom prst="roundRect">
                <a:avLst/>
              </a:prstGeom>
              <a:blipFill>
                <a:blip r:embed="rId12"/>
                <a:stretch>
                  <a:fillRect/>
                </a:stretch>
              </a:blipFill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: Rounded Corners 33">
                <a:extLst>
                  <a:ext uri="{FF2B5EF4-FFF2-40B4-BE49-F238E27FC236}">
                    <a16:creationId xmlns:a16="http://schemas.microsoft.com/office/drawing/2014/main" id="{C2C56405-3993-B7B0-EEC0-88A0FF83B08D}"/>
                  </a:ext>
                </a:extLst>
              </p:cNvPr>
              <p:cNvSpPr/>
              <p:nvPr/>
            </p:nvSpPr>
            <p:spPr>
              <a:xfrm>
                <a:off x="2323685" y="3443745"/>
                <a:ext cx="1170006" cy="398885"/>
              </a:xfrm>
              <a:prstGeom prst="roundRect">
                <a:avLst/>
              </a:prstGeom>
              <a:solidFill>
                <a:srgbClr val="70AD47">
                  <a:lumMod val="40000"/>
                  <a:lumOff val="60000"/>
                  <a:alpha val="96000"/>
                </a:srgbClr>
              </a:solidFill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1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𝑝</m:t>
                      </m:r>
                      <m:r>
                        <a:rPr kumimoji="0" lang="en-US" sz="11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(</m:t>
                      </m:r>
                      <m:sSub>
                        <m:sSubPr>
                          <m:ctrlPr>
                            <a:rPr kumimoji="0" lang="en-US" sz="11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11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𝜆</m:t>
                          </m:r>
                        </m:e>
                        <m:sub>
                          <m:r>
                            <a:rPr kumimoji="0" lang="en-CA" sz="11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𝐴</m:t>
                          </m:r>
                        </m:sub>
                      </m:sSub>
                      <m:sSub>
                        <m:sSubPr>
                          <m:ctrlPr>
                            <a:rPr kumimoji="0" lang="en-US" sz="11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11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𝜆</m:t>
                          </m:r>
                        </m:e>
                        <m:sub>
                          <m:r>
                            <a:rPr kumimoji="0" lang="en-CA" sz="11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𝐵</m:t>
                          </m:r>
                        </m:sub>
                      </m:sSub>
                      <m:r>
                        <a:rPr kumimoji="0" lang="en-US" sz="11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)</m:t>
                      </m:r>
                    </m:oMath>
                  </m:oMathPara>
                </a14:m>
                <a:endPara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22" name="Rectangle: Rounded Corners 33">
                <a:extLst>
                  <a:ext uri="{FF2B5EF4-FFF2-40B4-BE49-F238E27FC236}">
                    <a16:creationId xmlns:a16="http://schemas.microsoft.com/office/drawing/2014/main" id="{C2C56405-3993-B7B0-EEC0-88A0FF83B08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23685" y="3443745"/>
                <a:ext cx="1170006" cy="398885"/>
              </a:xfrm>
              <a:prstGeom prst="roundRect">
                <a:avLst/>
              </a:prstGeom>
              <a:blipFill>
                <a:blip r:embed="rId13"/>
                <a:stretch>
                  <a:fillRect/>
                </a:stretch>
              </a:blipFill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A2A4AE1-197F-0704-307D-07698F232B31}"/>
              </a:ext>
            </a:extLst>
          </p:cNvPr>
          <p:cNvCxnSpPr>
            <a:cxnSpLocks/>
            <a:stCxn id="24" idx="2"/>
          </p:cNvCxnSpPr>
          <p:nvPr/>
        </p:nvCxnSpPr>
        <p:spPr>
          <a:xfrm flipH="1">
            <a:off x="2566578" y="3109464"/>
            <a:ext cx="2476" cy="340734"/>
          </a:xfrm>
          <a:prstGeom prst="line">
            <a:avLst/>
          </a:prstGeom>
          <a:noFill/>
          <a:ln w="15875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Rectangle: Rounded Corners 82">
                <a:extLst>
                  <a:ext uri="{FF2B5EF4-FFF2-40B4-BE49-F238E27FC236}">
                    <a16:creationId xmlns:a16="http://schemas.microsoft.com/office/drawing/2014/main" id="{06A98E18-BC33-A071-9DE2-F2FC64519252}"/>
                  </a:ext>
                </a:extLst>
              </p:cNvPr>
              <p:cNvSpPr/>
              <p:nvPr/>
            </p:nvSpPr>
            <p:spPr>
              <a:xfrm>
                <a:off x="2262087" y="2842539"/>
                <a:ext cx="613934" cy="266925"/>
              </a:xfrm>
              <a:prstGeom prst="roundRect">
                <a:avLst/>
              </a:prstGeom>
              <a:solidFill>
                <a:srgbClr val="70AD47">
                  <a:lumMod val="40000"/>
                  <a:lumOff val="60000"/>
                  <a:alpha val="96000"/>
                </a:srgbClr>
              </a:solidFill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1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 </m:t>
                      </m:r>
                      <m:r>
                        <a:rPr kumimoji="0" lang="en-US" sz="11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𝑝</m:t>
                      </m:r>
                      <m:r>
                        <a:rPr kumimoji="0" lang="en-US" sz="11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(</m:t>
                      </m:r>
                      <m:r>
                        <a:rPr kumimoji="0" lang="en-CA" sz="11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𝑎</m:t>
                      </m:r>
                      <m:r>
                        <a:rPr kumimoji="0" lang="en-US" sz="11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|</m:t>
                      </m:r>
                      <m:sSub>
                        <m:sSubPr>
                          <m:ctrlPr>
                            <a:rPr kumimoji="0" lang="en-US" sz="11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CA" sz="11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𝑥</m:t>
                          </m:r>
                          <m:r>
                            <a:rPr kumimoji="0" lang="en-US" sz="11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𝜆</m:t>
                          </m:r>
                        </m:e>
                        <m:sub>
                          <m:r>
                            <a:rPr kumimoji="0" lang="en-CA" sz="11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𝐴</m:t>
                          </m:r>
                        </m:sub>
                      </m:sSub>
                      <m:r>
                        <a:rPr kumimoji="0" lang="en-US" sz="11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)</m:t>
                      </m:r>
                    </m:oMath>
                  </m:oMathPara>
                </a14:m>
                <a:endPara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24" name="Rectangle: Rounded Corners 82">
                <a:extLst>
                  <a:ext uri="{FF2B5EF4-FFF2-40B4-BE49-F238E27FC236}">
                    <a16:creationId xmlns:a16="http://schemas.microsoft.com/office/drawing/2014/main" id="{06A98E18-BC33-A071-9DE2-F2FC6451925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62087" y="2842539"/>
                <a:ext cx="613934" cy="266925"/>
              </a:xfrm>
              <a:prstGeom prst="roundRect">
                <a:avLst/>
              </a:prstGeom>
              <a:blipFill>
                <a:blip r:embed="rId14"/>
                <a:stretch>
                  <a:fillRect/>
                </a:stretch>
              </a:blipFill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0A0137D9-EC22-7A17-3304-FCEEF38C2745}"/>
                  </a:ext>
                </a:extLst>
              </p:cNvPr>
              <p:cNvSpPr txBox="1"/>
              <p:nvPr/>
            </p:nvSpPr>
            <p:spPr>
              <a:xfrm>
                <a:off x="2532285" y="2636617"/>
                <a:ext cx="246689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12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12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16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0A0137D9-EC22-7A17-3304-FCEEF38C27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32285" y="2636617"/>
                <a:ext cx="246689" cy="276999"/>
              </a:xfrm>
              <a:prstGeom prst="rect">
                <a:avLst/>
              </a:prstGeom>
              <a:blipFill>
                <a:blip r:embed="rId15"/>
                <a:stretch>
                  <a:fillRect r="-20000" b="-4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0AE8F837-1D3C-EE3C-A4CB-A1AD1EDCD31F}"/>
              </a:ext>
            </a:extLst>
          </p:cNvPr>
          <p:cNvCxnSpPr>
            <a:cxnSpLocks/>
          </p:cNvCxnSpPr>
          <p:nvPr/>
        </p:nvCxnSpPr>
        <p:spPr>
          <a:xfrm>
            <a:off x="2563377" y="2734089"/>
            <a:ext cx="0" cy="114159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FB93F83D-6FA1-734D-1569-9EC4B0F156B2}"/>
                  </a:ext>
                </a:extLst>
              </p:cNvPr>
              <p:cNvSpPr txBox="1"/>
              <p:nvPr/>
            </p:nvSpPr>
            <p:spPr>
              <a:xfrm>
                <a:off x="3230085" y="2634158"/>
                <a:ext cx="246689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12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sz="12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16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FB93F83D-6FA1-734D-1569-9EC4B0F156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0085" y="2634158"/>
                <a:ext cx="246689" cy="276999"/>
              </a:xfrm>
              <a:prstGeom prst="rect">
                <a:avLst/>
              </a:prstGeom>
              <a:blipFill>
                <a:blip r:embed="rId16"/>
                <a:stretch>
                  <a:fillRect r="-15000" b="-4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E81855F5-C91F-539F-9E8E-938300964D4A}"/>
              </a:ext>
            </a:extLst>
          </p:cNvPr>
          <p:cNvCxnSpPr>
            <a:cxnSpLocks/>
          </p:cNvCxnSpPr>
          <p:nvPr/>
        </p:nvCxnSpPr>
        <p:spPr>
          <a:xfrm>
            <a:off x="3255063" y="2731630"/>
            <a:ext cx="0" cy="114159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5BFE1ACA-1CE9-470F-7AFC-E667EC48159C}"/>
                  </a:ext>
                </a:extLst>
              </p:cNvPr>
              <p:cNvSpPr txBox="1"/>
              <p:nvPr/>
            </p:nvSpPr>
            <p:spPr>
              <a:xfrm>
                <a:off x="2925808" y="3145664"/>
                <a:ext cx="430123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CA" sz="12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5BFE1ACA-1CE9-470F-7AFC-E667EC4815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25808" y="3145664"/>
                <a:ext cx="430123" cy="276999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84E85248-3B11-92A0-CE1E-3E6D77369948}"/>
                  </a:ext>
                </a:extLst>
              </p:cNvPr>
              <p:cNvSpPr txBox="1"/>
              <p:nvPr/>
            </p:nvSpPr>
            <p:spPr>
              <a:xfrm>
                <a:off x="2194520" y="3141428"/>
                <a:ext cx="430123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CA" sz="12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84E85248-3B11-92A0-CE1E-3E6D773699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94520" y="3141428"/>
                <a:ext cx="430123" cy="276999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425619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9" grpId="0"/>
      <p:bldP spid="121" grpId="0"/>
      <p:bldP spid="122" grpId="0" animBg="1"/>
      <p:bldP spid="2" grpId="0"/>
      <p:bldP spid="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68A083-CC3D-F69C-02F6-3B690A1055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E3E1E11-EB86-C981-8941-B2EFEBB06D4A}"/>
              </a:ext>
            </a:extLst>
          </p:cNvPr>
          <p:cNvSpPr/>
          <p:nvPr/>
        </p:nvSpPr>
        <p:spPr>
          <a:xfrm>
            <a:off x="219653" y="5465135"/>
            <a:ext cx="4657060" cy="13928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076E97EC-872D-74D5-97B7-F3143B803F89}"/>
                  </a:ext>
                </a:extLst>
              </p:cNvPr>
              <p:cNvSpPr txBox="1"/>
              <p:nvPr/>
            </p:nvSpPr>
            <p:spPr>
              <a:xfrm>
                <a:off x="3991740" y="1149917"/>
                <a:ext cx="7674015" cy="34607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Wingdings" pitchFamily="2" charset="2"/>
                  <a:buChar char="q"/>
                </a:pPr>
                <a:r>
                  <a:rPr lang="en-US" sz="1400" dirty="0"/>
                  <a:t>The quantum circuit predict statistics. </a:t>
                </a:r>
              </a:p>
              <a:p>
                <a:endParaRPr lang="en-CA" sz="1400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1400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CA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CA" sz="1400" b="0" i="1" smtClean="0">
                              <a:latin typeface="Cambria Math" panose="02040503050406030204" pitchFamily="18" charset="0"/>
                            </a:rPr>
                            <m:t>𝑎𝑏</m:t>
                          </m:r>
                        </m:e>
                        <m:e>
                          <m:r>
                            <a:rPr lang="en-CA" sz="1400" b="0" i="1" smtClean="0">
                              <a:latin typeface="Cambria Math" panose="02040503050406030204" pitchFamily="18" charset="0"/>
                            </a:rPr>
                            <m:t>𝑥𝑦</m:t>
                          </m:r>
                        </m:e>
                      </m:d>
                      <m:r>
                        <a:rPr lang="en-CA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CA" sz="1400" b="0" i="0" smtClean="0">
                          <a:latin typeface="Cambria Math" panose="02040503050406030204" pitchFamily="18" charset="0"/>
                        </a:rPr>
                        <m:t>tr</m:t>
                      </m:r>
                      <m:r>
                        <a:rPr lang="en-CA" sz="1400" b="0" i="1" smtClean="0">
                          <a:latin typeface="Cambria Math" panose="02040503050406030204" pitchFamily="18" charset="0"/>
                        </a:rPr>
                        <m:t>[</m:t>
                      </m:r>
                      <m:sSubSup>
                        <m:sSubSupPr>
                          <m:ctrlPr>
                            <a:rPr lang="en-CA" sz="1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CA" sz="14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CA" sz="1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CA" sz="1400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CA" sz="1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  <m:sup>
                          <m:r>
                            <a:rPr lang="en-CA" sz="14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p>
                      </m:sSubSup>
                      <m:r>
                        <a:rPr lang="en-CA" sz="1400" b="0" i="1" smtClean="0">
                          <a:latin typeface="Cambria Math" panose="02040503050406030204" pitchFamily="18" charset="0"/>
                        </a:rPr>
                        <m:t>⊗</m:t>
                      </m:r>
                      <m:sSubSup>
                        <m:sSubSupPr>
                          <m:ctrlPr>
                            <a:rPr lang="en-CA" sz="1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CA" sz="1400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CA" sz="14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CA" sz="1400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CA" sz="1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  <m:sup>
                          <m:r>
                            <a:rPr lang="en-CA" sz="14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p>
                      </m:sSubSup>
                      <m:sSup>
                        <m:sSupPr>
                          <m:ctrlPr>
                            <a:rPr lang="en-CA" sz="1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CA" sz="1400" b="0" i="1" smtClean="0"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  <m:sup>
                          <m:r>
                            <a:rPr lang="en-CA" sz="1400" b="0" i="1" smtClean="0">
                              <a:latin typeface="Cambria Math" panose="02040503050406030204" pitchFamily="18" charset="0"/>
                            </a:rPr>
                            <m:t>𝐴𝐵</m:t>
                          </m:r>
                        </m:sup>
                      </m:sSup>
                      <m:r>
                        <a:rPr lang="en-CA" sz="1400" b="0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sz="1400" dirty="0"/>
              </a:p>
              <a:p>
                <a:endParaRPr lang="en-US" sz="1400" dirty="0"/>
              </a:p>
              <a:p>
                <a:pPr marL="285750" indent="-285750">
                  <a:buFont typeface="Wingdings" pitchFamily="2" charset="2"/>
                  <a:buChar char="q"/>
                </a:pPr>
                <a:r>
                  <a:rPr lang="en-US" sz="1400" dirty="0"/>
                  <a:t>It is </a:t>
                </a:r>
                <a:r>
                  <a:rPr lang="en-US" sz="1400" i="1" dirty="0"/>
                  <a:t>classically explainable</a:t>
                </a:r>
                <a:r>
                  <a:rPr lang="en-US" sz="1400" dirty="0"/>
                  <a:t>, if it can be reproduced by</a:t>
                </a:r>
              </a:p>
              <a:p>
                <a:endParaRPr lang="en-US" sz="1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1400" i="1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CA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CA" sz="1400" i="1">
                              <a:latin typeface="Cambria Math" panose="02040503050406030204" pitchFamily="18" charset="0"/>
                            </a:rPr>
                            <m:t>𝑎𝑏</m:t>
                          </m:r>
                        </m:e>
                        <m:e>
                          <m:r>
                            <a:rPr lang="en-CA" sz="1400" i="1">
                              <a:latin typeface="Cambria Math" panose="02040503050406030204" pitchFamily="18" charset="0"/>
                            </a:rPr>
                            <m:t>𝑥𝑦</m:t>
                          </m:r>
                        </m:e>
                      </m:d>
                      <m:r>
                        <a:rPr lang="en-CA" sz="14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CA" sz="1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US" sz="1400" i="1" ker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i="1" ker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CA" sz="1400" i="1" ker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1400" i="1" ker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i="1" ker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CA" sz="1400" i="1" ker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</m:sub>
                        <m:sup/>
                        <m:e>
                          <m:r>
                            <a:rPr lang="en-US" sz="1400" i="1" ker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sz="1400" i="1" ker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1400" i="1" ker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i="1" ker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CA" sz="1400" i="1" ker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1400" i="1" ker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i="1" ker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CA" sz="1400" i="1" ker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  <m:r>
                            <a:rPr lang="en-US" sz="1400" i="1" ker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en-US" sz="1400" i="1" ker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sz="1400" i="1" ker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CA" sz="1400" i="1" ker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sz="1400" i="1" ker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sz="1400" i="1" ker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sz="1400" i="1" ker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1400" i="1" ker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CA" sz="1400" i="1" ker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  <m:r>
                            <a:rPr lang="en-US" sz="1400" i="1" ker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en-US" sz="1400" i="1" ker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sz="1400" i="1" ker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CA" sz="1400" i="1" ker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sz="1400" i="1" ker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sz="1400" i="1" ker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sz="1400" i="1" ker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sz="1400" i="1" ker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CA" sz="1400" i="1" ker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  <m:r>
                            <a:rPr lang="en-US" sz="1400" i="1" ker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CA" sz="1400" kern="0" dirty="0">
                  <a:solidFill>
                    <a:prstClr val="black"/>
                  </a:solidFill>
                </a:endParaRPr>
              </a:p>
              <a:p>
                <a:endParaRPr lang="en-US" sz="1400" dirty="0"/>
              </a:p>
              <a:p>
                <a:r>
                  <a:rPr lang="en-US" sz="1400" dirty="0"/>
                  <a:t>       Where each ontological processes and composition ontological processes should satisfy :</a:t>
                </a:r>
              </a:p>
              <a:p>
                <a:endParaRPr lang="en-US" sz="1400" dirty="0"/>
              </a:p>
              <a:p>
                <a:endParaRPr lang="en-US" sz="1400" dirty="0"/>
              </a:p>
              <a:p>
                <a:r>
                  <a:rPr lang="en-US" sz="1400" dirty="0"/>
                  <a:t> </a:t>
                </a:r>
              </a:p>
              <a:p>
                <a:r>
                  <a:rPr lang="en-US" sz="1400" dirty="0"/>
                  <a:t>     </a:t>
                </a:r>
                <a:endParaRPr lang="en-CA" sz="1400" b="0" dirty="0"/>
              </a:p>
              <a:p>
                <a:endParaRPr lang="en-US" sz="1400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076E97EC-872D-74D5-97B7-F3143B803F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91740" y="1149917"/>
                <a:ext cx="7674015" cy="3460756"/>
              </a:xfrm>
              <a:prstGeom prst="rect">
                <a:avLst/>
              </a:prstGeom>
              <a:blipFill>
                <a:blip r:embed="rId2"/>
                <a:stretch>
                  <a:fillRect l="-165" t="-3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9" name="TextBox 118">
                <a:extLst>
                  <a:ext uri="{FF2B5EF4-FFF2-40B4-BE49-F238E27FC236}">
                    <a16:creationId xmlns:a16="http://schemas.microsoft.com/office/drawing/2014/main" id="{3D85443B-C094-F51A-F9B2-81FFAA986748}"/>
                  </a:ext>
                </a:extLst>
              </p:cNvPr>
              <p:cNvSpPr txBox="1"/>
              <p:nvPr/>
            </p:nvSpPr>
            <p:spPr>
              <a:xfrm>
                <a:off x="4091395" y="4008685"/>
                <a:ext cx="4471056" cy="226408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342900" indent="-342900">
                  <a:buFont typeface="+mj-lt"/>
                  <a:buAutoNum type="arabi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CA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𝕆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CA" sz="12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N</m:t>
                        </m:r>
                      </m:sub>
                    </m:sSub>
                    <m:r>
                      <a:rPr lang="en-US" altLang="zh-CN" sz="1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CA" altLang="zh-CN" sz="1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{{</m:t>
                    </m:r>
                    <m:sSub>
                      <m:sSubPr>
                        <m:ctrlPr>
                          <a:rPr lang="en-CA" altLang="zh-CN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altLang="zh-CN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CA" altLang="zh-CN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  <m:r>
                          <a:rPr lang="en-CA" altLang="zh-CN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CA" altLang="zh-CN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CA" altLang="zh-CN" sz="1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}|</m:t>
                    </m:r>
                    <m:nary>
                      <m:naryPr>
                        <m:chr m:val="∑"/>
                        <m:supHide m:val="on"/>
                        <m:ctrlPr>
                          <a:rPr lang="en-CA" altLang="zh-CN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CA" altLang="zh-CN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  <m:r>
                          <a:rPr lang="en-CA" altLang="zh-CN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CA" altLang="zh-CN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CA" altLang="zh-CN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altLang="zh-CN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CA" altLang="zh-CN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CA" altLang="zh-CN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CA" altLang="zh-CN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  <m:sSubSup>
                          <m:sSubSupPr>
                            <m:ctrlPr>
                              <a:rPr lang="en-CA" altLang="zh-CN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CA" altLang="zh-CN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CA" altLang="zh-CN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CA" altLang="zh-CN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CA" altLang="zh-CN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sub>
                          <m:sup>
                            <m:r>
                              <a:rPr lang="en-CA" altLang="zh-CN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𝐴</m:t>
                            </m:r>
                          </m:sup>
                        </m:sSubSup>
                      </m:e>
                    </m:nary>
                    <m:r>
                      <a:rPr lang="en-US" sz="120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CA" sz="1200" b="0" i="1" smtClean="0">
                        <a:latin typeface="Cambria Math" panose="02040503050406030204" pitchFamily="18" charset="0"/>
                      </a:rPr>
                      <m:t>=0}  </m:t>
                    </m:r>
                  </m:oMath>
                </a14:m>
                <a:endParaRPr lang="en-CA" sz="1200" dirty="0"/>
              </a:p>
              <a:p>
                <a:pPr marL="342900" indent="-342900">
                  <a:buFont typeface="+mj-lt"/>
                  <a:buAutoNum type="arabicPeriod"/>
                </a:pPr>
                <a:endParaRPr lang="en-CA" sz="1200" dirty="0"/>
              </a:p>
              <a:p>
                <a:pPr marL="342900" indent="-342900">
                  <a:buFont typeface="+mj-lt"/>
                  <a:buAutoNum type="arabi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CA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𝕆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CA" sz="12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M</m:t>
                        </m:r>
                      </m:sub>
                    </m:sSub>
                    <m:r>
                      <a:rPr lang="en-US" altLang="zh-CN" sz="1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CA" altLang="zh-CN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CA" altLang="zh-CN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CA" altLang="zh-CN" sz="1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CA" altLang="zh-CN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  <m:sub>
                                <m:r>
                                  <a:rPr lang="en-CA" altLang="zh-CN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𝑏</m:t>
                                </m:r>
                                <m:r>
                                  <a:rPr lang="en-CA" altLang="zh-CN" sz="1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CA" altLang="zh-CN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𝑦</m:t>
                                </m:r>
                              </m:sub>
                            </m:sSub>
                          </m:e>
                        </m:d>
                      </m:e>
                      <m:e>
                        <m:nary>
                          <m:naryPr>
                            <m:chr m:val="∑"/>
                            <m:supHide m:val="on"/>
                            <m:ctrlPr>
                              <a:rPr lang="en-CA" altLang="zh-CN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CA" altLang="zh-CN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en-CA" altLang="zh-CN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CA" altLang="zh-CN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sub>
                          <m:sup/>
                          <m:e>
                            <m:sSub>
                              <m:sSubPr>
                                <m:ctrlPr>
                                  <a:rPr lang="en-CA" altLang="zh-CN" sz="1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CA" altLang="zh-CN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  <m:sub>
                                <m:r>
                                  <a:rPr lang="en-CA" altLang="zh-CN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𝑏</m:t>
                                </m:r>
                                <m:r>
                                  <a:rPr lang="en-CA" altLang="zh-CN" sz="1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CA" altLang="zh-CN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𝑦</m:t>
                                </m:r>
                              </m:sub>
                            </m:sSub>
                            <m:sSubSup>
                              <m:sSubSupPr>
                                <m:ctrlPr>
                                  <a:rPr lang="en-CA" altLang="zh-CN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CA" altLang="zh-CN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𝑀</m:t>
                                </m:r>
                              </m:e>
                              <m:sub>
                                <m:r>
                                  <a:rPr lang="en-CA" altLang="zh-CN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𝑏</m:t>
                                </m:r>
                                <m:r>
                                  <a:rPr lang="en-CA" altLang="zh-CN" sz="1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|</m:t>
                                </m:r>
                                <m:r>
                                  <a:rPr lang="en-CA" altLang="zh-CN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𝑦</m:t>
                                </m:r>
                              </m:sub>
                              <m:sup>
                                <m:r>
                                  <a:rPr lang="en-CA" altLang="zh-CN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𝐵</m:t>
                                </m:r>
                              </m:sup>
                            </m:sSubSup>
                          </m:e>
                        </m:nary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CA" sz="1200" i="1">
                            <a:latin typeface="Cambria Math" panose="02040503050406030204" pitchFamily="18" charset="0"/>
                          </a:rPr>
                          <m:t>=0</m:t>
                        </m:r>
                      </m:e>
                    </m:d>
                  </m:oMath>
                </a14:m>
                <a:endParaRPr lang="en-CA" sz="1200" dirty="0"/>
              </a:p>
              <a:p>
                <a:pPr marL="342900" indent="-342900">
                  <a:buFont typeface="+mj-lt"/>
                  <a:buAutoNum type="arabicPeriod"/>
                </a:pPr>
                <a:endParaRPr lang="en-US" sz="1200" dirty="0"/>
              </a:p>
              <a:p>
                <a:pPr marL="342900" indent="-342900">
                  <a:buFont typeface="+mj-lt"/>
                  <a:buAutoNum type="arabi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CA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𝕆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CA" sz="12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N</m:t>
                        </m:r>
                        <m:r>
                          <a:rPr lang="en-CA" sz="12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∘</m:t>
                        </m:r>
                        <m:r>
                          <m:rPr>
                            <m:sty m:val="p"/>
                          </m:rPr>
                          <a:rPr lang="en-CA" sz="12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P</m:t>
                        </m:r>
                      </m:sub>
                    </m:sSub>
                    <m:r>
                      <a:rPr lang="en-US" altLang="zh-CN" sz="12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CA" altLang="zh-CN" sz="1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{{</m:t>
                    </m:r>
                    <m:sSub>
                      <m:sSubPr>
                        <m:ctrlPr>
                          <a:rPr lang="en-CA" altLang="zh-CN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altLang="zh-CN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𝛾</m:t>
                        </m:r>
                      </m:e>
                      <m:sub>
                        <m:r>
                          <a:rPr lang="en-CA" altLang="zh-CN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  <m:r>
                          <a:rPr lang="en-CA" altLang="zh-CN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CA" altLang="zh-CN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CA" altLang="zh-CN" sz="1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}|</m:t>
                    </m:r>
                    <m:nary>
                      <m:naryPr>
                        <m:chr m:val="∑"/>
                        <m:supHide m:val="on"/>
                        <m:ctrlPr>
                          <a:rPr lang="en-CA" altLang="zh-CN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CA" altLang="zh-CN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  <m:r>
                          <a:rPr lang="en-CA" altLang="zh-CN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CA" altLang="zh-CN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CA" altLang="zh-CN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altLang="zh-CN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𝛾</m:t>
                            </m:r>
                          </m:e>
                          <m:sub>
                            <m:r>
                              <a:rPr lang="en-CA" altLang="zh-CN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CA" altLang="zh-CN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CA" altLang="zh-CN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  <m:sSubSup>
                          <m:sSubSupPr>
                            <m:ctrlPr>
                              <a:rPr lang="en-CA" altLang="zh-CN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acc>
                              <m:accPr>
                                <m:chr m:val="̃"/>
                                <m:ctrlPr>
                                  <a:rPr lang="en-CA" altLang="zh-CN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CA" altLang="zh-CN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𝜌</m:t>
                                </m:r>
                              </m:e>
                            </m:acc>
                          </m:e>
                          <m:sub>
                            <m:r>
                              <a:rPr lang="en-CA" altLang="zh-CN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CA" altLang="zh-CN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CA" altLang="zh-CN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sub>
                          <m:sup>
                            <m:r>
                              <a:rPr lang="en-CA" altLang="zh-CN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𝐵</m:t>
                            </m:r>
                          </m:sup>
                        </m:sSubSup>
                        <m:r>
                          <a:rPr lang="en-CA" altLang="zh-CN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CA" sz="1200" b="0" i="1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CA" sz="1200" i="1">
                            <a:latin typeface="Cambria Math" panose="02040503050406030204" pitchFamily="18" charset="0"/>
                          </a:rPr>
                          <m:t>}</m:t>
                        </m:r>
                      </m:e>
                    </m:nary>
                  </m:oMath>
                </a14:m>
                <a:endParaRPr lang="en-US" sz="1200" dirty="0"/>
              </a:p>
              <a:p>
                <a:pPr lvl="1"/>
                <a14:m>
                  <m:oMath xmlns:m="http://schemas.openxmlformats.org/officeDocument/2006/math">
                    <m:sSubSup>
                      <m:sSubSupPr>
                        <m:ctrlPr>
                          <a:rPr lang="en-CA" altLang="zh-CN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̃"/>
                            <m:ctrlPr>
                              <a:rPr lang="en-CA" altLang="zh-CN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CA" altLang="zh-CN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𝜌</m:t>
                            </m:r>
                          </m:e>
                        </m:acc>
                      </m:e>
                      <m:sub>
                        <m:r>
                          <a:rPr lang="en-CA" altLang="zh-CN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  <m:r>
                          <a:rPr lang="en-CA" altLang="zh-CN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|</m:t>
                        </m:r>
                        <m:r>
                          <a:rPr lang="en-CA" altLang="zh-CN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sub>
                      <m:sup>
                        <m:r>
                          <a:rPr lang="en-CA" altLang="zh-CN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</m:sup>
                    </m:sSubSup>
                  </m:oMath>
                </a14:m>
                <a:r>
                  <a:rPr lang="en-US" sz="1200" dirty="0"/>
                  <a:t>:=</a:t>
                </a:r>
                <a:r>
                  <a:rPr lang="en-CA" altLang="zh-CN" sz="12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A" altLang="zh-CN" sz="12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CA" altLang="zh-CN" sz="1200" dirty="0">
                            <a:latin typeface="Cambria Math" panose="02040503050406030204" pitchFamily="18" charset="0"/>
                          </a:rPr>
                          <m:t>t</m:t>
                        </m:r>
                        <m:r>
                          <m:rPr>
                            <m:sty m:val="p"/>
                          </m:rPr>
                          <a:rPr lang="en-CA" altLang="zh-CN" sz="1200" b="0" i="0" dirty="0" smtClean="0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CA" altLang="zh-CN" sz="1200" b="0" i="0" dirty="0" smtClean="0">
                            <a:latin typeface="Cambria Math" panose="02040503050406030204" pitchFamily="18" charset="0"/>
                          </a:rPr>
                          <m:t>A</m:t>
                        </m:r>
                      </m:sub>
                    </m:sSub>
                    <m:r>
                      <a:rPr lang="en-CA" altLang="zh-CN" sz="1200" b="0" i="0" dirty="0" smtClean="0">
                        <a:latin typeface="Cambria Math" panose="02040503050406030204" pitchFamily="18" charset="0"/>
                      </a:rPr>
                      <m:t>[</m:t>
                    </m:r>
                    <m:d>
                      <m:dPr>
                        <m:ctrlPr>
                          <a:rPr lang="en-CA" altLang="zh-CN" sz="12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CA" sz="12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CA" sz="1200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CA" sz="12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CA" sz="1200" i="1"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CA" sz="12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  <m:sup>
                            <m:r>
                              <a:rPr lang="en-CA" sz="1200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p>
                        </m:sSubSup>
                        <m:r>
                          <a:rPr lang="en-CA" sz="1200">
                            <a:latin typeface="Cambria Math" panose="02040503050406030204" pitchFamily="18" charset="0"/>
                          </a:rPr>
                          <m:t>⊗</m:t>
                        </m:r>
                        <m:sSup>
                          <m:sSupPr>
                            <m:ctrlPr>
                              <a:rPr lang="en-CA" sz="12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CA" sz="1200">
                                <a:latin typeface="Cambria Math" panose="02040503050406030204" pitchFamily="18" charset="0"/>
                              </a:rPr>
                              <m:t>I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CA" sz="1200" b="0" i="0" smtClean="0">
                                <a:latin typeface="Cambria Math" panose="02040503050406030204" pitchFamily="18" charset="0"/>
                              </a:rPr>
                              <m:t>B</m:t>
                            </m:r>
                          </m:sup>
                        </m:sSup>
                      </m:e>
                    </m:d>
                    <m:sSup>
                      <m:sSupPr>
                        <m:ctrlPr>
                          <a:rPr lang="en-CA" sz="1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sz="1200" b="0" i="1" smtClean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p>
                        <m:r>
                          <a:rPr lang="en-CA" sz="1200" b="0" i="1" smtClean="0">
                            <a:latin typeface="Cambria Math" panose="02040503050406030204" pitchFamily="18" charset="0"/>
                          </a:rPr>
                          <m:t>𝐴𝐵</m:t>
                        </m:r>
                      </m:sup>
                    </m:sSup>
                    <m:r>
                      <a:rPr lang="en-CA" sz="1200" i="1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sz="1200" dirty="0"/>
              </a:p>
              <a:p>
                <a:pPr lvl="1"/>
                <a:endParaRPr lang="en-US" sz="1200" dirty="0"/>
              </a:p>
              <a:p>
                <a:pPr marL="342900" indent="-342900">
                  <a:buFont typeface="+mj-lt"/>
                  <a:buAutoNum type="arabi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CA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𝕆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CA" sz="12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M</m:t>
                        </m:r>
                        <m:r>
                          <a:rPr lang="en-CA" sz="12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∘</m:t>
                        </m:r>
                        <m:r>
                          <m:rPr>
                            <m:sty m:val="p"/>
                          </m:rPr>
                          <a:rPr lang="en-CA" sz="12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P</m:t>
                        </m:r>
                      </m:sub>
                    </m:sSub>
                    <m:r>
                      <a:rPr lang="en-US" altLang="zh-CN" sz="1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CA" altLang="zh-CN" sz="1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{{</m:t>
                    </m:r>
                    <m:sSub>
                      <m:sSubPr>
                        <m:ctrlPr>
                          <a:rPr lang="en-CA" altLang="zh-CN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altLang="zh-CN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𝜂</m:t>
                        </m:r>
                      </m:e>
                      <m:sub>
                        <m:r>
                          <a:rPr lang="en-CA" altLang="zh-CN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  <m:r>
                          <a:rPr lang="en-CA" altLang="zh-CN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CA" altLang="zh-CN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 lang="en-CA" altLang="zh-CN" sz="1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}|</m:t>
                    </m:r>
                    <m:nary>
                      <m:naryPr>
                        <m:chr m:val="∑"/>
                        <m:supHide m:val="on"/>
                        <m:ctrlPr>
                          <a:rPr lang="en-CA" altLang="zh-CN" sz="12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CA" altLang="zh-CN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  <m:r>
                          <a:rPr lang="en-CA" altLang="zh-CN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CA" altLang="zh-CN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CA" altLang="zh-CN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altLang="zh-CN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CA" altLang="zh-CN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en-CA" altLang="zh-CN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CA" altLang="zh-CN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  <m:sSubSup>
                          <m:sSubSupPr>
                            <m:ctrlPr>
                              <a:rPr lang="en-CA" altLang="zh-CN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acc>
                              <m:accPr>
                                <m:chr m:val="̃"/>
                                <m:ctrlPr>
                                  <a:rPr lang="en-CA" altLang="zh-CN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CA" altLang="zh-CN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𝜌</m:t>
                                </m:r>
                              </m:e>
                            </m:acc>
                          </m:e>
                          <m:sub>
                            <m:r>
                              <a:rPr lang="en-CA" altLang="zh-CN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en-CA" altLang="zh-CN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CA" altLang="zh-CN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sub>
                          <m:sup>
                            <m:r>
                              <a:rPr lang="en-CA" altLang="zh-CN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𝐴</m:t>
                            </m:r>
                          </m:sup>
                        </m:sSubSup>
                        <m:r>
                          <a:rPr lang="en-CA" sz="1200" b="0" i="1" smtClean="0">
                            <a:latin typeface="Cambria Math" panose="02040503050406030204" pitchFamily="18" charset="0"/>
                          </a:rPr>
                          <m:t>=0</m:t>
                        </m:r>
                        <m:r>
                          <a:rPr lang="en-CA" sz="1200" i="1">
                            <a:latin typeface="Cambria Math" panose="02040503050406030204" pitchFamily="18" charset="0"/>
                          </a:rPr>
                          <m:t>}</m:t>
                        </m:r>
                      </m:e>
                    </m:nary>
                  </m:oMath>
                </a14:m>
                <a:endParaRPr lang="en-US" sz="1200" dirty="0"/>
              </a:p>
              <a:p>
                <a:pPr lvl="1"/>
                <a14:m>
                  <m:oMath xmlns:m="http://schemas.openxmlformats.org/officeDocument/2006/math">
                    <m:sSubSup>
                      <m:sSubSupPr>
                        <m:ctrlPr>
                          <a:rPr lang="en-CA" altLang="zh-CN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̃"/>
                            <m:ctrlPr>
                              <a:rPr lang="en-CA" altLang="zh-CN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CA" altLang="zh-CN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𝜌</m:t>
                            </m:r>
                          </m:e>
                        </m:acc>
                      </m:e>
                      <m:sub>
                        <m:r>
                          <a:rPr lang="en-CA" altLang="zh-CN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  <m:r>
                          <a:rPr lang="en-CA" altLang="zh-CN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|</m:t>
                        </m:r>
                        <m:r>
                          <a:rPr lang="en-CA" altLang="zh-CN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sub>
                      <m:sup>
                        <m:r>
                          <a:rPr lang="en-CA" altLang="zh-CN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sup>
                    </m:sSubSup>
                    <m:r>
                      <a:rPr lang="en-CA" altLang="zh-CN" sz="1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CA" sz="1200" dirty="0"/>
                  <a:t>:=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A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CA" sz="1200">
                            <a:latin typeface="Cambria Math" panose="02040503050406030204" pitchFamily="18" charset="0"/>
                          </a:rPr>
                          <m:t>tr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CA" sz="1200" b="0" i="0" smtClean="0">
                            <a:latin typeface="Cambria Math" panose="02040503050406030204" pitchFamily="18" charset="0"/>
                          </a:rPr>
                          <m:t>B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CA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CA" sz="12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CA" sz="1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lang="en-CA" sz="1200">
                                    <a:latin typeface="Cambria Math" panose="02040503050406030204" pitchFamily="18" charset="0"/>
                                  </a:rPr>
                                  <m:t>I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CA" sz="1200" b="0" i="0" smtClean="0">
                                    <a:latin typeface="Cambria Math" panose="02040503050406030204" pitchFamily="18" charset="0"/>
                                  </a:rPr>
                                  <m:t>A</m:t>
                                </m:r>
                              </m:sup>
                            </m:sSup>
                            <m:r>
                              <a:rPr lang="en-CA" sz="1200" i="1">
                                <a:latin typeface="Cambria Math" panose="02040503050406030204" pitchFamily="18" charset="0"/>
                              </a:rPr>
                              <m:t>⊗</m:t>
                            </m:r>
                            <m:sSubSup>
                              <m:sSubSupPr>
                                <m:ctrlPr>
                                  <a:rPr lang="en-CA" sz="1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CA" sz="1200" i="1">
                                    <a:latin typeface="Cambria Math" panose="02040503050406030204" pitchFamily="18" charset="0"/>
                                  </a:rPr>
                                  <m:t>𝑀</m:t>
                                </m:r>
                              </m:e>
                              <m:sub>
                                <m:r>
                                  <a:rPr lang="en-CA" sz="1200" i="1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  <m:r>
                                  <a:rPr lang="en-CA" sz="1200" i="1"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  <m:r>
                                  <a:rPr lang="en-CA" sz="12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sub>
                              <m:sup>
                                <m:r>
                                  <a:rPr lang="en-CA" sz="1200" b="0" i="1" smtClean="0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sup>
                            </m:sSubSup>
                          </m:e>
                        </m:d>
                        <m:sSup>
                          <m:sSupPr>
                            <m:ctrlPr>
                              <a:rPr lang="en-CA" sz="12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CA" sz="1200" i="1">
                                <a:latin typeface="Cambria Math" panose="02040503050406030204" pitchFamily="18" charset="0"/>
                              </a:rPr>
                              <m:t>𝜌</m:t>
                            </m:r>
                          </m:e>
                          <m:sup>
                            <m:r>
                              <a:rPr lang="en-CA" sz="1200" b="0" i="1" smtClean="0">
                                <a:latin typeface="Cambria Math" panose="02040503050406030204" pitchFamily="18" charset="0"/>
                              </a:rPr>
                              <m:t>𝐴𝐵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sz="1200" dirty="0"/>
                  <a:t> </a:t>
                </a:r>
              </a:p>
              <a:p>
                <a:pPr lvl="1"/>
                <a:endParaRPr lang="en-US" sz="1200" dirty="0"/>
              </a:p>
              <a:p>
                <a:r>
                  <a:rPr lang="en-US" sz="1200" i="1" dirty="0"/>
                  <a:t>5. </a:t>
                </a:r>
                <a14:m>
                  <m:oMath xmlns:m="http://schemas.openxmlformats.org/officeDocument/2006/math">
                    <m:r>
                      <a:rPr lang="en-CA" sz="1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  </m:t>
                    </m:r>
                    <m:sSub>
                      <m:sSubPr>
                        <m:ctrlPr>
                          <a:rPr lang="en-CA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𝕆</m:t>
                        </m:r>
                      </m:e>
                      <m:sub>
                        <m:acc>
                          <m:accPr>
                            <m:chr m:val="̃"/>
                            <m:ctrlPr>
                              <a:rPr lang="en-CA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CA" sz="12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P</m:t>
                            </m:r>
                          </m:e>
                        </m:acc>
                      </m:sub>
                    </m:sSub>
                    <m:r>
                      <a:rPr lang="en-US" altLang="zh-CN" sz="1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CA" altLang="zh-CN" sz="1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{{</m:t>
                    </m:r>
                    <m:sSub>
                      <m:sSubPr>
                        <m:ctrlPr>
                          <a:rPr lang="en-CA" altLang="zh-CN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altLang="zh-CN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𝜉</m:t>
                        </m:r>
                      </m:e>
                      <m:sub>
                        <m:r>
                          <a:rPr lang="en-CA" altLang="zh-CN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𝑎𝑏𝑥𝑦</m:t>
                        </m:r>
                      </m:sub>
                    </m:sSub>
                    <m:r>
                      <a:rPr lang="en-CA" altLang="zh-CN" sz="1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}|</m:t>
                    </m:r>
                    <m:sSup>
                      <m:sSupPr>
                        <m:ctrlPr>
                          <a:rPr lang="en-CA" altLang="zh-CN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altLang="zh-CN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𝜌</m:t>
                        </m:r>
                      </m:e>
                      <m:sup>
                        <m:r>
                          <a:rPr lang="en-CA" altLang="zh-CN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𝐴𝐵</m:t>
                        </m:r>
                      </m:sup>
                    </m:sSup>
                    <m:r>
                      <a:rPr lang="en-CA" altLang="zh-CN" sz="1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CA" altLang="zh-CN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CA" altLang="zh-CN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𝑎𝑏𝑥𝑦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CA" altLang="zh-CN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altLang="zh-CN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𝜉</m:t>
                            </m:r>
                          </m:e>
                          <m:sub>
                            <m:r>
                              <a:rPr lang="en-CA" altLang="zh-CN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𝑎𝑏𝑥𝑦</m:t>
                            </m:r>
                          </m:sub>
                        </m:sSub>
                        <m:sSubSup>
                          <m:sSubSupPr>
                            <m:ctrlPr>
                              <a:rPr lang="en-CA" altLang="zh-CN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acc>
                              <m:accPr>
                                <m:chr m:val="̃"/>
                                <m:ctrlPr>
                                  <a:rPr lang="en-CA" altLang="zh-CN" sz="1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CA" altLang="zh-CN" sz="1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𝜌</m:t>
                                </m:r>
                              </m:e>
                            </m:acc>
                          </m:e>
                          <m:sub>
                            <m:r>
                              <a:rPr lang="en-CA" altLang="zh-CN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en-CA" altLang="zh-CN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CA" altLang="zh-CN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sub>
                          <m:sup>
                            <m:r>
                              <a:rPr lang="en-CA" altLang="zh-CN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𝐴</m:t>
                            </m:r>
                          </m:sup>
                        </m:sSubSup>
                        <m:r>
                          <a:rPr lang="en-CA" altLang="zh-CN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⊗</m:t>
                        </m:r>
                        <m:sSubSup>
                          <m:sSubSupPr>
                            <m:ctrlPr>
                              <a:rPr lang="en-CA" altLang="zh-CN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acc>
                              <m:accPr>
                                <m:chr m:val="̃"/>
                                <m:ctrlPr>
                                  <a:rPr lang="en-CA" altLang="zh-CN" sz="1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CA" altLang="zh-CN" sz="1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𝜌</m:t>
                                </m:r>
                              </m:e>
                            </m:acc>
                          </m:e>
                          <m:sub>
                            <m:r>
                              <a:rPr lang="en-CA" altLang="zh-CN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CA" altLang="zh-CN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CA" altLang="zh-CN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sub>
                          <m:sup>
                            <m:r>
                              <a:rPr lang="en-CA" altLang="zh-CN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𝐵</m:t>
                            </m:r>
                          </m:sup>
                        </m:sSubSup>
                      </m:e>
                    </m:nary>
                    <m:r>
                      <a:rPr lang="en-CA" altLang="zh-CN" sz="1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}</m:t>
                    </m:r>
                  </m:oMath>
                </a14:m>
                <a:endParaRPr lang="en-US" sz="1200" i="1" dirty="0"/>
              </a:p>
            </p:txBody>
          </p:sp>
        </mc:Choice>
        <mc:Fallback xmlns="">
          <p:sp>
            <p:nvSpPr>
              <p:cNvPr id="119" name="TextBox 118">
                <a:extLst>
                  <a:ext uri="{FF2B5EF4-FFF2-40B4-BE49-F238E27FC236}">
                    <a16:creationId xmlns:a16="http://schemas.microsoft.com/office/drawing/2014/main" id="{3D85443B-C094-F51A-F9B2-81FFAA9867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91395" y="4008685"/>
                <a:ext cx="4471056" cy="2264081"/>
              </a:xfrm>
              <a:prstGeom prst="rect">
                <a:avLst/>
              </a:prstGeom>
              <a:blipFill>
                <a:blip r:embed="rId3"/>
                <a:stretch>
                  <a:fillRect l="-2266" t="-13408" b="-206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1" name="TextBox 120">
                <a:extLst>
                  <a:ext uri="{FF2B5EF4-FFF2-40B4-BE49-F238E27FC236}">
                    <a16:creationId xmlns:a16="http://schemas.microsoft.com/office/drawing/2014/main" id="{AD82721D-54F9-9600-C4AE-F5A694F01871}"/>
                  </a:ext>
                </a:extLst>
              </p:cNvPr>
              <p:cNvSpPr txBox="1"/>
              <p:nvPr/>
            </p:nvSpPr>
            <p:spPr>
              <a:xfrm>
                <a:off x="8192450" y="4084411"/>
                <a:ext cx="4014589" cy="216828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342900" indent="-342900">
                  <a:buFont typeface="+mj-lt"/>
                  <a:buAutoNum type="arabicPeriod"/>
                </a:pPr>
                <a:r>
                  <a:rPr lang="en-CA" altLang="zh-CN" sz="1200" b="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CA" altLang="zh-CN" sz="1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nary>
                      <m:naryPr>
                        <m:chr m:val="∑"/>
                        <m:supHide m:val="on"/>
                        <m:ctrlPr>
                          <a:rPr lang="en-CA" altLang="zh-CN" sz="12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CA" altLang="zh-CN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  <m:r>
                          <a:rPr lang="en-CA" altLang="zh-CN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CA" altLang="zh-CN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CA" altLang="zh-CN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altLang="zh-CN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CA" altLang="zh-CN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CA" altLang="zh-CN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CA" altLang="zh-CN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e>
                    </m:nary>
                    <m:r>
                      <a:rPr lang="en-CA" sz="1200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CA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sz="12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e>
                        <m:r>
                          <a:rPr lang="en-CA" sz="12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CA" sz="12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CA" sz="12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1200" i="1"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CA" sz="12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</m:e>
                    </m:d>
                    <m:r>
                      <a:rPr lang="en-CA" sz="1200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sz="1200" dirty="0"/>
              </a:p>
              <a:p>
                <a:pPr marL="342900" indent="-342900">
                  <a:buFont typeface="+mj-lt"/>
                  <a:buAutoNum type="arabicPeriod"/>
                </a:pPr>
                <a:endParaRPr lang="en-US" sz="1200" dirty="0"/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CA" altLang="zh-CN" sz="12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CA" altLang="zh-CN" sz="12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nary>
                      <m:naryPr>
                        <m:chr m:val="∑"/>
                        <m:supHide m:val="on"/>
                        <m:ctrlPr>
                          <a:rPr lang="en-CA" altLang="zh-CN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CA" altLang="zh-CN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  <m:r>
                          <a:rPr lang="en-CA" altLang="zh-CN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CA" altLang="zh-CN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CA" altLang="zh-CN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altLang="zh-CN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CA" altLang="zh-CN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en-CA" altLang="zh-CN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CA" altLang="zh-CN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e>
                    </m:nary>
                    <m:r>
                      <a:rPr lang="en-CA" sz="1200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CA" sz="12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CA" sz="1200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CA" sz="1200" i="1">
                        <a:latin typeface="Cambria Math" panose="02040503050406030204" pitchFamily="18" charset="0"/>
                      </a:rPr>
                      <m:t>|</m:t>
                    </m:r>
                    <m:r>
                      <a:rPr lang="en-CA" sz="12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CA" sz="12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CA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sz="1200" i="1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CA" sz="12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en-CA" sz="1200" i="1">
                        <a:latin typeface="Cambria Math" panose="02040503050406030204" pitchFamily="18" charset="0"/>
                      </a:rPr>
                      <m:t>)=0</m:t>
                    </m:r>
                  </m:oMath>
                </a14:m>
                <a:endParaRPr lang="en-CA" sz="1200" i="1" dirty="0">
                  <a:latin typeface="Cambria Math" panose="02040503050406030204" pitchFamily="18" charset="0"/>
                </a:endParaRPr>
              </a:p>
              <a:p>
                <a:pPr marL="342900" indent="-342900">
                  <a:buFont typeface="+mj-lt"/>
                  <a:buAutoNum type="arabicPeriod"/>
                </a:pPr>
                <a:endParaRPr lang="en-CA" sz="1200" i="1" dirty="0">
                  <a:latin typeface="Cambria Math" panose="02040503050406030204" pitchFamily="18" charset="0"/>
                </a:endParaRP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CA" altLang="zh-CN" sz="1200" b="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CA" altLang="zh-CN" sz="1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nary>
                      <m:naryPr>
                        <m:chr m:val="∑"/>
                        <m:supHide m:val="on"/>
                        <m:ctrlPr>
                          <a:rPr lang="en-CA" altLang="zh-CN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CA" altLang="zh-CN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  <m:r>
                          <a:rPr lang="en-CA" altLang="zh-CN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CA" altLang="zh-CN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CA" altLang="zh-CN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altLang="zh-CN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𝛾</m:t>
                            </m:r>
                          </m:e>
                          <m:sub>
                            <m:r>
                              <a:rPr lang="en-CA" altLang="zh-CN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CA" altLang="zh-CN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CA" altLang="zh-CN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e>
                    </m:nary>
                    <m:acc>
                      <m:accPr>
                        <m:chr m:val="̃"/>
                        <m:ctrlPr>
                          <a:rPr lang="en-CA" altLang="zh-CN" sz="12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CA" altLang="zh-CN" sz="12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</m:acc>
                    <m:d>
                      <m:dPr>
                        <m:ctrlPr>
                          <a:rPr lang="en-CA" altLang="zh-CN" sz="12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CA" altLang="zh-CN" sz="1200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altLang="zh-CN" sz="1200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CA" altLang="zh-CN" sz="1200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CA" altLang="zh-CN" sz="1200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CA" altLang="zh-CN" sz="1200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</m:e>
                      <m:e>
                        <m:r>
                          <a:rPr lang="en-CA" altLang="zh-CN" sz="12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CA" altLang="zh-CN" sz="1200" b="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CA" sz="1200" i="1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n-CA" sz="1200" i="1" dirty="0">
                  <a:latin typeface="Cambria Math" panose="02040503050406030204" pitchFamily="18" charset="0"/>
                </a:endParaRPr>
              </a:p>
              <a:p>
                <a:pPr lvl="1"/>
                <a:r>
                  <a:rPr lang="en-CA" altLang="zh-CN" sz="1200" b="0" dirty="0">
                    <a:solidFill>
                      <a:prstClr val="black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CA" altLang="zh-CN" sz="12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CA" altLang="zh-CN" sz="12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</m:acc>
                    <m:d>
                      <m:dPr>
                        <m:ctrlPr>
                          <a:rPr lang="en-CA" altLang="zh-CN" sz="1200" b="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CA" altLang="zh-CN" sz="1200" b="0" i="1" dirty="0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altLang="zh-CN" sz="1200" b="0" i="1" dirty="0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CA" altLang="zh-CN" sz="1200" b="0" i="1" dirty="0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CA" altLang="zh-CN" sz="1200" b="0" i="1" dirty="0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CA" altLang="zh-CN" sz="1200" b="0" i="1" dirty="0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</m:e>
                      <m:e>
                        <m:r>
                          <a:rPr lang="en-CA" altLang="zh-CN" sz="1200" b="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CA" altLang="zh-CN" sz="1200" b="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≔</m:t>
                    </m:r>
                    <m:nary>
                      <m:naryPr>
                        <m:chr m:val="∑"/>
                        <m:limLoc m:val="subSup"/>
                        <m:supHide m:val="on"/>
                        <m:ctrlPr>
                          <a:rPr lang="en-CA" altLang="zh-CN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sSub>
                          <m:sSubPr>
                            <m:ctrlPr>
                              <a:rPr lang="en-CA" altLang="zh-CN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altLang="zh-CN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CA" altLang="zh-CN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</m:sub>
                      <m:sup/>
                      <m:e>
                        <m:r>
                          <a:rPr lang="en-US" sz="1200" i="1" ker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sz="1200" i="1" ker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1200" i="1" ker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i="1" ker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CA" sz="1200" i="1" ker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  <m:sSub>
                          <m:sSubPr>
                            <m:ctrlPr>
                              <a:rPr lang="en-US" sz="1200" i="1" ker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i="1" ker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CA" sz="1200" i="1" ker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  <m:r>
                          <a:rPr lang="en-US" sz="1200" i="1" ker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CA" sz="12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CA" sz="12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CA" sz="12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CA" sz="12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CA" sz="12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CA" sz="12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CA" sz="12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12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CA" sz="12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  <m:r>
                          <a:rPr lang="en-CA" sz="12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endParaRPr lang="en-US" sz="1200" dirty="0"/>
              </a:p>
              <a:p>
                <a:pPr lvl="1"/>
                <a:endParaRPr lang="en-US" sz="1200" dirty="0"/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CA" altLang="zh-CN" sz="1200" b="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CA" altLang="zh-CN" sz="1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nary>
                      <m:naryPr>
                        <m:chr m:val="∑"/>
                        <m:supHide m:val="on"/>
                        <m:ctrlPr>
                          <a:rPr lang="en-CA" altLang="zh-CN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CA" altLang="zh-CN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  <m:r>
                          <a:rPr lang="en-CA" altLang="zh-CN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CA" altLang="zh-CN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CA" altLang="zh-CN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altLang="zh-CN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𝜂</m:t>
                            </m:r>
                          </m:e>
                          <m:sub>
                            <m:r>
                              <a:rPr lang="en-CA" altLang="zh-CN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en-CA" altLang="zh-CN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CA" altLang="zh-CN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e>
                    </m:nary>
                    <m:acc>
                      <m:accPr>
                        <m:chr m:val="̃"/>
                        <m:ctrlPr>
                          <a:rPr lang="en-CA" altLang="zh-CN" sz="12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CA" altLang="zh-CN" sz="12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</m:acc>
                    <m:d>
                      <m:dPr>
                        <m:ctrlPr>
                          <a:rPr lang="en-CA" altLang="zh-CN" sz="12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CA" altLang="zh-CN" sz="1200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altLang="zh-CN" sz="1200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en-CA" altLang="zh-CN" sz="1200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CA" altLang="zh-CN" sz="1200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CA" altLang="zh-CN" sz="1200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</m:e>
                      <m:e>
                        <m:r>
                          <a:rPr lang="en-CA" altLang="zh-CN" sz="12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CA" altLang="zh-CN" sz="1200" b="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CA" sz="1200" i="1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n-CA" sz="1200" dirty="0"/>
              </a:p>
              <a:p>
                <a:pPr lvl="1"/>
                <a:r>
                  <a:rPr lang="en-CA" altLang="zh-CN" sz="1200" dirty="0">
                    <a:solidFill>
                      <a:prstClr val="black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CA" altLang="zh-CN" sz="12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CA" altLang="zh-CN" sz="12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</m:acc>
                    <m:d>
                      <m:dPr>
                        <m:ctrlPr>
                          <a:rPr lang="en-CA" altLang="zh-CN" sz="12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CA" altLang="zh-CN" sz="1200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altLang="zh-CN" sz="1200" b="0" i="1" dirty="0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en-CA" altLang="zh-CN" sz="1200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CA" altLang="zh-CN" sz="1200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CA" altLang="zh-CN" sz="1200" b="0" i="1" dirty="0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</m:e>
                      <m:e>
                        <m:r>
                          <a:rPr lang="en-CA" altLang="zh-CN" sz="1200" b="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CA" altLang="zh-CN" sz="1200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≔</m:t>
                    </m:r>
                    <m:nary>
                      <m:naryPr>
                        <m:chr m:val="∑"/>
                        <m:limLoc m:val="subSup"/>
                        <m:supHide m:val="on"/>
                        <m:ctrlPr>
                          <a:rPr lang="en-CA" altLang="zh-CN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sSub>
                          <m:sSubPr>
                            <m:ctrlPr>
                              <a:rPr lang="en-CA" altLang="zh-CN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altLang="zh-CN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CA" altLang="zh-CN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</m:sub>
                      <m:sup/>
                      <m:e>
                        <m:r>
                          <a:rPr lang="en-US" sz="1200" i="1" ker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sz="1200" i="1" ker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1200" i="1" ker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i="1" ker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CA" sz="1200" i="1" ker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  <m:sSub>
                          <m:sSubPr>
                            <m:ctrlPr>
                              <a:rPr lang="en-US" sz="1200" i="1" ker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i="1" ker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CA" sz="1200" i="1" ker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  <m:r>
                          <a:rPr lang="en-US" sz="1200" i="1" ker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CA" sz="1200" i="1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CA" sz="12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CA" sz="1200" i="1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CA" sz="1200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CA" sz="1200" i="1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CA" sz="12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CA" sz="1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1200" i="1"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CA" sz="1200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  <m:r>
                          <a:rPr lang="en-CA" sz="1200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endParaRPr lang="en-US" sz="1200" i="1" dirty="0"/>
              </a:p>
              <a:p>
                <a:pPr lvl="1"/>
                <a:endParaRPr lang="en-US" sz="1200" i="1" dirty="0"/>
              </a:p>
              <a:p>
                <a:r>
                  <a:rPr lang="en-US" sz="1200" dirty="0"/>
                  <a:t>5.        </a:t>
                </a:r>
                <a14:m>
                  <m:oMath xmlns:m="http://schemas.openxmlformats.org/officeDocument/2006/math">
                    <m:r>
                      <a:rPr lang="en-US" sz="1200" i="1" ker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sz="1200" i="1" ker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200" i="1" ker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i="1" ker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CA" sz="1200" i="1" ker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  <m:sSub>
                          <m:sSubPr>
                            <m:ctrlPr>
                              <a:rPr lang="en-US" sz="1200" i="1" ker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i="1" ker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CA" sz="1200" i="1" ker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</m:e>
                    </m:d>
                    <m:r>
                      <a:rPr lang="en-CA" sz="1200" b="0" i="1" kern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CA" altLang="zh-CN" sz="12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CA" altLang="zh-CN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CA" altLang="zh-CN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𝑎𝑏𝑥𝑦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CA" altLang="zh-CN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altLang="zh-CN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𝜉</m:t>
                            </m:r>
                          </m:e>
                          <m:sub>
                            <m:r>
                              <a:rPr lang="en-CA" altLang="zh-CN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𝑎𝑏𝑥𝑦</m:t>
                            </m:r>
                          </m:sub>
                        </m:sSub>
                        <m:acc>
                          <m:accPr>
                            <m:chr m:val="̃"/>
                            <m:ctrlPr>
                              <a:rPr lang="en-CA" altLang="zh-CN" sz="12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CA" altLang="zh-CN" sz="12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e>
                        </m:acc>
                        <m:d>
                          <m:dPr>
                            <m:ctrlPr>
                              <a:rPr lang="en-CA" altLang="zh-CN" sz="1200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CA" altLang="zh-CN" sz="1200" i="1" dirty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CA" altLang="zh-CN" sz="1200" i="1" dirty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𝑏</m:t>
                                </m:r>
                                <m:r>
                                  <a:rPr lang="en-CA" altLang="zh-CN" sz="1200" i="1" dirty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CA" altLang="zh-CN" sz="1200" i="1" dirty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𝜆</m:t>
                                </m:r>
                              </m:e>
                              <m:sub>
                                <m:r>
                                  <a:rPr lang="en-CA" altLang="zh-CN" sz="1200" i="1" dirty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𝐴</m:t>
                                </m:r>
                              </m:sub>
                            </m:sSub>
                          </m:e>
                          <m:e>
                            <m:r>
                              <a:rPr lang="en-CA" altLang="zh-CN" sz="1200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</m:e>
                    </m:nary>
                    <m:acc>
                      <m:accPr>
                        <m:chr m:val="̃"/>
                        <m:ctrlPr>
                          <a:rPr lang="en-CA" altLang="zh-CN" sz="12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CA" altLang="zh-CN" sz="12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</m:acc>
                    <m:d>
                      <m:dPr>
                        <m:ctrlPr>
                          <a:rPr lang="en-CA" altLang="zh-CN" sz="12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CA" altLang="zh-CN" sz="1200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altLang="zh-CN" sz="1200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CA" altLang="zh-CN" sz="1200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CA" altLang="zh-CN" sz="1200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CA" altLang="zh-CN" sz="1200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</m:e>
                      <m:e>
                        <m:r>
                          <a:rPr lang="en-CA" altLang="zh-CN" sz="12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endParaRPr lang="en-US" sz="1200" dirty="0"/>
              </a:p>
            </p:txBody>
          </p:sp>
        </mc:Choice>
        <mc:Fallback xmlns="">
          <p:sp>
            <p:nvSpPr>
              <p:cNvPr id="121" name="TextBox 120">
                <a:extLst>
                  <a:ext uri="{FF2B5EF4-FFF2-40B4-BE49-F238E27FC236}">
                    <a16:creationId xmlns:a16="http://schemas.microsoft.com/office/drawing/2014/main" id="{AD82721D-54F9-9600-C4AE-F5A694F018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92450" y="4084411"/>
                <a:ext cx="4014589" cy="2168286"/>
              </a:xfrm>
              <a:prstGeom prst="rect">
                <a:avLst/>
              </a:prstGeom>
              <a:blipFill>
                <a:blip r:embed="rId4"/>
                <a:stretch>
                  <a:fillRect l="-2532" t="-14535" b="-197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2" name="Right Arrow 121">
            <a:extLst>
              <a:ext uri="{FF2B5EF4-FFF2-40B4-BE49-F238E27FC236}">
                <a16:creationId xmlns:a16="http://schemas.microsoft.com/office/drawing/2014/main" id="{9EE110C5-1825-77A5-7790-130C1B61626F}"/>
              </a:ext>
            </a:extLst>
          </p:cNvPr>
          <p:cNvSpPr/>
          <p:nvPr/>
        </p:nvSpPr>
        <p:spPr>
          <a:xfrm>
            <a:off x="7488512" y="3780167"/>
            <a:ext cx="509286" cy="406135"/>
          </a:xfrm>
          <a:prstGeom prst="right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003277CC-24DF-1E4C-00F2-F7274C90B9E6}"/>
              </a:ext>
            </a:extLst>
          </p:cNvPr>
          <p:cNvSpPr txBox="1"/>
          <p:nvPr/>
        </p:nvSpPr>
        <p:spPr>
          <a:xfrm>
            <a:off x="0" y="397103"/>
            <a:ext cx="119137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</a:rPr>
              <a:t>Classical bipartite state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24105C-FC61-CAD3-8221-40493712A7D0}"/>
              </a:ext>
            </a:extLst>
          </p:cNvPr>
          <p:cNvSpPr txBox="1"/>
          <p:nvPr/>
        </p:nvSpPr>
        <p:spPr>
          <a:xfrm>
            <a:off x="9733767" y="2604429"/>
            <a:ext cx="21219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70C0"/>
                </a:solidFill>
              </a:rPr>
              <a:t>(diagram-preservation)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3C82710-FFC9-77EC-63BD-3EEDA1BED0C9}"/>
              </a:ext>
            </a:extLst>
          </p:cNvPr>
          <p:cNvSpPr txBox="1"/>
          <p:nvPr/>
        </p:nvSpPr>
        <p:spPr>
          <a:xfrm>
            <a:off x="11135020" y="4989838"/>
            <a:ext cx="10569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70C0"/>
                </a:solidFill>
              </a:rPr>
              <a:t>(linearity)</a:t>
            </a:r>
          </a:p>
        </p:txBody>
      </p: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AE26E55A-2E91-8489-A359-9DC2483C9255}"/>
              </a:ext>
            </a:extLst>
          </p:cNvPr>
          <p:cNvCxnSpPr/>
          <p:nvPr/>
        </p:nvCxnSpPr>
        <p:spPr>
          <a:xfrm>
            <a:off x="2720605" y="5341786"/>
            <a:ext cx="0" cy="160276"/>
          </a:xfrm>
          <a:prstGeom prst="line">
            <a:avLst/>
          </a:prstGeom>
          <a:noFill/>
          <a:ln w="15875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58B5A154-B5C2-5509-FAB4-7C1B108AAF3B}"/>
                  </a:ext>
                </a:extLst>
              </p:cNvPr>
              <p:cNvSpPr txBox="1"/>
              <p:nvPr/>
            </p:nvSpPr>
            <p:spPr>
              <a:xfrm>
                <a:off x="2697482" y="5315029"/>
                <a:ext cx="204800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altLang="zh-CN" sz="12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16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mc:Choice>
        <mc:Fallback xmlns="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58B5A154-B5C2-5509-FAB4-7C1B108AAF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97482" y="5315029"/>
                <a:ext cx="204800" cy="276999"/>
              </a:xfrm>
              <a:prstGeom prst="rect">
                <a:avLst/>
              </a:prstGeom>
              <a:blipFill>
                <a:blip r:embed="rId5"/>
                <a:stretch>
                  <a:fillRect r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71B3604A-69ED-780A-7BD7-BD718B6BBEAB}"/>
              </a:ext>
            </a:extLst>
          </p:cNvPr>
          <p:cNvCxnSpPr>
            <a:cxnSpLocks/>
          </p:cNvCxnSpPr>
          <p:nvPr/>
        </p:nvCxnSpPr>
        <p:spPr>
          <a:xfrm>
            <a:off x="1294497" y="5699107"/>
            <a:ext cx="0" cy="138387"/>
          </a:xfrm>
          <a:prstGeom prst="line">
            <a:avLst/>
          </a:prstGeom>
          <a:noFill/>
          <a:ln w="15875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8" name="TextBox 107">
                <a:extLst>
                  <a:ext uri="{FF2B5EF4-FFF2-40B4-BE49-F238E27FC236}">
                    <a16:creationId xmlns:a16="http://schemas.microsoft.com/office/drawing/2014/main" id="{2F38D909-AB4D-EEDA-0C21-93D58CB7565E}"/>
                  </a:ext>
                </a:extLst>
              </p:cNvPr>
              <p:cNvSpPr txBox="1"/>
              <p:nvPr/>
            </p:nvSpPr>
            <p:spPr>
              <a:xfrm>
                <a:off x="1266261" y="5598821"/>
                <a:ext cx="221791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12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12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16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mc:Choice>
        <mc:Fallback xmlns="">
          <p:sp>
            <p:nvSpPr>
              <p:cNvPr id="108" name="TextBox 107">
                <a:extLst>
                  <a:ext uri="{FF2B5EF4-FFF2-40B4-BE49-F238E27FC236}">
                    <a16:creationId xmlns:a16="http://schemas.microsoft.com/office/drawing/2014/main" id="{2F38D909-AB4D-EEDA-0C21-93D58CB756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6261" y="5598821"/>
                <a:ext cx="221791" cy="276999"/>
              </a:xfrm>
              <a:prstGeom prst="rect">
                <a:avLst/>
              </a:prstGeom>
              <a:blipFill>
                <a:blip r:embed="rId6"/>
                <a:stretch>
                  <a:fillRect r="-26316" b="-86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9" name="Straight Connector 108">
            <a:extLst>
              <a:ext uri="{FF2B5EF4-FFF2-40B4-BE49-F238E27FC236}">
                <a16:creationId xmlns:a16="http://schemas.microsoft.com/office/drawing/2014/main" id="{2375F45C-FDF9-B644-A03A-EA1265A7374D}"/>
              </a:ext>
            </a:extLst>
          </p:cNvPr>
          <p:cNvCxnSpPr/>
          <p:nvPr/>
        </p:nvCxnSpPr>
        <p:spPr>
          <a:xfrm>
            <a:off x="1336850" y="5346533"/>
            <a:ext cx="0" cy="160276"/>
          </a:xfrm>
          <a:prstGeom prst="line">
            <a:avLst/>
          </a:prstGeom>
          <a:noFill/>
          <a:ln w="15875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0" name="TextBox 109">
                <a:extLst>
                  <a:ext uri="{FF2B5EF4-FFF2-40B4-BE49-F238E27FC236}">
                    <a16:creationId xmlns:a16="http://schemas.microsoft.com/office/drawing/2014/main" id="{91FF55AE-F14A-FD3B-93E7-2F13D783CCB2}"/>
                  </a:ext>
                </a:extLst>
              </p:cNvPr>
              <p:cNvSpPr txBox="1"/>
              <p:nvPr/>
            </p:nvSpPr>
            <p:spPr>
              <a:xfrm>
                <a:off x="1313727" y="5294018"/>
                <a:ext cx="204800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altLang="zh-CN" sz="12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sz="16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mc:Choice>
        <mc:Fallback xmlns="">
          <p:sp>
            <p:nvSpPr>
              <p:cNvPr id="110" name="TextBox 109">
                <a:extLst>
                  <a:ext uri="{FF2B5EF4-FFF2-40B4-BE49-F238E27FC236}">
                    <a16:creationId xmlns:a16="http://schemas.microsoft.com/office/drawing/2014/main" id="{91FF55AE-F14A-FD3B-93E7-2F13D783CC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3727" y="5294018"/>
                <a:ext cx="204800" cy="276999"/>
              </a:xfrm>
              <a:prstGeom prst="rect">
                <a:avLst/>
              </a:prstGeom>
              <a:blipFill>
                <a:blip r:embed="rId7"/>
                <a:stretch>
                  <a:fillRect r="-11765" b="-4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1" name="Straight Connector 110">
            <a:extLst>
              <a:ext uri="{FF2B5EF4-FFF2-40B4-BE49-F238E27FC236}">
                <a16:creationId xmlns:a16="http://schemas.microsoft.com/office/drawing/2014/main" id="{DABEE661-CCC4-BB6E-11A3-CBE3C3F612AF}"/>
              </a:ext>
            </a:extLst>
          </p:cNvPr>
          <p:cNvCxnSpPr/>
          <p:nvPr/>
        </p:nvCxnSpPr>
        <p:spPr>
          <a:xfrm>
            <a:off x="2539525" y="6082625"/>
            <a:ext cx="0" cy="160276"/>
          </a:xfrm>
          <a:prstGeom prst="line">
            <a:avLst/>
          </a:prstGeom>
          <a:noFill/>
          <a:ln w="15875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2" name="TextBox 111">
                <a:extLst>
                  <a:ext uri="{FF2B5EF4-FFF2-40B4-BE49-F238E27FC236}">
                    <a16:creationId xmlns:a16="http://schemas.microsoft.com/office/drawing/2014/main" id="{AB0CF0DB-8440-B2C1-1637-88194DB73688}"/>
                  </a:ext>
                </a:extLst>
              </p:cNvPr>
              <p:cNvSpPr txBox="1"/>
              <p:nvPr/>
            </p:nvSpPr>
            <p:spPr>
              <a:xfrm>
                <a:off x="2516402" y="6030110"/>
                <a:ext cx="204800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altLang="zh-CN" sz="12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sz="16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mc:Choice>
        <mc:Fallback xmlns="">
          <p:sp>
            <p:nvSpPr>
              <p:cNvPr id="112" name="TextBox 111">
                <a:extLst>
                  <a:ext uri="{FF2B5EF4-FFF2-40B4-BE49-F238E27FC236}">
                    <a16:creationId xmlns:a16="http://schemas.microsoft.com/office/drawing/2014/main" id="{AB0CF0DB-8440-B2C1-1637-88194DB736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6402" y="6030110"/>
                <a:ext cx="204800" cy="276999"/>
              </a:xfrm>
              <a:prstGeom prst="rect">
                <a:avLst/>
              </a:prstGeom>
              <a:blipFill>
                <a:blip r:embed="rId8"/>
                <a:stretch>
                  <a:fillRect r="-11765" b="-4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F4C2B951-8C1E-8E6C-E234-3084DD5C8A65}"/>
              </a:ext>
            </a:extLst>
          </p:cNvPr>
          <p:cNvCxnSpPr/>
          <p:nvPr/>
        </p:nvCxnSpPr>
        <p:spPr>
          <a:xfrm>
            <a:off x="1165886" y="6082625"/>
            <a:ext cx="0" cy="160276"/>
          </a:xfrm>
          <a:prstGeom prst="line">
            <a:avLst/>
          </a:prstGeom>
          <a:noFill/>
          <a:ln w="15875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4" name="TextBox 113">
                <a:extLst>
                  <a:ext uri="{FF2B5EF4-FFF2-40B4-BE49-F238E27FC236}">
                    <a16:creationId xmlns:a16="http://schemas.microsoft.com/office/drawing/2014/main" id="{A9F7C5C0-D606-B46D-83A1-FCD0BD10BFEE}"/>
                  </a:ext>
                </a:extLst>
              </p:cNvPr>
              <p:cNvSpPr txBox="1"/>
              <p:nvPr/>
            </p:nvSpPr>
            <p:spPr>
              <a:xfrm>
                <a:off x="1142763" y="6030110"/>
                <a:ext cx="204800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altLang="zh-CN" sz="12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16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mc:Choice>
        <mc:Fallback xmlns="">
          <p:sp>
            <p:nvSpPr>
              <p:cNvPr id="114" name="TextBox 113">
                <a:extLst>
                  <a:ext uri="{FF2B5EF4-FFF2-40B4-BE49-F238E27FC236}">
                    <a16:creationId xmlns:a16="http://schemas.microsoft.com/office/drawing/2014/main" id="{A9F7C5C0-D606-B46D-83A1-FCD0BD10BF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2763" y="6030110"/>
                <a:ext cx="204800" cy="27699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0" name="Straight Connector 119">
            <a:extLst>
              <a:ext uri="{FF2B5EF4-FFF2-40B4-BE49-F238E27FC236}">
                <a16:creationId xmlns:a16="http://schemas.microsoft.com/office/drawing/2014/main" id="{44D040DD-DF09-5CE9-0838-45AA5AB20E43}"/>
              </a:ext>
            </a:extLst>
          </p:cNvPr>
          <p:cNvCxnSpPr/>
          <p:nvPr/>
        </p:nvCxnSpPr>
        <p:spPr>
          <a:xfrm>
            <a:off x="2875335" y="4031252"/>
            <a:ext cx="0" cy="160276"/>
          </a:xfrm>
          <a:prstGeom prst="line">
            <a:avLst/>
          </a:prstGeom>
          <a:noFill/>
          <a:ln w="15875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3" name="TextBox 122">
                <a:extLst>
                  <a:ext uri="{FF2B5EF4-FFF2-40B4-BE49-F238E27FC236}">
                    <a16:creationId xmlns:a16="http://schemas.microsoft.com/office/drawing/2014/main" id="{6A5ACE4D-E21C-EAA4-C51E-12EDAD509D3D}"/>
                  </a:ext>
                </a:extLst>
              </p:cNvPr>
              <p:cNvSpPr txBox="1"/>
              <p:nvPr/>
            </p:nvSpPr>
            <p:spPr>
              <a:xfrm>
                <a:off x="2823182" y="3978737"/>
                <a:ext cx="204800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altLang="zh-CN" sz="12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sz="16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mc:Choice>
        <mc:Fallback xmlns="">
          <p:sp>
            <p:nvSpPr>
              <p:cNvPr id="123" name="TextBox 122">
                <a:extLst>
                  <a:ext uri="{FF2B5EF4-FFF2-40B4-BE49-F238E27FC236}">
                    <a16:creationId xmlns:a16="http://schemas.microsoft.com/office/drawing/2014/main" id="{6A5ACE4D-E21C-EAA4-C51E-12EDAD509D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23182" y="3978737"/>
                <a:ext cx="204800" cy="276999"/>
              </a:xfrm>
              <a:prstGeom prst="rect">
                <a:avLst/>
              </a:prstGeom>
              <a:blipFill>
                <a:blip r:embed="rId10"/>
                <a:stretch>
                  <a:fillRect r="-117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5" name="Straight Connector 124">
            <a:extLst>
              <a:ext uri="{FF2B5EF4-FFF2-40B4-BE49-F238E27FC236}">
                <a16:creationId xmlns:a16="http://schemas.microsoft.com/office/drawing/2014/main" id="{758E1BAF-16A0-4DC4-2E38-F94B0F315DA3}"/>
              </a:ext>
            </a:extLst>
          </p:cNvPr>
          <p:cNvCxnSpPr/>
          <p:nvPr/>
        </p:nvCxnSpPr>
        <p:spPr>
          <a:xfrm>
            <a:off x="2240135" y="3888059"/>
            <a:ext cx="0" cy="160276"/>
          </a:xfrm>
          <a:prstGeom prst="line">
            <a:avLst/>
          </a:prstGeom>
          <a:noFill/>
          <a:ln w="15875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6" name="TextBox 125">
                <a:extLst>
                  <a:ext uri="{FF2B5EF4-FFF2-40B4-BE49-F238E27FC236}">
                    <a16:creationId xmlns:a16="http://schemas.microsoft.com/office/drawing/2014/main" id="{08249040-42E2-CB73-D443-04D61FA69709}"/>
                  </a:ext>
                </a:extLst>
              </p:cNvPr>
              <p:cNvSpPr txBox="1"/>
              <p:nvPr/>
            </p:nvSpPr>
            <p:spPr>
              <a:xfrm>
                <a:off x="2217012" y="3835544"/>
                <a:ext cx="204800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altLang="zh-CN" sz="12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16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mc:Choice>
        <mc:Fallback xmlns="">
          <p:sp>
            <p:nvSpPr>
              <p:cNvPr id="126" name="TextBox 125">
                <a:extLst>
                  <a:ext uri="{FF2B5EF4-FFF2-40B4-BE49-F238E27FC236}">
                    <a16:creationId xmlns:a16="http://schemas.microsoft.com/office/drawing/2014/main" id="{08249040-42E2-CB73-D443-04D61FA697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17012" y="3835544"/>
                <a:ext cx="204800" cy="276999"/>
              </a:xfrm>
              <a:prstGeom prst="rect">
                <a:avLst/>
              </a:prstGeom>
              <a:blipFill>
                <a:blip r:embed="rId11"/>
                <a:stretch>
                  <a:fillRect r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7" name="Straight Connector 126">
            <a:extLst>
              <a:ext uri="{FF2B5EF4-FFF2-40B4-BE49-F238E27FC236}">
                <a16:creationId xmlns:a16="http://schemas.microsoft.com/office/drawing/2014/main" id="{15EC83F1-E1EC-BC91-32CA-BEBCD16AB9E8}"/>
              </a:ext>
            </a:extLst>
          </p:cNvPr>
          <p:cNvCxnSpPr/>
          <p:nvPr/>
        </p:nvCxnSpPr>
        <p:spPr>
          <a:xfrm>
            <a:off x="1596448" y="3873778"/>
            <a:ext cx="0" cy="160276"/>
          </a:xfrm>
          <a:prstGeom prst="line">
            <a:avLst/>
          </a:prstGeom>
          <a:noFill/>
          <a:ln w="15875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8" name="TextBox 127">
                <a:extLst>
                  <a:ext uri="{FF2B5EF4-FFF2-40B4-BE49-F238E27FC236}">
                    <a16:creationId xmlns:a16="http://schemas.microsoft.com/office/drawing/2014/main" id="{C462381D-85AA-0BB3-8415-35EFC4CDF3EB}"/>
                  </a:ext>
                </a:extLst>
              </p:cNvPr>
              <p:cNvSpPr txBox="1"/>
              <p:nvPr/>
            </p:nvSpPr>
            <p:spPr>
              <a:xfrm>
                <a:off x="1573325" y="3821263"/>
                <a:ext cx="204800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altLang="zh-CN" sz="12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sz="16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mc:Choice>
        <mc:Fallback xmlns="">
          <p:sp>
            <p:nvSpPr>
              <p:cNvPr id="128" name="TextBox 127">
                <a:extLst>
                  <a:ext uri="{FF2B5EF4-FFF2-40B4-BE49-F238E27FC236}">
                    <a16:creationId xmlns:a16="http://schemas.microsoft.com/office/drawing/2014/main" id="{C462381D-85AA-0BB3-8415-35EFC4CDF3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3325" y="3821263"/>
                <a:ext cx="204800" cy="276999"/>
              </a:xfrm>
              <a:prstGeom prst="rect">
                <a:avLst/>
              </a:prstGeom>
              <a:blipFill>
                <a:blip r:embed="rId12"/>
                <a:stretch>
                  <a:fillRect r="-11111" b="-4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0" name="TextBox 129">
                <a:extLst>
                  <a:ext uri="{FF2B5EF4-FFF2-40B4-BE49-F238E27FC236}">
                    <a16:creationId xmlns:a16="http://schemas.microsoft.com/office/drawing/2014/main" id="{F65E2A7C-5EAB-AE94-CE72-59E1D7143610}"/>
                  </a:ext>
                </a:extLst>
              </p:cNvPr>
              <p:cNvSpPr txBox="1"/>
              <p:nvPr/>
            </p:nvSpPr>
            <p:spPr>
              <a:xfrm>
                <a:off x="938503" y="3970088"/>
                <a:ext cx="204800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altLang="zh-CN" sz="12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16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mc:Choice>
        <mc:Fallback xmlns="">
          <p:sp>
            <p:nvSpPr>
              <p:cNvPr id="130" name="TextBox 129">
                <a:extLst>
                  <a:ext uri="{FF2B5EF4-FFF2-40B4-BE49-F238E27FC236}">
                    <a16:creationId xmlns:a16="http://schemas.microsoft.com/office/drawing/2014/main" id="{F65E2A7C-5EAB-AE94-CE72-59E1D71436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8503" y="3970088"/>
                <a:ext cx="204800" cy="276999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1" name="TextBox 130">
                <a:extLst>
                  <a:ext uri="{FF2B5EF4-FFF2-40B4-BE49-F238E27FC236}">
                    <a16:creationId xmlns:a16="http://schemas.microsoft.com/office/drawing/2014/main" id="{5408BE29-8E11-4D8B-C8C0-CDF8CF3AB03C}"/>
                  </a:ext>
                </a:extLst>
              </p:cNvPr>
              <p:cNvSpPr txBox="1"/>
              <p:nvPr/>
            </p:nvSpPr>
            <p:spPr>
              <a:xfrm>
                <a:off x="849979" y="5460323"/>
                <a:ext cx="348264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12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CA" sz="12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</m:oMath>
                  </m:oMathPara>
                </a14:m>
                <a:endParaRPr lang="en-US" sz="10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mc:Choice>
        <mc:Fallback xmlns="">
          <p:sp>
            <p:nvSpPr>
              <p:cNvPr id="131" name="TextBox 130">
                <a:extLst>
                  <a:ext uri="{FF2B5EF4-FFF2-40B4-BE49-F238E27FC236}">
                    <a16:creationId xmlns:a16="http://schemas.microsoft.com/office/drawing/2014/main" id="{5408BE29-8E11-4D8B-C8C0-CDF8CF3AB0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9979" y="5460323"/>
                <a:ext cx="348264" cy="276999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2" name="Straight Connector 131">
            <a:extLst>
              <a:ext uri="{FF2B5EF4-FFF2-40B4-BE49-F238E27FC236}">
                <a16:creationId xmlns:a16="http://schemas.microsoft.com/office/drawing/2014/main" id="{A9FC9EA2-1F6D-763F-6651-AB415A48FAFC}"/>
              </a:ext>
            </a:extLst>
          </p:cNvPr>
          <p:cNvCxnSpPr>
            <a:cxnSpLocks/>
            <a:stCxn id="133" idx="2"/>
          </p:cNvCxnSpPr>
          <p:nvPr/>
        </p:nvCxnSpPr>
        <p:spPr>
          <a:xfrm>
            <a:off x="1157043" y="5379473"/>
            <a:ext cx="1853" cy="504006"/>
          </a:xfrm>
          <a:prstGeom prst="line">
            <a:avLst/>
          </a:prstGeom>
          <a:noFill/>
          <a:ln w="15875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3" name="Rectangle: Rounded Corners 89">
                <a:extLst>
                  <a:ext uri="{FF2B5EF4-FFF2-40B4-BE49-F238E27FC236}">
                    <a16:creationId xmlns:a16="http://schemas.microsoft.com/office/drawing/2014/main" id="{3B8056D9-A988-FCAA-1B5C-12D3E8C46A23}"/>
                  </a:ext>
                </a:extLst>
              </p:cNvPr>
              <p:cNvSpPr/>
              <p:nvPr/>
            </p:nvSpPr>
            <p:spPr>
              <a:xfrm>
                <a:off x="831823" y="5110298"/>
                <a:ext cx="650440" cy="269175"/>
              </a:xfrm>
              <a:prstGeom prst="roundRect">
                <a:avLst/>
              </a:prstGeom>
              <a:solidFill>
                <a:srgbClr val="70AD47">
                  <a:lumMod val="40000"/>
                  <a:lumOff val="60000"/>
                  <a:alpha val="96000"/>
                </a:srgbClr>
              </a:solidFill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0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𝑝</m:t>
                      </m:r>
                      <m:r>
                        <a:rPr kumimoji="0" lang="en-US" sz="10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(</m:t>
                      </m:r>
                      <m:r>
                        <a:rPr kumimoji="0" lang="en-CA" sz="10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𝑏</m:t>
                      </m:r>
                      <m:r>
                        <a:rPr kumimoji="0" lang="en-US" sz="10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|</m:t>
                      </m:r>
                      <m:r>
                        <a:rPr kumimoji="0" lang="en-CA" sz="10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𝑦</m:t>
                      </m:r>
                      <m:r>
                        <a:rPr kumimoji="0" lang="en-CA" sz="10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,</m:t>
                      </m:r>
                      <m:sSub>
                        <m:sSubPr>
                          <m:ctrlPr>
                            <a:rPr kumimoji="0" lang="en-CA" sz="10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CA" sz="10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𝜆</m:t>
                          </m:r>
                        </m:e>
                        <m:sub>
                          <m:r>
                            <a:rPr kumimoji="0" lang="en-CA" sz="10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𝐵</m:t>
                          </m:r>
                        </m:sub>
                      </m:sSub>
                      <m:r>
                        <a:rPr kumimoji="0" lang="en-US" sz="10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)</m:t>
                      </m:r>
                    </m:oMath>
                  </m:oMathPara>
                </a14:m>
                <a:endPara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33" name="Rectangle: Rounded Corners 89">
                <a:extLst>
                  <a:ext uri="{FF2B5EF4-FFF2-40B4-BE49-F238E27FC236}">
                    <a16:creationId xmlns:a16="http://schemas.microsoft.com/office/drawing/2014/main" id="{3B8056D9-A988-FCAA-1B5C-12D3E8C46A2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1823" y="5110298"/>
                <a:ext cx="650440" cy="269175"/>
              </a:xfrm>
              <a:prstGeom prst="roundRect">
                <a:avLst/>
              </a:prstGeom>
              <a:blipFill>
                <a:blip r:embed="rId15"/>
                <a:stretch>
                  <a:fillRect/>
                </a:stretch>
              </a:blipFill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4" name="Rectangle: Rounded Corners 98">
                <a:extLst>
                  <a:ext uri="{FF2B5EF4-FFF2-40B4-BE49-F238E27FC236}">
                    <a16:creationId xmlns:a16="http://schemas.microsoft.com/office/drawing/2014/main" id="{85AA3733-401C-EF9F-16FD-C39A1BD04352}"/>
                  </a:ext>
                </a:extLst>
              </p:cNvPr>
              <p:cNvSpPr/>
              <p:nvPr/>
            </p:nvSpPr>
            <p:spPr>
              <a:xfrm>
                <a:off x="831823" y="5832457"/>
                <a:ext cx="650440" cy="269175"/>
              </a:xfrm>
              <a:prstGeom prst="roundRect">
                <a:avLst/>
              </a:prstGeom>
              <a:solidFill>
                <a:srgbClr val="70AD47">
                  <a:lumMod val="40000"/>
                  <a:lumOff val="60000"/>
                  <a:alpha val="96000"/>
                </a:srgbClr>
              </a:solidFill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̃"/>
                          <m:ctrlPr>
                            <a:rPr kumimoji="0" lang="en-CA" sz="10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accPr>
                        <m:e>
                          <m:r>
                            <a:rPr kumimoji="0" lang="en-US" sz="10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𝑝</m:t>
                          </m:r>
                        </m:e>
                      </m:acc>
                      <m:r>
                        <a:rPr kumimoji="0" lang="en-US" sz="10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(</m:t>
                      </m:r>
                      <m:r>
                        <a:rPr kumimoji="0" lang="en-CA" sz="10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𝑎</m:t>
                      </m:r>
                      <m:r>
                        <a:rPr kumimoji="0" lang="en-CA" sz="10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,</m:t>
                      </m:r>
                      <m:sSub>
                        <m:sSubPr>
                          <m:ctrlPr>
                            <a:rPr kumimoji="0" lang="en-US" sz="1000" b="0" i="1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1000" b="0" i="1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𝜆</m:t>
                          </m:r>
                        </m:e>
                        <m:sub>
                          <m:r>
                            <a:rPr kumimoji="0" lang="en-CA" sz="10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𝐴</m:t>
                          </m:r>
                        </m:sub>
                      </m:sSub>
                      <m:r>
                        <a:rPr kumimoji="0" lang="en-CA" sz="10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|</m:t>
                      </m:r>
                      <m:r>
                        <a:rPr kumimoji="0" lang="en-CA" sz="10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𝑥</m:t>
                      </m:r>
                      <m:r>
                        <a:rPr kumimoji="0" lang="en-US" sz="10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)</m:t>
                      </m:r>
                    </m:oMath>
                  </m:oMathPara>
                </a14:m>
                <a:endPara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34" name="Rectangle: Rounded Corners 98">
                <a:extLst>
                  <a:ext uri="{FF2B5EF4-FFF2-40B4-BE49-F238E27FC236}">
                    <a16:creationId xmlns:a16="http://schemas.microsoft.com/office/drawing/2014/main" id="{85AA3733-401C-EF9F-16FD-C39A1BD0435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1823" y="5832457"/>
                <a:ext cx="650440" cy="269175"/>
              </a:xfrm>
              <a:prstGeom prst="roundRect">
                <a:avLst/>
              </a:prstGeom>
              <a:blipFill>
                <a:blip r:embed="rId16"/>
                <a:stretch>
                  <a:fillRect/>
                </a:stretch>
              </a:blipFill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5" name="TextBox 134">
                <a:extLst>
                  <a:ext uri="{FF2B5EF4-FFF2-40B4-BE49-F238E27FC236}">
                    <a16:creationId xmlns:a16="http://schemas.microsoft.com/office/drawing/2014/main" id="{703D4F84-018C-6D2D-8932-4A5B7E5F8BC3}"/>
                  </a:ext>
                </a:extLst>
              </p:cNvPr>
              <p:cNvSpPr txBox="1"/>
              <p:nvPr/>
            </p:nvSpPr>
            <p:spPr>
              <a:xfrm>
                <a:off x="2229259" y="5460322"/>
                <a:ext cx="290731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12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CA" sz="12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</m:oMath>
                  </m:oMathPara>
                </a14:m>
                <a:endParaRPr lang="en-US" sz="10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mc:Choice>
        <mc:Fallback xmlns="">
          <p:sp>
            <p:nvSpPr>
              <p:cNvPr id="135" name="TextBox 134">
                <a:extLst>
                  <a:ext uri="{FF2B5EF4-FFF2-40B4-BE49-F238E27FC236}">
                    <a16:creationId xmlns:a16="http://schemas.microsoft.com/office/drawing/2014/main" id="{703D4F84-018C-6D2D-8932-4A5B7E5F8B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29259" y="5460322"/>
                <a:ext cx="290731" cy="276999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6" name="Straight Connector 135">
            <a:extLst>
              <a:ext uri="{FF2B5EF4-FFF2-40B4-BE49-F238E27FC236}">
                <a16:creationId xmlns:a16="http://schemas.microsoft.com/office/drawing/2014/main" id="{BC253FCA-80C8-E4CE-A0CE-36AB8BC792AE}"/>
              </a:ext>
            </a:extLst>
          </p:cNvPr>
          <p:cNvCxnSpPr>
            <a:cxnSpLocks/>
            <a:stCxn id="137" idx="2"/>
          </p:cNvCxnSpPr>
          <p:nvPr/>
        </p:nvCxnSpPr>
        <p:spPr>
          <a:xfrm>
            <a:off x="2534132" y="5375663"/>
            <a:ext cx="1853" cy="504006"/>
          </a:xfrm>
          <a:prstGeom prst="line">
            <a:avLst/>
          </a:prstGeom>
          <a:noFill/>
          <a:ln w="15875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7" name="Rectangle: Rounded Corners 123">
                <a:extLst>
                  <a:ext uri="{FF2B5EF4-FFF2-40B4-BE49-F238E27FC236}">
                    <a16:creationId xmlns:a16="http://schemas.microsoft.com/office/drawing/2014/main" id="{CBC7F320-9DDF-B673-F98A-A00641DC5AA2}"/>
                  </a:ext>
                </a:extLst>
              </p:cNvPr>
              <p:cNvSpPr/>
              <p:nvPr/>
            </p:nvSpPr>
            <p:spPr>
              <a:xfrm>
                <a:off x="2208912" y="5106488"/>
                <a:ext cx="650440" cy="269175"/>
              </a:xfrm>
              <a:prstGeom prst="roundRect">
                <a:avLst/>
              </a:prstGeom>
              <a:solidFill>
                <a:srgbClr val="70AD47">
                  <a:lumMod val="40000"/>
                  <a:lumOff val="60000"/>
                  <a:alpha val="96000"/>
                </a:srgbClr>
              </a:solidFill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0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𝑝</m:t>
                      </m:r>
                      <m:r>
                        <a:rPr kumimoji="0" lang="en-US" sz="10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(</m:t>
                      </m:r>
                      <m:r>
                        <a:rPr kumimoji="0" lang="en-CA" sz="10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𝑎</m:t>
                      </m:r>
                      <m:r>
                        <a:rPr kumimoji="0" lang="en-US" sz="10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|</m:t>
                      </m:r>
                      <m:r>
                        <a:rPr kumimoji="0" lang="en-CA" sz="10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𝑥</m:t>
                      </m:r>
                      <m:r>
                        <a:rPr kumimoji="0" lang="en-CA" sz="10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,</m:t>
                      </m:r>
                      <m:sSub>
                        <m:sSubPr>
                          <m:ctrlPr>
                            <a:rPr kumimoji="0" lang="en-CA" sz="10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CA" sz="10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𝜆</m:t>
                          </m:r>
                        </m:e>
                        <m:sub>
                          <m:r>
                            <a:rPr kumimoji="0" lang="en-CA" sz="10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𝐴</m:t>
                          </m:r>
                        </m:sub>
                      </m:sSub>
                      <m:r>
                        <a:rPr kumimoji="0" lang="en-US" sz="10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)</m:t>
                      </m:r>
                    </m:oMath>
                  </m:oMathPara>
                </a14:m>
                <a:endPara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37" name="Rectangle: Rounded Corners 123">
                <a:extLst>
                  <a:ext uri="{FF2B5EF4-FFF2-40B4-BE49-F238E27FC236}">
                    <a16:creationId xmlns:a16="http://schemas.microsoft.com/office/drawing/2014/main" id="{CBC7F320-9DDF-B673-F98A-A00641DC5AA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8912" y="5106488"/>
                <a:ext cx="650440" cy="269175"/>
              </a:xfrm>
              <a:prstGeom prst="roundRect">
                <a:avLst/>
              </a:prstGeom>
              <a:blipFill>
                <a:blip r:embed="rId18"/>
                <a:stretch>
                  <a:fillRect/>
                </a:stretch>
              </a:blipFill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8" name="Rectangle: Rounded Corners 124">
                <a:extLst>
                  <a:ext uri="{FF2B5EF4-FFF2-40B4-BE49-F238E27FC236}">
                    <a16:creationId xmlns:a16="http://schemas.microsoft.com/office/drawing/2014/main" id="{A71B5A44-9DFF-03C6-A780-D842263EF076}"/>
                  </a:ext>
                </a:extLst>
              </p:cNvPr>
              <p:cNvSpPr/>
              <p:nvPr/>
            </p:nvSpPr>
            <p:spPr>
              <a:xfrm>
                <a:off x="2208912" y="5828647"/>
                <a:ext cx="650440" cy="269175"/>
              </a:xfrm>
              <a:prstGeom prst="roundRect">
                <a:avLst/>
              </a:prstGeom>
              <a:solidFill>
                <a:srgbClr val="70AD47">
                  <a:lumMod val="40000"/>
                  <a:lumOff val="60000"/>
                  <a:alpha val="96000"/>
                </a:srgbClr>
              </a:solidFill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̃"/>
                          <m:ctrlPr>
                            <a:rPr kumimoji="0" lang="en-CA" sz="10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accPr>
                        <m:e>
                          <m:r>
                            <a:rPr kumimoji="0" lang="en-US" sz="10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𝑝</m:t>
                          </m:r>
                        </m:e>
                      </m:acc>
                      <m:r>
                        <a:rPr kumimoji="0" lang="en-US" sz="10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(</m:t>
                      </m:r>
                      <m:r>
                        <a:rPr kumimoji="0" lang="en-CA" sz="10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𝑏</m:t>
                      </m:r>
                      <m:sSub>
                        <m:sSubPr>
                          <m:ctrlPr>
                            <a:rPr kumimoji="0" lang="en-US" sz="1000" b="0" i="1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CA" sz="10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,</m:t>
                          </m:r>
                          <m:r>
                            <a:rPr kumimoji="0" lang="en-US" sz="1000" b="0" i="1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𝜆</m:t>
                          </m:r>
                        </m:e>
                        <m:sub>
                          <m:r>
                            <a:rPr kumimoji="0" lang="en-CA" sz="10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𝐴</m:t>
                          </m:r>
                        </m:sub>
                      </m:sSub>
                      <m:r>
                        <a:rPr kumimoji="0" lang="en-CA" sz="10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|</m:t>
                      </m:r>
                      <m:r>
                        <a:rPr kumimoji="0" lang="en-CA" sz="10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𝑦</m:t>
                      </m:r>
                      <m:r>
                        <a:rPr kumimoji="0" lang="en-US" sz="10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)</m:t>
                      </m:r>
                    </m:oMath>
                  </m:oMathPara>
                </a14:m>
                <a:endPara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38" name="Rectangle: Rounded Corners 124">
                <a:extLst>
                  <a:ext uri="{FF2B5EF4-FFF2-40B4-BE49-F238E27FC236}">
                    <a16:creationId xmlns:a16="http://schemas.microsoft.com/office/drawing/2014/main" id="{A71B5A44-9DFF-03C6-A780-D842263EF07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8912" y="5828647"/>
                <a:ext cx="650440" cy="269175"/>
              </a:xfrm>
              <a:prstGeom prst="roundRect">
                <a:avLst/>
              </a:prstGeom>
              <a:blipFill>
                <a:blip r:embed="rId19"/>
                <a:stretch>
                  <a:fillRect/>
                </a:stretch>
              </a:blipFill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9" name="TextBox 138">
                <a:extLst>
                  <a:ext uri="{FF2B5EF4-FFF2-40B4-BE49-F238E27FC236}">
                    <a16:creationId xmlns:a16="http://schemas.microsoft.com/office/drawing/2014/main" id="{C88A1F08-EA66-B891-716D-90F33CD07D80}"/>
                  </a:ext>
                </a:extLst>
              </p:cNvPr>
              <p:cNvSpPr txBox="1"/>
              <p:nvPr/>
            </p:nvSpPr>
            <p:spPr>
              <a:xfrm>
                <a:off x="828592" y="3541463"/>
                <a:ext cx="246689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12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12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16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mc:Choice>
        <mc:Fallback xmlns="">
          <p:sp>
            <p:nvSpPr>
              <p:cNvPr id="139" name="TextBox 138">
                <a:extLst>
                  <a:ext uri="{FF2B5EF4-FFF2-40B4-BE49-F238E27FC236}">
                    <a16:creationId xmlns:a16="http://schemas.microsoft.com/office/drawing/2014/main" id="{C88A1F08-EA66-B891-716D-90F33CD07D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8592" y="3541463"/>
                <a:ext cx="246689" cy="276999"/>
              </a:xfrm>
              <a:prstGeom prst="rect">
                <a:avLst/>
              </a:prstGeom>
              <a:blipFill>
                <a:blip r:embed="rId20"/>
                <a:stretch>
                  <a:fillRect r="-20000" b="-86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40" name="Group 139">
            <a:extLst>
              <a:ext uri="{FF2B5EF4-FFF2-40B4-BE49-F238E27FC236}">
                <a16:creationId xmlns:a16="http://schemas.microsoft.com/office/drawing/2014/main" id="{DC2D3CD9-DDEF-1BA7-6B26-9E0576AE7566}"/>
              </a:ext>
            </a:extLst>
          </p:cNvPr>
          <p:cNvGrpSpPr/>
          <p:nvPr/>
        </p:nvGrpSpPr>
        <p:grpSpPr>
          <a:xfrm>
            <a:off x="1456092" y="3915563"/>
            <a:ext cx="45719" cy="342004"/>
            <a:chOff x="6548130" y="2237014"/>
            <a:chExt cx="49658" cy="440872"/>
          </a:xfrm>
        </p:grpSpPr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BFEB0ABE-950F-DAF3-26F0-320895C24A26}"/>
                </a:ext>
              </a:extLst>
            </p:cNvPr>
            <p:cNvCxnSpPr>
              <a:cxnSpLocks/>
            </p:cNvCxnSpPr>
            <p:nvPr/>
          </p:nvCxnSpPr>
          <p:spPr>
            <a:xfrm>
              <a:off x="6548130" y="2237014"/>
              <a:ext cx="0" cy="440872"/>
            </a:xfrm>
            <a:prstGeom prst="line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cxn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B9975598-A04F-A7F9-7180-6167BF2B4992}"/>
                </a:ext>
              </a:extLst>
            </p:cNvPr>
            <p:cNvCxnSpPr>
              <a:cxnSpLocks/>
            </p:cNvCxnSpPr>
            <p:nvPr/>
          </p:nvCxnSpPr>
          <p:spPr>
            <a:xfrm>
              <a:off x="6597788" y="2237014"/>
              <a:ext cx="0" cy="440872"/>
            </a:xfrm>
            <a:prstGeom prst="line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cxnSp>
      </p:grpSp>
      <p:sp>
        <p:nvSpPr>
          <p:cNvPr id="143" name="Flowchart: Delay 90">
            <a:extLst>
              <a:ext uri="{FF2B5EF4-FFF2-40B4-BE49-F238E27FC236}">
                <a16:creationId xmlns:a16="http://schemas.microsoft.com/office/drawing/2014/main" id="{0872AC8D-A683-9506-AB3A-503EF9CF959A}"/>
              </a:ext>
            </a:extLst>
          </p:cNvPr>
          <p:cNvSpPr/>
          <p:nvPr/>
        </p:nvSpPr>
        <p:spPr>
          <a:xfrm rot="16200000">
            <a:off x="1331668" y="3576770"/>
            <a:ext cx="309789" cy="367797"/>
          </a:xfrm>
          <a:prstGeom prst="flowChartDelay">
            <a:avLst/>
          </a:prstGeom>
          <a:solidFill>
            <a:srgbClr val="FFC000">
              <a:lumMod val="40000"/>
              <a:lumOff val="60000"/>
            </a:srgbClr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eaVert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4" name="TextBox 143">
                <a:extLst>
                  <a:ext uri="{FF2B5EF4-FFF2-40B4-BE49-F238E27FC236}">
                    <a16:creationId xmlns:a16="http://schemas.microsoft.com/office/drawing/2014/main" id="{2C6E246F-C873-3C3F-D582-555BD6E926DD}"/>
                  </a:ext>
                </a:extLst>
              </p:cNvPr>
              <p:cNvSpPr txBox="1"/>
              <p:nvPr/>
            </p:nvSpPr>
            <p:spPr>
              <a:xfrm>
                <a:off x="1461584" y="3394143"/>
                <a:ext cx="246689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12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sz="12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16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mc:Choice>
        <mc:Fallback xmlns="">
          <p:sp>
            <p:nvSpPr>
              <p:cNvPr id="144" name="TextBox 143">
                <a:extLst>
                  <a:ext uri="{FF2B5EF4-FFF2-40B4-BE49-F238E27FC236}">
                    <a16:creationId xmlns:a16="http://schemas.microsoft.com/office/drawing/2014/main" id="{2C6E246F-C873-3C3F-D582-555BD6E926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1584" y="3394143"/>
                <a:ext cx="246689" cy="276999"/>
              </a:xfrm>
              <a:prstGeom prst="rect">
                <a:avLst/>
              </a:prstGeom>
              <a:blipFill>
                <a:blip r:embed="rId21"/>
                <a:stretch>
                  <a:fillRect r="-15000" b="-90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45" name="Group 144">
            <a:extLst>
              <a:ext uri="{FF2B5EF4-FFF2-40B4-BE49-F238E27FC236}">
                <a16:creationId xmlns:a16="http://schemas.microsoft.com/office/drawing/2014/main" id="{8AB3C3CE-572D-7A3D-06A7-91AE89758ACF}"/>
              </a:ext>
            </a:extLst>
          </p:cNvPr>
          <p:cNvGrpSpPr/>
          <p:nvPr/>
        </p:nvGrpSpPr>
        <p:grpSpPr>
          <a:xfrm>
            <a:off x="840870" y="3915563"/>
            <a:ext cx="45719" cy="332480"/>
            <a:chOff x="6548130" y="2237014"/>
            <a:chExt cx="49658" cy="440872"/>
          </a:xfrm>
        </p:grpSpPr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E4C61922-069E-0A5A-59D0-3394CEC5C14B}"/>
                </a:ext>
              </a:extLst>
            </p:cNvPr>
            <p:cNvCxnSpPr>
              <a:cxnSpLocks/>
            </p:cNvCxnSpPr>
            <p:nvPr/>
          </p:nvCxnSpPr>
          <p:spPr>
            <a:xfrm>
              <a:off x="6548130" y="2237014"/>
              <a:ext cx="0" cy="440872"/>
            </a:xfrm>
            <a:prstGeom prst="line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49561455-FC92-556C-CAF8-3825A298F177}"/>
                </a:ext>
              </a:extLst>
            </p:cNvPr>
            <p:cNvCxnSpPr>
              <a:cxnSpLocks/>
            </p:cNvCxnSpPr>
            <p:nvPr/>
          </p:nvCxnSpPr>
          <p:spPr>
            <a:xfrm>
              <a:off x="6597788" y="2237014"/>
              <a:ext cx="0" cy="440872"/>
            </a:xfrm>
            <a:prstGeom prst="line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cxnSp>
      </p:grpSp>
      <p:sp>
        <p:nvSpPr>
          <p:cNvPr id="148" name="Flowchart: Delay 95">
            <a:extLst>
              <a:ext uri="{FF2B5EF4-FFF2-40B4-BE49-F238E27FC236}">
                <a16:creationId xmlns:a16="http://schemas.microsoft.com/office/drawing/2014/main" id="{3D441A75-A3A9-1FD0-6190-D6F654E99746}"/>
              </a:ext>
            </a:extLst>
          </p:cNvPr>
          <p:cNvSpPr/>
          <p:nvPr/>
        </p:nvSpPr>
        <p:spPr>
          <a:xfrm rot="16200000">
            <a:off x="705007" y="3724090"/>
            <a:ext cx="309789" cy="367797"/>
          </a:xfrm>
          <a:prstGeom prst="flowChartDelay">
            <a:avLst/>
          </a:prstGeom>
          <a:solidFill>
            <a:srgbClr val="FFC000">
              <a:lumMod val="40000"/>
              <a:lumOff val="60000"/>
            </a:srgbClr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eaVert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0" dirty="0">
                <a:solidFill>
                  <a:prstClr val="black"/>
                </a:solidFill>
                <a:latin typeface="Calibri" panose="020F0502020204030204"/>
              </a:rPr>
              <a:t>N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49" name="Straight Connector 148">
            <a:extLst>
              <a:ext uri="{FF2B5EF4-FFF2-40B4-BE49-F238E27FC236}">
                <a16:creationId xmlns:a16="http://schemas.microsoft.com/office/drawing/2014/main" id="{E58B6391-9EEA-85CF-2DB5-AE667100C055}"/>
              </a:ext>
            </a:extLst>
          </p:cNvPr>
          <p:cNvCxnSpPr>
            <a:cxnSpLocks/>
          </p:cNvCxnSpPr>
          <p:nvPr/>
        </p:nvCxnSpPr>
        <p:spPr>
          <a:xfrm>
            <a:off x="859684" y="3638935"/>
            <a:ext cx="0" cy="114159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p:cxnSp>
        <p:nvCxnSpPr>
          <p:cNvPr id="150" name="Straight Connector 149">
            <a:extLst>
              <a:ext uri="{FF2B5EF4-FFF2-40B4-BE49-F238E27FC236}">
                <a16:creationId xmlns:a16="http://schemas.microsoft.com/office/drawing/2014/main" id="{6820FABE-A92B-5D49-AF87-7599051E0168}"/>
              </a:ext>
            </a:extLst>
          </p:cNvPr>
          <p:cNvCxnSpPr>
            <a:cxnSpLocks/>
          </p:cNvCxnSpPr>
          <p:nvPr/>
        </p:nvCxnSpPr>
        <p:spPr>
          <a:xfrm>
            <a:off x="1486562" y="3491615"/>
            <a:ext cx="0" cy="114159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1" name="Flowchart: Delay 99">
                <a:extLst>
                  <a:ext uri="{FF2B5EF4-FFF2-40B4-BE49-F238E27FC236}">
                    <a16:creationId xmlns:a16="http://schemas.microsoft.com/office/drawing/2014/main" id="{926DC69C-5D41-1DDE-E6D8-A5F1CC12510A}"/>
                  </a:ext>
                </a:extLst>
              </p:cNvPr>
              <p:cNvSpPr/>
              <p:nvPr/>
            </p:nvSpPr>
            <p:spPr>
              <a:xfrm rot="5400000">
                <a:off x="1053637" y="3874854"/>
                <a:ext cx="277001" cy="1032270"/>
              </a:xfrm>
              <a:prstGeom prst="flowChartDelay">
                <a:avLst/>
              </a:prstGeom>
              <a:solidFill>
                <a:srgbClr val="FFE699"/>
              </a:solidFill>
              <a:ln w="15875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vert="vert270"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0" lang="en-US" sz="14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en-US" sz="14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𝜌</m:t>
                          </m:r>
                        </m:e>
                        <m:sup>
                          <m:r>
                            <a:rPr kumimoji="0" lang="en-CA" sz="14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𝐴𝐵</m:t>
                          </m:r>
                        </m:sup>
                      </m:sSup>
                    </m:oMath>
                  </m:oMathPara>
                </a14:m>
                <a:endParaRPr kumimoji="0" lang="en-US" sz="700" b="0" i="1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 Math" panose="02040503050406030204" pitchFamily="18" charset="0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51" name="Flowchart: Delay 99">
                <a:extLst>
                  <a:ext uri="{FF2B5EF4-FFF2-40B4-BE49-F238E27FC236}">
                    <a16:creationId xmlns:a16="http://schemas.microsoft.com/office/drawing/2014/main" id="{926DC69C-5D41-1DDE-E6D8-A5F1CC12510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1053637" y="3874854"/>
                <a:ext cx="277001" cy="1032270"/>
              </a:xfrm>
              <a:prstGeom prst="flowChartDelay">
                <a:avLst/>
              </a:prstGeom>
              <a:blipFill>
                <a:blip r:embed="rId22"/>
                <a:stretch>
                  <a:fillRect/>
                </a:stretch>
              </a:blipFill>
              <a:ln w="15875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2" name="TextBox 151">
                <a:extLst>
                  <a:ext uri="{FF2B5EF4-FFF2-40B4-BE49-F238E27FC236}">
                    <a16:creationId xmlns:a16="http://schemas.microsoft.com/office/drawing/2014/main" id="{AF582C91-2303-A314-D24F-EF6EC5ABD60A}"/>
                  </a:ext>
                </a:extLst>
              </p:cNvPr>
              <p:cNvSpPr txBox="1"/>
              <p:nvPr/>
            </p:nvSpPr>
            <p:spPr>
              <a:xfrm>
                <a:off x="2105537" y="3388742"/>
                <a:ext cx="246689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12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12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16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mc:Choice>
        <mc:Fallback xmlns="">
          <p:sp>
            <p:nvSpPr>
              <p:cNvPr id="152" name="TextBox 151">
                <a:extLst>
                  <a:ext uri="{FF2B5EF4-FFF2-40B4-BE49-F238E27FC236}">
                    <a16:creationId xmlns:a16="http://schemas.microsoft.com/office/drawing/2014/main" id="{AF582C91-2303-A314-D24F-EF6EC5ABD6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5537" y="3388742"/>
                <a:ext cx="246689" cy="276999"/>
              </a:xfrm>
              <a:prstGeom prst="rect">
                <a:avLst/>
              </a:prstGeom>
              <a:blipFill>
                <a:blip r:embed="rId23"/>
                <a:stretch>
                  <a:fillRect r="-14286" b="-86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53" name="Group 152">
            <a:extLst>
              <a:ext uri="{FF2B5EF4-FFF2-40B4-BE49-F238E27FC236}">
                <a16:creationId xmlns:a16="http://schemas.microsoft.com/office/drawing/2014/main" id="{18931C50-919B-66DD-7D75-083D1395F18C}"/>
              </a:ext>
            </a:extLst>
          </p:cNvPr>
          <p:cNvGrpSpPr/>
          <p:nvPr/>
        </p:nvGrpSpPr>
        <p:grpSpPr>
          <a:xfrm>
            <a:off x="2733037" y="3910162"/>
            <a:ext cx="45719" cy="342004"/>
            <a:chOff x="6548130" y="2237014"/>
            <a:chExt cx="49658" cy="440872"/>
          </a:xfrm>
        </p:grpSpPr>
        <p:cxnSp>
          <p:nvCxnSpPr>
            <p:cNvPr id="154" name="Straight Connector 153">
              <a:extLst>
                <a:ext uri="{FF2B5EF4-FFF2-40B4-BE49-F238E27FC236}">
                  <a16:creationId xmlns:a16="http://schemas.microsoft.com/office/drawing/2014/main" id="{3FE88E98-0D38-EC43-6FA7-185C6F06AFBE}"/>
                </a:ext>
              </a:extLst>
            </p:cNvPr>
            <p:cNvCxnSpPr>
              <a:cxnSpLocks/>
            </p:cNvCxnSpPr>
            <p:nvPr/>
          </p:nvCxnSpPr>
          <p:spPr>
            <a:xfrm>
              <a:off x="6548130" y="2237014"/>
              <a:ext cx="0" cy="440872"/>
            </a:xfrm>
            <a:prstGeom prst="line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cxnSp>
        <p:cxnSp>
          <p:nvCxnSpPr>
            <p:cNvPr id="155" name="Straight Connector 154">
              <a:extLst>
                <a:ext uri="{FF2B5EF4-FFF2-40B4-BE49-F238E27FC236}">
                  <a16:creationId xmlns:a16="http://schemas.microsoft.com/office/drawing/2014/main" id="{54F0C56B-5937-F8BA-8071-1DCB23EEB5DA}"/>
                </a:ext>
              </a:extLst>
            </p:cNvPr>
            <p:cNvCxnSpPr>
              <a:cxnSpLocks/>
            </p:cNvCxnSpPr>
            <p:nvPr/>
          </p:nvCxnSpPr>
          <p:spPr>
            <a:xfrm>
              <a:off x="6597788" y="2237014"/>
              <a:ext cx="0" cy="440872"/>
            </a:xfrm>
            <a:prstGeom prst="line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cxnSp>
      </p:grpSp>
      <p:sp>
        <p:nvSpPr>
          <p:cNvPr id="156" name="Flowchart: Delay 130">
            <a:extLst>
              <a:ext uri="{FF2B5EF4-FFF2-40B4-BE49-F238E27FC236}">
                <a16:creationId xmlns:a16="http://schemas.microsoft.com/office/drawing/2014/main" id="{82B4B556-567D-1711-95D7-73590F516ADE}"/>
              </a:ext>
            </a:extLst>
          </p:cNvPr>
          <p:cNvSpPr/>
          <p:nvPr/>
        </p:nvSpPr>
        <p:spPr>
          <a:xfrm rot="16200000">
            <a:off x="2608613" y="3728849"/>
            <a:ext cx="309789" cy="367797"/>
          </a:xfrm>
          <a:prstGeom prst="flowChartDelay">
            <a:avLst/>
          </a:prstGeom>
          <a:solidFill>
            <a:srgbClr val="FFC000">
              <a:lumMod val="40000"/>
              <a:lumOff val="60000"/>
            </a:srgbClr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eaVert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7" name="TextBox 156">
                <a:extLst>
                  <a:ext uri="{FF2B5EF4-FFF2-40B4-BE49-F238E27FC236}">
                    <a16:creationId xmlns:a16="http://schemas.microsoft.com/office/drawing/2014/main" id="{2C68C5B1-05A6-28D3-0941-4FEB9E7A743F}"/>
                  </a:ext>
                </a:extLst>
              </p:cNvPr>
              <p:cNvSpPr txBox="1"/>
              <p:nvPr/>
            </p:nvSpPr>
            <p:spPr>
              <a:xfrm>
                <a:off x="2738529" y="3546222"/>
                <a:ext cx="246689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12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sz="12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16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mc:Choice>
        <mc:Fallback xmlns="">
          <p:sp>
            <p:nvSpPr>
              <p:cNvPr id="157" name="TextBox 156">
                <a:extLst>
                  <a:ext uri="{FF2B5EF4-FFF2-40B4-BE49-F238E27FC236}">
                    <a16:creationId xmlns:a16="http://schemas.microsoft.com/office/drawing/2014/main" id="{2C68C5B1-05A6-28D3-0941-4FEB9E7A74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38529" y="3546222"/>
                <a:ext cx="246689" cy="276999"/>
              </a:xfrm>
              <a:prstGeom prst="rect">
                <a:avLst/>
              </a:prstGeom>
              <a:blipFill>
                <a:blip r:embed="rId24"/>
                <a:stretch>
                  <a:fillRect r="-14286" b="-90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58" name="Group 157">
            <a:extLst>
              <a:ext uri="{FF2B5EF4-FFF2-40B4-BE49-F238E27FC236}">
                <a16:creationId xmlns:a16="http://schemas.microsoft.com/office/drawing/2014/main" id="{193A453B-8350-7B6B-57D8-986BBEF5F046}"/>
              </a:ext>
            </a:extLst>
          </p:cNvPr>
          <p:cNvGrpSpPr/>
          <p:nvPr/>
        </p:nvGrpSpPr>
        <p:grpSpPr>
          <a:xfrm>
            <a:off x="2117815" y="3910162"/>
            <a:ext cx="45719" cy="332480"/>
            <a:chOff x="6548130" y="2237014"/>
            <a:chExt cx="49658" cy="440872"/>
          </a:xfrm>
        </p:grpSpPr>
        <p:cxnSp>
          <p:nvCxnSpPr>
            <p:cNvPr id="159" name="Straight Connector 158">
              <a:extLst>
                <a:ext uri="{FF2B5EF4-FFF2-40B4-BE49-F238E27FC236}">
                  <a16:creationId xmlns:a16="http://schemas.microsoft.com/office/drawing/2014/main" id="{AF40E190-8997-959C-1DCF-EA4AD51A3A04}"/>
                </a:ext>
              </a:extLst>
            </p:cNvPr>
            <p:cNvCxnSpPr>
              <a:cxnSpLocks/>
            </p:cNvCxnSpPr>
            <p:nvPr/>
          </p:nvCxnSpPr>
          <p:spPr>
            <a:xfrm>
              <a:off x="6548130" y="2237014"/>
              <a:ext cx="0" cy="440872"/>
            </a:xfrm>
            <a:prstGeom prst="line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cxnSp>
        <p:cxnSp>
          <p:nvCxnSpPr>
            <p:cNvPr id="160" name="Straight Connector 159">
              <a:extLst>
                <a:ext uri="{FF2B5EF4-FFF2-40B4-BE49-F238E27FC236}">
                  <a16:creationId xmlns:a16="http://schemas.microsoft.com/office/drawing/2014/main" id="{B7F4F927-BC58-CC27-08C1-1CDAF1042F8E}"/>
                </a:ext>
              </a:extLst>
            </p:cNvPr>
            <p:cNvCxnSpPr>
              <a:cxnSpLocks/>
            </p:cNvCxnSpPr>
            <p:nvPr/>
          </p:nvCxnSpPr>
          <p:spPr>
            <a:xfrm>
              <a:off x="6597788" y="2237014"/>
              <a:ext cx="0" cy="440872"/>
            </a:xfrm>
            <a:prstGeom prst="line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cxnSp>
      </p:grpSp>
      <p:sp>
        <p:nvSpPr>
          <p:cNvPr id="161" name="Flowchart: Delay 135">
            <a:extLst>
              <a:ext uri="{FF2B5EF4-FFF2-40B4-BE49-F238E27FC236}">
                <a16:creationId xmlns:a16="http://schemas.microsoft.com/office/drawing/2014/main" id="{A64D009A-E1F1-F132-5418-8B2EC0DC6EDC}"/>
              </a:ext>
            </a:extLst>
          </p:cNvPr>
          <p:cNvSpPr/>
          <p:nvPr/>
        </p:nvSpPr>
        <p:spPr>
          <a:xfrm rot="16200000">
            <a:off x="1981952" y="3571369"/>
            <a:ext cx="309789" cy="367797"/>
          </a:xfrm>
          <a:prstGeom prst="flowChartDelay">
            <a:avLst/>
          </a:prstGeom>
          <a:solidFill>
            <a:srgbClr val="FFC000">
              <a:lumMod val="40000"/>
              <a:lumOff val="60000"/>
            </a:srgbClr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eaVert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</a:t>
            </a:r>
          </a:p>
        </p:txBody>
      </p:sp>
      <p:cxnSp>
        <p:nvCxnSpPr>
          <p:cNvPr id="162" name="Straight Connector 161">
            <a:extLst>
              <a:ext uri="{FF2B5EF4-FFF2-40B4-BE49-F238E27FC236}">
                <a16:creationId xmlns:a16="http://schemas.microsoft.com/office/drawing/2014/main" id="{EE289960-4642-A860-913D-53E1E4328E2C}"/>
              </a:ext>
            </a:extLst>
          </p:cNvPr>
          <p:cNvCxnSpPr>
            <a:cxnSpLocks/>
          </p:cNvCxnSpPr>
          <p:nvPr/>
        </p:nvCxnSpPr>
        <p:spPr>
          <a:xfrm>
            <a:off x="2136629" y="3486214"/>
            <a:ext cx="0" cy="114159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p:cxnSp>
        <p:nvCxnSpPr>
          <p:cNvPr id="163" name="Straight Connector 162">
            <a:extLst>
              <a:ext uri="{FF2B5EF4-FFF2-40B4-BE49-F238E27FC236}">
                <a16:creationId xmlns:a16="http://schemas.microsoft.com/office/drawing/2014/main" id="{61F6CA04-98F9-C781-C665-5CB1BFE5D42B}"/>
              </a:ext>
            </a:extLst>
          </p:cNvPr>
          <p:cNvCxnSpPr>
            <a:cxnSpLocks/>
          </p:cNvCxnSpPr>
          <p:nvPr/>
        </p:nvCxnSpPr>
        <p:spPr>
          <a:xfrm>
            <a:off x="2763507" y="3643694"/>
            <a:ext cx="0" cy="114159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4" name="Flowchart: Delay 138">
                <a:extLst>
                  <a:ext uri="{FF2B5EF4-FFF2-40B4-BE49-F238E27FC236}">
                    <a16:creationId xmlns:a16="http://schemas.microsoft.com/office/drawing/2014/main" id="{ABD848CC-1F35-3FA9-3DF8-E722CEE11E37}"/>
                  </a:ext>
                </a:extLst>
              </p:cNvPr>
              <p:cNvSpPr/>
              <p:nvPr/>
            </p:nvSpPr>
            <p:spPr>
              <a:xfrm rot="5400000">
                <a:off x="2330582" y="3869453"/>
                <a:ext cx="277001" cy="1032270"/>
              </a:xfrm>
              <a:prstGeom prst="flowChartDelay">
                <a:avLst/>
              </a:prstGeom>
              <a:solidFill>
                <a:srgbClr val="FFE699"/>
              </a:solidFill>
              <a:ln w="15875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vert="vert270"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0" lang="en-US" sz="14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en-US" sz="14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𝜌</m:t>
                          </m:r>
                        </m:e>
                        <m:sup>
                          <m:r>
                            <a:rPr kumimoji="0" lang="en-CA" sz="14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𝐴𝐵</m:t>
                          </m:r>
                        </m:sup>
                      </m:sSup>
                    </m:oMath>
                  </m:oMathPara>
                </a14:m>
                <a:endParaRPr kumimoji="0" lang="en-US" sz="700" b="0" i="1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 Math" panose="02040503050406030204" pitchFamily="18" charset="0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64" name="Flowchart: Delay 138">
                <a:extLst>
                  <a:ext uri="{FF2B5EF4-FFF2-40B4-BE49-F238E27FC236}">
                    <a16:creationId xmlns:a16="http://schemas.microsoft.com/office/drawing/2014/main" id="{ABD848CC-1F35-3FA9-3DF8-E722CEE11E3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2330582" y="3869453"/>
                <a:ext cx="277001" cy="1032270"/>
              </a:xfrm>
              <a:prstGeom prst="flowChartDelay">
                <a:avLst/>
              </a:prstGeom>
              <a:blipFill>
                <a:blip r:embed="rId25"/>
                <a:stretch>
                  <a:fillRect/>
                </a:stretch>
              </a:blipFill>
              <a:ln w="15875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5" name="Straight Connector 164">
            <a:extLst>
              <a:ext uri="{FF2B5EF4-FFF2-40B4-BE49-F238E27FC236}">
                <a16:creationId xmlns:a16="http://schemas.microsoft.com/office/drawing/2014/main" id="{9BDE9DE3-8FCE-3E02-F373-E351C2A2DDB4}"/>
              </a:ext>
            </a:extLst>
          </p:cNvPr>
          <p:cNvCxnSpPr>
            <a:cxnSpLocks/>
          </p:cNvCxnSpPr>
          <p:nvPr/>
        </p:nvCxnSpPr>
        <p:spPr>
          <a:xfrm flipH="1">
            <a:off x="590276" y="3557461"/>
            <a:ext cx="606936" cy="0"/>
          </a:xfrm>
          <a:prstGeom prst="line">
            <a:avLst/>
          </a:prstGeom>
          <a:noFill/>
          <a:ln w="19050" cap="flat" cmpd="sng" algn="ctr">
            <a:solidFill>
              <a:srgbClr val="70AD47"/>
            </a:solidFill>
            <a:prstDash val="sysDash"/>
            <a:miter lim="800000"/>
          </a:ln>
          <a:effectLst/>
        </p:spPr>
      </p:cxnSp>
      <p:cxnSp>
        <p:nvCxnSpPr>
          <p:cNvPr id="166" name="Straight Connector 165">
            <a:extLst>
              <a:ext uri="{FF2B5EF4-FFF2-40B4-BE49-F238E27FC236}">
                <a16:creationId xmlns:a16="http://schemas.microsoft.com/office/drawing/2014/main" id="{A877C1B3-0151-6A79-4BA8-5409A9AF4FD7}"/>
              </a:ext>
            </a:extLst>
          </p:cNvPr>
          <p:cNvCxnSpPr>
            <a:cxnSpLocks/>
          </p:cNvCxnSpPr>
          <p:nvPr/>
        </p:nvCxnSpPr>
        <p:spPr>
          <a:xfrm flipH="1">
            <a:off x="611368" y="4583621"/>
            <a:ext cx="1136039" cy="0"/>
          </a:xfrm>
          <a:prstGeom prst="line">
            <a:avLst/>
          </a:prstGeom>
          <a:noFill/>
          <a:ln w="19050" cap="flat" cmpd="sng" algn="ctr">
            <a:solidFill>
              <a:srgbClr val="70AD47"/>
            </a:solidFill>
            <a:prstDash val="sysDash"/>
            <a:miter lim="800000"/>
          </a:ln>
          <a:effectLst/>
        </p:spPr>
      </p:cxnSp>
      <p:cxnSp>
        <p:nvCxnSpPr>
          <p:cNvPr id="167" name="Straight Connector 166">
            <a:extLst>
              <a:ext uri="{FF2B5EF4-FFF2-40B4-BE49-F238E27FC236}">
                <a16:creationId xmlns:a16="http://schemas.microsoft.com/office/drawing/2014/main" id="{36C991A7-760B-1BC3-F915-C0CB45106B70}"/>
              </a:ext>
            </a:extLst>
          </p:cNvPr>
          <p:cNvCxnSpPr>
            <a:cxnSpLocks/>
          </p:cNvCxnSpPr>
          <p:nvPr/>
        </p:nvCxnSpPr>
        <p:spPr>
          <a:xfrm flipH="1">
            <a:off x="1181972" y="4119323"/>
            <a:ext cx="569459" cy="0"/>
          </a:xfrm>
          <a:prstGeom prst="line">
            <a:avLst/>
          </a:prstGeom>
          <a:noFill/>
          <a:ln w="19050" cap="flat" cmpd="sng" algn="ctr">
            <a:solidFill>
              <a:srgbClr val="70AD47"/>
            </a:solidFill>
            <a:prstDash val="sysDash"/>
            <a:miter lim="800000"/>
          </a:ln>
          <a:effectLst/>
        </p:spPr>
      </p:cxnSp>
      <p:cxnSp>
        <p:nvCxnSpPr>
          <p:cNvPr id="168" name="Straight Connector 167">
            <a:extLst>
              <a:ext uri="{FF2B5EF4-FFF2-40B4-BE49-F238E27FC236}">
                <a16:creationId xmlns:a16="http://schemas.microsoft.com/office/drawing/2014/main" id="{D2AE0A02-CB0A-7039-A67A-E157ACD3642F}"/>
              </a:ext>
            </a:extLst>
          </p:cNvPr>
          <p:cNvCxnSpPr>
            <a:cxnSpLocks/>
          </p:cNvCxnSpPr>
          <p:nvPr/>
        </p:nvCxnSpPr>
        <p:spPr>
          <a:xfrm>
            <a:off x="607914" y="3585982"/>
            <a:ext cx="0" cy="997639"/>
          </a:xfrm>
          <a:prstGeom prst="line">
            <a:avLst/>
          </a:prstGeom>
          <a:noFill/>
          <a:ln w="19050" cap="flat" cmpd="sng" algn="ctr">
            <a:solidFill>
              <a:srgbClr val="70AD47"/>
            </a:solidFill>
            <a:prstDash val="sysDash"/>
            <a:miter lim="800000"/>
          </a:ln>
          <a:effectLst/>
        </p:spPr>
      </p:cxnSp>
      <p:cxnSp>
        <p:nvCxnSpPr>
          <p:cNvPr id="169" name="Straight Connector 168">
            <a:extLst>
              <a:ext uri="{FF2B5EF4-FFF2-40B4-BE49-F238E27FC236}">
                <a16:creationId xmlns:a16="http://schemas.microsoft.com/office/drawing/2014/main" id="{FD00DEE9-1356-420B-0D5C-09C288D6048C}"/>
              </a:ext>
            </a:extLst>
          </p:cNvPr>
          <p:cNvCxnSpPr>
            <a:cxnSpLocks/>
          </p:cNvCxnSpPr>
          <p:nvPr/>
        </p:nvCxnSpPr>
        <p:spPr>
          <a:xfrm>
            <a:off x="1766132" y="4119323"/>
            <a:ext cx="0" cy="464298"/>
          </a:xfrm>
          <a:prstGeom prst="line">
            <a:avLst/>
          </a:prstGeom>
          <a:noFill/>
          <a:ln w="19050" cap="flat" cmpd="sng" algn="ctr">
            <a:solidFill>
              <a:srgbClr val="70AD47"/>
            </a:solidFill>
            <a:prstDash val="sysDash"/>
            <a:miter lim="800000"/>
          </a:ln>
          <a:effectLst/>
        </p:spPr>
      </p:cxnSp>
      <p:cxnSp>
        <p:nvCxnSpPr>
          <p:cNvPr id="170" name="Straight Connector 169">
            <a:extLst>
              <a:ext uri="{FF2B5EF4-FFF2-40B4-BE49-F238E27FC236}">
                <a16:creationId xmlns:a16="http://schemas.microsoft.com/office/drawing/2014/main" id="{155ECDCF-2074-C1D8-C3E9-30A12C1FF511}"/>
              </a:ext>
            </a:extLst>
          </p:cNvPr>
          <p:cNvCxnSpPr>
            <a:cxnSpLocks/>
          </p:cNvCxnSpPr>
          <p:nvPr/>
        </p:nvCxnSpPr>
        <p:spPr>
          <a:xfrm>
            <a:off x="1192132" y="3580902"/>
            <a:ext cx="0" cy="536335"/>
          </a:xfrm>
          <a:prstGeom prst="line">
            <a:avLst/>
          </a:prstGeom>
          <a:noFill/>
          <a:ln w="19050" cap="flat" cmpd="sng" algn="ctr">
            <a:solidFill>
              <a:srgbClr val="70AD47"/>
            </a:solidFill>
            <a:prstDash val="sysDash"/>
            <a:miter lim="800000"/>
          </a:ln>
          <a:effectLst/>
        </p:spPr>
      </p:cxnSp>
      <p:cxnSp>
        <p:nvCxnSpPr>
          <p:cNvPr id="171" name="Straight Connector 170">
            <a:extLst>
              <a:ext uri="{FF2B5EF4-FFF2-40B4-BE49-F238E27FC236}">
                <a16:creationId xmlns:a16="http://schemas.microsoft.com/office/drawing/2014/main" id="{17BB59D4-E314-0DC6-AAA1-58BA8DB64229}"/>
              </a:ext>
            </a:extLst>
          </p:cNvPr>
          <p:cNvCxnSpPr>
            <a:cxnSpLocks/>
          </p:cNvCxnSpPr>
          <p:nvPr/>
        </p:nvCxnSpPr>
        <p:spPr>
          <a:xfrm>
            <a:off x="3071714" y="3568353"/>
            <a:ext cx="0" cy="997639"/>
          </a:xfrm>
          <a:prstGeom prst="line">
            <a:avLst/>
          </a:prstGeom>
          <a:noFill/>
          <a:ln w="19050" cap="flat" cmpd="sng" algn="ctr">
            <a:solidFill>
              <a:srgbClr val="70AD47"/>
            </a:solidFill>
            <a:prstDash val="sysDash"/>
            <a:miter lim="800000"/>
          </a:ln>
          <a:effectLst/>
        </p:spPr>
      </p:cxnSp>
      <p:cxnSp>
        <p:nvCxnSpPr>
          <p:cNvPr id="172" name="Straight Connector 171">
            <a:extLst>
              <a:ext uri="{FF2B5EF4-FFF2-40B4-BE49-F238E27FC236}">
                <a16:creationId xmlns:a16="http://schemas.microsoft.com/office/drawing/2014/main" id="{B441B577-D3B0-D001-7129-49FFBCB9005B}"/>
              </a:ext>
            </a:extLst>
          </p:cNvPr>
          <p:cNvCxnSpPr>
            <a:cxnSpLocks/>
          </p:cNvCxnSpPr>
          <p:nvPr/>
        </p:nvCxnSpPr>
        <p:spPr>
          <a:xfrm flipH="1">
            <a:off x="1915355" y="4581232"/>
            <a:ext cx="1136039" cy="0"/>
          </a:xfrm>
          <a:prstGeom prst="line">
            <a:avLst/>
          </a:prstGeom>
          <a:noFill/>
          <a:ln w="19050" cap="flat" cmpd="sng" algn="ctr">
            <a:solidFill>
              <a:srgbClr val="70AD47"/>
            </a:solidFill>
            <a:prstDash val="sysDash"/>
            <a:miter lim="800000"/>
          </a:ln>
          <a:effectLst/>
        </p:spPr>
      </p:cxnSp>
      <p:cxnSp>
        <p:nvCxnSpPr>
          <p:cNvPr id="173" name="Straight Connector 172">
            <a:extLst>
              <a:ext uri="{FF2B5EF4-FFF2-40B4-BE49-F238E27FC236}">
                <a16:creationId xmlns:a16="http://schemas.microsoft.com/office/drawing/2014/main" id="{7E739091-0744-6BD9-DABF-ED37172D7528}"/>
              </a:ext>
            </a:extLst>
          </p:cNvPr>
          <p:cNvCxnSpPr>
            <a:cxnSpLocks/>
          </p:cNvCxnSpPr>
          <p:nvPr/>
        </p:nvCxnSpPr>
        <p:spPr>
          <a:xfrm>
            <a:off x="1904117" y="4119323"/>
            <a:ext cx="0" cy="464298"/>
          </a:xfrm>
          <a:prstGeom prst="line">
            <a:avLst/>
          </a:prstGeom>
          <a:noFill/>
          <a:ln w="19050" cap="flat" cmpd="sng" algn="ctr">
            <a:solidFill>
              <a:srgbClr val="70AD47"/>
            </a:solidFill>
            <a:prstDash val="sysDash"/>
            <a:miter lim="800000"/>
          </a:ln>
          <a:effectLst/>
        </p:spPr>
      </p:cxnSp>
      <p:cxnSp>
        <p:nvCxnSpPr>
          <p:cNvPr id="174" name="Straight Connector 173">
            <a:extLst>
              <a:ext uri="{FF2B5EF4-FFF2-40B4-BE49-F238E27FC236}">
                <a16:creationId xmlns:a16="http://schemas.microsoft.com/office/drawing/2014/main" id="{C6687935-C450-C79B-4119-049A11281BD6}"/>
              </a:ext>
            </a:extLst>
          </p:cNvPr>
          <p:cNvCxnSpPr>
            <a:cxnSpLocks/>
          </p:cNvCxnSpPr>
          <p:nvPr/>
        </p:nvCxnSpPr>
        <p:spPr>
          <a:xfrm flipH="1">
            <a:off x="1917027" y="4119323"/>
            <a:ext cx="569459" cy="0"/>
          </a:xfrm>
          <a:prstGeom prst="line">
            <a:avLst/>
          </a:prstGeom>
          <a:noFill/>
          <a:ln w="19050" cap="flat" cmpd="sng" algn="ctr">
            <a:solidFill>
              <a:srgbClr val="70AD47"/>
            </a:solidFill>
            <a:prstDash val="sysDash"/>
            <a:miter lim="800000"/>
          </a:ln>
          <a:effectLst/>
        </p:spPr>
      </p:cxnSp>
      <p:cxnSp>
        <p:nvCxnSpPr>
          <p:cNvPr id="175" name="Straight Connector 174">
            <a:extLst>
              <a:ext uri="{FF2B5EF4-FFF2-40B4-BE49-F238E27FC236}">
                <a16:creationId xmlns:a16="http://schemas.microsoft.com/office/drawing/2014/main" id="{FFC884C2-B2BE-2231-824D-0E485F246BAC}"/>
              </a:ext>
            </a:extLst>
          </p:cNvPr>
          <p:cNvCxnSpPr>
            <a:cxnSpLocks/>
          </p:cNvCxnSpPr>
          <p:nvPr/>
        </p:nvCxnSpPr>
        <p:spPr>
          <a:xfrm>
            <a:off x="2486486" y="3580902"/>
            <a:ext cx="0" cy="536335"/>
          </a:xfrm>
          <a:prstGeom prst="line">
            <a:avLst/>
          </a:prstGeom>
          <a:noFill/>
          <a:ln w="19050" cap="flat" cmpd="sng" algn="ctr">
            <a:solidFill>
              <a:srgbClr val="70AD47"/>
            </a:solidFill>
            <a:prstDash val="sysDash"/>
            <a:miter lim="800000"/>
          </a:ln>
          <a:effectLst/>
        </p:spPr>
      </p:cxnSp>
      <p:cxnSp>
        <p:nvCxnSpPr>
          <p:cNvPr id="176" name="Straight Connector 175">
            <a:extLst>
              <a:ext uri="{FF2B5EF4-FFF2-40B4-BE49-F238E27FC236}">
                <a16:creationId xmlns:a16="http://schemas.microsoft.com/office/drawing/2014/main" id="{6D6C91E5-F273-84FB-ECE6-8C69E97411C0}"/>
              </a:ext>
            </a:extLst>
          </p:cNvPr>
          <p:cNvCxnSpPr>
            <a:cxnSpLocks/>
          </p:cNvCxnSpPr>
          <p:nvPr/>
        </p:nvCxnSpPr>
        <p:spPr>
          <a:xfrm flipH="1">
            <a:off x="2469858" y="3550223"/>
            <a:ext cx="606936" cy="0"/>
          </a:xfrm>
          <a:prstGeom prst="line">
            <a:avLst/>
          </a:prstGeom>
          <a:noFill/>
          <a:ln w="19050" cap="flat" cmpd="sng" algn="ctr">
            <a:solidFill>
              <a:srgbClr val="70AD47"/>
            </a:solidFill>
            <a:prstDash val="sysDash"/>
            <a:miter lim="800000"/>
          </a:ln>
          <a:effectLst/>
        </p:spPr>
      </p:cxnSp>
      <p:cxnSp>
        <p:nvCxnSpPr>
          <p:cNvPr id="178" name="Straight Connector 177">
            <a:extLst>
              <a:ext uri="{FF2B5EF4-FFF2-40B4-BE49-F238E27FC236}">
                <a16:creationId xmlns:a16="http://schemas.microsoft.com/office/drawing/2014/main" id="{6D49F23A-A4EE-8165-1668-9C5115596471}"/>
              </a:ext>
            </a:extLst>
          </p:cNvPr>
          <p:cNvCxnSpPr>
            <a:cxnSpLocks/>
          </p:cNvCxnSpPr>
          <p:nvPr/>
        </p:nvCxnSpPr>
        <p:spPr>
          <a:xfrm>
            <a:off x="2516402" y="4970165"/>
            <a:ext cx="0" cy="138387"/>
          </a:xfrm>
          <a:prstGeom prst="line">
            <a:avLst/>
          </a:prstGeom>
          <a:noFill/>
          <a:ln w="15875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9" name="TextBox 178">
                <a:extLst>
                  <a:ext uri="{FF2B5EF4-FFF2-40B4-BE49-F238E27FC236}">
                    <a16:creationId xmlns:a16="http://schemas.microsoft.com/office/drawing/2014/main" id="{A89BFEB7-1FD7-EF24-BA02-C7C3ED8163F1}"/>
                  </a:ext>
                </a:extLst>
              </p:cNvPr>
              <p:cNvSpPr txBox="1"/>
              <p:nvPr/>
            </p:nvSpPr>
            <p:spPr>
              <a:xfrm>
                <a:off x="2454324" y="4826516"/>
                <a:ext cx="246689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12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12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16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mc:Choice>
        <mc:Fallback xmlns="">
          <p:sp>
            <p:nvSpPr>
              <p:cNvPr id="179" name="TextBox 178">
                <a:extLst>
                  <a:ext uri="{FF2B5EF4-FFF2-40B4-BE49-F238E27FC236}">
                    <a16:creationId xmlns:a16="http://schemas.microsoft.com/office/drawing/2014/main" id="{A89BFEB7-1FD7-EF24-BA02-C7C3ED8163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54324" y="4826516"/>
                <a:ext cx="246689" cy="276999"/>
              </a:xfrm>
              <a:prstGeom prst="rect">
                <a:avLst/>
              </a:prstGeom>
              <a:blipFill>
                <a:blip r:embed="rId26"/>
                <a:stretch>
                  <a:fillRect r="-20000" b="-90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0" name="Straight Connector 179">
            <a:extLst>
              <a:ext uri="{FF2B5EF4-FFF2-40B4-BE49-F238E27FC236}">
                <a16:creationId xmlns:a16="http://schemas.microsoft.com/office/drawing/2014/main" id="{7D74E3BF-39BE-802B-CD12-5CDA2E213470}"/>
              </a:ext>
            </a:extLst>
          </p:cNvPr>
          <p:cNvCxnSpPr>
            <a:cxnSpLocks/>
          </p:cNvCxnSpPr>
          <p:nvPr/>
        </p:nvCxnSpPr>
        <p:spPr>
          <a:xfrm>
            <a:off x="2667562" y="5688630"/>
            <a:ext cx="0" cy="138387"/>
          </a:xfrm>
          <a:prstGeom prst="line">
            <a:avLst/>
          </a:prstGeom>
          <a:noFill/>
          <a:ln w="15875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1" name="TextBox 180">
                <a:extLst>
                  <a:ext uri="{FF2B5EF4-FFF2-40B4-BE49-F238E27FC236}">
                    <a16:creationId xmlns:a16="http://schemas.microsoft.com/office/drawing/2014/main" id="{AD0F5E21-EFD7-7E4B-4988-5569BE439FAA}"/>
                  </a:ext>
                </a:extLst>
              </p:cNvPr>
              <p:cNvSpPr txBox="1"/>
              <p:nvPr/>
            </p:nvSpPr>
            <p:spPr>
              <a:xfrm>
                <a:off x="2626805" y="5586401"/>
                <a:ext cx="246689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12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sz="12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16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mc:Choice>
        <mc:Fallback xmlns="">
          <p:sp>
            <p:nvSpPr>
              <p:cNvPr id="181" name="TextBox 180">
                <a:extLst>
                  <a:ext uri="{FF2B5EF4-FFF2-40B4-BE49-F238E27FC236}">
                    <a16:creationId xmlns:a16="http://schemas.microsoft.com/office/drawing/2014/main" id="{AD0F5E21-EFD7-7E4B-4988-5569BE439F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6805" y="5586401"/>
                <a:ext cx="246689" cy="276999"/>
              </a:xfrm>
              <a:prstGeom prst="rect">
                <a:avLst/>
              </a:prstGeom>
              <a:blipFill>
                <a:blip r:embed="rId27"/>
                <a:stretch>
                  <a:fillRect r="-14286" b="-86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2" name="Straight Connector 181">
            <a:extLst>
              <a:ext uri="{FF2B5EF4-FFF2-40B4-BE49-F238E27FC236}">
                <a16:creationId xmlns:a16="http://schemas.microsoft.com/office/drawing/2014/main" id="{2E71BD4C-EDBB-01E8-BB57-37E84109CF32}"/>
              </a:ext>
            </a:extLst>
          </p:cNvPr>
          <p:cNvCxnSpPr>
            <a:cxnSpLocks/>
          </p:cNvCxnSpPr>
          <p:nvPr/>
        </p:nvCxnSpPr>
        <p:spPr>
          <a:xfrm>
            <a:off x="1146530" y="4971325"/>
            <a:ext cx="0" cy="138387"/>
          </a:xfrm>
          <a:prstGeom prst="line">
            <a:avLst/>
          </a:prstGeom>
          <a:noFill/>
          <a:ln w="15875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3" name="TextBox 182">
                <a:extLst>
                  <a:ext uri="{FF2B5EF4-FFF2-40B4-BE49-F238E27FC236}">
                    <a16:creationId xmlns:a16="http://schemas.microsoft.com/office/drawing/2014/main" id="{000D14D3-1EE8-28C1-97BB-DD2FCD5816D2}"/>
                  </a:ext>
                </a:extLst>
              </p:cNvPr>
              <p:cNvSpPr txBox="1"/>
              <p:nvPr/>
            </p:nvSpPr>
            <p:spPr>
              <a:xfrm>
                <a:off x="1094612" y="4827676"/>
                <a:ext cx="246689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:r>
                  <a:rPr lang="en-US" sz="1200" dirty="0">
                    <a:solidFill>
                      <a:prstClr val="black"/>
                    </a:solidFill>
                  </a:rPr>
                  <a:t>b</a:t>
                </a:r>
                <a14:m>
                  <m:oMath xmlns:m="http://schemas.openxmlformats.org/officeDocument/2006/math">
                    <m:r>
                      <a:rPr lang="en-US" sz="12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16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mc:Choice>
        <mc:Fallback xmlns="">
          <p:sp>
            <p:nvSpPr>
              <p:cNvPr id="183" name="TextBox 182">
                <a:extLst>
                  <a:ext uri="{FF2B5EF4-FFF2-40B4-BE49-F238E27FC236}">
                    <a16:creationId xmlns:a16="http://schemas.microsoft.com/office/drawing/2014/main" id="{000D14D3-1EE8-28C1-97BB-DD2FCD5816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4612" y="4827676"/>
                <a:ext cx="246689" cy="461665"/>
              </a:xfrm>
              <a:prstGeom prst="rect">
                <a:avLst/>
              </a:prstGeom>
              <a:blipFill>
                <a:blip r:embed="rId28"/>
                <a:stretch>
                  <a:fillRect l="-5000" r="-10000" b="-54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1" name="Straight Connector 190">
            <a:extLst>
              <a:ext uri="{FF2B5EF4-FFF2-40B4-BE49-F238E27FC236}">
                <a16:creationId xmlns:a16="http://schemas.microsoft.com/office/drawing/2014/main" id="{5B8C9C0E-7F72-B6B7-F824-25AD158CCB07}"/>
              </a:ext>
            </a:extLst>
          </p:cNvPr>
          <p:cNvCxnSpPr>
            <a:cxnSpLocks/>
          </p:cNvCxnSpPr>
          <p:nvPr/>
        </p:nvCxnSpPr>
        <p:spPr>
          <a:xfrm>
            <a:off x="1174087" y="1957513"/>
            <a:ext cx="0" cy="160276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2" name="TextBox 191">
                <a:extLst>
                  <a:ext uri="{FF2B5EF4-FFF2-40B4-BE49-F238E27FC236}">
                    <a16:creationId xmlns:a16="http://schemas.microsoft.com/office/drawing/2014/main" id="{148695C3-75DF-26FC-0537-7F68F9442897}"/>
                  </a:ext>
                </a:extLst>
              </p:cNvPr>
              <p:cNvSpPr txBox="1"/>
              <p:nvPr/>
            </p:nvSpPr>
            <p:spPr>
              <a:xfrm>
                <a:off x="1127093" y="1907706"/>
                <a:ext cx="204800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altLang="zh-CN" sz="12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sz="16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mc:Choice>
        <mc:Fallback xmlns="">
          <p:sp>
            <p:nvSpPr>
              <p:cNvPr id="192" name="TextBox 191">
                <a:extLst>
                  <a:ext uri="{FF2B5EF4-FFF2-40B4-BE49-F238E27FC236}">
                    <a16:creationId xmlns:a16="http://schemas.microsoft.com/office/drawing/2014/main" id="{148695C3-75DF-26FC-0537-7F68F94428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7093" y="1907706"/>
                <a:ext cx="204800" cy="276999"/>
              </a:xfrm>
              <a:prstGeom prst="rect">
                <a:avLst/>
              </a:prstGeom>
              <a:blipFill>
                <a:blip r:embed="rId29"/>
                <a:stretch>
                  <a:fillRect r="-17647" b="-45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3" name="Straight Connector 192">
            <a:extLst>
              <a:ext uri="{FF2B5EF4-FFF2-40B4-BE49-F238E27FC236}">
                <a16:creationId xmlns:a16="http://schemas.microsoft.com/office/drawing/2014/main" id="{EA9F915A-C0F1-EF99-CD45-0A1BF234C350}"/>
              </a:ext>
            </a:extLst>
          </p:cNvPr>
          <p:cNvCxnSpPr>
            <a:cxnSpLocks/>
          </p:cNvCxnSpPr>
          <p:nvPr/>
        </p:nvCxnSpPr>
        <p:spPr>
          <a:xfrm>
            <a:off x="563697" y="1955874"/>
            <a:ext cx="0" cy="160276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4" name="TextBox 193">
                <a:extLst>
                  <a:ext uri="{FF2B5EF4-FFF2-40B4-BE49-F238E27FC236}">
                    <a16:creationId xmlns:a16="http://schemas.microsoft.com/office/drawing/2014/main" id="{E56ACEE9-FF83-129C-4ADB-F718F9F5B4F3}"/>
                  </a:ext>
                </a:extLst>
              </p:cNvPr>
              <p:cNvSpPr txBox="1"/>
              <p:nvPr/>
            </p:nvSpPr>
            <p:spPr>
              <a:xfrm>
                <a:off x="516703" y="1906067"/>
                <a:ext cx="204800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altLang="zh-CN" sz="12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16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mc:Choice>
        <mc:Fallback xmlns="">
          <p:sp>
            <p:nvSpPr>
              <p:cNvPr id="194" name="TextBox 193">
                <a:extLst>
                  <a:ext uri="{FF2B5EF4-FFF2-40B4-BE49-F238E27FC236}">
                    <a16:creationId xmlns:a16="http://schemas.microsoft.com/office/drawing/2014/main" id="{E56ACEE9-FF83-129C-4ADB-F718F9F5B4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6703" y="1906067"/>
                <a:ext cx="204800" cy="276999"/>
              </a:xfrm>
              <a:prstGeom prst="rect">
                <a:avLst/>
              </a:prstGeom>
              <a:blipFill>
                <a:blip r:embed="rId30"/>
                <a:stretch>
                  <a:fillRect r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5" name="TextBox 194">
                <a:extLst>
                  <a:ext uri="{FF2B5EF4-FFF2-40B4-BE49-F238E27FC236}">
                    <a16:creationId xmlns:a16="http://schemas.microsoft.com/office/drawing/2014/main" id="{3829466F-B44D-D6A0-1984-FE2B5C3ACF50}"/>
                  </a:ext>
                </a:extLst>
              </p:cNvPr>
              <p:cNvSpPr txBox="1"/>
              <p:nvPr/>
            </p:nvSpPr>
            <p:spPr>
              <a:xfrm>
                <a:off x="441333" y="1444759"/>
                <a:ext cx="246689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12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12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16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mc:Choice>
        <mc:Fallback xmlns="">
          <p:sp>
            <p:nvSpPr>
              <p:cNvPr id="195" name="TextBox 194">
                <a:extLst>
                  <a:ext uri="{FF2B5EF4-FFF2-40B4-BE49-F238E27FC236}">
                    <a16:creationId xmlns:a16="http://schemas.microsoft.com/office/drawing/2014/main" id="{3829466F-B44D-D6A0-1984-FE2B5C3ACF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333" y="1444759"/>
                <a:ext cx="246689" cy="276999"/>
              </a:xfrm>
              <a:prstGeom prst="rect">
                <a:avLst/>
              </a:prstGeom>
              <a:blipFill>
                <a:blip r:embed="rId23"/>
                <a:stretch>
                  <a:fillRect r="-14286" b="-86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96" name="Group 195">
            <a:extLst>
              <a:ext uri="{FF2B5EF4-FFF2-40B4-BE49-F238E27FC236}">
                <a16:creationId xmlns:a16="http://schemas.microsoft.com/office/drawing/2014/main" id="{7029A832-E17F-C893-8AC8-0DFB18C68DBC}"/>
              </a:ext>
            </a:extLst>
          </p:cNvPr>
          <p:cNvGrpSpPr/>
          <p:nvPr/>
        </p:nvGrpSpPr>
        <p:grpSpPr>
          <a:xfrm>
            <a:off x="1068833" y="1966179"/>
            <a:ext cx="45719" cy="210912"/>
            <a:chOff x="6548130" y="2237014"/>
            <a:chExt cx="49658" cy="440872"/>
          </a:xfrm>
        </p:grpSpPr>
        <p:cxnSp>
          <p:nvCxnSpPr>
            <p:cNvPr id="197" name="Straight Connector 196">
              <a:extLst>
                <a:ext uri="{FF2B5EF4-FFF2-40B4-BE49-F238E27FC236}">
                  <a16:creationId xmlns:a16="http://schemas.microsoft.com/office/drawing/2014/main" id="{9D62E715-E574-247A-C26B-2C37EEE9412F}"/>
                </a:ext>
              </a:extLst>
            </p:cNvPr>
            <p:cNvCxnSpPr>
              <a:cxnSpLocks/>
            </p:cNvCxnSpPr>
            <p:nvPr/>
          </p:nvCxnSpPr>
          <p:spPr>
            <a:xfrm>
              <a:off x="6548130" y="2237014"/>
              <a:ext cx="0" cy="440872"/>
            </a:xfrm>
            <a:prstGeom prst="line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cxnSp>
        <p:cxnSp>
          <p:nvCxnSpPr>
            <p:cNvPr id="198" name="Straight Connector 197">
              <a:extLst>
                <a:ext uri="{FF2B5EF4-FFF2-40B4-BE49-F238E27FC236}">
                  <a16:creationId xmlns:a16="http://schemas.microsoft.com/office/drawing/2014/main" id="{A4DC6346-CA7C-CE45-22F3-F9855EA8B3C6}"/>
                </a:ext>
              </a:extLst>
            </p:cNvPr>
            <p:cNvCxnSpPr>
              <a:cxnSpLocks/>
            </p:cNvCxnSpPr>
            <p:nvPr/>
          </p:nvCxnSpPr>
          <p:spPr>
            <a:xfrm>
              <a:off x="6597788" y="2237014"/>
              <a:ext cx="0" cy="440872"/>
            </a:xfrm>
            <a:prstGeom prst="line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cxnSp>
      </p:grpSp>
      <p:sp>
        <p:nvSpPr>
          <p:cNvPr id="199" name="Flowchart: Delay 9">
            <a:extLst>
              <a:ext uri="{FF2B5EF4-FFF2-40B4-BE49-F238E27FC236}">
                <a16:creationId xmlns:a16="http://schemas.microsoft.com/office/drawing/2014/main" id="{7DB1D86B-152C-20C6-E654-2B006D4A91AE}"/>
              </a:ext>
            </a:extLst>
          </p:cNvPr>
          <p:cNvSpPr/>
          <p:nvPr/>
        </p:nvSpPr>
        <p:spPr>
          <a:xfrm rot="16200000">
            <a:off x="944409" y="1627386"/>
            <a:ext cx="309789" cy="367797"/>
          </a:xfrm>
          <a:prstGeom prst="flowChartDelay">
            <a:avLst/>
          </a:prstGeom>
          <a:solidFill>
            <a:srgbClr val="FFC000">
              <a:lumMod val="40000"/>
              <a:lumOff val="60000"/>
            </a:srgbClr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eaVert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0" name="TextBox 199">
                <a:extLst>
                  <a:ext uri="{FF2B5EF4-FFF2-40B4-BE49-F238E27FC236}">
                    <a16:creationId xmlns:a16="http://schemas.microsoft.com/office/drawing/2014/main" id="{5D00DE6C-ECBC-8017-D171-4EE85BC23494}"/>
                  </a:ext>
                </a:extLst>
              </p:cNvPr>
              <p:cNvSpPr txBox="1"/>
              <p:nvPr/>
            </p:nvSpPr>
            <p:spPr>
              <a:xfrm>
                <a:off x="1074325" y="1444759"/>
                <a:ext cx="246689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12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sz="12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16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mc:Choice>
        <mc:Fallback xmlns="">
          <p:sp>
            <p:nvSpPr>
              <p:cNvPr id="200" name="TextBox 199">
                <a:extLst>
                  <a:ext uri="{FF2B5EF4-FFF2-40B4-BE49-F238E27FC236}">
                    <a16:creationId xmlns:a16="http://schemas.microsoft.com/office/drawing/2014/main" id="{5D00DE6C-ECBC-8017-D171-4EE85BC234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4325" y="1444759"/>
                <a:ext cx="246689" cy="276999"/>
              </a:xfrm>
              <a:prstGeom prst="rect">
                <a:avLst/>
              </a:prstGeom>
              <a:blipFill>
                <a:blip r:embed="rId31"/>
                <a:stretch>
                  <a:fillRect r="-14286" b="-86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01" name="Group 200">
            <a:extLst>
              <a:ext uri="{FF2B5EF4-FFF2-40B4-BE49-F238E27FC236}">
                <a16:creationId xmlns:a16="http://schemas.microsoft.com/office/drawing/2014/main" id="{12E00A86-0FC9-BF52-D78B-8E97E6376DAC}"/>
              </a:ext>
            </a:extLst>
          </p:cNvPr>
          <p:cNvGrpSpPr/>
          <p:nvPr/>
        </p:nvGrpSpPr>
        <p:grpSpPr>
          <a:xfrm>
            <a:off x="453611" y="1966179"/>
            <a:ext cx="45719" cy="210912"/>
            <a:chOff x="6548130" y="2237014"/>
            <a:chExt cx="49658" cy="440872"/>
          </a:xfrm>
        </p:grpSpPr>
        <p:cxnSp>
          <p:nvCxnSpPr>
            <p:cNvPr id="202" name="Straight Connector 201">
              <a:extLst>
                <a:ext uri="{FF2B5EF4-FFF2-40B4-BE49-F238E27FC236}">
                  <a16:creationId xmlns:a16="http://schemas.microsoft.com/office/drawing/2014/main" id="{61B3199B-5A0D-2F9A-B027-4746325ED15D}"/>
                </a:ext>
              </a:extLst>
            </p:cNvPr>
            <p:cNvCxnSpPr>
              <a:cxnSpLocks/>
            </p:cNvCxnSpPr>
            <p:nvPr/>
          </p:nvCxnSpPr>
          <p:spPr>
            <a:xfrm>
              <a:off x="6548130" y="2237014"/>
              <a:ext cx="0" cy="440872"/>
            </a:xfrm>
            <a:prstGeom prst="line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cxnSp>
        <p:cxnSp>
          <p:nvCxnSpPr>
            <p:cNvPr id="203" name="Straight Connector 202">
              <a:extLst>
                <a:ext uri="{FF2B5EF4-FFF2-40B4-BE49-F238E27FC236}">
                  <a16:creationId xmlns:a16="http://schemas.microsoft.com/office/drawing/2014/main" id="{6C49A7C6-D07F-3F1D-8DC7-6C3893F0E1A9}"/>
                </a:ext>
              </a:extLst>
            </p:cNvPr>
            <p:cNvCxnSpPr>
              <a:cxnSpLocks/>
            </p:cNvCxnSpPr>
            <p:nvPr/>
          </p:nvCxnSpPr>
          <p:spPr>
            <a:xfrm>
              <a:off x="6597788" y="2237014"/>
              <a:ext cx="0" cy="440872"/>
            </a:xfrm>
            <a:prstGeom prst="line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cxnSp>
      </p:grpSp>
      <p:sp>
        <p:nvSpPr>
          <p:cNvPr id="204" name="Flowchart: Delay 17">
            <a:extLst>
              <a:ext uri="{FF2B5EF4-FFF2-40B4-BE49-F238E27FC236}">
                <a16:creationId xmlns:a16="http://schemas.microsoft.com/office/drawing/2014/main" id="{0700E0CC-3825-72C4-1ABC-C3EB75E6D4CD}"/>
              </a:ext>
            </a:extLst>
          </p:cNvPr>
          <p:cNvSpPr/>
          <p:nvPr/>
        </p:nvSpPr>
        <p:spPr>
          <a:xfrm rot="16200000">
            <a:off x="317748" y="1627386"/>
            <a:ext cx="309789" cy="367797"/>
          </a:xfrm>
          <a:prstGeom prst="flowChartDelay">
            <a:avLst/>
          </a:prstGeom>
          <a:solidFill>
            <a:srgbClr val="FFC000">
              <a:lumMod val="40000"/>
              <a:lumOff val="60000"/>
            </a:srgbClr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eaVert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0" dirty="0">
                <a:solidFill>
                  <a:prstClr val="black"/>
                </a:solidFill>
                <a:latin typeface="Calibri" panose="020F0502020204030204"/>
              </a:rPr>
              <a:t>N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205" name="Straight Connector 204">
            <a:extLst>
              <a:ext uri="{FF2B5EF4-FFF2-40B4-BE49-F238E27FC236}">
                <a16:creationId xmlns:a16="http://schemas.microsoft.com/office/drawing/2014/main" id="{E33FF60A-3DBC-3CAA-83BF-81A22525A0E9}"/>
              </a:ext>
            </a:extLst>
          </p:cNvPr>
          <p:cNvCxnSpPr>
            <a:cxnSpLocks/>
          </p:cNvCxnSpPr>
          <p:nvPr/>
        </p:nvCxnSpPr>
        <p:spPr>
          <a:xfrm>
            <a:off x="472425" y="1542231"/>
            <a:ext cx="0" cy="114159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p:cxnSp>
        <p:nvCxnSpPr>
          <p:cNvPr id="206" name="Straight Connector 205">
            <a:extLst>
              <a:ext uri="{FF2B5EF4-FFF2-40B4-BE49-F238E27FC236}">
                <a16:creationId xmlns:a16="http://schemas.microsoft.com/office/drawing/2014/main" id="{5B2D2910-03C2-7F10-C1B4-962E1974BBBD}"/>
              </a:ext>
            </a:extLst>
          </p:cNvPr>
          <p:cNvCxnSpPr>
            <a:cxnSpLocks/>
          </p:cNvCxnSpPr>
          <p:nvPr/>
        </p:nvCxnSpPr>
        <p:spPr>
          <a:xfrm>
            <a:off x="1099303" y="1542231"/>
            <a:ext cx="0" cy="114159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7" name="Rectangle: Rounded Corners 10">
                <a:extLst>
                  <a:ext uri="{FF2B5EF4-FFF2-40B4-BE49-F238E27FC236}">
                    <a16:creationId xmlns:a16="http://schemas.microsoft.com/office/drawing/2014/main" id="{2FC5FD36-E6A5-AD08-358D-5457E5CF1E6F}"/>
                  </a:ext>
                </a:extLst>
              </p:cNvPr>
              <p:cNvSpPr/>
              <p:nvPr/>
            </p:nvSpPr>
            <p:spPr>
              <a:xfrm>
                <a:off x="288744" y="2183066"/>
                <a:ext cx="994458" cy="406232"/>
              </a:xfrm>
              <a:prstGeom prst="roundRect">
                <a:avLst/>
              </a:prstGeom>
              <a:solidFill>
                <a:srgbClr val="FFC000">
                  <a:lumMod val="40000"/>
                  <a:lumOff val="60000"/>
                </a:srgbClr>
              </a:solidFill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CA" sz="18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𝜌</m:t>
                      </m:r>
                    </m:oMath>
                  </m:oMathPara>
                </a14:m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207" name="Rectangle: Rounded Corners 10">
                <a:extLst>
                  <a:ext uri="{FF2B5EF4-FFF2-40B4-BE49-F238E27FC236}">
                    <a16:creationId xmlns:a16="http://schemas.microsoft.com/office/drawing/2014/main" id="{2FC5FD36-E6A5-AD08-358D-5457E5CF1E6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744" y="2183066"/>
                <a:ext cx="994458" cy="406232"/>
              </a:xfrm>
              <a:prstGeom prst="roundRect">
                <a:avLst/>
              </a:prstGeom>
              <a:blipFill>
                <a:blip r:embed="rId32"/>
                <a:stretch>
                  <a:fillRect/>
                </a:stretch>
              </a:blipFill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8" name="Arrow: Right 117">
            <a:extLst>
              <a:ext uri="{FF2B5EF4-FFF2-40B4-BE49-F238E27FC236}">
                <a16:creationId xmlns:a16="http://schemas.microsoft.com/office/drawing/2014/main" id="{98ED1D20-38FF-57D1-CC80-8194E5DED49F}"/>
              </a:ext>
            </a:extLst>
          </p:cNvPr>
          <p:cNvSpPr/>
          <p:nvPr/>
        </p:nvSpPr>
        <p:spPr>
          <a:xfrm>
            <a:off x="1608807" y="1978727"/>
            <a:ext cx="394729" cy="426178"/>
          </a:xfrm>
          <a:prstGeom prst="rightArrow">
            <a:avLst/>
          </a:prstGeom>
          <a:solidFill>
            <a:srgbClr val="A5A5A5"/>
          </a:solidFill>
          <a:ln w="12700" cap="flat" cmpd="sng" algn="ctr">
            <a:solidFill>
              <a:srgbClr val="A5A5A5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9" name="TextBox 208">
            <a:extLst>
              <a:ext uri="{FF2B5EF4-FFF2-40B4-BE49-F238E27FC236}">
                <a16:creationId xmlns:a16="http://schemas.microsoft.com/office/drawing/2014/main" id="{1B727C7F-0B2E-3613-7714-D06843499672}"/>
              </a:ext>
            </a:extLst>
          </p:cNvPr>
          <p:cNvSpPr txBox="1"/>
          <p:nvPr/>
        </p:nvSpPr>
        <p:spPr>
          <a:xfrm>
            <a:off x="1388541" y="1509410"/>
            <a:ext cx="9063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prstClr val="black"/>
                </a:solidFill>
                <a:latin typeface="Calibri" panose="020F0502020204030204"/>
              </a:rPr>
              <a:t>Linear</a:t>
            </a:r>
          </a:p>
          <a:p>
            <a:r>
              <a:rPr lang="en-US" sz="1200" dirty="0">
                <a:solidFill>
                  <a:prstClr val="black"/>
                </a:solidFill>
                <a:latin typeface="Calibri" panose="020F0502020204030204"/>
              </a:rPr>
              <a:t>Diag. Pres</a:t>
            </a:r>
          </a:p>
        </p:txBody>
      </p:sp>
      <p:cxnSp>
        <p:nvCxnSpPr>
          <p:cNvPr id="210" name="Straight Connector 209">
            <a:extLst>
              <a:ext uri="{FF2B5EF4-FFF2-40B4-BE49-F238E27FC236}">
                <a16:creationId xmlns:a16="http://schemas.microsoft.com/office/drawing/2014/main" id="{AF10A68A-7ECA-E25D-4385-946342DF1F20}"/>
              </a:ext>
            </a:extLst>
          </p:cNvPr>
          <p:cNvCxnSpPr>
            <a:cxnSpLocks/>
            <a:stCxn id="212" idx="2"/>
          </p:cNvCxnSpPr>
          <p:nvPr/>
        </p:nvCxnSpPr>
        <p:spPr>
          <a:xfrm flipH="1">
            <a:off x="3225822" y="1900170"/>
            <a:ext cx="2476" cy="340734"/>
          </a:xfrm>
          <a:prstGeom prst="line">
            <a:avLst/>
          </a:prstGeom>
          <a:noFill/>
          <a:ln w="15875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1" name="TextBox 210">
                <a:extLst>
                  <a:ext uri="{FF2B5EF4-FFF2-40B4-BE49-F238E27FC236}">
                    <a16:creationId xmlns:a16="http://schemas.microsoft.com/office/drawing/2014/main" id="{74650656-ADE7-8E31-B9C7-3831C54C5ABB}"/>
                  </a:ext>
                </a:extLst>
              </p:cNvPr>
              <p:cNvSpPr txBox="1"/>
              <p:nvPr/>
            </p:nvSpPr>
            <p:spPr>
              <a:xfrm>
                <a:off x="3186301" y="1948917"/>
                <a:ext cx="290731" cy="261610"/>
              </a:xfrm>
              <a:prstGeom prst="rect">
                <a:avLst/>
              </a:prstGeom>
              <a:noFill/>
              <a:ln>
                <a:solidFill>
                  <a:sysClr val="windowText" lastClr="000000"/>
                </a:solidFill>
                <a:prstDash val="solid"/>
              </a:ln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1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1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CA" sz="11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</m:oMath>
                  </m:oMathPara>
                </a14:m>
                <a:endParaRPr lang="en-US" sz="11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mc:Choice>
        <mc:Fallback xmlns="">
          <p:sp>
            <p:nvSpPr>
              <p:cNvPr id="211" name="TextBox 210">
                <a:extLst>
                  <a:ext uri="{FF2B5EF4-FFF2-40B4-BE49-F238E27FC236}">
                    <a16:creationId xmlns:a16="http://schemas.microsoft.com/office/drawing/2014/main" id="{74650656-ADE7-8E31-B9C7-3831C54C5A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86301" y="1948917"/>
                <a:ext cx="290731" cy="261610"/>
              </a:xfrm>
              <a:prstGeom prst="rect">
                <a:avLst/>
              </a:prstGeom>
              <a:blipFill>
                <a:blip r:embed="rId33"/>
                <a:stretch>
                  <a:fillRect/>
                </a:stretch>
              </a:blipFill>
              <a:ln>
                <a:solidFill>
                  <a:sysClr val="windowText" lastClr="000000"/>
                </a:solidFill>
                <a:prstDash val="solid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2" name="Rectangle: Rounded Corners 40">
                <a:extLst>
                  <a:ext uri="{FF2B5EF4-FFF2-40B4-BE49-F238E27FC236}">
                    <a16:creationId xmlns:a16="http://schemas.microsoft.com/office/drawing/2014/main" id="{D30231E0-0170-83D1-5FD7-ED40F1626CB3}"/>
                  </a:ext>
                </a:extLst>
              </p:cNvPr>
              <p:cNvSpPr/>
              <p:nvPr/>
            </p:nvSpPr>
            <p:spPr>
              <a:xfrm>
                <a:off x="2921331" y="1633245"/>
                <a:ext cx="613934" cy="266925"/>
              </a:xfrm>
              <a:prstGeom prst="roundRect">
                <a:avLst/>
              </a:prstGeom>
              <a:solidFill>
                <a:srgbClr val="70AD47">
                  <a:lumMod val="40000"/>
                  <a:lumOff val="60000"/>
                  <a:alpha val="96000"/>
                </a:srgbClr>
              </a:solidFill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1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 </m:t>
                      </m:r>
                      <m:r>
                        <a:rPr kumimoji="0" lang="en-US" sz="11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𝑝</m:t>
                      </m:r>
                      <m:r>
                        <a:rPr kumimoji="0" lang="en-US" sz="11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(</m:t>
                      </m:r>
                      <m:r>
                        <a:rPr kumimoji="0" lang="en-CA" sz="11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𝑏</m:t>
                      </m:r>
                      <m:r>
                        <a:rPr kumimoji="0" lang="en-US" sz="11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|</m:t>
                      </m:r>
                      <m:sSub>
                        <m:sSubPr>
                          <m:ctrlPr>
                            <a:rPr kumimoji="0" lang="en-US" sz="11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CA" sz="11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𝑦</m:t>
                          </m:r>
                          <m:r>
                            <a:rPr kumimoji="0" lang="en-US" sz="11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𝜆</m:t>
                          </m:r>
                        </m:e>
                        <m:sub>
                          <m:r>
                            <a:rPr kumimoji="0" lang="en-CA" sz="11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𝐵</m:t>
                          </m:r>
                        </m:sub>
                      </m:sSub>
                      <m:r>
                        <a:rPr kumimoji="0" lang="en-US" sz="11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)</m:t>
                      </m:r>
                    </m:oMath>
                  </m:oMathPara>
                </a14:m>
                <a:endPara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212" name="Rectangle: Rounded Corners 40">
                <a:extLst>
                  <a:ext uri="{FF2B5EF4-FFF2-40B4-BE49-F238E27FC236}">
                    <a16:creationId xmlns:a16="http://schemas.microsoft.com/office/drawing/2014/main" id="{D30231E0-0170-83D1-5FD7-ED40F1626CB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21331" y="1633245"/>
                <a:ext cx="613934" cy="266925"/>
              </a:xfrm>
              <a:prstGeom prst="roundRect">
                <a:avLst/>
              </a:prstGeom>
              <a:blipFill>
                <a:blip r:embed="rId34"/>
                <a:stretch>
                  <a:fillRect/>
                </a:stretch>
              </a:blipFill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3" name="Rectangle: Rounded Corners 33">
                <a:extLst>
                  <a:ext uri="{FF2B5EF4-FFF2-40B4-BE49-F238E27FC236}">
                    <a16:creationId xmlns:a16="http://schemas.microsoft.com/office/drawing/2014/main" id="{F10F5F14-A9CE-12E0-939A-35104C45340A}"/>
                  </a:ext>
                </a:extLst>
              </p:cNvPr>
              <p:cNvSpPr/>
              <p:nvPr/>
            </p:nvSpPr>
            <p:spPr>
              <a:xfrm>
                <a:off x="2280450" y="2233499"/>
                <a:ext cx="1170006" cy="398885"/>
              </a:xfrm>
              <a:prstGeom prst="roundRect">
                <a:avLst/>
              </a:prstGeom>
              <a:solidFill>
                <a:srgbClr val="70AD47">
                  <a:lumMod val="40000"/>
                  <a:lumOff val="60000"/>
                  <a:alpha val="96000"/>
                </a:srgbClr>
              </a:solidFill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1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𝑝</m:t>
                      </m:r>
                      <m:r>
                        <a:rPr kumimoji="0" lang="en-US" sz="11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(</m:t>
                      </m:r>
                      <m:sSub>
                        <m:sSubPr>
                          <m:ctrlPr>
                            <a:rPr kumimoji="0" lang="en-US" sz="11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11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𝜆</m:t>
                          </m:r>
                        </m:e>
                        <m:sub>
                          <m:r>
                            <a:rPr kumimoji="0" lang="en-CA" sz="11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𝐴</m:t>
                          </m:r>
                        </m:sub>
                      </m:sSub>
                      <m:sSub>
                        <m:sSubPr>
                          <m:ctrlPr>
                            <a:rPr kumimoji="0" lang="en-US" sz="11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11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𝜆</m:t>
                          </m:r>
                        </m:e>
                        <m:sub>
                          <m:r>
                            <a:rPr kumimoji="0" lang="en-CA" sz="11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𝐵</m:t>
                          </m:r>
                        </m:sub>
                      </m:sSub>
                      <m:r>
                        <a:rPr kumimoji="0" lang="en-US" sz="11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)</m:t>
                      </m:r>
                    </m:oMath>
                  </m:oMathPara>
                </a14:m>
                <a:endPara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213" name="Rectangle: Rounded Corners 33">
                <a:extLst>
                  <a:ext uri="{FF2B5EF4-FFF2-40B4-BE49-F238E27FC236}">
                    <a16:creationId xmlns:a16="http://schemas.microsoft.com/office/drawing/2014/main" id="{F10F5F14-A9CE-12E0-939A-35104C45340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0450" y="2233499"/>
                <a:ext cx="1170006" cy="398885"/>
              </a:xfrm>
              <a:prstGeom prst="roundRect">
                <a:avLst/>
              </a:prstGeom>
              <a:blipFill>
                <a:blip r:embed="rId35"/>
                <a:stretch>
                  <a:fillRect/>
                </a:stretch>
              </a:blipFill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4" name="Straight Connector 213">
            <a:extLst>
              <a:ext uri="{FF2B5EF4-FFF2-40B4-BE49-F238E27FC236}">
                <a16:creationId xmlns:a16="http://schemas.microsoft.com/office/drawing/2014/main" id="{0C939A96-C533-634B-B9CA-42ED1F7E3922}"/>
              </a:ext>
            </a:extLst>
          </p:cNvPr>
          <p:cNvCxnSpPr>
            <a:cxnSpLocks/>
            <a:stCxn id="216" idx="2"/>
          </p:cNvCxnSpPr>
          <p:nvPr/>
        </p:nvCxnSpPr>
        <p:spPr>
          <a:xfrm flipH="1">
            <a:off x="2523343" y="1899218"/>
            <a:ext cx="2476" cy="340734"/>
          </a:xfrm>
          <a:prstGeom prst="line">
            <a:avLst/>
          </a:prstGeom>
          <a:noFill/>
          <a:ln w="15875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5" name="TextBox 214">
                <a:extLst>
                  <a:ext uri="{FF2B5EF4-FFF2-40B4-BE49-F238E27FC236}">
                    <a16:creationId xmlns:a16="http://schemas.microsoft.com/office/drawing/2014/main" id="{135059CE-1DE8-6C08-8983-AF68A8170D20}"/>
                  </a:ext>
                </a:extLst>
              </p:cNvPr>
              <p:cNvSpPr txBox="1"/>
              <p:nvPr/>
            </p:nvSpPr>
            <p:spPr>
              <a:xfrm>
                <a:off x="2483822" y="1947965"/>
                <a:ext cx="290731" cy="261610"/>
              </a:xfrm>
              <a:prstGeom prst="rect">
                <a:avLst/>
              </a:prstGeom>
              <a:noFill/>
              <a:ln>
                <a:solidFill>
                  <a:sysClr val="windowText" lastClr="000000"/>
                </a:solidFill>
                <a:prstDash val="solid"/>
              </a:ln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1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1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CA" sz="11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</m:oMath>
                  </m:oMathPara>
                </a14:m>
                <a:endParaRPr lang="en-US" sz="11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mc:Choice>
        <mc:Fallback xmlns="">
          <p:sp>
            <p:nvSpPr>
              <p:cNvPr id="215" name="TextBox 214">
                <a:extLst>
                  <a:ext uri="{FF2B5EF4-FFF2-40B4-BE49-F238E27FC236}">
                    <a16:creationId xmlns:a16="http://schemas.microsoft.com/office/drawing/2014/main" id="{135059CE-1DE8-6C08-8983-AF68A8170D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83822" y="1947965"/>
                <a:ext cx="290731" cy="261610"/>
              </a:xfrm>
              <a:prstGeom prst="rect">
                <a:avLst/>
              </a:prstGeom>
              <a:blipFill>
                <a:blip r:embed="rId36"/>
                <a:stretch>
                  <a:fillRect/>
                </a:stretch>
              </a:blipFill>
              <a:ln>
                <a:solidFill>
                  <a:sysClr val="windowText" lastClr="000000"/>
                </a:solidFill>
                <a:prstDash val="solid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6" name="Rectangle: Rounded Corners 82">
                <a:extLst>
                  <a:ext uri="{FF2B5EF4-FFF2-40B4-BE49-F238E27FC236}">
                    <a16:creationId xmlns:a16="http://schemas.microsoft.com/office/drawing/2014/main" id="{F4B2AF86-628D-35B6-5486-C7ECEE46A4D2}"/>
                  </a:ext>
                </a:extLst>
              </p:cNvPr>
              <p:cNvSpPr/>
              <p:nvPr/>
            </p:nvSpPr>
            <p:spPr>
              <a:xfrm>
                <a:off x="2218852" y="1632293"/>
                <a:ext cx="613934" cy="266925"/>
              </a:xfrm>
              <a:prstGeom prst="roundRect">
                <a:avLst/>
              </a:prstGeom>
              <a:solidFill>
                <a:srgbClr val="70AD47">
                  <a:lumMod val="40000"/>
                  <a:lumOff val="60000"/>
                  <a:alpha val="96000"/>
                </a:srgbClr>
              </a:solidFill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1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 </m:t>
                      </m:r>
                      <m:r>
                        <a:rPr kumimoji="0" lang="en-US" sz="11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𝑝</m:t>
                      </m:r>
                      <m:r>
                        <a:rPr kumimoji="0" lang="en-US" sz="11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(</m:t>
                      </m:r>
                      <m:r>
                        <a:rPr kumimoji="0" lang="en-CA" sz="11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𝑎</m:t>
                      </m:r>
                      <m:r>
                        <a:rPr kumimoji="0" lang="en-US" sz="11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|</m:t>
                      </m:r>
                      <m:sSub>
                        <m:sSubPr>
                          <m:ctrlPr>
                            <a:rPr kumimoji="0" lang="en-US" sz="11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CA" sz="11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𝑥</m:t>
                          </m:r>
                          <m:r>
                            <a:rPr kumimoji="0" lang="en-US" sz="11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𝜆</m:t>
                          </m:r>
                        </m:e>
                        <m:sub>
                          <m:r>
                            <a:rPr kumimoji="0" lang="en-CA" sz="11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𝐴</m:t>
                          </m:r>
                        </m:sub>
                      </m:sSub>
                      <m:r>
                        <a:rPr kumimoji="0" lang="en-US" sz="11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)</m:t>
                      </m:r>
                    </m:oMath>
                  </m:oMathPara>
                </a14:m>
                <a:endPara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216" name="Rectangle: Rounded Corners 82">
                <a:extLst>
                  <a:ext uri="{FF2B5EF4-FFF2-40B4-BE49-F238E27FC236}">
                    <a16:creationId xmlns:a16="http://schemas.microsoft.com/office/drawing/2014/main" id="{F4B2AF86-628D-35B6-5486-C7ECEE46A4D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18852" y="1632293"/>
                <a:ext cx="613934" cy="266925"/>
              </a:xfrm>
              <a:prstGeom prst="roundRect">
                <a:avLst/>
              </a:prstGeom>
              <a:blipFill>
                <a:blip r:embed="rId37"/>
                <a:stretch>
                  <a:fillRect/>
                </a:stretch>
              </a:blipFill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7" name="Arrow: Right 117">
            <a:extLst>
              <a:ext uri="{FF2B5EF4-FFF2-40B4-BE49-F238E27FC236}">
                <a16:creationId xmlns:a16="http://schemas.microsoft.com/office/drawing/2014/main" id="{DD6AF5EF-50A6-CD2B-F3B2-8284B46EB61C}"/>
              </a:ext>
            </a:extLst>
          </p:cNvPr>
          <p:cNvSpPr/>
          <p:nvPr/>
        </p:nvSpPr>
        <p:spPr>
          <a:xfrm rot="5400000">
            <a:off x="1644483" y="4693640"/>
            <a:ext cx="394729" cy="426178"/>
          </a:xfrm>
          <a:prstGeom prst="rightArrow">
            <a:avLst/>
          </a:prstGeom>
          <a:solidFill>
            <a:srgbClr val="A5A5A5"/>
          </a:solidFill>
          <a:ln w="12700" cap="flat" cmpd="sng" algn="ctr">
            <a:solidFill>
              <a:srgbClr val="A5A5A5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8" name="TextBox 217">
            <a:extLst>
              <a:ext uri="{FF2B5EF4-FFF2-40B4-BE49-F238E27FC236}">
                <a16:creationId xmlns:a16="http://schemas.microsoft.com/office/drawing/2014/main" id="{EC62D707-8CCE-D1C8-2611-6E3107F11574}"/>
              </a:ext>
            </a:extLst>
          </p:cNvPr>
          <p:cNvSpPr txBox="1"/>
          <p:nvPr/>
        </p:nvSpPr>
        <p:spPr>
          <a:xfrm>
            <a:off x="26044" y="3322698"/>
            <a:ext cx="8360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e.g.</a:t>
            </a:r>
          </a:p>
        </p:txBody>
      </p:sp>
    </p:spTree>
    <p:extLst>
      <p:ext uri="{BB962C8B-B14F-4D97-AF65-F5344CB8AC3E}">
        <p14:creationId xmlns:p14="http://schemas.microsoft.com/office/powerpoint/2010/main" val="6011360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072CFA-422C-1716-D0DE-8D14211C70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CC96A19-1310-70FD-81DE-63E4094409BD}"/>
              </a:ext>
            </a:extLst>
          </p:cNvPr>
          <p:cNvSpPr/>
          <p:nvPr/>
        </p:nvSpPr>
        <p:spPr>
          <a:xfrm>
            <a:off x="0" y="5388425"/>
            <a:ext cx="4657060" cy="13928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9" name="Rectangle: Rounded Corners 2">
            <a:extLst>
              <a:ext uri="{FF2B5EF4-FFF2-40B4-BE49-F238E27FC236}">
                <a16:creationId xmlns:a16="http://schemas.microsoft.com/office/drawing/2014/main" id="{72953828-3B79-D346-AA12-F1B8991D4D2C}"/>
              </a:ext>
            </a:extLst>
          </p:cNvPr>
          <p:cNvSpPr/>
          <p:nvPr/>
        </p:nvSpPr>
        <p:spPr>
          <a:xfrm>
            <a:off x="1425388" y="5524627"/>
            <a:ext cx="9821890" cy="704446"/>
          </a:xfrm>
          <a:prstGeom prst="roundRect">
            <a:avLst/>
          </a:prstGeom>
          <a:solidFill>
            <a:schemeClr val="bg1"/>
          </a:solidFill>
          <a:ln w="25400">
            <a:solidFill>
              <a:srgbClr val="0070C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endParaRPr lang="en-US" sz="1800" dirty="0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D216979-2CFF-30D9-6918-91C0E6CBFC1E}"/>
              </a:ext>
            </a:extLst>
          </p:cNvPr>
          <p:cNvSpPr txBox="1"/>
          <p:nvPr/>
        </p:nvSpPr>
        <p:spPr>
          <a:xfrm>
            <a:off x="0" y="416689"/>
            <a:ext cx="64586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</a:rPr>
              <a:t>Towards making the definition….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5232BFA-F51B-A286-ECDA-31415EE0FC14}"/>
              </a:ext>
            </a:extLst>
          </p:cNvPr>
          <p:cNvSpPr txBox="1"/>
          <p:nvPr/>
        </p:nvSpPr>
        <p:spPr>
          <a:xfrm>
            <a:off x="425294" y="1860347"/>
            <a:ext cx="1176670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bg2">
                    <a:lumMod val="90000"/>
                  </a:schemeClr>
                </a:solidFill>
              </a:rPr>
              <a:t>When is a set of statistics classically explainable?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04302F6-64AB-18DA-1C2D-2D7C7D772B6C}"/>
              </a:ext>
            </a:extLst>
          </p:cNvPr>
          <p:cNvSpPr txBox="1"/>
          <p:nvPr/>
        </p:nvSpPr>
        <p:spPr>
          <a:xfrm>
            <a:off x="1425388" y="4621484"/>
            <a:ext cx="971115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When is a single bipartite state classical?</a:t>
            </a:r>
          </a:p>
        </p:txBody>
      </p:sp>
      <p:sp>
        <p:nvSpPr>
          <p:cNvPr id="5" name="Left Arrow 4">
            <a:extLst>
              <a:ext uri="{FF2B5EF4-FFF2-40B4-BE49-F238E27FC236}">
                <a16:creationId xmlns:a16="http://schemas.microsoft.com/office/drawing/2014/main" id="{02816FCA-74F9-F82B-8D0C-864E52CD86A4}"/>
              </a:ext>
            </a:extLst>
          </p:cNvPr>
          <p:cNvSpPr/>
          <p:nvPr/>
        </p:nvSpPr>
        <p:spPr>
          <a:xfrm rot="16200000">
            <a:off x="5423546" y="3391100"/>
            <a:ext cx="1461571" cy="608682"/>
          </a:xfrm>
          <a:prstGeom prst="leftArrow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DAB6CA4-E2EE-71DA-0297-5E1051E03BCD}"/>
              </a:ext>
            </a:extLst>
          </p:cNvPr>
          <p:cNvSpPr txBox="1"/>
          <p:nvPr/>
        </p:nvSpPr>
        <p:spPr>
          <a:xfrm>
            <a:off x="1425388" y="5587176"/>
            <a:ext cx="104752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 single bipartite state is classical if and only if the statistics it produces are always classically explainable.  </a:t>
            </a:r>
          </a:p>
        </p:txBody>
      </p:sp>
    </p:spTree>
    <p:extLst>
      <p:ext uri="{BB962C8B-B14F-4D97-AF65-F5344CB8AC3E}">
        <p14:creationId xmlns:p14="http://schemas.microsoft.com/office/powerpoint/2010/main" val="24207107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0EC9F9-DC89-0DA2-1638-993A3E7D20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ectangle 48">
            <a:extLst>
              <a:ext uri="{FF2B5EF4-FFF2-40B4-BE49-F238E27FC236}">
                <a16:creationId xmlns:a16="http://schemas.microsoft.com/office/drawing/2014/main" id="{2DA0CBAD-C154-B605-7989-6AAD9F40D757}"/>
              </a:ext>
            </a:extLst>
          </p:cNvPr>
          <p:cNvSpPr/>
          <p:nvPr/>
        </p:nvSpPr>
        <p:spPr>
          <a:xfrm>
            <a:off x="112421" y="3661796"/>
            <a:ext cx="7606192" cy="461665"/>
          </a:xfrm>
          <a:prstGeom prst="rect">
            <a:avLst/>
          </a:prstGeom>
          <a:ln w="31750">
            <a:solidFill>
              <a:srgbClr val="0070C0"/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5F87880-C6E4-F3E8-741C-1377FC31136C}"/>
              </a:ext>
            </a:extLst>
          </p:cNvPr>
          <p:cNvSpPr/>
          <p:nvPr/>
        </p:nvSpPr>
        <p:spPr>
          <a:xfrm>
            <a:off x="108857" y="5390246"/>
            <a:ext cx="4657060" cy="13928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41754DA-E244-7D01-0CE9-06635B677E77}"/>
              </a:ext>
            </a:extLst>
          </p:cNvPr>
          <p:cNvSpPr/>
          <p:nvPr/>
        </p:nvSpPr>
        <p:spPr>
          <a:xfrm>
            <a:off x="108857" y="4254833"/>
            <a:ext cx="10104818" cy="2463122"/>
          </a:xfrm>
          <a:prstGeom prst="rect">
            <a:avLst/>
          </a:prstGeom>
          <a:ln w="31750">
            <a:solidFill>
              <a:schemeClr val="dk1"/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DC214CCE-49AA-5E98-EB91-AB9EFB958D48}"/>
              </a:ext>
            </a:extLst>
          </p:cNvPr>
          <p:cNvGrpSpPr/>
          <p:nvPr/>
        </p:nvGrpSpPr>
        <p:grpSpPr>
          <a:xfrm>
            <a:off x="8945592" y="1118280"/>
            <a:ext cx="2868291" cy="2564501"/>
            <a:chOff x="9604536" y="3578095"/>
            <a:chExt cx="2518624" cy="2416854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2ED6BBE9-90D5-DEF7-3702-398A4FEAACD1}"/>
                </a:ext>
              </a:extLst>
            </p:cNvPr>
            <p:cNvSpPr/>
            <p:nvPr/>
          </p:nvSpPr>
          <p:spPr>
            <a:xfrm>
              <a:off x="9604536" y="3578095"/>
              <a:ext cx="2518624" cy="2416854"/>
            </a:xfrm>
            <a:prstGeom prst="ellipse">
              <a:avLst/>
            </a:prstGeom>
            <a:solidFill>
              <a:srgbClr val="9B4ED6">
                <a:alpha val="90167"/>
              </a:srgbClr>
            </a:solidFill>
            <a:ln w="19050">
              <a:solidFill>
                <a:schemeClr val="tx1">
                  <a:alpha val="87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400" b="0" dirty="0"/>
            </a:p>
          </p:txBody>
        </p: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EAE40335-2AF0-E51E-E4EC-A447CF6A3F61}"/>
                </a:ext>
              </a:extLst>
            </p:cNvPr>
            <p:cNvGrpSpPr/>
            <p:nvPr/>
          </p:nvGrpSpPr>
          <p:grpSpPr>
            <a:xfrm>
              <a:off x="9822432" y="4005394"/>
              <a:ext cx="2090576" cy="1968469"/>
              <a:chOff x="6148486" y="2322710"/>
              <a:chExt cx="2346779" cy="2128546"/>
            </a:xfrm>
          </p:grpSpPr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F663E288-8947-EBD0-39D4-C2F2E10D9AF8}"/>
                  </a:ext>
                </a:extLst>
              </p:cNvPr>
              <p:cNvSpPr/>
              <p:nvPr/>
            </p:nvSpPr>
            <p:spPr>
              <a:xfrm>
                <a:off x="6148486" y="2322710"/>
                <a:ext cx="2346779" cy="2115392"/>
              </a:xfrm>
              <a:prstGeom prst="ellipse">
                <a:avLst/>
              </a:prstGeom>
              <a:solidFill>
                <a:srgbClr val="F0C679"/>
              </a:solidFill>
              <a:ln w="19050">
                <a:solidFill>
                  <a:schemeClr val="tx1">
                    <a:alpha val="87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sz="1400" b="0" dirty="0">
                  <a:solidFill>
                    <a:srgbClr val="F8CBAD"/>
                  </a:solidFill>
                </a:endParaRPr>
              </a:p>
            </p:txBody>
          </p:sp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B348F963-0DCF-3D6E-6C40-93292397DFB8}"/>
                  </a:ext>
                </a:extLst>
              </p:cNvPr>
              <p:cNvSpPr/>
              <p:nvPr/>
            </p:nvSpPr>
            <p:spPr>
              <a:xfrm>
                <a:off x="6405850" y="2733177"/>
                <a:ext cx="1855011" cy="1718079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19050">
                <a:solidFill>
                  <a:schemeClr val="tx1">
                    <a:alpha val="87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sz="1400" b="0" dirty="0">
                  <a:solidFill>
                    <a:srgbClr val="F8CBAD"/>
                  </a:solidFill>
                </a:endParaRPr>
              </a:p>
            </p:txBody>
          </p:sp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9C00CD77-3FFE-53AE-6C7F-1868801D6425}"/>
                  </a:ext>
                </a:extLst>
              </p:cNvPr>
              <p:cNvSpPr/>
              <p:nvPr/>
            </p:nvSpPr>
            <p:spPr>
              <a:xfrm>
                <a:off x="6609190" y="3194011"/>
                <a:ext cx="1416678" cy="1242157"/>
              </a:xfrm>
              <a:prstGeom prst="ellipse">
                <a:avLst/>
              </a:prstGeom>
              <a:solidFill>
                <a:srgbClr val="FA9576"/>
              </a:solidFill>
              <a:ln w="19050">
                <a:solidFill>
                  <a:schemeClr val="tx1">
                    <a:alpha val="87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sz="1400" b="0" dirty="0">
                  <a:solidFill>
                    <a:srgbClr val="F8CBAD"/>
                  </a:solidFill>
                </a:endParaRPr>
              </a:p>
            </p:txBody>
          </p:sp>
        </p:grpSp>
        <p:sp>
          <p:nvSpPr>
            <p:cNvPr id="9" name="Oval 73">
              <a:extLst>
                <a:ext uri="{FF2B5EF4-FFF2-40B4-BE49-F238E27FC236}">
                  <a16:creationId xmlns:a16="http://schemas.microsoft.com/office/drawing/2014/main" id="{515AA67E-7072-71CB-54DA-0E965C9D83B5}"/>
                </a:ext>
              </a:extLst>
            </p:cNvPr>
            <p:cNvSpPr/>
            <p:nvPr/>
          </p:nvSpPr>
          <p:spPr>
            <a:xfrm>
              <a:off x="10314984" y="5060838"/>
              <a:ext cx="1053941" cy="658378"/>
            </a:xfrm>
            <a:custGeom>
              <a:avLst/>
              <a:gdLst>
                <a:gd name="connsiteX0" fmla="*/ 0 w 1135096"/>
                <a:gd name="connsiteY0" fmla="*/ 534045 h 1068090"/>
                <a:gd name="connsiteX1" fmla="*/ 567548 w 1135096"/>
                <a:gd name="connsiteY1" fmla="*/ 0 h 1068090"/>
                <a:gd name="connsiteX2" fmla="*/ 1135096 w 1135096"/>
                <a:gd name="connsiteY2" fmla="*/ 534045 h 1068090"/>
                <a:gd name="connsiteX3" fmla="*/ 567548 w 1135096"/>
                <a:gd name="connsiteY3" fmla="*/ 1068090 h 1068090"/>
                <a:gd name="connsiteX4" fmla="*/ 0 w 1135096"/>
                <a:gd name="connsiteY4" fmla="*/ 534045 h 1068090"/>
                <a:gd name="connsiteX0" fmla="*/ 13 w 1135109"/>
                <a:gd name="connsiteY0" fmla="*/ 111945 h 645990"/>
                <a:gd name="connsiteX1" fmla="*/ 554772 w 1135109"/>
                <a:gd name="connsiteY1" fmla="*/ 198157 h 645990"/>
                <a:gd name="connsiteX2" fmla="*/ 1135109 w 1135109"/>
                <a:gd name="connsiteY2" fmla="*/ 111945 h 645990"/>
                <a:gd name="connsiteX3" fmla="*/ 567561 w 1135109"/>
                <a:gd name="connsiteY3" fmla="*/ 645990 h 645990"/>
                <a:gd name="connsiteX4" fmla="*/ 13 w 1135109"/>
                <a:gd name="connsiteY4" fmla="*/ 111945 h 645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5109" h="645990">
                  <a:moveTo>
                    <a:pt x="13" y="111945"/>
                  </a:moveTo>
                  <a:cubicBezTo>
                    <a:pt x="-2118" y="37306"/>
                    <a:pt x="241324" y="198157"/>
                    <a:pt x="554772" y="198157"/>
                  </a:cubicBezTo>
                  <a:cubicBezTo>
                    <a:pt x="868220" y="198157"/>
                    <a:pt x="1135109" y="-183000"/>
                    <a:pt x="1135109" y="111945"/>
                  </a:cubicBezTo>
                  <a:cubicBezTo>
                    <a:pt x="1135109" y="406890"/>
                    <a:pt x="881009" y="645990"/>
                    <a:pt x="567561" y="645990"/>
                  </a:cubicBezTo>
                  <a:cubicBezTo>
                    <a:pt x="254113" y="645990"/>
                    <a:pt x="2144" y="186584"/>
                    <a:pt x="13" y="111945"/>
                  </a:cubicBezTo>
                  <a:close/>
                </a:path>
              </a:pathLst>
            </a:custGeom>
            <a:solidFill>
              <a:srgbClr val="F66565"/>
            </a:solidFill>
            <a:ln w="19050">
              <a:solidFill>
                <a:schemeClr val="tx1">
                  <a:alpha val="87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400" b="0" dirty="0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4E23C2D6-22D7-2091-9F7F-0F19F49969EC}"/>
                </a:ext>
              </a:extLst>
            </p:cNvPr>
            <p:cNvSpPr txBox="1"/>
            <p:nvPr/>
          </p:nvSpPr>
          <p:spPr>
            <a:xfrm>
              <a:off x="10511798" y="5245300"/>
              <a:ext cx="835069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200" dirty="0"/>
                <a:t>Classical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65FBB2A6-955E-0E4A-9510-D15FE192A73C}"/>
                    </a:ext>
                  </a:extLst>
                </p:cNvPr>
                <p:cNvSpPr txBox="1"/>
                <p:nvPr/>
              </p:nvSpPr>
              <p:spPr>
                <a:xfrm>
                  <a:off x="10314984" y="4902862"/>
                  <a:ext cx="1135096" cy="27699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CA" sz="1200" b="0" i="0" spc="-10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Separable</m:t>
                        </m:r>
                      </m:oMath>
                    </m:oMathPara>
                  </a14:m>
                  <a:endParaRPr lang="en-US" sz="1200" spc="-100" dirty="0"/>
                </a:p>
              </p:txBody>
            </p:sp>
          </mc:Choice>
          <mc:Fallback xmlns="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65FBB2A6-955E-0E4A-9510-D15FE192A73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314984" y="4902862"/>
                  <a:ext cx="1135096" cy="276999"/>
                </a:xfrm>
                <a:prstGeom prst="rect">
                  <a:avLst/>
                </a:prstGeom>
                <a:blipFill>
                  <a:blip r:embed="rId4"/>
                  <a:stretch>
                    <a:fillRect b="-2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00EC3B14-07C0-DFC8-E33B-EF792867A3B9}"/>
                    </a:ext>
                  </a:extLst>
                </p:cNvPr>
                <p:cNvSpPr txBox="1"/>
                <p:nvPr/>
              </p:nvSpPr>
              <p:spPr>
                <a:xfrm>
                  <a:off x="10151380" y="4509523"/>
                  <a:ext cx="1427063" cy="27699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CA" sz="1200" i="0" spc="-10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  <m:r>
                          <m:rPr>
                            <m:sty m:val="p"/>
                          </m:rPr>
                          <a:rPr lang="en-CA" sz="1200" b="0" i="0" spc="-10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nsteerable</m:t>
                        </m:r>
                      </m:oMath>
                    </m:oMathPara>
                  </a14:m>
                  <a:endParaRPr lang="en-US" sz="1200" spc="-100" dirty="0"/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00EC3B14-07C0-DFC8-E33B-EF792867A3B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51380" y="4509523"/>
                  <a:ext cx="1427063" cy="276999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D42C4620-57DB-C6D5-3BBF-5477108FE79F}"/>
                    </a:ext>
                  </a:extLst>
                </p:cNvPr>
                <p:cNvSpPr txBox="1"/>
                <p:nvPr/>
              </p:nvSpPr>
              <p:spPr>
                <a:xfrm>
                  <a:off x="10225497" y="4097340"/>
                  <a:ext cx="1276702" cy="27699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CA" sz="1200" b="0" i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Local</m:t>
                        </m:r>
                      </m:oMath>
                    </m:oMathPara>
                  </a14:m>
                  <a:endParaRPr lang="en-US" sz="1200" dirty="0"/>
                </a:p>
              </p:txBody>
            </p:sp>
          </mc:Choice>
          <mc:Fallback xmlns="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D42C4620-57DB-C6D5-3BBF-5477108FE79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225497" y="4097340"/>
                  <a:ext cx="1276702" cy="276999"/>
                </a:xfrm>
                <a:prstGeom prst="rect">
                  <a:avLst/>
                </a:prstGeom>
                <a:blipFill>
                  <a:blip r:embed="rId6"/>
                  <a:stretch>
                    <a:fillRect b="-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821BA2BA-926F-647D-1232-6F7D9EC5629C}"/>
                </a:ext>
              </a:extLst>
            </p:cNvPr>
            <p:cNvSpPr txBox="1"/>
            <p:nvPr/>
          </p:nvSpPr>
          <p:spPr>
            <a:xfrm>
              <a:off x="10096174" y="3688974"/>
              <a:ext cx="156001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All quantum states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3AA051B-DBC3-6E74-CCCB-3D61D2982796}"/>
                  </a:ext>
                </a:extLst>
              </p:cNvPr>
              <p:cNvSpPr txBox="1"/>
              <p:nvPr/>
            </p:nvSpPr>
            <p:spPr>
              <a:xfrm>
                <a:off x="194574" y="934244"/>
                <a:ext cx="12083143" cy="56938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/>
                  <a:t> </a:t>
                </a:r>
              </a:p>
              <a:p>
                <a:pPr marL="285750" indent="-285750">
                  <a:buFont typeface="Wingdings" pitchFamily="2" charset="2"/>
                  <a:buChar char="§"/>
                </a:pPr>
                <a:r>
                  <a:rPr lang="en-US" sz="1400" dirty="0">
                    <a:solidFill>
                      <a:schemeClr val="tx1"/>
                    </a:solidFill>
                  </a:rPr>
                  <a:t>Classical relative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A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𝕆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CA" sz="14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triv</m:t>
                        </m:r>
                      </m:sub>
                    </m:sSub>
                  </m:oMath>
                </a14:m>
                <a:r>
                  <a:rPr lang="en-US" sz="1400" dirty="0">
                    <a:solidFill>
                      <a:schemeClr val="tx1"/>
                    </a:solidFill>
                  </a:rPr>
                  <a:t>                                                               </a:t>
                </a:r>
                <a:r>
                  <a:rPr lang="en-US" sz="700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CA" sz="1400" b="0" i="1" smtClean="0">
                        <a:latin typeface="Cambria Math" panose="02040503050406030204" pitchFamily="18" charset="0"/>
                      </a:rPr>
                      <m:t>⇔</m:t>
                    </m:r>
                  </m:oMath>
                </a14:m>
                <a:r>
                  <a:rPr lang="en-US" sz="1400" dirty="0"/>
                  <a:t>     Local states </a:t>
                </a:r>
              </a:p>
              <a:p>
                <a:endParaRPr lang="en-US" sz="1400" dirty="0"/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endParaRPr lang="en-US" sz="1400" dirty="0"/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r>
                  <a:rPr lang="en-US" sz="1400" dirty="0"/>
                  <a:t>Classical relative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A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𝕆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CA" sz="14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N</m:t>
                        </m:r>
                      </m:sub>
                    </m:sSub>
                  </m:oMath>
                </a14:m>
                <a:r>
                  <a:rPr lang="en-US" sz="1400" dirty="0"/>
                  <a:t> </a:t>
                </a:r>
                <a14:m>
                  <m:oMath xmlns:m="http://schemas.openxmlformats.org/officeDocument/2006/math">
                    <m:r>
                      <a:rPr lang="en-CA" sz="1400" b="0" i="0" smtClean="0">
                        <a:latin typeface="Cambria Math" panose="02040503050406030204" pitchFamily="18" charset="0"/>
                      </a:rPr>
                      <m:t>                                                                       </m:t>
                    </m:r>
                    <m:r>
                      <a:rPr lang="en-CA" sz="1400" i="1">
                        <a:latin typeface="Cambria Math" panose="02040503050406030204" pitchFamily="18" charset="0"/>
                      </a:rPr>
                      <m:t>⇔</m:t>
                    </m:r>
                  </m:oMath>
                </a14:m>
                <a:r>
                  <a:rPr lang="en-US" sz="1400" dirty="0"/>
                  <a:t>     B</a:t>
                </a:r>
                <a:r>
                  <a:rPr lang="en-US" sz="1400" dirty="0">
                    <a:sym typeface="Wingdings" pitchFamily="2" charset="2"/>
                  </a:rPr>
                  <a:t> A </a:t>
                </a:r>
                <a:r>
                  <a:rPr lang="en-US" sz="1400" dirty="0" err="1">
                    <a:sym typeface="Wingdings" pitchFamily="2" charset="2"/>
                  </a:rPr>
                  <a:t>un</a:t>
                </a:r>
                <a:r>
                  <a:rPr lang="en-US" sz="1400" dirty="0" err="1"/>
                  <a:t>steerable</a:t>
                </a:r>
                <a:r>
                  <a:rPr lang="en-US" sz="1400" dirty="0"/>
                  <a:t> states.</a:t>
                </a:r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endParaRPr lang="en-US" sz="1400" dirty="0"/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endParaRPr lang="en-US" sz="1400" dirty="0"/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r>
                  <a:rPr lang="en-US" sz="1400" dirty="0"/>
                  <a:t>Classical relative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A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𝕆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CA" sz="14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M</m:t>
                        </m:r>
                      </m:sub>
                    </m:sSub>
                  </m:oMath>
                </a14:m>
                <a:r>
                  <a:rPr lang="en-US" sz="1400" dirty="0"/>
                  <a:t> </a:t>
                </a:r>
                <a14:m>
                  <m:oMath xmlns:m="http://schemas.openxmlformats.org/officeDocument/2006/math">
                    <m:r>
                      <a:rPr lang="en-CA" sz="14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CA" sz="1400" b="0" i="1" smtClean="0">
                        <a:latin typeface="Cambria Math" panose="02040503050406030204" pitchFamily="18" charset="0"/>
                      </a:rPr>
                      <m:t>                                                                      </m:t>
                    </m:r>
                    <m:r>
                      <a:rPr lang="en-CA" sz="1400" i="1">
                        <a:latin typeface="Cambria Math" panose="02040503050406030204" pitchFamily="18" charset="0"/>
                      </a:rPr>
                      <m:t>⇔</m:t>
                    </m:r>
                  </m:oMath>
                </a14:m>
                <a:r>
                  <a:rPr lang="en-US" sz="1400" dirty="0"/>
                  <a:t>     A</a:t>
                </a:r>
                <a:r>
                  <a:rPr lang="en-US" sz="1400" dirty="0">
                    <a:sym typeface="Wingdings" pitchFamily="2" charset="2"/>
                  </a:rPr>
                  <a:t> B </a:t>
                </a:r>
                <a:r>
                  <a:rPr lang="en-US" sz="1400" dirty="0" err="1">
                    <a:sym typeface="Wingdings" pitchFamily="2" charset="2"/>
                  </a:rPr>
                  <a:t>un</a:t>
                </a:r>
                <a:r>
                  <a:rPr lang="en-US" sz="1400" dirty="0" err="1"/>
                  <a:t>steerable</a:t>
                </a:r>
                <a:r>
                  <a:rPr lang="en-US" sz="1400" dirty="0"/>
                  <a:t> states.  </a:t>
                </a:r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endParaRPr lang="en-US" sz="1400" dirty="0"/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endParaRPr lang="en-US" sz="1400" dirty="0"/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r>
                  <a:rPr lang="en-US" sz="1400" dirty="0"/>
                  <a:t>Classical relative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A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𝕆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CA" sz="1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N</m:t>
                        </m:r>
                      </m:sub>
                    </m:sSub>
                  </m:oMath>
                </a14:m>
                <a:r>
                  <a:rPr lang="en-US" sz="14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A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𝕆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CA" sz="14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M</m:t>
                        </m:r>
                      </m:sub>
                    </m:sSub>
                    <m:r>
                      <a:rPr lang="en-CA" sz="1400" b="0" i="0" smtClean="0">
                        <a:latin typeface="Cambria Math" panose="02040503050406030204" pitchFamily="18" charset="0"/>
                      </a:rPr>
                      <m:t>                                                       </m:t>
                    </m:r>
                    <m:r>
                      <a:rPr lang="en-CA" sz="1400" i="1">
                        <a:latin typeface="Cambria Math" panose="02040503050406030204" pitchFamily="18" charset="0"/>
                      </a:rPr>
                      <m:t>⇔</m:t>
                    </m:r>
                  </m:oMath>
                </a14:m>
                <a:r>
                  <a:rPr lang="en-US" sz="1400" dirty="0"/>
                  <a:t>     unsteerable states.  </a:t>
                </a:r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endParaRPr lang="en-US" sz="1400" dirty="0"/>
              </a:p>
              <a:p>
                <a:r>
                  <a:rPr lang="en-US" sz="1400" dirty="0"/>
                  <a:t> </a:t>
                </a:r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r>
                  <a:rPr lang="en-US" sz="1400" dirty="0"/>
                  <a:t>Classical relative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A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𝕆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CA" sz="1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N</m:t>
                        </m:r>
                      </m:sub>
                    </m:sSub>
                    <m:r>
                      <a:rPr lang="en-CA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∪</m:t>
                    </m:r>
                    <m:sSub>
                      <m:sSubPr>
                        <m:ctrlPr>
                          <a:rPr lang="en-CA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𝕆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CA" sz="1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M</m:t>
                        </m:r>
                      </m:sub>
                    </m:sSub>
                    <m:r>
                      <a:rPr lang="en-CA" sz="140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CA" sz="1400" b="0" i="0" smtClean="0">
                        <a:latin typeface="Cambria Math" panose="02040503050406030204" pitchFamily="18" charset="0"/>
                      </a:rPr>
                      <m:t>                                                           </m:t>
                    </m:r>
                    <m:r>
                      <a:rPr lang="en-CA" sz="1400" i="1">
                        <a:latin typeface="Cambria Math" panose="02040503050406030204" pitchFamily="18" charset="0"/>
                      </a:rPr>
                      <m:t>⇔</m:t>
                    </m:r>
                  </m:oMath>
                </a14:m>
                <a:r>
                  <a:rPr lang="en-US" sz="1400" dirty="0"/>
                  <a:t>     separable states. </a:t>
                </a:r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endParaRPr lang="en-US" sz="1400" dirty="0"/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endParaRPr lang="en-US" sz="1400" dirty="0"/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r>
                  <a:rPr lang="en-US" sz="1400" dirty="0"/>
                  <a:t>Classical relative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A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𝕆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CA" sz="1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N</m:t>
                        </m:r>
                      </m:sub>
                    </m:sSub>
                    <m:r>
                      <a:rPr lang="en-CA" sz="1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∪</m:t>
                    </m:r>
                    <m:sSub>
                      <m:sSubPr>
                        <m:ctrlPr>
                          <a:rPr lang="en-CA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𝕆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CA" sz="1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M</m:t>
                        </m:r>
                      </m:sub>
                    </m:sSub>
                    <m:r>
                      <a:rPr lang="en-CA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∪</m:t>
                    </m:r>
                    <m:sSub>
                      <m:sSubPr>
                        <m:ctrlPr>
                          <a:rPr lang="en-CA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𝕆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CA" sz="1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M</m:t>
                        </m:r>
                        <m:r>
                          <a:rPr lang="en-CA" sz="1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∘</m:t>
                        </m:r>
                        <m:r>
                          <m:rPr>
                            <m:sty m:val="p"/>
                          </m:rPr>
                          <a:rPr lang="en-CA" sz="1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P</m:t>
                        </m:r>
                      </m:sub>
                    </m:sSub>
                    <m:r>
                      <a:rPr lang="en-CA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                                          </m:t>
                    </m:r>
                    <m:r>
                      <a:rPr lang="en-CA" sz="1400" i="1">
                        <a:latin typeface="Cambria Math" panose="02040503050406030204" pitchFamily="18" charset="0"/>
                      </a:rPr>
                      <m:t>⇔</m:t>
                    </m:r>
                  </m:oMath>
                </a14:m>
                <a:r>
                  <a:rPr lang="en-CA" sz="1400" dirty="0">
                    <a:ea typeface="Cambria Math" panose="02040503050406030204" pitchFamily="18" charset="0"/>
                  </a:rPr>
                  <a:t>     </a:t>
                </a:r>
                <a:r>
                  <a:rPr lang="en-US" sz="1400" dirty="0"/>
                  <a:t>always generating classical preparations in A</a:t>
                </a:r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endParaRPr lang="en-US" sz="1400" dirty="0"/>
              </a:p>
              <a:p>
                <a:endParaRPr lang="en-US" sz="1400" dirty="0"/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r>
                  <a:rPr lang="en-US" sz="1400" dirty="0"/>
                  <a:t>Classical relative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A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𝕆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CA" sz="1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N</m:t>
                        </m:r>
                      </m:sub>
                    </m:sSub>
                    <m:r>
                      <a:rPr lang="en-CA" sz="1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∪</m:t>
                    </m:r>
                    <m:sSub>
                      <m:sSubPr>
                        <m:ctrlPr>
                          <a:rPr lang="en-CA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𝕆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CA" sz="1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M</m:t>
                        </m:r>
                      </m:sub>
                    </m:sSub>
                    <m:r>
                      <a:rPr lang="en-CA" sz="1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∪</m:t>
                    </m:r>
                    <m:sSub>
                      <m:sSubPr>
                        <m:ctrlPr>
                          <a:rPr lang="en-CA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𝕆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CA" sz="14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N</m:t>
                        </m:r>
                        <m:r>
                          <a:rPr lang="en-CA" sz="1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∘</m:t>
                        </m:r>
                        <m:r>
                          <m:rPr>
                            <m:sty m:val="p"/>
                          </m:rPr>
                          <a:rPr lang="en-CA" sz="1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P</m:t>
                        </m:r>
                      </m:sub>
                    </m:sSub>
                    <m:r>
                      <a:rPr lang="en-CA" sz="1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CA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                                         </m:t>
                    </m:r>
                    <m:r>
                      <a:rPr lang="en-CA" sz="1400" i="1">
                        <a:latin typeface="Cambria Math" panose="02040503050406030204" pitchFamily="18" charset="0"/>
                      </a:rPr>
                      <m:t>⇔</m:t>
                    </m:r>
                  </m:oMath>
                </a14:m>
                <a:r>
                  <a:rPr lang="en-US" sz="1400" dirty="0"/>
                  <a:t>     always generating preparations in B</a:t>
                </a:r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endParaRPr lang="en-US" sz="1400" dirty="0"/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endParaRPr lang="en-US" sz="1400" dirty="0"/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r>
                  <a:rPr lang="en-US" sz="1400" dirty="0"/>
                  <a:t>Classical relative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A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𝕆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CA" sz="1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N</m:t>
                        </m:r>
                      </m:sub>
                    </m:sSub>
                    <m:r>
                      <a:rPr lang="en-CA" sz="1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∪</m:t>
                    </m:r>
                    <m:sSub>
                      <m:sSubPr>
                        <m:ctrlPr>
                          <a:rPr lang="en-CA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𝕆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CA" sz="1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M</m:t>
                        </m:r>
                      </m:sub>
                    </m:sSub>
                    <m:r>
                      <a:rPr lang="en-CA" sz="1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∪</m:t>
                    </m:r>
                    <m:sSub>
                      <m:sSubPr>
                        <m:ctrlPr>
                          <a:rPr lang="en-CA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𝕆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CA" sz="1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M</m:t>
                        </m:r>
                        <m:r>
                          <a:rPr lang="en-CA" sz="1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∘</m:t>
                        </m:r>
                        <m:r>
                          <m:rPr>
                            <m:sty m:val="p"/>
                          </m:rPr>
                          <a:rPr lang="en-CA" sz="1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P</m:t>
                        </m:r>
                      </m:sub>
                    </m:sSub>
                    <m:r>
                      <a:rPr lang="en-CA" sz="1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400" dirty="0"/>
                  <a:t>and</a:t>
                </a:r>
                <a:r>
                  <a:rPr lang="en-US" sz="1400" dirty="0">
                    <a:solidFill>
                      <a:srgbClr val="00B050"/>
                    </a:solidFill>
                  </a:rPr>
                  <a:t> </a:t>
                </a:r>
                <a:r>
                  <a:rPr lang="en-US" sz="1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A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𝕆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CA" sz="1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N</m:t>
                        </m:r>
                      </m:sub>
                    </m:sSub>
                    <m:r>
                      <a:rPr lang="en-CA" sz="1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∪</m:t>
                    </m:r>
                    <m:sSub>
                      <m:sSubPr>
                        <m:ctrlPr>
                          <a:rPr lang="en-CA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𝕆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CA" sz="1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M</m:t>
                        </m:r>
                      </m:sub>
                    </m:sSub>
                    <m:r>
                      <a:rPr lang="en-CA" sz="1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∪</m:t>
                    </m:r>
                    <m:sSub>
                      <m:sSubPr>
                        <m:ctrlPr>
                          <a:rPr lang="en-CA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𝕆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CA" sz="1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N</m:t>
                        </m:r>
                        <m:r>
                          <a:rPr lang="en-CA" sz="1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∘</m:t>
                        </m:r>
                        <m:r>
                          <m:rPr>
                            <m:sty m:val="p"/>
                          </m:rPr>
                          <a:rPr lang="en-CA" sz="1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P</m:t>
                        </m:r>
                      </m:sub>
                    </m:sSub>
                    <m:r>
                      <a:rPr lang="en-CA" sz="1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CA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CA" sz="1400" i="1">
                        <a:latin typeface="Cambria Math" panose="02040503050406030204" pitchFamily="18" charset="0"/>
                      </a:rPr>
                      <m:t>⇔</m:t>
                    </m:r>
                  </m:oMath>
                </a14:m>
                <a:r>
                  <a:rPr lang="en-US" sz="1400" dirty="0"/>
                  <a:t>     always generating classical preparations in both A and B</a:t>
                </a:r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endParaRPr lang="en-US" sz="1400" dirty="0"/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endParaRPr lang="en-US" sz="1400" dirty="0"/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r>
                  <a:rPr lang="en-US" sz="1400" dirty="0"/>
                  <a:t>Classical relative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A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𝕆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CA" sz="1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N</m:t>
                        </m:r>
                      </m:sub>
                    </m:sSub>
                    <m:r>
                      <a:rPr lang="en-CA" sz="1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∪</m:t>
                    </m:r>
                    <m:sSub>
                      <m:sSubPr>
                        <m:ctrlPr>
                          <a:rPr lang="en-CA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𝕆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CA" sz="1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M</m:t>
                        </m:r>
                      </m:sub>
                    </m:sSub>
                    <m:r>
                      <a:rPr lang="en-CA" sz="1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∪</m:t>
                    </m:r>
                    <m:sSub>
                      <m:sSubPr>
                        <m:ctrlPr>
                          <a:rPr lang="en-CA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𝕆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CA" sz="1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M</m:t>
                        </m:r>
                        <m:r>
                          <a:rPr lang="en-CA" sz="1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∘</m:t>
                        </m:r>
                        <m:r>
                          <m:rPr>
                            <m:sty m:val="p"/>
                          </m:rPr>
                          <a:rPr lang="en-CA" sz="1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P</m:t>
                        </m:r>
                      </m:sub>
                    </m:sSub>
                    <m:r>
                      <a:rPr lang="en-CA" sz="1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∪</m:t>
                    </m:r>
                    <m:sSub>
                      <m:sSubPr>
                        <m:ctrlPr>
                          <a:rPr lang="en-CA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𝕆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CA" sz="1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N</m:t>
                        </m:r>
                        <m:r>
                          <a:rPr lang="en-CA" sz="1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∘</m:t>
                        </m:r>
                        <m:r>
                          <m:rPr>
                            <m:sty m:val="p"/>
                          </m:rPr>
                          <a:rPr lang="en-CA" sz="1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P</m:t>
                        </m:r>
                      </m:sub>
                    </m:sSub>
                    <m:r>
                      <a:rPr lang="en-CA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∪</m:t>
                    </m:r>
                    <m:sSub>
                      <m:sSubPr>
                        <m:ctrlPr>
                          <a:rPr lang="en-CA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𝕆</m:t>
                        </m:r>
                      </m:e>
                      <m:sub>
                        <m:acc>
                          <m:accPr>
                            <m:chr m:val="̃"/>
                            <m:ctrlPr>
                              <a:rPr lang="en-CA" sz="1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CA" sz="14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P</m:t>
                            </m:r>
                          </m:e>
                        </m:acc>
                      </m:sub>
                    </m:sSub>
                    <m:r>
                      <a:rPr lang="en-CA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                </m:t>
                    </m:r>
                    <m:r>
                      <a:rPr lang="en-CA" sz="1400" i="1">
                        <a:latin typeface="Cambria Math" panose="02040503050406030204" pitchFamily="18" charset="0"/>
                      </a:rPr>
                      <m:t>⇔</m:t>
                    </m:r>
                  </m:oMath>
                </a14:m>
                <a:r>
                  <a:rPr lang="en-US" sz="1400" dirty="0"/>
                  <a:t>     (Leibniz) classical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3AA051B-DBC3-6E74-CCCB-3D61D29827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4574" y="934244"/>
                <a:ext cx="12083143" cy="5693866"/>
              </a:xfrm>
              <a:prstGeom prst="rect">
                <a:avLst/>
              </a:prstGeom>
              <a:blipFill>
                <a:blip r:embed="rId7"/>
                <a:stretch>
                  <a:fillRect l="-1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" name="TextBox 46">
            <a:extLst>
              <a:ext uri="{FF2B5EF4-FFF2-40B4-BE49-F238E27FC236}">
                <a16:creationId xmlns:a16="http://schemas.microsoft.com/office/drawing/2014/main" id="{CF6FB083-6F67-5B02-F1EB-AA6DF7736943}"/>
              </a:ext>
            </a:extLst>
          </p:cNvPr>
          <p:cNvSpPr txBox="1"/>
          <p:nvPr/>
        </p:nvSpPr>
        <p:spPr>
          <a:xfrm>
            <a:off x="0" y="397104"/>
            <a:ext cx="67709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</a:rPr>
              <a:t>Classical bipartite state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B84FD09-2491-4BD3-EB82-855A26607F5E}"/>
              </a:ext>
            </a:extLst>
          </p:cNvPr>
          <p:cNvSpPr txBox="1"/>
          <p:nvPr/>
        </p:nvSpPr>
        <p:spPr>
          <a:xfrm>
            <a:off x="7461956" y="65475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50571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 animBg="1"/>
      <p:bldP spid="2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27AF3A-7A03-41A3-E52C-1FDB5EB79C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E649BB57-E71A-3CA1-4E6A-DF85CA3AD8DC}"/>
              </a:ext>
            </a:extLst>
          </p:cNvPr>
          <p:cNvSpPr/>
          <p:nvPr/>
        </p:nvSpPr>
        <p:spPr>
          <a:xfrm>
            <a:off x="7547541" y="3780362"/>
            <a:ext cx="3502325" cy="1276710"/>
          </a:xfrm>
          <a:prstGeom prst="rect">
            <a:avLst/>
          </a:prstGeom>
          <a:ln w="25400">
            <a:solidFill>
              <a:srgbClr val="0070C0">
                <a:alpha val="98000"/>
              </a:srgb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93ECF9C-517A-FE40-AC66-61E403F661C9}"/>
              </a:ext>
            </a:extLst>
          </p:cNvPr>
          <p:cNvSpPr/>
          <p:nvPr/>
        </p:nvSpPr>
        <p:spPr>
          <a:xfrm>
            <a:off x="0" y="5465135"/>
            <a:ext cx="4657060" cy="13928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8BDDDBA-0BFC-F532-095E-207890246ED6}"/>
              </a:ext>
            </a:extLst>
          </p:cNvPr>
          <p:cNvSpPr txBox="1"/>
          <p:nvPr/>
        </p:nvSpPr>
        <p:spPr>
          <a:xfrm>
            <a:off x="0" y="397104"/>
            <a:ext cx="4791919" cy="4594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</a:rPr>
              <a:t>Novel test for </a:t>
            </a:r>
            <a:r>
              <a:rPr lang="en-US" sz="2400" dirty="0" err="1">
                <a:solidFill>
                  <a:srgbClr val="0070C0"/>
                </a:solidFill>
              </a:rPr>
              <a:t>nonclassicality</a:t>
            </a:r>
            <a:endParaRPr lang="en-US" sz="2400" dirty="0">
              <a:solidFill>
                <a:srgbClr val="0070C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9C54DE1-86F6-B794-506B-DDD57AC04A8B}"/>
              </a:ext>
            </a:extLst>
          </p:cNvPr>
          <p:cNvSpPr txBox="1"/>
          <p:nvPr/>
        </p:nvSpPr>
        <p:spPr>
          <a:xfrm>
            <a:off x="5280927" y="1677467"/>
            <a:ext cx="65628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New approach to certifying entanglement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A872D45-91C3-42F0-DC6E-E6334B69535F}"/>
              </a:ext>
            </a:extLst>
          </p:cNvPr>
          <p:cNvSpPr txBox="1"/>
          <p:nvPr/>
        </p:nvSpPr>
        <p:spPr>
          <a:xfrm>
            <a:off x="352988" y="1431597"/>
            <a:ext cx="479191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What can we benefit from this connection? 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3EC8E859-4B01-0179-1893-4EDA56B10F66}"/>
              </a:ext>
            </a:extLst>
          </p:cNvPr>
          <p:cNvSpPr/>
          <p:nvPr/>
        </p:nvSpPr>
        <p:spPr>
          <a:xfrm>
            <a:off x="992530" y="2495273"/>
            <a:ext cx="3160591" cy="2291600"/>
          </a:xfrm>
          <a:prstGeom prst="ellipse">
            <a:avLst/>
          </a:prstGeom>
          <a:solidFill>
            <a:srgbClr val="9A41DB">
              <a:alpha val="89804"/>
            </a:srgbClr>
          </a:solidFill>
          <a:ln w="19050">
            <a:solidFill>
              <a:schemeClr val="tx1">
                <a:alpha val="9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500" b="0" dirty="0">
              <a:solidFill>
                <a:srgbClr val="9B4ED6"/>
              </a:solidFill>
            </a:endParaRPr>
          </a:p>
        </p:txBody>
      </p:sp>
      <p:sp>
        <p:nvSpPr>
          <p:cNvPr id="4" name="Regular Pentagon 3">
            <a:extLst>
              <a:ext uri="{FF2B5EF4-FFF2-40B4-BE49-F238E27FC236}">
                <a16:creationId xmlns:a16="http://schemas.microsoft.com/office/drawing/2014/main" id="{FCA5199A-74A3-899D-0838-7BAB484EA898}"/>
              </a:ext>
            </a:extLst>
          </p:cNvPr>
          <p:cNvSpPr/>
          <p:nvPr/>
        </p:nvSpPr>
        <p:spPr>
          <a:xfrm rot="10800000">
            <a:off x="1071418" y="2583242"/>
            <a:ext cx="2564118" cy="2172452"/>
          </a:xfrm>
          <a:prstGeom prst="pentagon">
            <a:avLst/>
          </a:prstGeom>
          <a:solidFill>
            <a:srgbClr val="F0C679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500" b="0" dirty="0">
              <a:solidFill>
                <a:srgbClr val="F0C679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4BE33DD-289D-3876-D5B3-3B3298715492}"/>
              </a:ext>
            </a:extLst>
          </p:cNvPr>
          <p:cNvSpPr/>
          <p:nvPr/>
        </p:nvSpPr>
        <p:spPr>
          <a:xfrm>
            <a:off x="1429423" y="2194070"/>
            <a:ext cx="1845288" cy="37516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500" b="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62A3F81-A393-1D18-A32E-7E208E2B04CB}"/>
              </a:ext>
            </a:extLst>
          </p:cNvPr>
          <p:cNvSpPr/>
          <p:nvPr/>
        </p:nvSpPr>
        <p:spPr>
          <a:xfrm rot="17382588">
            <a:off x="240432" y="2895638"/>
            <a:ext cx="1845288" cy="37516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500" b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70B2547-B6F2-0913-F5A1-0ECD925EEFC3}"/>
                  </a:ext>
                </a:extLst>
              </p:cNvPr>
              <p:cNvSpPr txBox="1"/>
              <p:nvPr/>
            </p:nvSpPr>
            <p:spPr>
              <a:xfrm>
                <a:off x="3207327" y="3325958"/>
                <a:ext cx="116634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𝒬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70B2547-B6F2-0913-F5A1-0ECD925EEF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7327" y="3325958"/>
                <a:ext cx="1166346" cy="369332"/>
              </a:xfrm>
              <a:prstGeom prst="rect">
                <a:avLst/>
              </a:prstGeom>
              <a:blipFill>
                <a:blip r:embed="rId3"/>
                <a:stretch>
                  <a:fillRect b="-103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776AEC5-C4EC-B6B9-B5CE-37037B98057A}"/>
                  </a:ext>
                </a:extLst>
              </p:cNvPr>
              <p:cNvSpPr txBox="1"/>
              <p:nvPr/>
            </p:nvSpPr>
            <p:spPr>
              <a:xfrm>
                <a:off x="976806" y="5253706"/>
                <a:ext cx="3118517" cy="2923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3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CA" sz="1300" b="0" i="1" dirty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130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300" dirty="0"/>
                  <a:t> Steering-Witnessing NC inequality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776AEC5-C4EC-B6B9-B5CE-37037B9805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6806" y="5253706"/>
                <a:ext cx="3118517" cy="292388"/>
              </a:xfrm>
              <a:prstGeom prst="rect">
                <a:avLst/>
              </a:prstGeom>
              <a:blipFill>
                <a:blip r:embed="rId4"/>
                <a:stretch>
                  <a:fillRect t="-4167" b="-208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9762E4F-EE00-E334-5009-FE644E11FF99}"/>
                  </a:ext>
                </a:extLst>
              </p:cNvPr>
              <p:cNvSpPr txBox="1"/>
              <p:nvPr/>
            </p:nvSpPr>
            <p:spPr>
              <a:xfrm>
                <a:off x="1468167" y="2615745"/>
                <a:ext cx="1623637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1400" spc="-300" smtClean="0">
                          <a:latin typeface="Cambria Math" panose="02040503050406030204" pitchFamily="18" charset="0"/>
                        </a:rPr>
                        <m:t>𝒩</m:t>
                      </m:r>
                      <m:sSub>
                        <m:sSubPr>
                          <m:ctrlPr>
                            <a:rPr lang="en-CA" sz="1400" b="0" i="1" spc="-15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1400" b="0" i="0" spc="-150" smtClean="0">
                              <a:latin typeface="Cambria Math" panose="02040503050406030204" pitchFamily="18" charset="0"/>
                            </a:rPr>
                            <m:t>𝒞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CA" sz="1400" b="0" i="0" spc="-150" smtClean="0">
                              <a:latin typeface="Cambria Math" panose="02040503050406030204" pitchFamily="18" charset="0"/>
                            </a:rPr>
                            <m:t>triv</m:t>
                          </m:r>
                        </m:sub>
                      </m:sSub>
                      <m:r>
                        <a:rPr lang="en-CA" sz="1400" b="0" i="0" spc="-15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CA" sz="1400" b="0" i="1" spc="-15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CA" sz="1400" b="0" i="1" spc="-300" smtClean="0">
                          <a:latin typeface="Cambria Math" panose="02040503050406030204" pitchFamily="18" charset="0"/>
                        </a:rPr>
                        <m:t>ℒ</m:t>
                      </m:r>
                    </m:oMath>
                  </m:oMathPara>
                </a14:m>
                <a:endParaRPr lang="en-US" sz="1400" spc="-3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9762E4F-EE00-E334-5009-FE644E11FF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8167" y="2615745"/>
                <a:ext cx="1623637" cy="307777"/>
              </a:xfrm>
              <a:prstGeom prst="rect">
                <a:avLst/>
              </a:prstGeom>
              <a:blipFill>
                <a:blip r:embed="rId5"/>
                <a:stretch>
                  <a:fillRect b="-115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gular Pentagon 3">
            <a:extLst>
              <a:ext uri="{FF2B5EF4-FFF2-40B4-BE49-F238E27FC236}">
                <a16:creationId xmlns:a16="http://schemas.microsoft.com/office/drawing/2014/main" id="{C0FFD118-A288-BCD2-D203-C92BC903A528}"/>
              </a:ext>
            </a:extLst>
          </p:cNvPr>
          <p:cNvSpPr/>
          <p:nvPr/>
        </p:nvSpPr>
        <p:spPr>
          <a:xfrm rot="10800000" flipH="1">
            <a:off x="1292889" y="2922018"/>
            <a:ext cx="2115730" cy="1829749"/>
          </a:xfrm>
          <a:custGeom>
            <a:avLst/>
            <a:gdLst>
              <a:gd name="connsiteX0" fmla="*/ 2 w 2055729"/>
              <a:gd name="connsiteY0" fmla="*/ 666685 h 1745409"/>
              <a:gd name="connsiteX1" fmla="*/ 1027865 w 2055729"/>
              <a:gd name="connsiteY1" fmla="*/ 0 h 1745409"/>
              <a:gd name="connsiteX2" fmla="*/ 2055727 w 2055729"/>
              <a:gd name="connsiteY2" fmla="*/ 666685 h 1745409"/>
              <a:gd name="connsiteX3" fmla="*/ 1663118 w 2055729"/>
              <a:gd name="connsiteY3" fmla="*/ 1745405 h 1745409"/>
              <a:gd name="connsiteX4" fmla="*/ 392611 w 2055729"/>
              <a:gd name="connsiteY4" fmla="*/ 1745405 h 1745409"/>
              <a:gd name="connsiteX5" fmla="*/ 2 w 2055729"/>
              <a:gd name="connsiteY5" fmla="*/ 666685 h 1745409"/>
              <a:gd name="connsiteX0" fmla="*/ 0 w 2055725"/>
              <a:gd name="connsiteY0" fmla="*/ 666685 h 1745405"/>
              <a:gd name="connsiteX1" fmla="*/ 1027863 w 2055725"/>
              <a:gd name="connsiteY1" fmla="*/ 0 h 1745405"/>
              <a:gd name="connsiteX2" fmla="*/ 2055725 w 2055725"/>
              <a:gd name="connsiteY2" fmla="*/ 666685 h 1745405"/>
              <a:gd name="connsiteX3" fmla="*/ 1663116 w 2055725"/>
              <a:gd name="connsiteY3" fmla="*/ 1745405 h 1745405"/>
              <a:gd name="connsiteX4" fmla="*/ 273789 w 2055725"/>
              <a:gd name="connsiteY4" fmla="*/ 1745405 h 1745405"/>
              <a:gd name="connsiteX5" fmla="*/ 0 w 2055725"/>
              <a:gd name="connsiteY5" fmla="*/ 666685 h 1745405"/>
              <a:gd name="connsiteX0" fmla="*/ 0 w 2190044"/>
              <a:gd name="connsiteY0" fmla="*/ 744177 h 1745405"/>
              <a:gd name="connsiteX1" fmla="*/ 1162182 w 2190044"/>
              <a:gd name="connsiteY1" fmla="*/ 0 h 1745405"/>
              <a:gd name="connsiteX2" fmla="*/ 2190044 w 2190044"/>
              <a:gd name="connsiteY2" fmla="*/ 666685 h 1745405"/>
              <a:gd name="connsiteX3" fmla="*/ 1797435 w 2190044"/>
              <a:gd name="connsiteY3" fmla="*/ 1745405 h 1745405"/>
              <a:gd name="connsiteX4" fmla="*/ 408108 w 2190044"/>
              <a:gd name="connsiteY4" fmla="*/ 1745405 h 1745405"/>
              <a:gd name="connsiteX5" fmla="*/ 0 w 2190044"/>
              <a:gd name="connsiteY5" fmla="*/ 744177 h 1745405"/>
              <a:gd name="connsiteX0" fmla="*/ 0 w 2019562"/>
              <a:gd name="connsiteY0" fmla="*/ 744177 h 1745405"/>
              <a:gd name="connsiteX1" fmla="*/ 1162182 w 2019562"/>
              <a:gd name="connsiteY1" fmla="*/ 0 h 1745405"/>
              <a:gd name="connsiteX2" fmla="*/ 2019562 w 2019562"/>
              <a:gd name="connsiteY2" fmla="*/ 553031 h 1745405"/>
              <a:gd name="connsiteX3" fmla="*/ 1797435 w 2019562"/>
              <a:gd name="connsiteY3" fmla="*/ 1745405 h 1745405"/>
              <a:gd name="connsiteX4" fmla="*/ 408108 w 2019562"/>
              <a:gd name="connsiteY4" fmla="*/ 1745405 h 1745405"/>
              <a:gd name="connsiteX5" fmla="*/ 0 w 2019562"/>
              <a:gd name="connsiteY5" fmla="*/ 744177 h 1745405"/>
              <a:gd name="connsiteX0" fmla="*/ 0 w 2019562"/>
              <a:gd name="connsiteY0" fmla="*/ 744177 h 1755737"/>
              <a:gd name="connsiteX1" fmla="*/ 1162182 w 2019562"/>
              <a:gd name="connsiteY1" fmla="*/ 0 h 1755737"/>
              <a:gd name="connsiteX2" fmla="*/ 2019562 w 2019562"/>
              <a:gd name="connsiteY2" fmla="*/ 553031 h 1755737"/>
              <a:gd name="connsiteX3" fmla="*/ 1642452 w 2019562"/>
              <a:gd name="connsiteY3" fmla="*/ 1755737 h 1755737"/>
              <a:gd name="connsiteX4" fmla="*/ 408108 w 2019562"/>
              <a:gd name="connsiteY4" fmla="*/ 1745405 h 1755737"/>
              <a:gd name="connsiteX5" fmla="*/ 0 w 2019562"/>
              <a:gd name="connsiteY5" fmla="*/ 744177 h 1755737"/>
              <a:gd name="connsiteX0" fmla="*/ 0 w 2019562"/>
              <a:gd name="connsiteY0" fmla="*/ 744177 h 1750571"/>
              <a:gd name="connsiteX1" fmla="*/ 1162182 w 2019562"/>
              <a:gd name="connsiteY1" fmla="*/ 0 h 1750571"/>
              <a:gd name="connsiteX2" fmla="*/ 2019562 w 2019562"/>
              <a:gd name="connsiteY2" fmla="*/ 553031 h 1750571"/>
              <a:gd name="connsiteX3" fmla="*/ 1621788 w 2019562"/>
              <a:gd name="connsiteY3" fmla="*/ 1750571 h 1750571"/>
              <a:gd name="connsiteX4" fmla="*/ 408108 w 2019562"/>
              <a:gd name="connsiteY4" fmla="*/ 1745405 h 1750571"/>
              <a:gd name="connsiteX5" fmla="*/ 0 w 2019562"/>
              <a:gd name="connsiteY5" fmla="*/ 744177 h 1750571"/>
              <a:gd name="connsiteX0" fmla="*/ 0 w 2019562"/>
              <a:gd name="connsiteY0" fmla="*/ 744177 h 1750571"/>
              <a:gd name="connsiteX1" fmla="*/ 1162182 w 2019562"/>
              <a:gd name="connsiteY1" fmla="*/ 0 h 1750571"/>
              <a:gd name="connsiteX2" fmla="*/ 2019562 w 2019562"/>
              <a:gd name="connsiteY2" fmla="*/ 553031 h 1750571"/>
              <a:gd name="connsiteX3" fmla="*/ 1549463 w 2019562"/>
              <a:gd name="connsiteY3" fmla="*/ 1750571 h 1750571"/>
              <a:gd name="connsiteX4" fmla="*/ 408108 w 2019562"/>
              <a:gd name="connsiteY4" fmla="*/ 1745405 h 1750571"/>
              <a:gd name="connsiteX5" fmla="*/ 0 w 2019562"/>
              <a:gd name="connsiteY5" fmla="*/ 744177 h 1750571"/>
              <a:gd name="connsiteX0" fmla="*/ 0 w 1983399"/>
              <a:gd name="connsiteY0" fmla="*/ 744177 h 1750571"/>
              <a:gd name="connsiteX1" fmla="*/ 1162182 w 1983399"/>
              <a:gd name="connsiteY1" fmla="*/ 0 h 1750571"/>
              <a:gd name="connsiteX2" fmla="*/ 1983399 w 1983399"/>
              <a:gd name="connsiteY2" fmla="*/ 532366 h 1750571"/>
              <a:gd name="connsiteX3" fmla="*/ 1549463 w 1983399"/>
              <a:gd name="connsiteY3" fmla="*/ 1750571 h 1750571"/>
              <a:gd name="connsiteX4" fmla="*/ 408108 w 1983399"/>
              <a:gd name="connsiteY4" fmla="*/ 1745405 h 1750571"/>
              <a:gd name="connsiteX5" fmla="*/ 0 w 1983399"/>
              <a:gd name="connsiteY5" fmla="*/ 744177 h 1750571"/>
              <a:gd name="connsiteX0" fmla="*/ 0 w 1983399"/>
              <a:gd name="connsiteY0" fmla="*/ 744177 h 1750571"/>
              <a:gd name="connsiteX1" fmla="*/ 1162182 w 1983399"/>
              <a:gd name="connsiteY1" fmla="*/ 0 h 1750571"/>
              <a:gd name="connsiteX2" fmla="*/ 1983399 w 1983399"/>
              <a:gd name="connsiteY2" fmla="*/ 532366 h 1750571"/>
              <a:gd name="connsiteX3" fmla="*/ 1549463 w 1983399"/>
              <a:gd name="connsiteY3" fmla="*/ 1750571 h 1750571"/>
              <a:gd name="connsiteX4" fmla="*/ 371945 w 1983399"/>
              <a:gd name="connsiteY4" fmla="*/ 1735073 h 1750571"/>
              <a:gd name="connsiteX5" fmla="*/ 0 w 1983399"/>
              <a:gd name="connsiteY5" fmla="*/ 744177 h 1750571"/>
              <a:gd name="connsiteX0" fmla="*/ 0 w 1983399"/>
              <a:gd name="connsiteY0" fmla="*/ 744177 h 1735073"/>
              <a:gd name="connsiteX1" fmla="*/ 1162182 w 1983399"/>
              <a:gd name="connsiteY1" fmla="*/ 0 h 1735073"/>
              <a:gd name="connsiteX2" fmla="*/ 1983399 w 1983399"/>
              <a:gd name="connsiteY2" fmla="*/ 532366 h 1735073"/>
              <a:gd name="connsiteX3" fmla="*/ 1539131 w 1983399"/>
              <a:gd name="connsiteY3" fmla="*/ 1729907 h 1735073"/>
              <a:gd name="connsiteX4" fmla="*/ 371945 w 1983399"/>
              <a:gd name="connsiteY4" fmla="*/ 1735073 h 1735073"/>
              <a:gd name="connsiteX5" fmla="*/ 0 w 1983399"/>
              <a:gd name="connsiteY5" fmla="*/ 744177 h 1735073"/>
              <a:gd name="connsiteX0" fmla="*/ 0 w 1983399"/>
              <a:gd name="connsiteY0" fmla="*/ 744177 h 1745405"/>
              <a:gd name="connsiteX1" fmla="*/ 1162182 w 1983399"/>
              <a:gd name="connsiteY1" fmla="*/ 0 h 1745405"/>
              <a:gd name="connsiteX2" fmla="*/ 1983399 w 1983399"/>
              <a:gd name="connsiteY2" fmla="*/ 532366 h 1745405"/>
              <a:gd name="connsiteX3" fmla="*/ 1523632 w 1983399"/>
              <a:gd name="connsiteY3" fmla="*/ 1745405 h 1745405"/>
              <a:gd name="connsiteX4" fmla="*/ 371945 w 1983399"/>
              <a:gd name="connsiteY4" fmla="*/ 1735073 h 1745405"/>
              <a:gd name="connsiteX5" fmla="*/ 0 w 1983399"/>
              <a:gd name="connsiteY5" fmla="*/ 744177 h 1745405"/>
              <a:gd name="connsiteX0" fmla="*/ 0 w 1983399"/>
              <a:gd name="connsiteY0" fmla="*/ 744177 h 1735073"/>
              <a:gd name="connsiteX1" fmla="*/ 1162182 w 1983399"/>
              <a:gd name="connsiteY1" fmla="*/ 0 h 1735073"/>
              <a:gd name="connsiteX2" fmla="*/ 1983399 w 1983399"/>
              <a:gd name="connsiteY2" fmla="*/ 532366 h 1735073"/>
              <a:gd name="connsiteX3" fmla="*/ 1513300 w 1983399"/>
              <a:gd name="connsiteY3" fmla="*/ 1729907 h 1735073"/>
              <a:gd name="connsiteX4" fmla="*/ 371945 w 1983399"/>
              <a:gd name="connsiteY4" fmla="*/ 1735073 h 1735073"/>
              <a:gd name="connsiteX5" fmla="*/ 0 w 1983399"/>
              <a:gd name="connsiteY5" fmla="*/ 744177 h 1735073"/>
              <a:gd name="connsiteX0" fmla="*/ 0 w 1983399"/>
              <a:gd name="connsiteY0" fmla="*/ 744177 h 1740239"/>
              <a:gd name="connsiteX1" fmla="*/ 1162182 w 1983399"/>
              <a:gd name="connsiteY1" fmla="*/ 0 h 1740239"/>
              <a:gd name="connsiteX2" fmla="*/ 1983399 w 1983399"/>
              <a:gd name="connsiteY2" fmla="*/ 532366 h 1740239"/>
              <a:gd name="connsiteX3" fmla="*/ 1962751 w 1983399"/>
              <a:gd name="connsiteY3" fmla="*/ 1740239 h 1740239"/>
              <a:gd name="connsiteX4" fmla="*/ 371945 w 1983399"/>
              <a:gd name="connsiteY4" fmla="*/ 1735073 h 1740239"/>
              <a:gd name="connsiteX5" fmla="*/ 0 w 1983399"/>
              <a:gd name="connsiteY5" fmla="*/ 744177 h 1740239"/>
              <a:gd name="connsiteX0" fmla="*/ 0 w 2334694"/>
              <a:gd name="connsiteY0" fmla="*/ 744177 h 1740239"/>
              <a:gd name="connsiteX1" fmla="*/ 1162182 w 2334694"/>
              <a:gd name="connsiteY1" fmla="*/ 0 h 1740239"/>
              <a:gd name="connsiteX2" fmla="*/ 2334694 w 2334694"/>
              <a:gd name="connsiteY2" fmla="*/ 739010 h 1740239"/>
              <a:gd name="connsiteX3" fmla="*/ 1962751 w 2334694"/>
              <a:gd name="connsiteY3" fmla="*/ 1740239 h 1740239"/>
              <a:gd name="connsiteX4" fmla="*/ 371945 w 2334694"/>
              <a:gd name="connsiteY4" fmla="*/ 1735073 h 1740239"/>
              <a:gd name="connsiteX5" fmla="*/ 0 w 2334694"/>
              <a:gd name="connsiteY5" fmla="*/ 744177 h 1740239"/>
              <a:gd name="connsiteX0" fmla="*/ 0 w 2334694"/>
              <a:gd name="connsiteY0" fmla="*/ 744177 h 1740239"/>
              <a:gd name="connsiteX1" fmla="*/ 1162182 w 2334694"/>
              <a:gd name="connsiteY1" fmla="*/ 0 h 1740239"/>
              <a:gd name="connsiteX2" fmla="*/ 2334694 w 2334694"/>
              <a:gd name="connsiteY2" fmla="*/ 753186 h 1740239"/>
              <a:gd name="connsiteX3" fmla="*/ 1962751 w 2334694"/>
              <a:gd name="connsiteY3" fmla="*/ 1740239 h 1740239"/>
              <a:gd name="connsiteX4" fmla="*/ 371945 w 2334694"/>
              <a:gd name="connsiteY4" fmla="*/ 1735073 h 1740239"/>
              <a:gd name="connsiteX5" fmla="*/ 0 w 2334694"/>
              <a:gd name="connsiteY5" fmla="*/ 744177 h 1740239"/>
              <a:gd name="connsiteX0" fmla="*/ 0 w 2334694"/>
              <a:gd name="connsiteY0" fmla="*/ 744177 h 1740239"/>
              <a:gd name="connsiteX1" fmla="*/ 1162182 w 2334694"/>
              <a:gd name="connsiteY1" fmla="*/ 0 h 1740239"/>
              <a:gd name="connsiteX2" fmla="*/ 2334694 w 2334694"/>
              <a:gd name="connsiteY2" fmla="*/ 753186 h 1740239"/>
              <a:gd name="connsiteX3" fmla="*/ 1962751 w 2334694"/>
              <a:gd name="connsiteY3" fmla="*/ 1740239 h 1740239"/>
              <a:gd name="connsiteX4" fmla="*/ 480650 w 2334694"/>
              <a:gd name="connsiteY4" fmla="*/ 1735073 h 1740239"/>
              <a:gd name="connsiteX5" fmla="*/ 0 w 2334694"/>
              <a:gd name="connsiteY5" fmla="*/ 744177 h 1740239"/>
              <a:gd name="connsiteX0" fmla="*/ 0 w 2213201"/>
              <a:gd name="connsiteY0" fmla="*/ 667444 h 1740239"/>
              <a:gd name="connsiteX1" fmla="*/ 1040689 w 2213201"/>
              <a:gd name="connsiteY1" fmla="*/ 0 h 1740239"/>
              <a:gd name="connsiteX2" fmla="*/ 2213201 w 2213201"/>
              <a:gd name="connsiteY2" fmla="*/ 753186 h 1740239"/>
              <a:gd name="connsiteX3" fmla="*/ 1841258 w 2213201"/>
              <a:gd name="connsiteY3" fmla="*/ 1740239 h 1740239"/>
              <a:gd name="connsiteX4" fmla="*/ 359157 w 2213201"/>
              <a:gd name="connsiteY4" fmla="*/ 1735073 h 1740239"/>
              <a:gd name="connsiteX5" fmla="*/ 0 w 2213201"/>
              <a:gd name="connsiteY5" fmla="*/ 667444 h 1740239"/>
              <a:gd name="connsiteX0" fmla="*/ 0 w 2213201"/>
              <a:gd name="connsiteY0" fmla="*/ 667444 h 1740239"/>
              <a:gd name="connsiteX1" fmla="*/ 1040689 w 2213201"/>
              <a:gd name="connsiteY1" fmla="*/ 0 h 1740239"/>
              <a:gd name="connsiteX2" fmla="*/ 2213201 w 2213201"/>
              <a:gd name="connsiteY2" fmla="*/ 753186 h 1740239"/>
              <a:gd name="connsiteX3" fmla="*/ 1726159 w 2213201"/>
              <a:gd name="connsiteY3" fmla="*/ 1740239 h 1740239"/>
              <a:gd name="connsiteX4" fmla="*/ 359157 w 2213201"/>
              <a:gd name="connsiteY4" fmla="*/ 1735073 h 1740239"/>
              <a:gd name="connsiteX5" fmla="*/ 0 w 2213201"/>
              <a:gd name="connsiteY5" fmla="*/ 667444 h 1740239"/>
              <a:gd name="connsiteX0" fmla="*/ 0 w 2085313"/>
              <a:gd name="connsiteY0" fmla="*/ 667444 h 1740239"/>
              <a:gd name="connsiteX1" fmla="*/ 1040689 w 2085313"/>
              <a:gd name="connsiteY1" fmla="*/ 0 h 1740239"/>
              <a:gd name="connsiteX2" fmla="*/ 2085313 w 2085313"/>
              <a:gd name="connsiteY2" fmla="*/ 695636 h 1740239"/>
              <a:gd name="connsiteX3" fmla="*/ 1726159 w 2085313"/>
              <a:gd name="connsiteY3" fmla="*/ 1740239 h 1740239"/>
              <a:gd name="connsiteX4" fmla="*/ 359157 w 2085313"/>
              <a:gd name="connsiteY4" fmla="*/ 1735073 h 1740239"/>
              <a:gd name="connsiteX5" fmla="*/ 0 w 2085313"/>
              <a:gd name="connsiteY5" fmla="*/ 667444 h 1740239"/>
              <a:gd name="connsiteX0" fmla="*/ 0 w 2110890"/>
              <a:gd name="connsiteY0" fmla="*/ 667444 h 1740239"/>
              <a:gd name="connsiteX1" fmla="*/ 1040689 w 2110890"/>
              <a:gd name="connsiteY1" fmla="*/ 0 h 1740239"/>
              <a:gd name="connsiteX2" fmla="*/ 2110890 w 2110890"/>
              <a:gd name="connsiteY2" fmla="*/ 689242 h 1740239"/>
              <a:gd name="connsiteX3" fmla="*/ 1726159 w 2110890"/>
              <a:gd name="connsiteY3" fmla="*/ 1740239 h 1740239"/>
              <a:gd name="connsiteX4" fmla="*/ 359157 w 2110890"/>
              <a:gd name="connsiteY4" fmla="*/ 1735073 h 1740239"/>
              <a:gd name="connsiteX5" fmla="*/ 0 w 2110890"/>
              <a:gd name="connsiteY5" fmla="*/ 667444 h 1740239"/>
              <a:gd name="connsiteX0" fmla="*/ 0 w 2110890"/>
              <a:gd name="connsiteY0" fmla="*/ 667444 h 1856567"/>
              <a:gd name="connsiteX1" fmla="*/ 1040689 w 2110890"/>
              <a:gd name="connsiteY1" fmla="*/ 0 h 1856567"/>
              <a:gd name="connsiteX2" fmla="*/ 2110890 w 2110890"/>
              <a:gd name="connsiteY2" fmla="*/ 689242 h 1856567"/>
              <a:gd name="connsiteX3" fmla="*/ 1726159 w 2110890"/>
              <a:gd name="connsiteY3" fmla="*/ 1740239 h 1856567"/>
              <a:gd name="connsiteX4" fmla="*/ 410312 w 2110890"/>
              <a:gd name="connsiteY4" fmla="*/ 1856567 h 1856567"/>
              <a:gd name="connsiteX5" fmla="*/ 0 w 2110890"/>
              <a:gd name="connsiteY5" fmla="*/ 667444 h 1856567"/>
              <a:gd name="connsiteX0" fmla="*/ 0 w 2110890"/>
              <a:gd name="connsiteY0" fmla="*/ 667444 h 1856567"/>
              <a:gd name="connsiteX1" fmla="*/ 1040689 w 2110890"/>
              <a:gd name="connsiteY1" fmla="*/ 0 h 1856567"/>
              <a:gd name="connsiteX2" fmla="*/ 2110890 w 2110890"/>
              <a:gd name="connsiteY2" fmla="*/ 689242 h 1856567"/>
              <a:gd name="connsiteX3" fmla="*/ 1675003 w 2110890"/>
              <a:gd name="connsiteY3" fmla="*/ 1855339 h 1856567"/>
              <a:gd name="connsiteX4" fmla="*/ 410312 w 2110890"/>
              <a:gd name="connsiteY4" fmla="*/ 1856567 h 1856567"/>
              <a:gd name="connsiteX5" fmla="*/ 0 w 2110890"/>
              <a:gd name="connsiteY5" fmla="*/ 667444 h 1856567"/>
              <a:gd name="connsiteX0" fmla="*/ 0 w 2110890"/>
              <a:gd name="connsiteY0" fmla="*/ 667444 h 1855339"/>
              <a:gd name="connsiteX1" fmla="*/ 1040689 w 2110890"/>
              <a:gd name="connsiteY1" fmla="*/ 0 h 1855339"/>
              <a:gd name="connsiteX2" fmla="*/ 2110890 w 2110890"/>
              <a:gd name="connsiteY2" fmla="*/ 689242 h 1855339"/>
              <a:gd name="connsiteX3" fmla="*/ 1675003 w 2110890"/>
              <a:gd name="connsiteY3" fmla="*/ 1855339 h 1855339"/>
              <a:gd name="connsiteX4" fmla="*/ 416706 w 2110890"/>
              <a:gd name="connsiteY4" fmla="*/ 1824595 h 1855339"/>
              <a:gd name="connsiteX5" fmla="*/ 0 w 2110890"/>
              <a:gd name="connsiteY5" fmla="*/ 667444 h 1855339"/>
              <a:gd name="connsiteX0" fmla="*/ 0 w 2110890"/>
              <a:gd name="connsiteY0" fmla="*/ 667444 h 1829761"/>
              <a:gd name="connsiteX1" fmla="*/ 1040689 w 2110890"/>
              <a:gd name="connsiteY1" fmla="*/ 0 h 1829761"/>
              <a:gd name="connsiteX2" fmla="*/ 2110890 w 2110890"/>
              <a:gd name="connsiteY2" fmla="*/ 689242 h 1829761"/>
              <a:gd name="connsiteX3" fmla="*/ 1675003 w 2110890"/>
              <a:gd name="connsiteY3" fmla="*/ 1829761 h 1829761"/>
              <a:gd name="connsiteX4" fmla="*/ 416706 w 2110890"/>
              <a:gd name="connsiteY4" fmla="*/ 1824595 h 1829761"/>
              <a:gd name="connsiteX5" fmla="*/ 0 w 2110890"/>
              <a:gd name="connsiteY5" fmla="*/ 667444 h 1829761"/>
              <a:gd name="connsiteX0" fmla="*/ 0 w 2091707"/>
              <a:gd name="connsiteY0" fmla="*/ 667444 h 1829761"/>
              <a:gd name="connsiteX1" fmla="*/ 1040689 w 2091707"/>
              <a:gd name="connsiteY1" fmla="*/ 0 h 1829761"/>
              <a:gd name="connsiteX2" fmla="*/ 2091707 w 2091707"/>
              <a:gd name="connsiteY2" fmla="*/ 676454 h 1829761"/>
              <a:gd name="connsiteX3" fmla="*/ 1675003 w 2091707"/>
              <a:gd name="connsiteY3" fmla="*/ 1829761 h 1829761"/>
              <a:gd name="connsiteX4" fmla="*/ 416706 w 2091707"/>
              <a:gd name="connsiteY4" fmla="*/ 1824595 h 1829761"/>
              <a:gd name="connsiteX5" fmla="*/ 0 w 2091707"/>
              <a:gd name="connsiteY5" fmla="*/ 667444 h 1829761"/>
              <a:gd name="connsiteX0" fmla="*/ 0 w 2095806"/>
              <a:gd name="connsiteY0" fmla="*/ 679857 h 1829761"/>
              <a:gd name="connsiteX1" fmla="*/ 1044788 w 2095806"/>
              <a:gd name="connsiteY1" fmla="*/ 0 h 1829761"/>
              <a:gd name="connsiteX2" fmla="*/ 2095806 w 2095806"/>
              <a:gd name="connsiteY2" fmla="*/ 676454 h 1829761"/>
              <a:gd name="connsiteX3" fmla="*/ 1679102 w 2095806"/>
              <a:gd name="connsiteY3" fmla="*/ 1829761 h 1829761"/>
              <a:gd name="connsiteX4" fmla="*/ 420805 w 2095806"/>
              <a:gd name="connsiteY4" fmla="*/ 1824595 h 1829761"/>
              <a:gd name="connsiteX5" fmla="*/ 0 w 2095806"/>
              <a:gd name="connsiteY5" fmla="*/ 679857 h 18297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095806" h="1829761">
                <a:moveTo>
                  <a:pt x="0" y="679857"/>
                </a:moveTo>
                <a:lnTo>
                  <a:pt x="1044788" y="0"/>
                </a:lnTo>
                <a:lnTo>
                  <a:pt x="2095806" y="676454"/>
                </a:lnTo>
                <a:lnTo>
                  <a:pt x="1679102" y="1829761"/>
                </a:lnTo>
                <a:lnTo>
                  <a:pt x="420805" y="1824595"/>
                </a:lnTo>
                <a:lnTo>
                  <a:pt x="0" y="679857"/>
                </a:ln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500" b="0" dirty="0">
              <a:solidFill>
                <a:srgbClr val="F8C974"/>
              </a:solidFill>
            </a:endParaRPr>
          </a:p>
        </p:txBody>
      </p:sp>
      <p:sp>
        <p:nvSpPr>
          <p:cNvPr id="14" name="Regular Pentagon 4">
            <a:extLst>
              <a:ext uri="{FF2B5EF4-FFF2-40B4-BE49-F238E27FC236}">
                <a16:creationId xmlns:a16="http://schemas.microsoft.com/office/drawing/2014/main" id="{D20DAD24-A2BB-90DA-3C72-404EF0F452D9}"/>
              </a:ext>
            </a:extLst>
          </p:cNvPr>
          <p:cNvSpPr/>
          <p:nvPr/>
        </p:nvSpPr>
        <p:spPr>
          <a:xfrm rot="10800000">
            <a:off x="1510369" y="3229272"/>
            <a:ext cx="1691845" cy="1516073"/>
          </a:xfrm>
          <a:custGeom>
            <a:avLst/>
            <a:gdLst>
              <a:gd name="connsiteX0" fmla="*/ 2 w 1421905"/>
              <a:gd name="connsiteY0" fmla="*/ 453943 h 1188441"/>
              <a:gd name="connsiteX1" fmla="*/ 710953 w 1421905"/>
              <a:gd name="connsiteY1" fmla="*/ 0 h 1188441"/>
              <a:gd name="connsiteX2" fmla="*/ 1421903 w 1421905"/>
              <a:gd name="connsiteY2" fmla="*/ 453943 h 1188441"/>
              <a:gd name="connsiteX3" fmla="*/ 1150344 w 1421905"/>
              <a:gd name="connsiteY3" fmla="*/ 1188438 h 1188441"/>
              <a:gd name="connsiteX4" fmla="*/ 271561 w 1421905"/>
              <a:gd name="connsiteY4" fmla="*/ 1188438 h 1188441"/>
              <a:gd name="connsiteX5" fmla="*/ 2 w 1421905"/>
              <a:gd name="connsiteY5" fmla="*/ 453943 h 1188441"/>
              <a:gd name="connsiteX0" fmla="*/ 0 w 1421901"/>
              <a:gd name="connsiteY0" fmla="*/ 453943 h 1188438"/>
              <a:gd name="connsiteX1" fmla="*/ 710951 w 1421901"/>
              <a:gd name="connsiteY1" fmla="*/ 0 h 1188438"/>
              <a:gd name="connsiteX2" fmla="*/ 1421901 w 1421901"/>
              <a:gd name="connsiteY2" fmla="*/ 453943 h 1188438"/>
              <a:gd name="connsiteX3" fmla="*/ 1150342 w 1421901"/>
              <a:gd name="connsiteY3" fmla="*/ 1188438 h 1188438"/>
              <a:gd name="connsiteX4" fmla="*/ 257382 w 1421901"/>
              <a:gd name="connsiteY4" fmla="*/ 1188438 h 1188438"/>
              <a:gd name="connsiteX5" fmla="*/ 0 w 1421901"/>
              <a:gd name="connsiteY5" fmla="*/ 453943 h 1188438"/>
              <a:gd name="connsiteX0" fmla="*/ 0 w 1421901"/>
              <a:gd name="connsiteY0" fmla="*/ 453943 h 1300889"/>
              <a:gd name="connsiteX1" fmla="*/ 710951 w 1421901"/>
              <a:gd name="connsiteY1" fmla="*/ 0 h 1300889"/>
              <a:gd name="connsiteX2" fmla="*/ 1421901 w 1421901"/>
              <a:gd name="connsiteY2" fmla="*/ 453943 h 1300889"/>
              <a:gd name="connsiteX3" fmla="*/ 1150342 w 1421901"/>
              <a:gd name="connsiteY3" fmla="*/ 1188438 h 1300889"/>
              <a:gd name="connsiteX4" fmla="*/ 230701 w 1421901"/>
              <a:gd name="connsiteY4" fmla="*/ 1300889 h 1300889"/>
              <a:gd name="connsiteX5" fmla="*/ 0 w 1421901"/>
              <a:gd name="connsiteY5" fmla="*/ 453943 h 1300889"/>
              <a:gd name="connsiteX0" fmla="*/ 0 w 1421901"/>
              <a:gd name="connsiteY0" fmla="*/ 453943 h 1300889"/>
              <a:gd name="connsiteX1" fmla="*/ 710951 w 1421901"/>
              <a:gd name="connsiteY1" fmla="*/ 0 h 1300889"/>
              <a:gd name="connsiteX2" fmla="*/ 1421901 w 1421901"/>
              <a:gd name="connsiteY2" fmla="*/ 453943 h 1300889"/>
              <a:gd name="connsiteX3" fmla="*/ 1183693 w 1421901"/>
              <a:gd name="connsiteY3" fmla="*/ 1294275 h 1300889"/>
              <a:gd name="connsiteX4" fmla="*/ 230701 w 1421901"/>
              <a:gd name="connsiteY4" fmla="*/ 1300889 h 1300889"/>
              <a:gd name="connsiteX5" fmla="*/ 0 w 1421901"/>
              <a:gd name="connsiteY5" fmla="*/ 453943 h 1300889"/>
              <a:gd name="connsiteX0" fmla="*/ 0 w 1505884"/>
              <a:gd name="connsiteY0" fmla="*/ 500281 h 1300889"/>
              <a:gd name="connsiteX1" fmla="*/ 794934 w 1505884"/>
              <a:gd name="connsiteY1" fmla="*/ 0 h 1300889"/>
              <a:gd name="connsiteX2" fmla="*/ 1505884 w 1505884"/>
              <a:gd name="connsiteY2" fmla="*/ 453943 h 1300889"/>
              <a:gd name="connsiteX3" fmla="*/ 1267676 w 1505884"/>
              <a:gd name="connsiteY3" fmla="*/ 1294275 h 1300889"/>
              <a:gd name="connsiteX4" fmla="*/ 314684 w 1505884"/>
              <a:gd name="connsiteY4" fmla="*/ 1300889 h 1300889"/>
              <a:gd name="connsiteX5" fmla="*/ 0 w 1505884"/>
              <a:gd name="connsiteY5" fmla="*/ 500281 h 1300889"/>
              <a:gd name="connsiteX0" fmla="*/ 0 w 1595866"/>
              <a:gd name="connsiteY0" fmla="*/ 500281 h 1300889"/>
              <a:gd name="connsiteX1" fmla="*/ 794934 w 1595866"/>
              <a:gd name="connsiteY1" fmla="*/ 0 h 1300889"/>
              <a:gd name="connsiteX2" fmla="*/ 1595866 w 1595866"/>
              <a:gd name="connsiteY2" fmla="*/ 523450 h 1300889"/>
              <a:gd name="connsiteX3" fmla="*/ 1267676 w 1595866"/>
              <a:gd name="connsiteY3" fmla="*/ 1294275 h 1300889"/>
              <a:gd name="connsiteX4" fmla="*/ 314684 w 1595866"/>
              <a:gd name="connsiteY4" fmla="*/ 1300889 h 1300889"/>
              <a:gd name="connsiteX5" fmla="*/ 0 w 1595866"/>
              <a:gd name="connsiteY5" fmla="*/ 500281 h 1300889"/>
              <a:gd name="connsiteX0" fmla="*/ 0 w 1565872"/>
              <a:gd name="connsiteY0" fmla="*/ 500281 h 1300889"/>
              <a:gd name="connsiteX1" fmla="*/ 794934 w 1565872"/>
              <a:gd name="connsiteY1" fmla="*/ 0 h 1300889"/>
              <a:gd name="connsiteX2" fmla="*/ 1565872 w 1565872"/>
              <a:gd name="connsiteY2" fmla="*/ 506073 h 1300889"/>
              <a:gd name="connsiteX3" fmla="*/ 1267676 w 1565872"/>
              <a:gd name="connsiteY3" fmla="*/ 1294275 h 1300889"/>
              <a:gd name="connsiteX4" fmla="*/ 314684 w 1565872"/>
              <a:gd name="connsiteY4" fmla="*/ 1300889 h 1300889"/>
              <a:gd name="connsiteX5" fmla="*/ 0 w 1565872"/>
              <a:gd name="connsiteY5" fmla="*/ 500281 h 1300889"/>
              <a:gd name="connsiteX0" fmla="*/ 0 w 1583869"/>
              <a:gd name="connsiteY0" fmla="*/ 500281 h 1300889"/>
              <a:gd name="connsiteX1" fmla="*/ 794934 w 1583869"/>
              <a:gd name="connsiteY1" fmla="*/ 0 h 1300889"/>
              <a:gd name="connsiteX2" fmla="*/ 1583869 w 1583869"/>
              <a:gd name="connsiteY2" fmla="*/ 511865 h 1300889"/>
              <a:gd name="connsiteX3" fmla="*/ 1267676 w 1583869"/>
              <a:gd name="connsiteY3" fmla="*/ 1294275 h 1300889"/>
              <a:gd name="connsiteX4" fmla="*/ 314684 w 1583869"/>
              <a:gd name="connsiteY4" fmla="*/ 1300889 h 1300889"/>
              <a:gd name="connsiteX5" fmla="*/ 0 w 1583869"/>
              <a:gd name="connsiteY5" fmla="*/ 500281 h 1300889"/>
              <a:gd name="connsiteX0" fmla="*/ 0 w 1541877"/>
              <a:gd name="connsiteY0" fmla="*/ 500281 h 1300889"/>
              <a:gd name="connsiteX1" fmla="*/ 794934 w 1541877"/>
              <a:gd name="connsiteY1" fmla="*/ 0 h 1300889"/>
              <a:gd name="connsiteX2" fmla="*/ 1541877 w 1541877"/>
              <a:gd name="connsiteY2" fmla="*/ 471319 h 1300889"/>
              <a:gd name="connsiteX3" fmla="*/ 1267676 w 1541877"/>
              <a:gd name="connsiteY3" fmla="*/ 1294275 h 1300889"/>
              <a:gd name="connsiteX4" fmla="*/ 314684 w 1541877"/>
              <a:gd name="connsiteY4" fmla="*/ 1300889 h 1300889"/>
              <a:gd name="connsiteX5" fmla="*/ 0 w 1541877"/>
              <a:gd name="connsiteY5" fmla="*/ 500281 h 1300889"/>
              <a:gd name="connsiteX0" fmla="*/ 0 w 1523881"/>
              <a:gd name="connsiteY0" fmla="*/ 482904 h 1300889"/>
              <a:gd name="connsiteX1" fmla="*/ 776938 w 1523881"/>
              <a:gd name="connsiteY1" fmla="*/ 0 h 1300889"/>
              <a:gd name="connsiteX2" fmla="*/ 1523881 w 1523881"/>
              <a:gd name="connsiteY2" fmla="*/ 471319 h 1300889"/>
              <a:gd name="connsiteX3" fmla="*/ 1249680 w 1523881"/>
              <a:gd name="connsiteY3" fmla="*/ 1294275 h 1300889"/>
              <a:gd name="connsiteX4" fmla="*/ 296688 w 1523881"/>
              <a:gd name="connsiteY4" fmla="*/ 1300889 h 1300889"/>
              <a:gd name="connsiteX5" fmla="*/ 0 w 1523881"/>
              <a:gd name="connsiteY5" fmla="*/ 482904 h 1300889"/>
              <a:gd name="connsiteX0" fmla="*/ 0 w 1523881"/>
              <a:gd name="connsiteY0" fmla="*/ 482904 h 1295097"/>
              <a:gd name="connsiteX1" fmla="*/ 776938 w 1523881"/>
              <a:gd name="connsiteY1" fmla="*/ 0 h 1295097"/>
              <a:gd name="connsiteX2" fmla="*/ 1523881 w 1523881"/>
              <a:gd name="connsiteY2" fmla="*/ 471319 h 1295097"/>
              <a:gd name="connsiteX3" fmla="*/ 1249680 w 1523881"/>
              <a:gd name="connsiteY3" fmla="*/ 1294275 h 1295097"/>
              <a:gd name="connsiteX4" fmla="*/ 314684 w 1523881"/>
              <a:gd name="connsiteY4" fmla="*/ 1295097 h 1295097"/>
              <a:gd name="connsiteX5" fmla="*/ 0 w 1523881"/>
              <a:gd name="connsiteY5" fmla="*/ 482904 h 1295097"/>
              <a:gd name="connsiteX0" fmla="*/ 0 w 1554519"/>
              <a:gd name="connsiteY0" fmla="*/ 482904 h 1295097"/>
              <a:gd name="connsiteX1" fmla="*/ 776938 w 1554519"/>
              <a:gd name="connsiteY1" fmla="*/ 0 h 1295097"/>
              <a:gd name="connsiteX2" fmla="*/ 1554519 w 1554519"/>
              <a:gd name="connsiteY2" fmla="*/ 460715 h 1295097"/>
              <a:gd name="connsiteX3" fmla="*/ 1249680 w 1554519"/>
              <a:gd name="connsiteY3" fmla="*/ 1294275 h 1295097"/>
              <a:gd name="connsiteX4" fmla="*/ 314684 w 1554519"/>
              <a:gd name="connsiteY4" fmla="*/ 1295097 h 1295097"/>
              <a:gd name="connsiteX5" fmla="*/ 0 w 1554519"/>
              <a:gd name="connsiteY5" fmla="*/ 482904 h 1295097"/>
              <a:gd name="connsiteX0" fmla="*/ 0 w 1566009"/>
              <a:gd name="connsiteY0" fmla="*/ 468766 h 1295097"/>
              <a:gd name="connsiteX1" fmla="*/ 788428 w 1566009"/>
              <a:gd name="connsiteY1" fmla="*/ 0 h 1295097"/>
              <a:gd name="connsiteX2" fmla="*/ 1566009 w 1566009"/>
              <a:gd name="connsiteY2" fmla="*/ 460715 h 1295097"/>
              <a:gd name="connsiteX3" fmla="*/ 1261170 w 1566009"/>
              <a:gd name="connsiteY3" fmla="*/ 1294275 h 1295097"/>
              <a:gd name="connsiteX4" fmla="*/ 326174 w 1566009"/>
              <a:gd name="connsiteY4" fmla="*/ 1295097 h 1295097"/>
              <a:gd name="connsiteX5" fmla="*/ 0 w 1566009"/>
              <a:gd name="connsiteY5" fmla="*/ 468766 h 1295097"/>
              <a:gd name="connsiteX0" fmla="*/ 0 w 1566009"/>
              <a:gd name="connsiteY0" fmla="*/ 468766 h 1295097"/>
              <a:gd name="connsiteX1" fmla="*/ 773109 w 1566009"/>
              <a:gd name="connsiteY1" fmla="*/ 0 h 1295097"/>
              <a:gd name="connsiteX2" fmla="*/ 1566009 w 1566009"/>
              <a:gd name="connsiteY2" fmla="*/ 460715 h 1295097"/>
              <a:gd name="connsiteX3" fmla="*/ 1261170 w 1566009"/>
              <a:gd name="connsiteY3" fmla="*/ 1294275 h 1295097"/>
              <a:gd name="connsiteX4" fmla="*/ 326174 w 1566009"/>
              <a:gd name="connsiteY4" fmla="*/ 1295097 h 1295097"/>
              <a:gd name="connsiteX5" fmla="*/ 0 w 1566009"/>
              <a:gd name="connsiteY5" fmla="*/ 468766 h 12950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6009" h="1295097">
                <a:moveTo>
                  <a:pt x="0" y="468766"/>
                </a:moveTo>
                <a:lnTo>
                  <a:pt x="773109" y="0"/>
                </a:lnTo>
                <a:lnTo>
                  <a:pt x="1566009" y="460715"/>
                </a:lnTo>
                <a:lnTo>
                  <a:pt x="1261170" y="1294275"/>
                </a:lnTo>
                <a:lnTo>
                  <a:pt x="326174" y="1295097"/>
                </a:lnTo>
                <a:lnTo>
                  <a:pt x="0" y="468766"/>
                </a:lnTo>
                <a:close/>
              </a:path>
            </a:pathLst>
          </a:custGeom>
          <a:solidFill>
            <a:srgbClr val="FA9576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500" b="0" dirty="0">
              <a:solidFill>
                <a:srgbClr val="FA9576"/>
              </a:solidFill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ED80C54-4EDC-9A85-951D-BE5E33C7AB8B}"/>
              </a:ext>
            </a:extLst>
          </p:cNvPr>
          <p:cNvCxnSpPr>
            <a:cxnSpLocks/>
          </p:cNvCxnSpPr>
          <p:nvPr/>
        </p:nvCxnSpPr>
        <p:spPr>
          <a:xfrm>
            <a:off x="2802203" y="2375628"/>
            <a:ext cx="858073" cy="2369717"/>
          </a:xfrm>
          <a:prstGeom prst="line">
            <a:avLst/>
          </a:prstGeom>
          <a:ln w="12700" cap="flat" cmpd="sng" algn="ctr">
            <a:solidFill>
              <a:schemeClr val="tx1">
                <a:alpha val="75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83A0713A-E1BD-D924-1725-3A05CC17987F}"/>
                  </a:ext>
                </a:extLst>
              </p:cNvPr>
              <p:cNvSpPr txBox="1"/>
              <p:nvPr/>
            </p:nvSpPr>
            <p:spPr>
              <a:xfrm>
                <a:off x="980555" y="4892894"/>
                <a:ext cx="2110249" cy="2923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300" i="1" dirty="0" smtClean="0">
                        <a:latin typeface="Cambria Math" panose="02040503050406030204" pitchFamily="18" charset="0"/>
                      </a:rPr>
                      <m:t>(1</m:t>
                    </m:r>
                    <m:r>
                      <a:rPr lang="en-US" sz="130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300" dirty="0"/>
                  <a:t> Bell inequality</a:t>
                </a: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83A0713A-E1BD-D924-1725-3A05CC1798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0555" y="4892894"/>
                <a:ext cx="2110249" cy="292388"/>
              </a:xfrm>
              <a:prstGeom prst="rect">
                <a:avLst/>
              </a:prstGeom>
              <a:blipFill>
                <a:blip r:embed="rId6"/>
                <a:stretch>
                  <a:fillRect t="-4167" b="-208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Regular Pentagon 4">
            <a:extLst>
              <a:ext uri="{FF2B5EF4-FFF2-40B4-BE49-F238E27FC236}">
                <a16:creationId xmlns:a16="http://schemas.microsoft.com/office/drawing/2014/main" id="{8BABD8E7-942E-3828-FC99-B245136DCD33}"/>
              </a:ext>
            </a:extLst>
          </p:cNvPr>
          <p:cNvSpPr/>
          <p:nvPr/>
        </p:nvSpPr>
        <p:spPr>
          <a:xfrm rot="10800000">
            <a:off x="1707388" y="3687075"/>
            <a:ext cx="1283904" cy="1059483"/>
          </a:xfrm>
          <a:custGeom>
            <a:avLst/>
            <a:gdLst>
              <a:gd name="connsiteX0" fmla="*/ 2 w 1421905"/>
              <a:gd name="connsiteY0" fmla="*/ 453943 h 1188441"/>
              <a:gd name="connsiteX1" fmla="*/ 710953 w 1421905"/>
              <a:gd name="connsiteY1" fmla="*/ 0 h 1188441"/>
              <a:gd name="connsiteX2" fmla="*/ 1421903 w 1421905"/>
              <a:gd name="connsiteY2" fmla="*/ 453943 h 1188441"/>
              <a:gd name="connsiteX3" fmla="*/ 1150344 w 1421905"/>
              <a:gd name="connsiteY3" fmla="*/ 1188438 h 1188441"/>
              <a:gd name="connsiteX4" fmla="*/ 271561 w 1421905"/>
              <a:gd name="connsiteY4" fmla="*/ 1188438 h 1188441"/>
              <a:gd name="connsiteX5" fmla="*/ 2 w 1421905"/>
              <a:gd name="connsiteY5" fmla="*/ 453943 h 1188441"/>
              <a:gd name="connsiteX0" fmla="*/ 0 w 1421901"/>
              <a:gd name="connsiteY0" fmla="*/ 453943 h 1188438"/>
              <a:gd name="connsiteX1" fmla="*/ 710951 w 1421901"/>
              <a:gd name="connsiteY1" fmla="*/ 0 h 1188438"/>
              <a:gd name="connsiteX2" fmla="*/ 1421901 w 1421901"/>
              <a:gd name="connsiteY2" fmla="*/ 453943 h 1188438"/>
              <a:gd name="connsiteX3" fmla="*/ 1150342 w 1421901"/>
              <a:gd name="connsiteY3" fmla="*/ 1188438 h 1188438"/>
              <a:gd name="connsiteX4" fmla="*/ 257382 w 1421901"/>
              <a:gd name="connsiteY4" fmla="*/ 1188438 h 1188438"/>
              <a:gd name="connsiteX5" fmla="*/ 0 w 1421901"/>
              <a:gd name="connsiteY5" fmla="*/ 453943 h 1188438"/>
              <a:gd name="connsiteX0" fmla="*/ 0 w 1421901"/>
              <a:gd name="connsiteY0" fmla="*/ 453943 h 1300889"/>
              <a:gd name="connsiteX1" fmla="*/ 710951 w 1421901"/>
              <a:gd name="connsiteY1" fmla="*/ 0 h 1300889"/>
              <a:gd name="connsiteX2" fmla="*/ 1421901 w 1421901"/>
              <a:gd name="connsiteY2" fmla="*/ 453943 h 1300889"/>
              <a:gd name="connsiteX3" fmla="*/ 1150342 w 1421901"/>
              <a:gd name="connsiteY3" fmla="*/ 1188438 h 1300889"/>
              <a:gd name="connsiteX4" fmla="*/ 230701 w 1421901"/>
              <a:gd name="connsiteY4" fmla="*/ 1300889 h 1300889"/>
              <a:gd name="connsiteX5" fmla="*/ 0 w 1421901"/>
              <a:gd name="connsiteY5" fmla="*/ 453943 h 1300889"/>
              <a:gd name="connsiteX0" fmla="*/ 0 w 1421901"/>
              <a:gd name="connsiteY0" fmla="*/ 453943 h 1300889"/>
              <a:gd name="connsiteX1" fmla="*/ 710951 w 1421901"/>
              <a:gd name="connsiteY1" fmla="*/ 0 h 1300889"/>
              <a:gd name="connsiteX2" fmla="*/ 1421901 w 1421901"/>
              <a:gd name="connsiteY2" fmla="*/ 453943 h 1300889"/>
              <a:gd name="connsiteX3" fmla="*/ 1183693 w 1421901"/>
              <a:gd name="connsiteY3" fmla="*/ 1294275 h 1300889"/>
              <a:gd name="connsiteX4" fmla="*/ 230701 w 1421901"/>
              <a:gd name="connsiteY4" fmla="*/ 1300889 h 1300889"/>
              <a:gd name="connsiteX5" fmla="*/ 0 w 1421901"/>
              <a:gd name="connsiteY5" fmla="*/ 453943 h 1300889"/>
              <a:gd name="connsiteX0" fmla="*/ 0 w 1421901"/>
              <a:gd name="connsiteY0" fmla="*/ 453943 h 1300889"/>
              <a:gd name="connsiteX1" fmla="*/ 710951 w 1421901"/>
              <a:gd name="connsiteY1" fmla="*/ 0 h 1300889"/>
              <a:gd name="connsiteX2" fmla="*/ 1421901 w 1421901"/>
              <a:gd name="connsiteY2" fmla="*/ 453943 h 1300889"/>
              <a:gd name="connsiteX3" fmla="*/ 723444 w 1421901"/>
              <a:gd name="connsiteY3" fmla="*/ 824626 h 1300889"/>
              <a:gd name="connsiteX4" fmla="*/ 230701 w 1421901"/>
              <a:gd name="connsiteY4" fmla="*/ 1300889 h 1300889"/>
              <a:gd name="connsiteX5" fmla="*/ 0 w 1421901"/>
              <a:gd name="connsiteY5" fmla="*/ 453943 h 1300889"/>
              <a:gd name="connsiteX0" fmla="*/ 0 w 1421901"/>
              <a:gd name="connsiteY0" fmla="*/ 453943 h 1300889"/>
              <a:gd name="connsiteX1" fmla="*/ 710951 w 1421901"/>
              <a:gd name="connsiteY1" fmla="*/ 0 h 1300889"/>
              <a:gd name="connsiteX2" fmla="*/ 1421901 w 1421901"/>
              <a:gd name="connsiteY2" fmla="*/ 453943 h 1300889"/>
              <a:gd name="connsiteX3" fmla="*/ 730114 w 1421901"/>
              <a:gd name="connsiteY3" fmla="*/ 989995 h 1300889"/>
              <a:gd name="connsiteX4" fmla="*/ 230701 w 1421901"/>
              <a:gd name="connsiteY4" fmla="*/ 1300889 h 1300889"/>
              <a:gd name="connsiteX5" fmla="*/ 0 w 1421901"/>
              <a:gd name="connsiteY5" fmla="*/ 453943 h 1300889"/>
              <a:gd name="connsiteX0" fmla="*/ 0 w 1421901"/>
              <a:gd name="connsiteY0" fmla="*/ 453943 h 1300889"/>
              <a:gd name="connsiteX1" fmla="*/ 710951 w 1421901"/>
              <a:gd name="connsiteY1" fmla="*/ 0 h 1300889"/>
              <a:gd name="connsiteX2" fmla="*/ 1421901 w 1421901"/>
              <a:gd name="connsiteY2" fmla="*/ 453943 h 1300889"/>
              <a:gd name="connsiteX3" fmla="*/ 730114 w 1421901"/>
              <a:gd name="connsiteY3" fmla="*/ 989995 h 1300889"/>
              <a:gd name="connsiteX4" fmla="*/ 230701 w 1421901"/>
              <a:gd name="connsiteY4" fmla="*/ 1300889 h 1300889"/>
              <a:gd name="connsiteX5" fmla="*/ 0 w 1421901"/>
              <a:gd name="connsiteY5" fmla="*/ 453943 h 1300889"/>
              <a:gd name="connsiteX0" fmla="*/ 0 w 1421901"/>
              <a:gd name="connsiteY0" fmla="*/ 453943 h 989995"/>
              <a:gd name="connsiteX1" fmla="*/ 710951 w 1421901"/>
              <a:gd name="connsiteY1" fmla="*/ 0 h 989995"/>
              <a:gd name="connsiteX2" fmla="*/ 1421901 w 1421901"/>
              <a:gd name="connsiteY2" fmla="*/ 453943 h 989995"/>
              <a:gd name="connsiteX3" fmla="*/ 730114 w 1421901"/>
              <a:gd name="connsiteY3" fmla="*/ 989995 h 989995"/>
              <a:gd name="connsiteX4" fmla="*/ 737642 w 1421901"/>
              <a:gd name="connsiteY4" fmla="*/ 976765 h 989995"/>
              <a:gd name="connsiteX5" fmla="*/ 0 w 1421901"/>
              <a:gd name="connsiteY5" fmla="*/ 453943 h 989995"/>
              <a:gd name="connsiteX0" fmla="*/ 0 w 1421901"/>
              <a:gd name="connsiteY0" fmla="*/ 453943 h 989995"/>
              <a:gd name="connsiteX1" fmla="*/ 710951 w 1421901"/>
              <a:gd name="connsiteY1" fmla="*/ 0 h 989995"/>
              <a:gd name="connsiteX2" fmla="*/ 1421901 w 1421901"/>
              <a:gd name="connsiteY2" fmla="*/ 453943 h 989995"/>
              <a:gd name="connsiteX3" fmla="*/ 730114 w 1421901"/>
              <a:gd name="connsiteY3" fmla="*/ 989995 h 989995"/>
              <a:gd name="connsiteX4" fmla="*/ 737642 w 1421901"/>
              <a:gd name="connsiteY4" fmla="*/ 976765 h 989995"/>
              <a:gd name="connsiteX5" fmla="*/ 0 w 1421901"/>
              <a:gd name="connsiteY5" fmla="*/ 453943 h 989995"/>
              <a:gd name="connsiteX0" fmla="*/ 0 w 1421901"/>
              <a:gd name="connsiteY0" fmla="*/ 453943 h 996610"/>
              <a:gd name="connsiteX1" fmla="*/ 710951 w 1421901"/>
              <a:gd name="connsiteY1" fmla="*/ 0 h 996610"/>
              <a:gd name="connsiteX2" fmla="*/ 1421901 w 1421901"/>
              <a:gd name="connsiteY2" fmla="*/ 453943 h 996610"/>
              <a:gd name="connsiteX3" fmla="*/ 730114 w 1421901"/>
              <a:gd name="connsiteY3" fmla="*/ 989995 h 996610"/>
              <a:gd name="connsiteX4" fmla="*/ 730973 w 1421901"/>
              <a:gd name="connsiteY4" fmla="*/ 996610 h 996610"/>
              <a:gd name="connsiteX5" fmla="*/ 0 w 1421901"/>
              <a:gd name="connsiteY5" fmla="*/ 453943 h 996610"/>
              <a:gd name="connsiteX0" fmla="*/ 0 w 1188442"/>
              <a:gd name="connsiteY0" fmla="*/ 308418 h 996610"/>
              <a:gd name="connsiteX1" fmla="*/ 477492 w 1188442"/>
              <a:gd name="connsiteY1" fmla="*/ 0 h 996610"/>
              <a:gd name="connsiteX2" fmla="*/ 1188442 w 1188442"/>
              <a:gd name="connsiteY2" fmla="*/ 453943 h 996610"/>
              <a:gd name="connsiteX3" fmla="*/ 496655 w 1188442"/>
              <a:gd name="connsiteY3" fmla="*/ 989995 h 996610"/>
              <a:gd name="connsiteX4" fmla="*/ 497514 w 1188442"/>
              <a:gd name="connsiteY4" fmla="*/ 996610 h 996610"/>
              <a:gd name="connsiteX5" fmla="*/ 0 w 1188442"/>
              <a:gd name="connsiteY5" fmla="*/ 308418 h 996610"/>
              <a:gd name="connsiteX0" fmla="*/ 0 w 941642"/>
              <a:gd name="connsiteY0" fmla="*/ 308418 h 996610"/>
              <a:gd name="connsiteX1" fmla="*/ 477492 w 941642"/>
              <a:gd name="connsiteY1" fmla="*/ 0 h 996610"/>
              <a:gd name="connsiteX2" fmla="*/ 941642 w 941642"/>
              <a:gd name="connsiteY2" fmla="*/ 288574 h 996610"/>
              <a:gd name="connsiteX3" fmla="*/ 496655 w 941642"/>
              <a:gd name="connsiteY3" fmla="*/ 989995 h 996610"/>
              <a:gd name="connsiteX4" fmla="*/ 497514 w 941642"/>
              <a:gd name="connsiteY4" fmla="*/ 996610 h 996610"/>
              <a:gd name="connsiteX5" fmla="*/ 0 w 941642"/>
              <a:gd name="connsiteY5" fmla="*/ 308418 h 996610"/>
              <a:gd name="connsiteX0" fmla="*/ 0 w 968324"/>
              <a:gd name="connsiteY0" fmla="*/ 308418 h 996610"/>
              <a:gd name="connsiteX1" fmla="*/ 477492 w 968324"/>
              <a:gd name="connsiteY1" fmla="*/ 0 h 996610"/>
              <a:gd name="connsiteX2" fmla="*/ 968324 w 968324"/>
              <a:gd name="connsiteY2" fmla="*/ 315034 h 996610"/>
              <a:gd name="connsiteX3" fmla="*/ 496655 w 968324"/>
              <a:gd name="connsiteY3" fmla="*/ 989995 h 996610"/>
              <a:gd name="connsiteX4" fmla="*/ 497514 w 968324"/>
              <a:gd name="connsiteY4" fmla="*/ 996610 h 996610"/>
              <a:gd name="connsiteX5" fmla="*/ 0 w 968324"/>
              <a:gd name="connsiteY5" fmla="*/ 308418 h 996610"/>
              <a:gd name="connsiteX0" fmla="*/ 0 w 1135081"/>
              <a:gd name="connsiteY0" fmla="*/ 387796 h 996610"/>
              <a:gd name="connsiteX1" fmla="*/ 644249 w 1135081"/>
              <a:gd name="connsiteY1" fmla="*/ 0 h 996610"/>
              <a:gd name="connsiteX2" fmla="*/ 1135081 w 1135081"/>
              <a:gd name="connsiteY2" fmla="*/ 315034 h 996610"/>
              <a:gd name="connsiteX3" fmla="*/ 663412 w 1135081"/>
              <a:gd name="connsiteY3" fmla="*/ 989995 h 996610"/>
              <a:gd name="connsiteX4" fmla="*/ 664271 w 1135081"/>
              <a:gd name="connsiteY4" fmla="*/ 996610 h 996610"/>
              <a:gd name="connsiteX5" fmla="*/ 0 w 1135081"/>
              <a:gd name="connsiteY5" fmla="*/ 387796 h 996610"/>
              <a:gd name="connsiteX0" fmla="*/ 0 w 1295167"/>
              <a:gd name="connsiteY0" fmla="*/ 387796 h 996610"/>
              <a:gd name="connsiteX1" fmla="*/ 644249 w 1295167"/>
              <a:gd name="connsiteY1" fmla="*/ 0 h 996610"/>
              <a:gd name="connsiteX2" fmla="*/ 1295167 w 1295167"/>
              <a:gd name="connsiteY2" fmla="*/ 414256 h 996610"/>
              <a:gd name="connsiteX3" fmla="*/ 663412 w 1295167"/>
              <a:gd name="connsiteY3" fmla="*/ 989995 h 996610"/>
              <a:gd name="connsiteX4" fmla="*/ 664271 w 1295167"/>
              <a:gd name="connsiteY4" fmla="*/ 996610 h 996610"/>
              <a:gd name="connsiteX5" fmla="*/ 0 w 1295167"/>
              <a:gd name="connsiteY5" fmla="*/ 387796 h 996610"/>
              <a:gd name="connsiteX0" fmla="*/ 0 w 1312080"/>
              <a:gd name="connsiteY0" fmla="*/ 387796 h 996610"/>
              <a:gd name="connsiteX1" fmla="*/ 644249 w 1312080"/>
              <a:gd name="connsiteY1" fmla="*/ 0 h 996610"/>
              <a:gd name="connsiteX2" fmla="*/ 1312080 w 1312080"/>
              <a:gd name="connsiteY2" fmla="*/ 394797 h 996610"/>
              <a:gd name="connsiteX3" fmla="*/ 663412 w 1312080"/>
              <a:gd name="connsiteY3" fmla="*/ 989995 h 996610"/>
              <a:gd name="connsiteX4" fmla="*/ 664271 w 1312080"/>
              <a:gd name="connsiteY4" fmla="*/ 996610 h 996610"/>
              <a:gd name="connsiteX5" fmla="*/ 0 w 1312080"/>
              <a:gd name="connsiteY5" fmla="*/ 387796 h 996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12080" h="996610">
                <a:moveTo>
                  <a:pt x="0" y="387796"/>
                </a:moveTo>
                <a:lnTo>
                  <a:pt x="644249" y="0"/>
                </a:lnTo>
                <a:cubicBezTo>
                  <a:pt x="861222" y="138085"/>
                  <a:pt x="1095107" y="256712"/>
                  <a:pt x="1312080" y="394797"/>
                </a:cubicBezTo>
                <a:cubicBezTo>
                  <a:pt x="1081484" y="573481"/>
                  <a:pt x="727251" y="473958"/>
                  <a:pt x="663412" y="989995"/>
                </a:cubicBezTo>
                <a:lnTo>
                  <a:pt x="664271" y="996610"/>
                </a:lnTo>
                <a:cubicBezTo>
                  <a:pt x="571806" y="524671"/>
                  <a:pt x="245881" y="562070"/>
                  <a:pt x="0" y="387796"/>
                </a:cubicBezTo>
                <a:close/>
              </a:path>
            </a:pathLst>
          </a:custGeom>
          <a:solidFill>
            <a:srgbClr val="F66565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500" b="0" dirty="0">
              <a:solidFill>
                <a:srgbClr val="F66565"/>
              </a:solidFill>
            </a:endParaRP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8D6C3E40-9DDD-CCA5-38AB-EC5123B4ED49}"/>
              </a:ext>
            </a:extLst>
          </p:cNvPr>
          <p:cNvCxnSpPr>
            <a:cxnSpLocks/>
          </p:cNvCxnSpPr>
          <p:nvPr/>
        </p:nvCxnSpPr>
        <p:spPr>
          <a:xfrm>
            <a:off x="3071442" y="2362741"/>
            <a:ext cx="789403" cy="2200297"/>
          </a:xfrm>
          <a:prstGeom prst="line">
            <a:avLst/>
          </a:prstGeom>
          <a:ln w="12700" cap="flat" cmpd="sng" algn="ctr">
            <a:solidFill>
              <a:schemeClr val="tx1">
                <a:alpha val="75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53EECAA4-442D-677C-0001-CC1382C81F6B}"/>
              </a:ext>
            </a:extLst>
          </p:cNvPr>
          <p:cNvCxnSpPr>
            <a:cxnSpLocks/>
          </p:cNvCxnSpPr>
          <p:nvPr/>
        </p:nvCxnSpPr>
        <p:spPr>
          <a:xfrm>
            <a:off x="2557824" y="2393057"/>
            <a:ext cx="898028" cy="2490078"/>
          </a:xfrm>
          <a:prstGeom prst="line">
            <a:avLst/>
          </a:prstGeom>
          <a:ln w="12700" cap="flat" cmpd="sng" algn="ctr">
            <a:solidFill>
              <a:schemeClr val="tx1">
                <a:alpha val="75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5E3E6CCB-A1F1-D4E6-2ABC-7E7B23CCAAD6}"/>
                  </a:ext>
                </a:extLst>
              </p:cNvPr>
              <p:cNvSpPr txBox="1"/>
              <p:nvPr/>
            </p:nvSpPr>
            <p:spPr>
              <a:xfrm>
                <a:off x="1738999" y="2954919"/>
                <a:ext cx="1165107" cy="32656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1400" spc="-30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𝒩</m:t>
                      </m:r>
                      <m:sSub>
                        <m:sSubPr>
                          <m:ctrlPr>
                            <a:rPr lang="en-CA" sz="1400" b="0" i="1" spc="-15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1400" i="0" spc="-15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𝒞</m:t>
                          </m:r>
                        </m:e>
                        <m:sub>
                          <m:sSub>
                            <m:sSubPr>
                              <m:ctrlPr>
                                <a:rPr lang="en-CA" sz="1400" b="0" i="1" spc="-15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CA" sz="1400" b="0" i="0" spc="-15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O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CA" sz="1400" b="0" i="0" spc="-15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5E3E6CCB-A1F1-D4E6-2ABC-7E7B23CCAA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38999" y="2954919"/>
                <a:ext cx="1165107" cy="32656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99581783-232E-265C-ED94-0CEA41900C95}"/>
                  </a:ext>
                </a:extLst>
              </p:cNvPr>
              <p:cNvSpPr txBox="1"/>
              <p:nvPr/>
            </p:nvSpPr>
            <p:spPr>
              <a:xfrm>
                <a:off x="1862525" y="3410613"/>
                <a:ext cx="1072897" cy="32656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1400" spc="-3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𝒩</m:t>
                      </m:r>
                      <m:sSub>
                        <m:sSubPr>
                          <m:ctrlPr>
                            <a:rPr lang="en-CA" sz="1400" i="1" spc="-15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1400" spc="-15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𝒞</m:t>
                          </m:r>
                        </m:e>
                        <m:sub>
                          <m:sSub>
                            <m:sSubPr>
                              <m:ctrlPr>
                                <a:rPr lang="en-CA" sz="1400" i="1" spc="-15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CA" sz="1400" spc="-15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O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CA" sz="1400" spc="-15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</m:sub>
                          </m:sSub>
                          <m:r>
                            <a:rPr lang="en-CA" sz="1400" i="1" spc="-15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∪</m:t>
                          </m:r>
                          <m:sSub>
                            <m:sSubPr>
                              <m:ctrlPr>
                                <a:rPr lang="en-CA" sz="1400" i="1" spc="-15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sz="1400" i="1" spc="-15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</m:e>
                            <m:sub>
                              <m:r>
                                <a:rPr lang="en-CA" sz="1400" i="1" spc="-15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99581783-232E-265C-ED94-0CEA41900C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2525" y="3410613"/>
                <a:ext cx="1072897" cy="32656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304B11E2-BE20-45C0-B005-17555DA75FDC}"/>
                  </a:ext>
                </a:extLst>
              </p:cNvPr>
              <p:cNvSpPr txBox="1"/>
              <p:nvPr/>
            </p:nvSpPr>
            <p:spPr>
              <a:xfrm>
                <a:off x="1822398" y="4199238"/>
                <a:ext cx="1072897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1400" spc="-30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𝒩</m:t>
                      </m:r>
                      <m:sSub>
                        <m:sSubPr>
                          <m:ctrlPr>
                            <a:rPr lang="en-CA" sz="1400" b="0" i="1" spc="-15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1400" i="0" spc="-15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𝒞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CA" sz="1400" b="0" i="0" spc="-15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a</m:t>
                          </m:r>
                          <m:r>
                            <a:rPr lang="en-CA" sz="1400" b="0" i="1" spc="-15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𝑙𝑙</m:t>
                          </m:r>
                        </m:sub>
                      </m:sSub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304B11E2-BE20-45C0-B005-17555DA75F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2398" y="4199238"/>
                <a:ext cx="1072897" cy="30777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87477372-D19B-3678-42B7-62E41F6418D8}"/>
                  </a:ext>
                </a:extLst>
              </p:cNvPr>
              <p:cNvSpPr txBox="1"/>
              <p:nvPr/>
            </p:nvSpPr>
            <p:spPr>
              <a:xfrm>
                <a:off x="3748420" y="4396179"/>
                <a:ext cx="509784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dirty="0" smtClean="0">
                          <a:latin typeface="Cambria Math" panose="02040503050406030204" pitchFamily="18" charset="0"/>
                        </a:rPr>
                        <m:t>(1</m:t>
                      </m:r>
                      <m:r>
                        <a:rPr lang="en-US" sz="1200" i="1" dirty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87477372-D19B-3678-42B7-62E41F6418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48420" y="4396179"/>
                <a:ext cx="509784" cy="276999"/>
              </a:xfrm>
              <a:prstGeom prst="rect">
                <a:avLst/>
              </a:prstGeom>
              <a:blipFill>
                <a:blip r:embed="rId10"/>
                <a:stretch>
                  <a:fillRect b="-86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1ACC0380-F7AF-3477-0B74-144A4957D03D}"/>
                  </a:ext>
                </a:extLst>
              </p:cNvPr>
              <p:cNvSpPr txBox="1"/>
              <p:nvPr/>
            </p:nvSpPr>
            <p:spPr>
              <a:xfrm>
                <a:off x="3532011" y="4599678"/>
                <a:ext cx="509784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CA" sz="1200" b="0" i="1" dirty="0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1200" i="1" dirty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1ACC0380-F7AF-3477-0B74-144A4957D0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2011" y="4599678"/>
                <a:ext cx="509784" cy="276999"/>
              </a:xfrm>
              <a:prstGeom prst="rect">
                <a:avLst/>
              </a:prstGeom>
              <a:blipFill>
                <a:blip r:embed="rId11"/>
                <a:stretch>
                  <a:fillRect b="-1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FB586F79-2256-5202-EB64-58BE318F659E}"/>
                  </a:ext>
                </a:extLst>
              </p:cNvPr>
              <p:cNvSpPr txBox="1"/>
              <p:nvPr/>
            </p:nvSpPr>
            <p:spPr>
              <a:xfrm>
                <a:off x="3301087" y="4797646"/>
                <a:ext cx="509784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CA" sz="1200" b="0" i="1" dirty="0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sz="1200" i="1" dirty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FB586F79-2256-5202-EB64-58BE318F65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01087" y="4797646"/>
                <a:ext cx="509784" cy="276999"/>
              </a:xfrm>
              <a:prstGeom prst="rect">
                <a:avLst/>
              </a:prstGeom>
              <a:blipFill>
                <a:blip r:embed="rId12"/>
                <a:stretch>
                  <a:fillRect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9ACAE502-C6AD-C7E2-3D36-75F1A67AF95D}"/>
                  </a:ext>
                </a:extLst>
              </p:cNvPr>
              <p:cNvSpPr txBox="1"/>
              <p:nvPr/>
            </p:nvSpPr>
            <p:spPr>
              <a:xfrm>
                <a:off x="976805" y="5608522"/>
                <a:ext cx="3400290" cy="2923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3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CA" sz="1300" b="0" i="1" dirty="0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sz="130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300" dirty="0"/>
                  <a:t> Entanglement-Witnessing NC inequality</a:t>
                </a: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9ACAE502-C6AD-C7E2-3D36-75F1A67AF9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6805" y="5608522"/>
                <a:ext cx="3400290" cy="292388"/>
              </a:xfrm>
              <a:prstGeom prst="rect">
                <a:avLst/>
              </a:prstGeom>
              <a:blipFill>
                <a:blip r:embed="rId13"/>
                <a:stretch>
                  <a:fillRect r="-372" b="-208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2F3C18DF-EDD2-908F-78BA-9D19BF4E1813}"/>
              </a:ext>
            </a:extLst>
          </p:cNvPr>
          <p:cNvCxnSpPr>
            <a:cxnSpLocks/>
          </p:cNvCxnSpPr>
          <p:nvPr/>
        </p:nvCxnSpPr>
        <p:spPr>
          <a:xfrm flipH="1" flipV="1">
            <a:off x="1182903" y="2853594"/>
            <a:ext cx="703723" cy="7805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C3F5D665-E87C-FAA0-A6D6-36E3ED29263E}"/>
              </a:ext>
            </a:extLst>
          </p:cNvPr>
          <p:cNvSpPr txBox="1"/>
          <p:nvPr/>
        </p:nvSpPr>
        <p:spPr>
          <a:xfrm>
            <a:off x="59744" y="2266708"/>
            <a:ext cx="15155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/>
              <a:t>Noncontextual</a:t>
            </a:r>
            <a:r>
              <a:rPr lang="en-US" sz="1400" dirty="0"/>
              <a:t> (NC) polytope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BFD06AEF-31C0-7AAC-88A5-75F61EBC9BF7}"/>
                  </a:ext>
                </a:extLst>
              </p:cNvPr>
              <p:cNvSpPr txBox="1"/>
              <p:nvPr/>
            </p:nvSpPr>
            <p:spPr>
              <a:xfrm>
                <a:off x="5040142" y="2485438"/>
                <a:ext cx="6892505" cy="164237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Wingdings" pitchFamily="2" charset="2"/>
                  <a:buChar char="§"/>
                </a:pPr>
                <a:r>
                  <a:rPr lang="en-US" sz="1400" dirty="0"/>
                  <a:t>Given two sets of measurements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CA" sz="140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CA" sz="1400" b="0" i="1" smtClean="0"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a:rPr lang="en-CA" sz="1400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CA" sz="1400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CA" sz="1400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CA" sz="1400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  <m:sup>
                        <m:r>
                          <a:rPr lang="en-CA" sz="1400" i="1">
                            <a:latin typeface="Cambria Math" panose="02040503050406030204" pitchFamily="18" charset="0"/>
                          </a:rPr>
                          <m:t>𝐴</m:t>
                        </m:r>
                      </m:sup>
                    </m:sSubSup>
                    <m:r>
                      <a:rPr lang="en-CA" sz="1400" b="0" i="1" smtClean="0">
                        <a:latin typeface="Cambria Math" panose="02040503050406030204" pitchFamily="18" charset="0"/>
                      </a:rPr>
                      <m:t>} </m:t>
                    </m:r>
                    <m:r>
                      <m:rPr>
                        <m:sty m:val="p"/>
                      </m:rPr>
                      <a:rPr lang="en-CA" sz="1400" b="0" i="0" smtClean="0">
                        <a:latin typeface="Cambria Math" panose="02040503050406030204" pitchFamily="18" charset="0"/>
                      </a:rPr>
                      <m:t>and</m:t>
                    </m:r>
                    <m:r>
                      <a:rPr lang="en-CA" sz="1400" b="0" i="0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begChr m:val="{"/>
                        <m:endChr m:val="}"/>
                        <m:ctrlPr>
                          <a:rPr lang="en-CA" sz="1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CA" sz="14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CA" sz="1400" i="1">
                                <a:latin typeface="Cambria Math" panose="02040503050406030204" pitchFamily="18" charset="0"/>
                              </a:rPr>
                              <m:t>𝑀</m:t>
                            </m:r>
                          </m:e>
                          <m:sub>
                            <m:r>
                              <a:rPr lang="en-CA" sz="1400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en-CA" sz="1400" i="1"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CA" sz="14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  <m:sup>
                            <m:r>
                              <a:rPr lang="en-CA" sz="1400" i="1"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p>
                        </m:sSubSup>
                      </m:e>
                    </m:d>
                  </m:oMath>
                </a14:m>
                <a:r>
                  <a:rPr lang="en-US" sz="1400" dirty="0"/>
                  <a:t>, they define two sets of operational identities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A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𝕆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CA" sz="1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N</m:t>
                        </m:r>
                      </m:sub>
                    </m:sSub>
                  </m:oMath>
                </a14:m>
                <a:r>
                  <a:rPr lang="en-US" sz="14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A" sz="1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𝕆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CA" sz="14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M</m:t>
                        </m:r>
                      </m:sub>
                    </m:sSub>
                  </m:oMath>
                </a14:m>
                <a:r>
                  <a:rPr lang="en-US" sz="1400" dirty="0"/>
                  <a:t>.*</a:t>
                </a:r>
              </a:p>
              <a:p>
                <a:pPr marL="285750" indent="-285750">
                  <a:buFont typeface="Wingdings" pitchFamily="2" charset="2"/>
                  <a:buChar char="§"/>
                </a:pPr>
                <a:endParaRPr lang="en-US" sz="1400" dirty="0"/>
              </a:p>
              <a:p>
                <a:pPr marL="285750" indent="-285750">
                  <a:buFont typeface="Wingdings" pitchFamily="2" charset="2"/>
                  <a:buChar char="§"/>
                </a:pPr>
                <a:r>
                  <a:rPr lang="en-US" sz="1400" dirty="0"/>
                  <a:t>The operational statistics that is classical explainable relative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A" sz="1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𝕆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CA" sz="1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N</m:t>
                        </m:r>
                      </m:sub>
                    </m:sSub>
                  </m:oMath>
                </a14:m>
                <a:r>
                  <a:rPr lang="en-US" sz="14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A" sz="1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𝕆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CA" sz="14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M</m:t>
                        </m:r>
                      </m:sub>
                    </m:sSub>
                  </m:oMath>
                </a14:m>
                <a:r>
                  <a:rPr lang="en-US" sz="1400" dirty="0"/>
                  <a:t> is then given as:</a:t>
                </a:r>
              </a:p>
              <a:p>
                <a:pPr marL="285750" indent="-285750">
                  <a:buFont typeface="Wingdings" pitchFamily="2" charset="2"/>
                  <a:buChar char="§"/>
                </a:pPr>
                <a:endParaRPr lang="en-US" sz="1400" dirty="0"/>
              </a:p>
              <a:p>
                <a:endParaRPr lang="en-US" sz="14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BFD06AEF-31C0-7AAC-88A5-75F61EBC9B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40142" y="2485438"/>
                <a:ext cx="6892505" cy="1642373"/>
              </a:xfrm>
              <a:prstGeom prst="rect">
                <a:avLst/>
              </a:prstGeom>
              <a:blipFill>
                <a:blip r:embed="rId14"/>
                <a:stretch>
                  <a:fillRect t="-7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TextBox 28">
            <a:extLst>
              <a:ext uri="{FF2B5EF4-FFF2-40B4-BE49-F238E27FC236}">
                <a16:creationId xmlns:a16="http://schemas.microsoft.com/office/drawing/2014/main" id="{F7F1D476-1AA2-674C-3493-9CB519444F61}"/>
              </a:ext>
            </a:extLst>
          </p:cNvPr>
          <p:cNvSpPr txBox="1"/>
          <p:nvPr/>
        </p:nvSpPr>
        <p:spPr>
          <a:xfrm>
            <a:off x="4573669" y="6392327"/>
            <a:ext cx="76091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*: In an experiment, one does not need to characterize the measurements to know their operational identities; instead, they </a:t>
            </a:r>
            <a:r>
              <a:rPr lang="en-CA" sz="1200" dirty="0"/>
              <a:t>can</a:t>
            </a:r>
            <a:r>
              <a:rPr lang="en-US" sz="1200" dirty="0"/>
              <a:t> </a:t>
            </a:r>
            <a:r>
              <a:rPr lang="en-CA" sz="1200" dirty="0"/>
              <a:t>be</a:t>
            </a:r>
            <a:r>
              <a:rPr lang="en-US" sz="1200" dirty="0"/>
              <a:t> </a:t>
            </a:r>
            <a:r>
              <a:rPr lang="en-CA" sz="1200" dirty="0"/>
              <a:t>inferred using experimental data. </a:t>
            </a:r>
            <a:r>
              <a:rPr lang="en-US" sz="1200" dirty="0"/>
              <a:t> (see later discussion)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3A0520EE-4104-EC7B-3C50-01EE13ECC430}"/>
                  </a:ext>
                </a:extLst>
              </p:cNvPr>
              <p:cNvSpPr txBox="1"/>
              <p:nvPr/>
            </p:nvSpPr>
            <p:spPr>
              <a:xfrm>
                <a:off x="7760627" y="3909346"/>
                <a:ext cx="3415280" cy="100604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CA" sz="110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CA" sz="11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sz="1100" i="1">
                            <a:latin typeface="Cambria Math" panose="02040503050406030204" pitchFamily="18" charset="0"/>
                          </a:rPr>
                          <m:t>𝑎𝑏</m:t>
                        </m:r>
                      </m:e>
                      <m:e>
                        <m:r>
                          <a:rPr lang="en-CA" sz="1100" i="1">
                            <a:latin typeface="Cambria Math" panose="02040503050406030204" pitchFamily="18" charset="0"/>
                          </a:rPr>
                          <m:t>𝑥𝑦</m:t>
                        </m:r>
                      </m:e>
                    </m:d>
                    <m:r>
                      <a:rPr lang="en-CA" sz="1100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CA" sz="11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sSub>
                          <m:sSubPr>
                            <m:ctrlPr>
                              <a:rPr lang="en-US" sz="1100" i="1" ker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100" i="1" ker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CA" sz="1100" i="1" ker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  <m:sSub>
                          <m:sSubPr>
                            <m:ctrlPr>
                              <a:rPr lang="en-US" sz="1100" i="1" ker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100" i="1" ker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CA" sz="1100" i="1" ker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</m:sub>
                      <m:sup/>
                      <m:e>
                        <m:r>
                          <a:rPr lang="en-US" sz="1100" i="1" ker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sz="1100" i="1" ker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1100" i="1" ker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100" i="1" ker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CA" sz="1100" i="1" ker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  <m:sSub>
                          <m:sSubPr>
                            <m:ctrlPr>
                              <a:rPr lang="en-US" sz="1100" i="1" ker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100" i="1" ker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CA" sz="1100" i="1" ker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  <m:r>
                          <a:rPr lang="en-US" sz="1100" i="1" ker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US" sz="1100" i="1" ker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sz="1100" i="1" ker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CA" sz="1100" i="1" ker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sz="1100" i="1" ker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en-US" sz="1100" i="1" ker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1100" i="1" ker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1100" i="1" ker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CA" sz="1100" i="1" ker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  <m:r>
                          <a:rPr lang="en-US" sz="1100" i="1" ker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US" sz="1100" i="1" ker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sz="1100" i="1" ker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CA" sz="1100" i="1" ker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sz="1100" i="1" ker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en-US" sz="1100" i="1" ker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1100" i="1" ker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sz="1100" i="1" ker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CA" sz="1100" i="1" ker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  <m:r>
                          <a:rPr lang="en-US" sz="1100" i="1" ker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r>
                  <a:rPr lang="en-CA" sz="1100" kern="0" dirty="0">
                    <a:solidFill>
                      <a:prstClr val="black"/>
                    </a:solidFill>
                  </a:rPr>
                  <a:t> </a:t>
                </a:r>
              </a:p>
              <a:p>
                <a:endParaRPr lang="en-CA" altLang="zh-CN" sz="11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CA" altLang="zh-CN" sz="11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CA" altLang="zh-CN" sz="11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  <m:r>
                          <a:rPr lang="en-CA" altLang="zh-CN" sz="11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CA" altLang="zh-CN" sz="11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CA" altLang="zh-CN" sz="11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altLang="zh-CN" sz="11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CA" altLang="zh-CN" sz="11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CA" altLang="zh-CN" sz="11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CA" altLang="zh-CN" sz="11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e>
                    </m:nary>
                    <m:r>
                      <a:rPr lang="en-CA" sz="1100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CA" sz="11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sz="11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e>
                        <m:r>
                          <a:rPr lang="en-CA" sz="11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CA" sz="11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CA" sz="11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1100" i="1"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CA" sz="11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</m:e>
                    </m:d>
                    <m:r>
                      <a:rPr lang="en-CA" sz="1100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11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A" sz="11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sz="1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∀</m:t>
                        </m:r>
                        <m:r>
                          <a:rPr lang="en-CA" sz="11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en-CA" sz="11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CA" altLang="zh-CN" sz="11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CA" altLang="zh-CN" sz="11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𝛼</m:t>
                                </m:r>
                              </m:e>
                              <m:sub>
                                <m:r>
                                  <a:rPr lang="en-CA" altLang="zh-CN" sz="11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CA" altLang="zh-CN" sz="11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CA" altLang="zh-CN" sz="11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sub>
                            </m:sSub>
                          </m:e>
                        </m:d>
                        <m:r>
                          <a:rPr lang="en-CA" sz="1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r>
                          <a:rPr lang="en-US" sz="11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𝕆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CA" sz="11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N</m:t>
                        </m:r>
                      </m:sub>
                    </m:sSub>
                  </m:oMath>
                </a14:m>
                <a:r>
                  <a:rPr lang="en-US" sz="1100" dirty="0"/>
                  <a:t> </a:t>
                </a:r>
              </a:p>
              <a:p>
                <a:pPr marL="342900" indent="-342900">
                  <a:buFont typeface="+mj-lt"/>
                  <a:buAutoNum type="arabicPeriod"/>
                </a:pPr>
                <a:endParaRPr lang="en-US" sz="1100" dirty="0"/>
              </a:p>
              <a:p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CA" altLang="zh-CN" sz="11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CA" altLang="zh-CN" sz="1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  <m:r>
                          <a:rPr lang="en-CA" altLang="zh-CN" sz="11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CA" altLang="zh-CN" sz="1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CA" altLang="zh-CN" sz="1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altLang="zh-CN" sz="11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CA" altLang="zh-CN" sz="11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en-CA" altLang="zh-CN" sz="1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CA" altLang="zh-CN" sz="11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e>
                    </m:nary>
                    <m:r>
                      <a:rPr lang="en-CA" sz="1100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CA" sz="11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CA" sz="1100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CA" sz="1100" i="1">
                        <a:latin typeface="Cambria Math" panose="02040503050406030204" pitchFamily="18" charset="0"/>
                      </a:rPr>
                      <m:t>|</m:t>
                    </m:r>
                    <m:r>
                      <a:rPr lang="en-CA" sz="11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CA" sz="11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CA" sz="11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sz="1100" i="1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CA" sz="11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en-CA" sz="1100" i="1">
                        <a:latin typeface="Cambria Math" panose="02040503050406030204" pitchFamily="18" charset="0"/>
                      </a:rPr>
                      <m:t>)=0</m:t>
                    </m:r>
                  </m:oMath>
                </a14:m>
                <a:r>
                  <a:rPr lang="en-US" sz="1100" dirty="0"/>
                  <a:t> 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A" sz="11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sz="11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∀</m:t>
                        </m:r>
                        <m:r>
                          <a:rPr lang="en-CA" sz="11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en-CA" sz="1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CA" altLang="zh-CN" sz="11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CA" altLang="zh-CN" sz="11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  <m:sub>
                                <m:r>
                                  <a:rPr lang="en-CA" altLang="zh-CN" sz="11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𝑏</m:t>
                                </m:r>
                                <m:r>
                                  <a:rPr lang="en-CA" altLang="zh-CN" sz="11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CA" altLang="zh-CN" sz="11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𝑦</m:t>
                                </m:r>
                              </m:sub>
                            </m:sSub>
                          </m:e>
                        </m:d>
                        <m:r>
                          <a:rPr lang="en-CA" sz="11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r>
                          <a:rPr lang="en-US" sz="11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𝕆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CA" sz="11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M</m:t>
                        </m:r>
                      </m:sub>
                    </m:sSub>
                  </m:oMath>
                </a14:m>
                <a:endParaRPr lang="en-CA" sz="110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3A0520EE-4104-EC7B-3C50-01EE13ECC4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60627" y="3909346"/>
                <a:ext cx="3415280" cy="1006045"/>
              </a:xfrm>
              <a:prstGeom prst="rect">
                <a:avLst/>
              </a:prstGeom>
              <a:blipFill>
                <a:blip r:embed="rId15"/>
                <a:stretch>
                  <a:fillRect l="-4833" t="-23750" b="-36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DC7E54D9-3632-4B91-66D6-3D19E7318F67}"/>
                  </a:ext>
                </a:extLst>
              </p:cNvPr>
              <p:cNvSpPr txBox="1"/>
              <p:nvPr/>
            </p:nvSpPr>
            <p:spPr>
              <a:xfrm>
                <a:off x="5888381" y="4249086"/>
                <a:ext cx="1001375" cy="32656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1400" spc="-30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𝒩</m:t>
                      </m:r>
                      <m:sSub>
                        <m:sSubPr>
                          <m:ctrlPr>
                            <a:rPr lang="en-CA" sz="1400" b="0" i="1" spc="-15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1400" i="0" spc="-15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𝒞</m:t>
                          </m:r>
                        </m:e>
                        <m:sub>
                          <m:sSub>
                            <m:sSubPr>
                              <m:ctrlPr>
                                <a:rPr lang="en-CA" sz="1400" b="0" i="1" spc="-15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CA" sz="1400" b="0" i="0" spc="-15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O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CA" sz="1400" b="0" i="0" spc="-15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</m:sub>
                          </m:sSub>
                          <m:r>
                            <a:rPr lang="en-CA" sz="1400" b="0" i="1" spc="-15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∪</m:t>
                          </m:r>
                          <m:sSub>
                            <m:sSubPr>
                              <m:ctrlPr>
                                <a:rPr lang="en-CA" sz="1400" b="0" i="1" spc="-15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sz="1400" b="0" i="1" spc="-15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</m:e>
                            <m:sub>
                              <m:r>
                                <a:rPr lang="en-CA" sz="1400" b="0" i="1" spc="-15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DC7E54D9-3632-4B91-66D6-3D19E7318F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8381" y="4249086"/>
                <a:ext cx="1001375" cy="326564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Equal 36">
            <a:extLst>
              <a:ext uri="{FF2B5EF4-FFF2-40B4-BE49-F238E27FC236}">
                <a16:creationId xmlns:a16="http://schemas.microsoft.com/office/drawing/2014/main" id="{17ADA542-5B59-8424-BFD1-859674E5F761}"/>
              </a:ext>
            </a:extLst>
          </p:cNvPr>
          <p:cNvSpPr/>
          <p:nvPr/>
        </p:nvSpPr>
        <p:spPr>
          <a:xfrm>
            <a:off x="6938884" y="4268658"/>
            <a:ext cx="392248" cy="323783"/>
          </a:xfrm>
          <a:prstGeom prst="mathEqual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1D0F6918-5F0A-6C40-1B65-FDA29F7C007D}"/>
                  </a:ext>
                </a:extLst>
              </p:cNvPr>
              <p:cNvSpPr txBox="1"/>
              <p:nvPr/>
            </p:nvSpPr>
            <p:spPr>
              <a:xfrm>
                <a:off x="6099730" y="5204561"/>
                <a:ext cx="5115464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/>
                  <a:t>A </a:t>
                </a:r>
                <a:r>
                  <a:rPr lang="en-US" sz="1200" dirty="0" err="1"/>
                  <a:t>noncontextual</a:t>
                </a:r>
                <a:r>
                  <a:rPr lang="en-US" sz="1200" dirty="0"/>
                  <a:t> local hidden variable model relative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A" sz="12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𝕆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CA" sz="12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N</m:t>
                        </m:r>
                      </m:sub>
                    </m:sSub>
                  </m:oMath>
                </a14:m>
                <a:r>
                  <a:rPr lang="en-US" sz="12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A" sz="12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𝕆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CA" sz="12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M</m:t>
                        </m:r>
                      </m:sub>
                    </m:sSub>
                  </m:oMath>
                </a14:m>
                <a:endParaRPr lang="en-US" sz="1200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1D0F6918-5F0A-6C40-1B65-FDA29F7C00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9730" y="5204561"/>
                <a:ext cx="5115464" cy="276999"/>
              </a:xfrm>
              <a:prstGeom prst="rect">
                <a:avLst/>
              </a:prstGeom>
              <a:blipFill>
                <a:blip r:embed="rId17"/>
                <a:stretch>
                  <a:fillRect b="-173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889790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animBg="1"/>
      <p:bldP spid="29" grpId="0"/>
      <p:bldP spid="33" grpId="0"/>
      <p:bldP spid="36" grpId="0"/>
      <p:bldP spid="37" grpId="0" animBg="1"/>
      <p:bldP spid="3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13B746-2576-58D8-229C-82BF43FAAF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485D76B4-7434-9D13-8FD3-09F34BE75714}"/>
              </a:ext>
            </a:extLst>
          </p:cNvPr>
          <p:cNvSpPr/>
          <p:nvPr/>
        </p:nvSpPr>
        <p:spPr>
          <a:xfrm>
            <a:off x="0" y="5465135"/>
            <a:ext cx="4657060" cy="13928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0E49C21-65E1-F1C8-C5AE-B21700A82B5C}"/>
              </a:ext>
            </a:extLst>
          </p:cNvPr>
          <p:cNvSpPr txBox="1"/>
          <p:nvPr/>
        </p:nvSpPr>
        <p:spPr>
          <a:xfrm>
            <a:off x="0" y="397104"/>
            <a:ext cx="57347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</a:rPr>
              <a:t>Novel test for two-qubit isotropic states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43E0135F-66A8-B5C8-1C6E-295119813E93}"/>
                  </a:ext>
                </a:extLst>
              </p:cNvPr>
              <p:cNvSpPr/>
              <p:nvPr/>
            </p:nvSpPr>
            <p:spPr>
              <a:xfrm>
                <a:off x="3408888" y="2255077"/>
                <a:ext cx="8653252" cy="3210058"/>
              </a:xfrm>
              <a:prstGeom prst="rect">
                <a:avLst/>
              </a:prstGeom>
              <a:ln w="25400">
                <a:solidFill>
                  <a:srgbClr val="0070C0">
                    <a:alpha val="98000"/>
                  </a:srgb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t"/>
              <a:lstStyle/>
              <a:p>
                <a:r>
                  <a:rPr lang="en-US" sz="1600" dirty="0"/>
                  <a:t>Example 1: (square, square) Bell scenario, where one has 2 binary-outcome measurements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CA" sz="160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CA" sz="1600" b="0" i="1" smtClean="0"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a:rPr lang="en-CA" sz="1600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CA" sz="1600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CA" sz="1600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CA" sz="1600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  <m:sup>
                        <m:r>
                          <a:rPr lang="en-CA" sz="1600" i="1">
                            <a:latin typeface="Cambria Math" panose="02040503050406030204" pitchFamily="18" charset="0"/>
                          </a:rPr>
                          <m:t>𝐴</m:t>
                        </m:r>
                      </m:sup>
                    </m:sSubSup>
                    <m:r>
                      <a:rPr lang="en-CA" sz="1600" b="0" i="1" smtClean="0">
                        <a:latin typeface="Cambria Math" panose="02040503050406030204" pitchFamily="18" charset="0"/>
                      </a:rPr>
                      <m:t>} </m:t>
                    </m:r>
                    <m:r>
                      <m:rPr>
                        <m:sty m:val="p"/>
                      </m:rPr>
                      <a:rPr lang="en-CA" sz="1600" b="0" i="0" smtClean="0">
                        <a:latin typeface="Cambria Math" panose="02040503050406030204" pitchFamily="18" charset="0"/>
                      </a:rPr>
                      <m:t>and</m:t>
                    </m:r>
                    <m:r>
                      <a:rPr lang="en-CA" sz="1600" b="0" i="0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begChr m:val="{"/>
                        <m:endChr m:val="}"/>
                        <m:ctrlPr>
                          <a:rPr lang="en-CA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CA" sz="16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CA" sz="1600" i="1">
                                <a:latin typeface="Cambria Math" panose="02040503050406030204" pitchFamily="18" charset="0"/>
                              </a:rPr>
                              <m:t>𝑀</m:t>
                            </m:r>
                          </m:e>
                          <m:sub>
                            <m:r>
                              <a:rPr lang="en-CA" sz="1600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en-CA" sz="1600" i="1"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CA" sz="16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  <m:sup>
                            <m:r>
                              <a:rPr lang="en-CA" sz="1600" i="1"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p>
                        </m:sSubSup>
                      </m:e>
                    </m:d>
                  </m:oMath>
                </a14:m>
                <a:r>
                  <a:rPr lang="en-US" sz="1600" dirty="0"/>
                  <a:t> on Alice and Bob, one can show that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1600" i="1" spc="-15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1600" i="1" spc="-15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𝑂</m:t>
                          </m:r>
                        </m:e>
                        <m:sub>
                          <m:r>
                            <a:rPr lang="en-CA" sz="1600" i="1" spc="-15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</m:sSub>
                      <m:r>
                        <a:rPr lang="en-CA" sz="1600" i="1" spc="-15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∪</m:t>
                      </m:r>
                      <m:sSub>
                        <m:sSubPr>
                          <m:ctrlPr>
                            <a:rPr lang="en-CA" sz="1600" i="1" spc="-15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1600" i="1" spc="-15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𝑂</m:t>
                          </m:r>
                        </m:e>
                        <m:sub>
                          <m:r>
                            <a:rPr lang="en-CA" sz="1600" i="1" spc="-15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sub>
                      </m:sSub>
                      <m:r>
                        <a:rPr lang="en-CA" sz="1600" b="0" i="1" spc="-15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CA" sz="1600" i="1" spc="-15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1600" i="1" spc="-15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𝑂</m:t>
                          </m:r>
                        </m:e>
                        <m:sub>
                          <m:r>
                            <a:rPr lang="en-CA" sz="1600" i="1" spc="-15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</m:sSub>
                      <m:r>
                        <a:rPr lang="en-CA" sz="1600" b="0" i="1" spc="-15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CA" sz="1600" i="1" spc="-15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1600" i="1" spc="-15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𝑂</m:t>
                          </m:r>
                        </m:e>
                        <m:sub>
                          <m:r>
                            <a:rPr lang="en-CA" sz="1600" b="0" i="1" spc="-15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sub>
                      </m:sSub>
                      <m:r>
                        <a:rPr lang="en-CA" sz="1600" b="0" i="1" spc="-15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CA" sz="1600" i="1" spc="-15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CA" sz="1600" i="0" spc="-15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O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CA" sz="1600" b="0" i="0" spc="-15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triv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  <a:p>
                <a:r>
                  <a:rPr lang="en-US" sz="1600" dirty="0"/>
                  <a:t>since the only operational identity are the normalization conditions, e.g., </a:t>
                </a:r>
              </a:p>
              <a:p>
                <a:r>
                  <a:rPr lang="en-US" sz="1600" dirty="0"/>
                  <a:t> </a:t>
                </a:r>
                <a14:m>
                  <m:oMath xmlns:m="http://schemas.openxmlformats.org/officeDocument/2006/math">
                    <m:r>
                      <a:rPr lang="en-CA" sz="1600" b="0" i="0" smtClean="0">
                        <a:latin typeface="Cambria Math" panose="02040503050406030204" pitchFamily="18" charset="0"/>
                      </a:rPr>
                      <m:t>                                                                       </m:t>
                    </m:r>
                    <m:nary>
                      <m:naryPr>
                        <m:chr m:val="∑"/>
                        <m:supHide m:val="on"/>
                        <m:ctrlPr>
                          <a:rPr lang="en-CA" sz="16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CA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  <m:sup/>
                      <m:e>
                        <m:sSubSup>
                          <m:sSubSupPr>
                            <m:ctrlPr>
                              <a:rPr lang="en-CA" sz="16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CA" sz="160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CA" sz="16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CA" sz="1600" i="1"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CA" sz="16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  <m:sup>
                            <m:r>
                              <a:rPr lang="en-CA" sz="1600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p>
                        </m:sSubSup>
                        <m:r>
                          <a:rPr lang="en-CA" sz="16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nary>
                          <m:naryPr>
                            <m:chr m:val="∑"/>
                            <m:supHide m:val="on"/>
                            <m:ctrlPr>
                              <a:rPr lang="en-CA" sz="1600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CA" sz="16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CA" sz="1600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b>
                          <m:sup/>
                          <m:e>
                            <m:sSubSup>
                              <m:sSubSupPr>
                                <m:ctrlPr>
                                  <a:rPr lang="en-CA" sz="1600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CA" sz="1600" i="1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e>
                              <m:sub>
                                <m:r>
                                  <a:rPr lang="en-CA" sz="1600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CA" sz="1600" b="0" i="1" smtClean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  <m:r>
                                  <a:rPr lang="en-CA" sz="1600" i="1"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  <m:r>
                                  <a:rPr lang="en-CA" sz="16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CA" sz="1600" b="0" i="1" smtClean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b>
                              <m:sup>
                                <m:r>
                                  <a:rPr lang="en-CA" sz="1600" i="1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sup>
                            </m:sSubSup>
                          </m:e>
                        </m:nary>
                      </m:e>
                    </m:nary>
                  </m:oMath>
                </a14:m>
                <a:r>
                  <a:rPr lang="en-US" sz="1600" dirty="0"/>
                  <a:t>.</a:t>
                </a:r>
              </a:p>
              <a:p>
                <a:endParaRPr lang="en-US" sz="1600" dirty="0"/>
              </a:p>
              <a:p>
                <a:r>
                  <a:rPr lang="en-US" sz="1600" dirty="0"/>
                  <a:t>Therefore, one has: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1600" spc="-30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𝒩</m:t>
                      </m:r>
                      <m:sSub>
                        <m:sSubPr>
                          <m:ctrlPr>
                            <a:rPr lang="en-CA" sz="1600" i="1" spc="-15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1600" spc="-15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𝒞</m:t>
                          </m:r>
                        </m:e>
                        <m:sub>
                          <m:sSub>
                            <m:sSubPr>
                              <m:ctrlPr>
                                <a:rPr lang="en-CA" sz="1600" i="1" spc="-15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CA" sz="1600" spc="-15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O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CA" sz="1600" spc="-15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</m:sub>
                          </m:sSub>
                          <m:r>
                            <a:rPr lang="en-CA" sz="1600" i="1" spc="-15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∪</m:t>
                          </m:r>
                          <m:sSub>
                            <m:sSubPr>
                              <m:ctrlPr>
                                <a:rPr lang="en-CA" sz="1600" i="1" spc="-15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sz="1600" i="1" spc="-15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</m:e>
                            <m:sub>
                              <m:r>
                                <a:rPr lang="en-CA" sz="1600" i="1" spc="-15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sub>
                          </m:sSub>
                        </m:sub>
                      </m:sSub>
                      <m:r>
                        <a:rPr lang="en-CA" sz="1600" b="0" i="1" spc="-15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CA" sz="1600" spc="-3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𝒩</m:t>
                      </m:r>
                      <m:sSub>
                        <m:sSubPr>
                          <m:ctrlPr>
                            <a:rPr lang="en-CA" sz="1600" i="1" spc="-15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1600" spc="-15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𝒞</m:t>
                          </m:r>
                        </m:e>
                        <m:sub>
                          <m:sSub>
                            <m:sSubPr>
                              <m:ctrlPr>
                                <a:rPr lang="en-CA" sz="1600" i="1" spc="-15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CA" sz="1600" spc="-15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O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CA" sz="1600" spc="-15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</m:sub>
                          </m:sSub>
                        </m:sub>
                      </m:sSub>
                      <m:r>
                        <a:rPr lang="en-CA" sz="1600" b="0" i="1" spc="-15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CA" sz="1600" spc="-3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𝒩</m:t>
                      </m:r>
                      <m:sSub>
                        <m:sSubPr>
                          <m:ctrlPr>
                            <a:rPr lang="en-CA" sz="1600" i="1" spc="-15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1600" spc="-15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𝒞</m:t>
                          </m:r>
                        </m:e>
                        <m:sub>
                          <m:sSub>
                            <m:sSubPr>
                              <m:ctrlPr>
                                <a:rPr lang="en-CA" sz="1600" i="1" spc="-15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CA" sz="1600" spc="-15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O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CA" sz="1600" b="0" i="0" spc="-15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M</m:t>
                              </m:r>
                            </m:sub>
                          </m:sSub>
                        </m:sub>
                      </m:sSub>
                      <m:r>
                        <a:rPr lang="en-CA" sz="1600" b="0" i="1" spc="-15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CA" sz="1600" spc="-3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𝒩</m:t>
                      </m:r>
                      <m:sSub>
                        <m:sSubPr>
                          <m:ctrlPr>
                            <a:rPr lang="en-CA" sz="1600" i="1" spc="-15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1600" spc="-15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𝒞</m:t>
                          </m:r>
                        </m:e>
                        <m:sub>
                          <m:sSub>
                            <m:sSubPr>
                              <m:ctrlPr>
                                <a:rPr lang="en-CA" sz="1600" i="1" spc="-15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CA" sz="1600" spc="-15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O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CA" sz="1600" b="0" i="0" spc="-15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triv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US" sz="1600" dirty="0"/>
              </a:p>
              <a:p>
                <a:endParaRPr lang="en-US" sz="16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600" dirty="0"/>
                  <a:t>All </a:t>
                </a:r>
                <a:r>
                  <a:rPr lang="en-US" sz="1600" dirty="0" err="1"/>
                  <a:t>noncontextual</a:t>
                </a:r>
                <a:r>
                  <a:rPr lang="en-US" sz="1600" dirty="0"/>
                  <a:t> inequalities are Bell inequalities (CHSH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inequalities</a:t>
                </a:r>
                <a:r>
                  <a:rPr lang="en-US" sz="1600" dirty="0"/>
                  <a:t>), </a:t>
                </a:r>
              </a:p>
              <a:p>
                <a:endParaRPr lang="en-US" sz="16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600" dirty="0"/>
                  <a:t>It can only certify entanglement in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CA" sz="16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CA" sz="1600" b="0" i="1" smtClean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CA" sz="1600" b="0" i="0" smtClean="0">
                            <a:latin typeface="Cambria Math" panose="02040503050406030204" pitchFamily="18" charset="0"/>
                          </a:rPr>
                          <m:t>Iso</m:t>
                        </m:r>
                      </m:sub>
                      <m:sup>
                        <m:r>
                          <a:rPr lang="en-CA" sz="16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</m:sSubSup>
                  </m:oMath>
                </a14:m>
                <a:r>
                  <a:rPr lang="en-US" sz="1600" dirty="0"/>
                  <a:t> for </a:t>
                </a:r>
                <a14:m>
                  <m:oMath xmlns:m="http://schemas.openxmlformats.org/officeDocument/2006/math">
                    <m:r>
                      <a:rPr lang="en-CA" sz="1600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CA" sz="1600" b="0" i="1" smtClean="0">
                        <a:latin typeface="Cambria Math" panose="02040503050406030204" pitchFamily="18" charset="0"/>
                      </a:rPr>
                      <m:t>≥</m:t>
                    </m:r>
                    <m:f>
                      <m:fPr>
                        <m:ctrlPr>
                          <a:rPr lang="en-CA" sz="1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CA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CA" sz="1600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CA" sz="1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endParaRPr lang="en-US" sz="1600" dirty="0"/>
              </a:p>
            </p:txBody>
          </p:sp>
        </mc:Choice>
        <mc:Fallback xmlns=""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43E0135F-66A8-B5C8-1C6E-295119813E9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08888" y="2255077"/>
                <a:ext cx="8653252" cy="3210058"/>
              </a:xfrm>
              <a:prstGeom prst="rect">
                <a:avLst/>
              </a:prstGeom>
              <a:blipFill>
                <a:blip r:embed="rId14"/>
                <a:stretch>
                  <a:fillRect l="-292" b="-781"/>
                </a:stretch>
              </a:blipFill>
              <a:ln w="25400">
                <a:solidFill>
                  <a:srgbClr val="0070C0">
                    <a:alpha val="98000"/>
                  </a:srgb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4" name="Picture 73">
            <a:extLst>
              <a:ext uri="{FF2B5EF4-FFF2-40B4-BE49-F238E27FC236}">
                <a16:creationId xmlns:a16="http://schemas.microsoft.com/office/drawing/2014/main" id="{5FEB23D4-27D8-BA7C-D458-79490E2B40F6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095923" y="670000"/>
            <a:ext cx="3382162" cy="1407911"/>
          </a:xfrm>
          <a:prstGeom prst="rect">
            <a:avLst/>
          </a:prstGeom>
        </p:spPr>
      </p:pic>
      <p:cxnSp>
        <p:nvCxnSpPr>
          <p:cNvPr id="136" name="Straight Connector 135">
            <a:extLst>
              <a:ext uri="{FF2B5EF4-FFF2-40B4-BE49-F238E27FC236}">
                <a16:creationId xmlns:a16="http://schemas.microsoft.com/office/drawing/2014/main" id="{B5F8D12D-C448-6A39-16A5-94456356E2ED}"/>
              </a:ext>
            </a:extLst>
          </p:cNvPr>
          <p:cNvCxnSpPr>
            <a:cxnSpLocks/>
          </p:cNvCxnSpPr>
          <p:nvPr/>
        </p:nvCxnSpPr>
        <p:spPr>
          <a:xfrm>
            <a:off x="954434" y="3298872"/>
            <a:ext cx="0" cy="160276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37" name="TextBox 136">
                <a:extLst>
                  <a:ext uri="{FF2B5EF4-FFF2-40B4-BE49-F238E27FC236}">
                    <a16:creationId xmlns:a16="http://schemas.microsoft.com/office/drawing/2014/main" id="{D5F5747F-A815-02A0-808E-8846B0E54E43}"/>
                  </a:ext>
                </a:extLst>
              </p:cNvPr>
              <p:cNvSpPr txBox="1"/>
              <p:nvPr/>
            </p:nvSpPr>
            <p:spPr>
              <a:xfrm>
                <a:off x="907440" y="3249065"/>
                <a:ext cx="204800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altLang="zh-CN" sz="12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sz="16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mc:Choice>
        <mc:Fallback>
          <p:sp>
            <p:nvSpPr>
              <p:cNvPr id="137" name="TextBox 136">
                <a:extLst>
                  <a:ext uri="{FF2B5EF4-FFF2-40B4-BE49-F238E27FC236}">
                    <a16:creationId xmlns:a16="http://schemas.microsoft.com/office/drawing/2014/main" id="{D5F5747F-A815-02A0-808E-8846B0E54E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7440" y="3249065"/>
                <a:ext cx="204800" cy="276999"/>
              </a:xfrm>
              <a:prstGeom prst="rect">
                <a:avLst/>
              </a:prstGeom>
              <a:blipFill>
                <a:blip r:embed="rId16"/>
                <a:stretch>
                  <a:fillRect r="-17647" b="-4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8" name="Straight Connector 137">
            <a:extLst>
              <a:ext uri="{FF2B5EF4-FFF2-40B4-BE49-F238E27FC236}">
                <a16:creationId xmlns:a16="http://schemas.microsoft.com/office/drawing/2014/main" id="{51FE00DB-9451-EF9B-91F8-3BD52A3416EC}"/>
              </a:ext>
            </a:extLst>
          </p:cNvPr>
          <p:cNvCxnSpPr>
            <a:cxnSpLocks/>
          </p:cNvCxnSpPr>
          <p:nvPr/>
        </p:nvCxnSpPr>
        <p:spPr>
          <a:xfrm>
            <a:off x="344044" y="3297233"/>
            <a:ext cx="0" cy="160276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39" name="TextBox 138">
                <a:extLst>
                  <a:ext uri="{FF2B5EF4-FFF2-40B4-BE49-F238E27FC236}">
                    <a16:creationId xmlns:a16="http://schemas.microsoft.com/office/drawing/2014/main" id="{3F95925B-80C2-2463-3E82-34B046DA375D}"/>
                  </a:ext>
                </a:extLst>
              </p:cNvPr>
              <p:cNvSpPr txBox="1"/>
              <p:nvPr/>
            </p:nvSpPr>
            <p:spPr>
              <a:xfrm>
                <a:off x="297050" y="3247426"/>
                <a:ext cx="204800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altLang="zh-CN" sz="12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16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mc:Choice>
        <mc:Fallback>
          <p:sp>
            <p:nvSpPr>
              <p:cNvPr id="139" name="TextBox 138">
                <a:extLst>
                  <a:ext uri="{FF2B5EF4-FFF2-40B4-BE49-F238E27FC236}">
                    <a16:creationId xmlns:a16="http://schemas.microsoft.com/office/drawing/2014/main" id="{3F95925B-80C2-2463-3E82-34B046DA37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7050" y="3247426"/>
                <a:ext cx="204800" cy="276999"/>
              </a:xfrm>
              <a:prstGeom prst="rect">
                <a:avLst/>
              </a:prstGeom>
              <a:blipFill>
                <a:blip r:embed="rId17"/>
                <a:stretch>
                  <a:fillRect r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0" name="TextBox 139">
                <a:extLst>
                  <a:ext uri="{FF2B5EF4-FFF2-40B4-BE49-F238E27FC236}">
                    <a16:creationId xmlns:a16="http://schemas.microsoft.com/office/drawing/2014/main" id="{E1F317C4-D9F9-8A20-A622-2A9AB45CC764}"/>
                  </a:ext>
                </a:extLst>
              </p:cNvPr>
              <p:cNvSpPr txBox="1"/>
              <p:nvPr/>
            </p:nvSpPr>
            <p:spPr>
              <a:xfrm>
                <a:off x="221680" y="2786118"/>
                <a:ext cx="246689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12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12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16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mc:Choice>
        <mc:Fallback>
          <p:sp>
            <p:nvSpPr>
              <p:cNvPr id="140" name="TextBox 139">
                <a:extLst>
                  <a:ext uri="{FF2B5EF4-FFF2-40B4-BE49-F238E27FC236}">
                    <a16:creationId xmlns:a16="http://schemas.microsoft.com/office/drawing/2014/main" id="{E1F317C4-D9F9-8A20-A622-2A9AB45CC7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1680" y="2786118"/>
                <a:ext cx="246689" cy="276999"/>
              </a:xfrm>
              <a:prstGeom prst="rect">
                <a:avLst/>
              </a:prstGeom>
              <a:blipFill>
                <a:blip r:embed="rId18"/>
                <a:stretch>
                  <a:fillRect r="-20000" b="-90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41" name="Group 140">
            <a:extLst>
              <a:ext uri="{FF2B5EF4-FFF2-40B4-BE49-F238E27FC236}">
                <a16:creationId xmlns:a16="http://schemas.microsoft.com/office/drawing/2014/main" id="{C5395F5E-2D72-4EE9-EF4A-BCBFC7C68A18}"/>
              </a:ext>
            </a:extLst>
          </p:cNvPr>
          <p:cNvGrpSpPr/>
          <p:nvPr/>
        </p:nvGrpSpPr>
        <p:grpSpPr>
          <a:xfrm>
            <a:off x="849180" y="3307538"/>
            <a:ext cx="45719" cy="210912"/>
            <a:chOff x="6548130" y="2237014"/>
            <a:chExt cx="49658" cy="440872"/>
          </a:xfrm>
        </p:grpSpPr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D07AA5CC-F0C4-E42A-2964-BCC8586DDB20}"/>
                </a:ext>
              </a:extLst>
            </p:cNvPr>
            <p:cNvCxnSpPr>
              <a:cxnSpLocks/>
            </p:cNvCxnSpPr>
            <p:nvPr/>
          </p:nvCxnSpPr>
          <p:spPr>
            <a:xfrm>
              <a:off x="6548130" y="2237014"/>
              <a:ext cx="0" cy="440872"/>
            </a:xfrm>
            <a:prstGeom prst="line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09D4FBF8-64D4-44CC-5683-60C73ED31980}"/>
                </a:ext>
              </a:extLst>
            </p:cNvPr>
            <p:cNvCxnSpPr>
              <a:cxnSpLocks/>
            </p:cNvCxnSpPr>
            <p:nvPr/>
          </p:nvCxnSpPr>
          <p:spPr>
            <a:xfrm>
              <a:off x="6597788" y="2237014"/>
              <a:ext cx="0" cy="440872"/>
            </a:xfrm>
            <a:prstGeom prst="line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cxnSp>
      </p:grpSp>
      <p:sp>
        <p:nvSpPr>
          <p:cNvPr id="144" name="Flowchart: Delay 9">
            <a:extLst>
              <a:ext uri="{FF2B5EF4-FFF2-40B4-BE49-F238E27FC236}">
                <a16:creationId xmlns:a16="http://schemas.microsoft.com/office/drawing/2014/main" id="{ECDB5168-6A97-2502-B472-E2BE7BB22E63}"/>
              </a:ext>
            </a:extLst>
          </p:cNvPr>
          <p:cNvSpPr/>
          <p:nvPr/>
        </p:nvSpPr>
        <p:spPr>
          <a:xfrm rot="16200000">
            <a:off x="724756" y="2968745"/>
            <a:ext cx="309789" cy="367797"/>
          </a:xfrm>
          <a:prstGeom prst="flowChartDelay">
            <a:avLst/>
          </a:prstGeom>
          <a:solidFill>
            <a:srgbClr val="FFC000">
              <a:lumMod val="40000"/>
              <a:lumOff val="60000"/>
            </a:srgbClr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eaVert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5" name="TextBox 144">
                <a:extLst>
                  <a:ext uri="{FF2B5EF4-FFF2-40B4-BE49-F238E27FC236}">
                    <a16:creationId xmlns:a16="http://schemas.microsoft.com/office/drawing/2014/main" id="{0343F0ED-C0D8-D683-DD6D-14F64CE415BA}"/>
                  </a:ext>
                </a:extLst>
              </p:cNvPr>
              <p:cNvSpPr txBox="1"/>
              <p:nvPr/>
            </p:nvSpPr>
            <p:spPr>
              <a:xfrm>
                <a:off x="854672" y="2786118"/>
                <a:ext cx="246689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12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sz="12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16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mc:Choice>
        <mc:Fallback>
          <p:sp>
            <p:nvSpPr>
              <p:cNvPr id="145" name="TextBox 144">
                <a:extLst>
                  <a:ext uri="{FF2B5EF4-FFF2-40B4-BE49-F238E27FC236}">
                    <a16:creationId xmlns:a16="http://schemas.microsoft.com/office/drawing/2014/main" id="{0343F0ED-C0D8-D683-DD6D-14F64CE415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4672" y="2786118"/>
                <a:ext cx="246689" cy="276999"/>
              </a:xfrm>
              <a:prstGeom prst="rect">
                <a:avLst/>
              </a:prstGeom>
              <a:blipFill>
                <a:blip r:embed="rId19"/>
                <a:stretch>
                  <a:fillRect r="-20000" b="-90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46" name="Group 145">
            <a:extLst>
              <a:ext uri="{FF2B5EF4-FFF2-40B4-BE49-F238E27FC236}">
                <a16:creationId xmlns:a16="http://schemas.microsoft.com/office/drawing/2014/main" id="{B7E2E22C-4C1D-7FFC-104F-FFBBC4EC85AA}"/>
              </a:ext>
            </a:extLst>
          </p:cNvPr>
          <p:cNvGrpSpPr/>
          <p:nvPr/>
        </p:nvGrpSpPr>
        <p:grpSpPr>
          <a:xfrm>
            <a:off x="233958" y="3307538"/>
            <a:ext cx="45719" cy="210912"/>
            <a:chOff x="6548130" y="2237014"/>
            <a:chExt cx="49658" cy="440872"/>
          </a:xfrm>
        </p:grpSpPr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7600CC8F-7636-98F2-3704-EF916C746DFD}"/>
                </a:ext>
              </a:extLst>
            </p:cNvPr>
            <p:cNvCxnSpPr>
              <a:cxnSpLocks/>
            </p:cNvCxnSpPr>
            <p:nvPr/>
          </p:nvCxnSpPr>
          <p:spPr>
            <a:xfrm>
              <a:off x="6548130" y="2237014"/>
              <a:ext cx="0" cy="440872"/>
            </a:xfrm>
            <a:prstGeom prst="line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cxnSp>
        <p:cxnSp>
          <p:nvCxnSpPr>
            <p:cNvPr id="148" name="Straight Connector 147">
              <a:extLst>
                <a:ext uri="{FF2B5EF4-FFF2-40B4-BE49-F238E27FC236}">
                  <a16:creationId xmlns:a16="http://schemas.microsoft.com/office/drawing/2014/main" id="{9B3A5E68-789A-A61A-F3AD-6C66CF04A4DA}"/>
                </a:ext>
              </a:extLst>
            </p:cNvPr>
            <p:cNvCxnSpPr>
              <a:cxnSpLocks/>
            </p:cNvCxnSpPr>
            <p:nvPr/>
          </p:nvCxnSpPr>
          <p:spPr>
            <a:xfrm>
              <a:off x="6597788" y="2237014"/>
              <a:ext cx="0" cy="440872"/>
            </a:xfrm>
            <a:prstGeom prst="line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cxnSp>
      </p:grpSp>
      <p:sp>
        <p:nvSpPr>
          <p:cNvPr id="149" name="Flowchart: Delay 17">
            <a:extLst>
              <a:ext uri="{FF2B5EF4-FFF2-40B4-BE49-F238E27FC236}">
                <a16:creationId xmlns:a16="http://schemas.microsoft.com/office/drawing/2014/main" id="{18C9FAA2-DA8C-3F7D-53F9-17CCD9BEB22C}"/>
              </a:ext>
            </a:extLst>
          </p:cNvPr>
          <p:cNvSpPr/>
          <p:nvPr/>
        </p:nvSpPr>
        <p:spPr>
          <a:xfrm rot="16200000">
            <a:off x="98095" y="2968745"/>
            <a:ext cx="309789" cy="367797"/>
          </a:xfrm>
          <a:prstGeom prst="flowChartDelay">
            <a:avLst/>
          </a:prstGeom>
          <a:solidFill>
            <a:srgbClr val="FFC000">
              <a:lumMod val="40000"/>
              <a:lumOff val="60000"/>
            </a:srgbClr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eaVert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0" dirty="0">
                <a:solidFill>
                  <a:prstClr val="black"/>
                </a:solidFill>
                <a:latin typeface="Calibri" panose="020F0502020204030204"/>
              </a:rPr>
              <a:t>N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50" name="Straight Connector 149">
            <a:extLst>
              <a:ext uri="{FF2B5EF4-FFF2-40B4-BE49-F238E27FC236}">
                <a16:creationId xmlns:a16="http://schemas.microsoft.com/office/drawing/2014/main" id="{708366E3-3BD5-8749-EDB9-20693197F4FF}"/>
              </a:ext>
            </a:extLst>
          </p:cNvPr>
          <p:cNvCxnSpPr>
            <a:cxnSpLocks/>
          </p:cNvCxnSpPr>
          <p:nvPr/>
        </p:nvCxnSpPr>
        <p:spPr>
          <a:xfrm>
            <a:off x="252772" y="2883590"/>
            <a:ext cx="0" cy="114159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p:cxnSp>
        <p:nvCxnSpPr>
          <p:cNvPr id="151" name="Straight Connector 150">
            <a:extLst>
              <a:ext uri="{FF2B5EF4-FFF2-40B4-BE49-F238E27FC236}">
                <a16:creationId xmlns:a16="http://schemas.microsoft.com/office/drawing/2014/main" id="{B8051481-3245-CBB9-1DED-1B11CAE82231}"/>
              </a:ext>
            </a:extLst>
          </p:cNvPr>
          <p:cNvCxnSpPr>
            <a:cxnSpLocks/>
          </p:cNvCxnSpPr>
          <p:nvPr/>
        </p:nvCxnSpPr>
        <p:spPr>
          <a:xfrm>
            <a:off x="879650" y="2883590"/>
            <a:ext cx="0" cy="114159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52" name="Rectangle: Rounded Corners 10">
                <a:extLst>
                  <a:ext uri="{FF2B5EF4-FFF2-40B4-BE49-F238E27FC236}">
                    <a16:creationId xmlns:a16="http://schemas.microsoft.com/office/drawing/2014/main" id="{5E2523DB-FB7A-9DE5-C270-DBC0A1382751}"/>
                  </a:ext>
                </a:extLst>
              </p:cNvPr>
              <p:cNvSpPr/>
              <p:nvPr/>
            </p:nvSpPr>
            <p:spPr>
              <a:xfrm>
                <a:off x="69091" y="3524425"/>
                <a:ext cx="994458" cy="406232"/>
              </a:xfrm>
              <a:prstGeom prst="roundRect">
                <a:avLst/>
              </a:prstGeom>
              <a:solidFill>
                <a:srgbClr val="FFC000">
                  <a:lumMod val="40000"/>
                  <a:lumOff val="60000"/>
                </a:srgbClr>
              </a:solidFill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CA" sz="18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𝜌</m:t>
                      </m:r>
                    </m:oMath>
                  </m:oMathPara>
                </a14:m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>
          <p:sp>
            <p:nvSpPr>
              <p:cNvPr id="152" name="Rectangle: Rounded Corners 10">
                <a:extLst>
                  <a:ext uri="{FF2B5EF4-FFF2-40B4-BE49-F238E27FC236}">
                    <a16:creationId xmlns:a16="http://schemas.microsoft.com/office/drawing/2014/main" id="{5E2523DB-FB7A-9DE5-C270-DBC0A138275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091" y="3524425"/>
                <a:ext cx="994458" cy="406232"/>
              </a:xfrm>
              <a:prstGeom prst="roundRect">
                <a:avLst/>
              </a:prstGeom>
              <a:blipFill>
                <a:blip r:embed="rId20"/>
                <a:stretch>
                  <a:fillRect/>
                </a:stretch>
              </a:blipFill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3" name="TextBox 152">
            <a:extLst>
              <a:ext uri="{FF2B5EF4-FFF2-40B4-BE49-F238E27FC236}">
                <a16:creationId xmlns:a16="http://schemas.microsoft.com/office/drawing/2014/main" id="{7D473BAF-D627-257D-D5EB-CEBFBD76C853}"/>
              </a:ext>
            </a:extLst>
          </p:cNvPr>
          <p:cNvSpPr txBox="1"/>
          <p:nvPr/>
        </p:nvSpPr>
        <p:spPr>
          <a:xfrm>
            <a:off x="1983999" y="4088835"/>
            <a:ext cx="141578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1200" dirty="0">
                <a:solidFill>
                  <a:prstClr val="black"/>
                </a:solidFill>
                <a:latin typeface="Calibri" panose="020F0502020204030204"/>
              </a:rPr>
              <a:t>Ontological model</a:t>
            </a:r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6D5D9A3A-2875-48F1-3C94-BC262E02C621}"/>
              </a:ext>
            </a:extLst>
          </p:cNvPr>
          <p:cNvSpPr txBox="1"/>
          <p:nvPr/>
        </p:nvSpPr>
        <p:spPr>
          <a:xfrm>
            <a:off x="0" y="4075541"/>
            <a:ext cx="141578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1200" dirty="0">
                <a:solidFill>
                  <a:prstClr val="black"/>
                </a:solidFill>
                <a:latin typeface="Calibri" panose="020F0502020204030204"/>
              </a:rPr>
              <a:t>Quantum circuit</a:t>
            </a:r>
          </a:p>
        </p:txBody>
      </p:sp>
      <p:sp>
        <p:nvSpPr>
          <p:cNvPr id="155" name="Arrow: Right 117">
            <a:extLst>
              <a:ext uri="{FF2B5EF4-FFF2-40B4-BE49-F238E27FC236}">
                <a16:creationId xmlns:a16="http://schemas.microsoft.com/office/drawing/2014/main" id="{2802774C-B748-46AF-3C59-17DC928D6753}"/>
              </a:ext>
            </a:extLst>
          </p:cNvPr>
          <p:cNvSpPr/>
          <p:nvPr/>
        </p:nvSpPr>
        <p:spPr>
          <a:xfrm>
            <a:off x="1389154" y="3320086"/>
            <a:ext cx="394729" cy="426178"/>
          </a:xfrm>
          <a:prstGeom prst="rightArrow">
            <a:avLst/>
          </a:prstGeom>
          <a:solidFill>
            <a:srgbClr val="A5A5A5"/>
          </a:solidFill>
          <a:ln w="12700" cap="flat" cmpd="sng" algn="ctr">
            <a:solidFill>
              <a:srgbClr val="A5A5A5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D2A4CBF4-84CC-9D1D-17B1-609D599C8573}"/>
              </a:ext>
            </a:extLst>
          </p:cNvPr>
          <p:cNvSpPr txBox="1"/>
          <p:nvPr/>
        </p:nvSpPr>
        <p:spPr>
          <a:xfrm>
            <a:off x="1168888" y="2850769"/>
            <a:ext cx="9063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prstClr val="black"/>
                </a:solidFill>
                <a:latin typeface="Calibri" panose="020F0502020204030204"/>
              </a:rPr>
              <a:t>Linear</a:t>
            </a:r>
          </a:p>
          <a:p>
            <a:r>
              <a:rPr lang="en-US" sz="1200" dirty="0">
                <a:solidFill>
                  <a:prstClr val="black"/>
                </a:solidFill>
                <a:latin typeface="Calibri" panose="020F0502020204030204"/>
              </a:rPr>
              <a:t>Diag. Pres</a:t>
            </a:r>
          </a:p>
        </p:txBody>
      </p:sp>
      <p:cxnSp>
        <p:nvCxnSpPr>
          <p:cNvPr id="157" name="Straight Connector 156">
            <a:extLst>
              <a:ext uri="{FF2B5EF4-FFF2-40B4-BE49-F238E27FC236}">
                <a16:creationId xmlns:a16="http://schemas.microsoft.com/office/drawing/2014/main" id="{125E377C-99A8-C78C-85A4-6D0D064CB370}"/>
              </a:ext>
            </a:extLst>
          </p:cNvPr>
          <p:cNvCxnSpPr/>
          <p:nvPr/>
        </p:nvCxnSpPr>
        <p:spPr>
          <a:xfrm>
            <a:off x="2444128" y="3222510"/>
            <a:ext cx="0" cy="160276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58" name="TextBox 157">
                <a:extLst>
                  <a:ext uri="{FF2B5EF4-FFF2-40B4-BE49-F238E27FC236}">
                    <a16:creationId xmlns:a16="http://schemas.microsoft.com/office/drawing/2014/main" id="{8AFE53B5-E879-7D58-1F5C-42290FB3B08F}"/>
                  </a:ext>
                </a:extLst>
              </p:cNvPr>
              <p:cNvSpPr txBox="1"/>
              <p:nvPr/>
            </p:nvSpPr>
            <p:spPr>
              <a:xfrm>
                <a:off x="2422892" y="3199277"/>
                <a:ext cx="229932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altLang="zh-CN" sz="12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16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mc:Choice>
        <mc:Fallback>
          <p:sp>
            <p:nvSpPr>
              <p:cNvPr id="158" name="TextBox 157">
                <a:extLst>
                  <a:ext uri="{FF2B5EF4-FFF2-40B4-BE49-F238E27FC236}">
                    <a16:creationId xmlns:a16="http://schemas.microsoft.com/office/drawing/2014/main" id="{8AFE53B5-E879-7D58-1F5C-42290FB3B0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22892" y="3199277"/>
                <a:ext cx="229932" cy="276999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9" name="Straight Connector 158">
            <a:extLst>
              <a:ext uri="{FF2B5EF4-FFF2-40B4-BE49-F238E27FC236}">
                <a16:creationId xmlns:a16="http://schemas.microsoft.com/office/drawing/2014/main" id="{51515629-BD5C-A7E7-FA47-1FDD2A84B868}"/>
              </a:ext>
            </a:extLst>
          </p:cNvPr>
          <p:cNvCxnSpPr/>
          <p:nvPr/>
        </p:nvCxnSpPr>
        <p:spPr>
          <a:xfrm>
            <a:off x="3132205" y="3221690"/>
            <a:ext cx="0" cy="160276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60" name="TextBox 159">
                <a:extLst>
                  <a:ext uri="{FF2B5EF4-FFF2-40B4-BE49-F238E27FC236}">
                    <a16:creationId xmlns:a16="http://schemas.microsoft.com/office/drawing/2014/main" id="{2A7770CB-6F16-E3B9-FFFE-71FCC2F2F048}"/>
                  </a:ext>
                </a:extLst>
              </p:cNvPr>
              <p:cNvSpPr txBox="1"/>
              <p:nvPr/>
            </p:nvSpPr>
            <p:spPr>
              <a:xfrm>
                <a:off x="3085211" y="3171883"/>
                <a:ext cx="204800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altLang="zh-CN" sz="12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sz="16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mc:Choice>
        <mc:Fallback>
          <p:sp>
            <p:nvSpPr>
              <p:cNvPr id="160" name="TextBox 159">
                <a:extLst>
                  <a:ext uri="{FF2B5EF4-FFF2-40B4-BE49-F238E27FC236}">
                    <a16:creationId xmlns:a16="http://schemas.microsoft.com/office/drawing/2014/main" id="{2A7770CB-6F16-E3B9-FFFE-71FCC2F2F0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85211" y="3171883"/>
                <a:ext cx="204800" cy="276999"/>
              </a:xfrm>
              <a:prstGeom prst="rect">
                <a:avLst/>
              </a:prstGeom>
              <a:blipFill>
                <a:blip r:embed="rId22"/>
                <a:stretch>
                  <a:fillRect r="-11111" b="-4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1" name="Straight Connector 160">
            <a:extLst>
              <a:ext uri="{FF2B5EF4-FFF2-40B4-BE49-F238E27FC236}">
                <a16:creationId xmlns:a16="http://schemas.microsoft.com/office/drawing/2014/main" id="{A7899BD0-A341-E739-A187-898EEE753D3F}"/>
              </a:ext>
            </a:extLst>
          </p:cNvPr>
          <p:cNvCxnSpPr>
            <a:cxnSpLocks/>
            <a:stCxn id="162" idx="2"/>
          </p:cNvCxnSpPr>
          <p:nvPr/>
        </p:nvCxnSpPr>
        <p:spPr>
          <a:xfrm flipH="1">
            <a:off x="3058536" y="3228204"/>
            <a:ext cx="2476" cy="340734"/>
          </a:xfrm>
          <a:prstGeom prst="line">
            <a:avLst/>
          </a:prstGeom>
          <a:noFill/>
          <a:ln w="15875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62" name="Rectangle: Rounded Corners 40">
                <a:extLst>
                  <a:ext uri="{FF2B5EF4-FFF2-40B4-BE49-F238E27FC236}">
                    <a16:creationId xmlns:a16="http://schemas.microsoft.com/office/drawing/2014/main" id="{F50AE2CA-3111-B656-75D4-0CFF8EA2823B}"/>
                  </a:ext>
                </a:extLst>
              </p:cNvPr>
              <p:cNvSpPr/>
              <p:nvPr/>
            </p:nvSpPr>
            <p:spPr>
              <a:xfrm>
                <a:off x="2754045" y="2961279"/>
                <a:ext cx="613934" cy="266925"/>
              </a:xfrm>
              <a:prstGeom prst="roundRect">
                <a:avLst/>
              </a:prstGeom>
              <a:solidFill>
                <a:srgbClr val="70AD47">
                  <a:lumMod val="40000"/>
                  <a:lumOff val="60000"/>
                  <a:alpha val="96000"/>
                </a:srgbClr>
              </a:solidFill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1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 </m:t>
                      </m:r>
                      <m:r>
                        <a:rPr kumimoji="0" lang="en-US" sz="11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𝑝</m:t>
                      </m:r>
                      <m:r>
                        <a:rPr kumimoji="0" lang="en-US" sz="11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(</m:t>
                      </m:r>
                      <m:r>
                        <a:rPr kumimoji="0" lang="en-CA" sz="11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𝑏</m:t>
                      </m:r>
                      <m:r>
                        <a:rPr kumimoji="0" lang="en-US" sz="11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|</m:t>
                      </m:r>
                      <m:sSub>
                        <m:sSubPr>
                          <m:ctrlPr>
                            <a:rPr kumimoji="0" lang="en-US" sz="11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CA" sz="11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𝑦</m:t>
                          </m:r>
                          <m:r>
                            <a:rPr kumimoji="0" lang="en-US" sz="11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𝜆</m:t>
                          </m:r>
                        </m:e>
                        <m:sub>
                          <m:r>
                            <a:rPr kumimoji="0" lang="en-CA" sz="11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𝐵</m:t>
                          </m:r>
                        </m:sub>
                      </m:sSub>
                      <m:r>
                        <a:rPr kumimoji="0" lang="en-US" sz="11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)</m:t>
                      </m:r>
                    </m:oMath>
                  </m:oMathPara>
                </a14:m>
                <a:endPara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>
          <p:sp>
            <p:nvSpPr>
              <p:cNvPr id="162" name="Rectangle: Rounded Corners 40">
                <a:extLst>
                  <a:ext uri="{FF2B5EF4-FFF2-40B4-BE49-F238E27FC236}">
                    <a16:creationId xmlns:a16="http://schemas.microsoft.com/office/drawing/2014/main" id="{F50AE2CA-3111-B656-75D4-0CFF8EA2823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4045" y="2961279"/>
                <a:ext cx="613934" cy="266925"/>
              </a:xfrm>
              <a:prstGeom prst="roundRect">
                <a:avLst/>
              </a:prstGeom>
              <a:blipFill>
                <a:blip r:embed="rId23"/>
                <a:stretch>
                  <a:fillRect/>
                </a:stretch>
              </a:blipFill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3" name="Rectangle: Rounded Corners 33">
                <a:extLst>
                  <a:ext uri="{FF2B5EF4-FFF2-40B4-BE49-F238E27FC236}">
                    <a16:creationId xmlns:a16="http://schemas.microsoft.com/office/drawing/2014/main" id="{32AB4B6C-7A0D-B65A-4C1A-196A10762176}"/>
                  </a:ext>
                </a:extLst>
              </p:cNvPr>
              <p:cNvSpPr/>
              <p:nvPr/>
            </p:nvSpPr>
            <p:spPr>
              <a:xfrm>
                <a:off x="2113164" y="3561533"/>
                <a:ext cx="1170006" cy="398885"/>
              </a:xfrm>
              <a:prstGeom prst="roundRect">
                <a:avLst/>
              </a:prstGeom>
              <a:solidFill>
                <a:srgbClr val="70AD47">
                  <a:lumMod val="40000"/>
                  <a:lumOff val="60000"/>
                  <a:alpha val="96000"/>
                </a:srgbClr>
              </a:solidFill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1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𝑝</m:t>
                      </m:r>
                      <m:r>
                        <a:rPr kumimoji="0" lang="en-US" sz="11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(</m:t>
                      </m:r>
                      <m:sSub>
                        <m:sSubPr>
                          <m:ctrlPr>
                            <a:rPr kumimoji="0" lang="en-US" sz="11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11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𝜆</m:t>
                          </m:r>
                        </m:e>
                        <m:sub>
                          <m:r>
                            <a:rPr kumimoji="0" lang="en-CA" sz="11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𝐴</m:t>
                          </m:r>
                        </m:sub>
                      </m:sSub>
                      <m:sSub>
                        <m:sSubPr>
                          <m:ctrlPr>
                            <a:rPr kumimoji="0" lang="en-US" sz="11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11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𝜆</m:t>
                          </m:r>
                        </m:e>
                        <m:sub>
                          <m:r>
                            <a:rPr kumimoji="0" lang="en-CA" sz="11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𝐵</m:t>
                          </m:r>
                        </m:sub>
                      </m:sSub>
                      <m:r>
                        <a:rPr kumimoji="0" lang="en-US" sz="11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)</m:t>
                      </m:r>
                    </m:oMath>
                  </m:oMathPara>
                </a14:m>
                <a:endPara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>
          <p:sp>
            <p:nvSpPr>
              <p:cNvPr id="163" name="Rectangle: Rounded Corners 33">
                <a:extLst>
                  <a:ext uri="{FF2B5EF4-FFF2-40B4-BE49-F238E27FC236}">
                    <a16:creationId xmlns:a16="http://schemas.microsoft.com/office/drawing/2014/main" id="{32AB4B6C-7A0D-B65A-4C1A-196A1076217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13164" y="3561533"/>
                <a:ext cx="1170006" cy="398885"/>
              </a:xfrm>
              <a:prstGeom prst="roundRect">
                <a:avLst/>
              </a:prstGeom>
              <a:blipFill>
                <a:blip r:embed="rId24"/>
                <a:stretch>
                  <a:fillRect/>
                </a:stretch>
              </a:blipFill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4" name="Straight Connector 163">
            <a:extLst>
              <a:ext uri="{FF2B5EF4-FFF2-40B4-BE49-F238E27FC236}">
                <a16:creationId xmlns:a16="http://schemas.microsoft.com/office/drawing/2014/main" id="{E273A23C-4E9A-DEDE-5D2B-43F37F28C64C}"/>
              </a:ext>
            </a:extLst>
          </p:cNvPr>
          <p:cNvCxnSpPr>
            <a:cxnSpLocks/>
            <a:stCxn id="165" idx="2"/>
          </p:cNvCxnSpPr>
          <p:nvPr/>
        </p:nvCxnSpPr>
        <p:spPr>
          <a:xfrm flipH="1">
            <a:off x="2356057" y="3227252"/>
            <a:ext cx="2476" cy="340734"/>
          </a:xfrm>
          <a:prstGeom prst="line">
            <a:avLst/>
          </a:prstGeom>
          <a:noFill/>
          <a:ln w="15875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65" name="Rectangle: Rounded Corners 82">
                <a:extLst>
                  <a:ext uri="{FF2B5EF4-FFF2-40B4-BE49-F238E27FC236}">
                    <a16:creationId xmlns:a16="http://schemas.microsoft.com/office/drawing/2014/main" id="{8AC51CB4-2536-9370-78D7-47D5299C67D8}"/>
                  </a:ext>
                </a:extLst>
              </p:cNvPr>
              <p:cNvSpPr/>
              <p:nvPr/>
            </p:nvSpPr>
            <p:spPr>
              <a:xfrm>
                <a:off x="2051566" y="2960327"/>
                <a:ext cx="613934" cy="266925"/>
              </a:xfrm>
              <a:prstGeom prst="roundRect">
                <a:avLst/>
              </a:prstGeom>
              <a:solidFill>
                <a:srgbClr val="70AD47">
                  <a:lumMod val="40000"/>
                  <a:lumOff val="60000"/>
                  <a:alpha val="96000"/>
                </a:srgbClr>
              </a:solidFill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1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 </m:t>
                      </m:r>
                      <m:r>
                        <a:rPr kumimoji="0" lang="en-US" sz="11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𝑝</m:t>
                      </m:r>
                      <m:r>
                        <a:rPr kumimoji="0" lang="en-US" sz="11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(</m:t>
                      </m:r>
                      <m:r>
                        <a:rPr kumimoji="0" lang="en-CA" sz="11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𝑎</m:t>
                      </m:r>
                      <m:r>
                        <a:rPr kumimoji="0" lang="en-US" sz="11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|</m:t>
                      </m:r>
                      <m:sSub>
                        <m:sSubPr>
                          <m:ctrlPr>
                            <a:rPr kumimoji="0" lang="en-US" sz="11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CA" sz="11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𝑥</m:t>
                          </m:r>
                          <m:r>
                            <a:rPr kumimoji="0" lang="en-US" sz="11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𝜆</m:t>
                          </m:r>
                        </m:e>
                        <m:sub>
                          <m:r>
                            <a:rPr kumimoji="0" lang="en-CA" sz="11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𝐴</m:t>
                          </m:r>
                        </m:sub>
                      </m:sSub>
                      <m:r>
                        <a:rPr kumimoji="0" lang="en-US" sz="11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)</m:t>
                      </m:r>
                    </m:oMath>
                  </m:oMathPara>
                </a14:m>
                <a:endPara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>
          <p:sp>
            <p:nvSpPr>
              <p:cNvPr id="165" name="Rectangle: Rounded Corners 82">
                <a:extLst>
                  <a:ext uri="{FF2B5EF4-FFF2-40B4-BE49-F238E27FC236}">
                    <a16:creationId xmlns:a16="http://schemas.microsoft.com/office/drawing/2014/main" id="{8AC51CB4-2536-9370-78D7-47D5299C67D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1566" y="2960327"/>
                <a:ext cx="613934" cy="266925"/>
              </a:xfrm>
              <a:prstGeom prst="roundRect">
                <a:avLst/>
              </a:prstGeom>
              <a:blipFill>
                <a:blip r:embed="rId25"/>
                <a:stretch>
                  <a:fillRect/>
                </a:stretch>
              </a:blipFill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6" name="TextBox 165">
                <a:extLst>
                  <a:ext uri="{FF2B5EF4-FFF2-40B4-BE49-F238E27FC236}">
                    <a16:creationId xmlns:a16="http://schemas.microsoft.com/office/drawing/2014/main" id="{456509AB-AB8F-9441-5FFA-403731F7E154}"/>
                  </a:ext>
                </a:extLst>
              </p:cNvPr>
              <p:cNvSpPr txBox="1"/>
              <p:nvPr/>
            </p:nvSpPr>
            <p:spPr>
              <a:xfrm>
                <a:off x="2321764" y="2754405"/>
                <a:ext cx="246689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12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12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16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mc:Choice>
        <mc:Fallback>
          <p:sp>
            <p:nvSpPr>
              <p:cNvPr id="166" name="TextBox 165">
                <a:extLst>
                  <a:ext uri="{FF2B5EF4-FFF2-40B4-BE49-F238E27FC236}">
                    <a16:creationId xmlns:a16="http://schemas.microsoft.com/office/drawing/2014/main" id="{456509AB-AB8F-9441-5FFA-403731F7E1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21764" y="2754405"/>
                <a:ext cx="246689" cy="276999"/>
              </a:xfrm>
              <a:prstGeom prst="rect">
                <a:avLst/>
              </a:prstGeom>
              <a:blipFill>
                <a:blip r:embed="rId26"/>
                <a:stretch>
                  <a:fillRect r="-14286" b="-86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7" name="Straight Connector 166">
            <a:extLst>
              <a:ext uri="{FF2B5EF4-FFF2-40B4-BE49-F238E27FC236}">
                <a16:creationId xmlns:a16="http://schemas.microsoft.com/office/drawing/2014/main" id="{C6190D18-F4D1-9D58-CB91-D8D8CF08E2B6}"/>
              </a:ext>
            </a:extLst>
          </p:cNvPr>
          <p:cNvCxnSpPr>
            <a:cxnSpLocks/>
          </p:cNvCxnSpPr>
          <p:nvPr/>
        </p:nvCxnSpPr>
        <p:spPr>
          <a:xfrm>
            <a:off x="2352856" y="2851877"/>
            <a:ext cx="0" cy="114159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68" name="TextBox 167">
                <a:extLst>
                  <a:ext uri="{FF2B5EF4-FFF2-40B4-BE49-F238E27FC236}">
                    <a16:creationId xmlns:a16="http://schemas.microsoft.com/office/drawing/2014/main" id="{2C46296D-103C-2D62-39E0-F1968B40D2F2}"/>
                  </a:ext>
                </a:extLst>
              </p:cNvPr>
              <p:cNvSpPr txBox="1"/>
              <p:nvPr/>
            </p:nvSpPr>
            <p:spPr>
              <a:xfrm>
                <a:off x="3019564" y="2751946"/>
                <a:ext cx="246689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12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sz="12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16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mc:Choice>
        <mc:Fallback>
          <p:sp>
            <p:nvSpPr>
              <p:cNvPr id="168" name="TextBox 167">
                <a:extLst>
                  <a:ext uri="{FF2B5EF4-FFF2-40B4-BE49-F238E27FC236}">
                    <a16:creationId xmlns:a16="http://schemas.microsoft.com/office/drawing/2014/main" id="{2C46296D-103C-2D62-39E0-F1968B40D2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19564" y="2751946"/>
                <a:ext cx="246689" cy="276999"/>
              </a:xfrm>
              <a:prstGeom prst="rect">
                <a:avLst/>
              </a:prstGeom>
              <a:blipFill>
                <a:blip r:embed="rId27"/>
                <a:stretch>
                  <a:fillRect r="-14286" b="-86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9" name="Straight Connector 168">
            <a:extLst>
              <a:ext uri="{FF2B5EF4-FFF2-40B4-BE49-F238E27FC236}">
                <a16:creationId xmlns:a16="http://schemas.microsoft.com/office/drawing/2014/main" id="{DDE557B3-BC12-DD53-8080-FD0EC253636F}"/>
              </a:ext>
            </a:extLst>
          </p:cNvPr>
          <p:cNvCxnSpPr>
            <a:cxnSpLocks/>
          </p:cNvCxnSpPr>
          <p:nvPr/>
        </p:nvCxnSpPr>
        <p:spPr>
          <a:xfrm>
            <a:off x="3044542" y="2849418"/>
            <a:ext cx="0" cy="114159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70" name="TextBox 169">
                <a:extLst>
                  <a:ext uri="{FF2B5EF4-FFF2-40B4-BE49-F238E27FC236}">
                    <a16:creationId xmlns:a16="http://schemas.microsoft.com/office/drawing/2014/main" id="{513EB30C-0E40-483D-F621-291421C19CCC}"/>
                  </a:ext>
                </a:extLst>
              </p:cNvPr>
              <p:cNvSpPr txBox="1"/>
              <p:nvPr/>
            </p:nvSpPr>
            <p:spPr>
              <a:xfrm>
                <a:off x="2715287" y="3263452"/>
                <a:ext cx="430123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CA" sz="12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>
          <p:sp>
            <p:nvSpPr>
              <p:cNvPr id="170" name="TextBox 169">
                <a:extLst>
                  <a:ext uri="{FF2B5EF4-FFF2-40B4-BE49-F238E27FC236}">
                    <a16:creationId xmlns:a16="http://schemas.microsoft.com/office/drawing/2014/main" id="{513EB30C-0E40-483D-F621-291421C19C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15287" y="3263452"/>
                <a:ext cx="430123" cy="276999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1" name="TextBox 170">
                <a:extLst>
                  <a:ext uri="{FF2B5EF4-FFF2-40B4-BE49-F238E27FC236}">
                    <a16:creationId xmlns:a16="http://schemas.microsoft.com/office/drawing/2014/main" id="{044E3A27-9B07-D136-CD5E-DB6E1320BA2E}"/>
                  </a:ext>
                </a:extLst>
              </p:cNvPr>
              <p:cNvSpPr txBox="1"/>
              <p:nvPr/>
            </p:nvSpPr>
            <p:spPr>
              <a:xfrm>
                <a:off x="1983999" y="3259216"/>
                <a:ext cx="430123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CA" sz="12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>
          <p:sp>
            <p:nvSpPr>
              <p:cNvPr id="171" name="TextBox 170">
                <a:extLst>
                  <a:ext uri="{FF2B5EF4-FFF2-40B4-BE49-F238E27FC236}">
                    <a16:creationId xmlns:a16="http://schemas.microsoft.com/office/drawing/2014/main" id="{044E3A27-9B07-D136-CD5E-DB6E1320BA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3999" y="3259216"/>
                <a:ext cx="430123" cy="276999"/>
              </a:xfrm>
              <a:prstGeom prst="rect">
                <a:avLst/>
              </a:prstGeom>
              <a:blipFill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962382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AB3DA2-FBAE-0435-9308-12717B7FDD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95749653-D4CB-DD09-2662-8679F95F0589}"/>
              </a:ext>
            </a:extLst>
          </p:cNvPr>
          <p:cNvSpPr/>
          <p:nvPr/>
        </p:nvSpPr>
        <p:spPr>
          <a:xfrm>
            <a:off x="0" y="5465135"/>
            <a:ext cx="4657060" cy="13928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9A3099C5-DFC6-D1C9-E821-0B3A86E2F71F}"/>
                  </a:ext>
                </a:extLst>
              </p:cNvPr>
              <p:cNvSpPr/>
              <p:nvPr/>
            </p:nvSpPr>
            <p:spPr>
              <a:xfrm>
                <a:off x="3408888" y="2096569"/>
                <a:ext cx="8653252" cy="4364327"/>
              </a:xfrm>
              <a:prstGeom prst="rect">
                <a:avLst/>
              </a:prstGeom>
              <a:ln w="25400">
                <a:solidFill>
                  <a:srgbClr val="0070C0">
                    <a:alpha val="98000"/>
                  </a:srgb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t"/>
              <a:lstStyle/>
              <a:p>
                <a:r>
                  <a:rPr lang="en-US" sz="1600" dirty="0"/>
                  <a:t>Example 2: (</a:t>
                </a:r>
                <a:r>
                  <a:rPr lang="en-US" sz="1600" dirty="0" err="1"/>
                  <a:t>Ico</a:t>
                </a:r>
                <a:r>
                  <a:rPr lang="en-US" sz="1600" dirty="0"/>
                  <a:t>, Dod) Bell scenario, where one has 6 binary-outcome measurements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CA" sz="16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CA" sz="1600" i="1"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a:rPr lang="en-CA" sz="1600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CA" sz="1600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CA" sz="1600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CA" sz="1600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  <m:sup>
                        <m:r>
                          <a:rPr lang="en-CA" sz="1600" i="1">
                            <a:latin typeface="Cambria Math" panose="02040503050406030204" pitchFamily="18" charset="0"/>
                          </a:rPr>
                          <m:t>𝐴</m:t>
                        </m:r>
                      </m:sup>
                    </m:sSubSup>
                    <m:r>
                      <a:rPr lang="en-CA" sz="1600" i="1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sz="1600" dirty="0"/>
                  <a:t> and 10 binary-outcome measurements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CA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CA" sz="16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CA" sz="1600" i="1">
                                <a:latin typeface="Cambria Math" panose="02040503050406030204" pitchFamily="18" charset="0"/>
                              </a:rPr>
                              <m:t>𝑀</m:t>
                            </m:r>
                          </m:e>
                          <m:sub>
                            <m:r>
                              <a:rPr lang="en-CA" sz="1600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en-CA" sz="1600" i="1"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CA" sz="16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  <m:sup>
                            <m:r>
                              <a:rPr lang="en-CA" sz="1600" i="1"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p>
                        </m:sSubSup>
                      </m:e>
                    </m:d>
                  </m:oMath>
                </a14:m>
                <a:r>
                  <a:rPr lang="en-US" sz="1600" dirty="0"/>
                  <a:t> on Bob, one has: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1600" i="1" spc="-15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1600" i="1" spc="-15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𝑂</m:t>
                          </m:r>
                        </m:e>
                        <m:sub>
                          <m:r>
                            <a:rPr lang="en-CA" sz="1600" i="1" spc="-15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</m:sSub>
                      <m:r>
                        <a:rPr lang="en-CA" sz="1600" i="1" spc="-15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∪</m:t>
                      </m:r>
                      <m:sSub>
                        <m:sSubPr>
                          <m:ctrlPr>
                            <a:rPr lang="en-CA" sz="1600" i="1" spc="-15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1600" i="1" spc="-15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𝑂</m:t>
                          </m:r>
                        </m:e>
                        <m:sub>
                          <m:r>
                            <a:rPr lang="en-CA" sz="1600" i="1" spc="-15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sub>
                      </m:sSub>
                      <m:r>
                        <a:rPr lang="en-CA" sz="1600" b="0" i="1" spc="-15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⊃</m:t>
                      </m:r>
                      <m:sSub>
                        <m:sSubPr>
                          <m:ctrlPr>
                            <a:rPr lang="en-CA" sz="1600" i="1" spc="-15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1600" i="1" spc="-15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𝑂</m:t>
                          </m:r>
                        </m:e>
                        <m:sub>
                          <m:r>
                            <a:rPr lang="en-CA" sz="1600" b="0" i="1" spc="-15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sub>
                      </m:sSub>
                      <m:r>
                        <a:rPr lang="en-CA" sz="1600" b="0" i="1" spc="-15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CA" sz="1600" i="1" spc="-15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1600" i="1" spc="-15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𝑂</m:t>
                          </m:r>
                        </m:e>
                        <m:sub>
                          <m:r>
                            <a:rPr lang="en-CA" sz="1600" b="0" i="1" spc="-15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</m:sSub>
                      <m:r>
                        <a:rPr lang="en-CA" sz="1600" b="0" i="1" spc="-15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⊃</m:t>
                      </m:r>
                      <m:sSub>
                        <m:sSubPr>
                          <m:ctrlPr>
                            <a:rPr lang="en-CA" sz="1600" i="1" spc="-15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CA" sz="1600" i="0" spc="-15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O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CA" sz="1600" b="0" i="0" spc="-15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triv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  <a:p>
                <a:endParaRPr lang="en-US" sz="1600" dirty="0"/>
              </a:p>
              <a:p>
                <a:r>
                  <a:rPr lang="en-US" sz="1600" dirty="0"/>
                  <a:t>Therefore, one has: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1600" spc="-30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𝒩</m:t>
                      </m:r>
                      <m:sSub>
                        <m:sSubPr>
                          <m:ctrlPr>
                            <a:rPr lang="en-CA" sz="1600" i="1" spc="-15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1600" spc="-15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𝒞</m:t>
                          </m:r>
                        </m:e>
                        <m:sub>
                          <m:sSub>
                            <m:sSubPr>
                              <m:ctrlPr>
                                <a:rPr lang="en-CA" sz="1600" i="1" spc="-15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CA" sz="1600" spc="-15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O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CA" sz="1600" spc="-15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</m:sub>
                          </m:sSub>
                          <m:r>
                            <a:rPr lang="en-CA" sz="1600" i="1" spc="-15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∪</m:t>
                          </m:r>
                          <m:sSub>
                            <m:sSubPr>
                              <m:ctrlPr>
                                <a:rPr lang="en-CA" sz="1600" i="1" spc="-15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sz="1600" i="1" spc="-15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</m:e>
                            <m:sub>
                              <m:r>
                                <a:rPr lang="en-CA" sz="1600" i="1" spc="-15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sub>
                          </m:sSub>
                        </m:sub>
                      </m:sSub>
                      <m:r>
                        <a:rPr lang="en-CA" sz="1600" b="0" i="1" spc="-15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⊂</m:t>
                      </m:r>
                      <m:r>
                        <a:rPr lang="en-CA" sz="1600" spc="-3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𝒩</m:t>
                      </m:r>
                      <m:sSub>
                        <m:sSubPr>
                          <m:ctrlPr>
                            <a:rPr lang="en-CA" sz="1600" i="1" spc="-15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1600" spc="-15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𝒞</m:t>
                          </m:r>
                        </m:e>
                        <m:sub>
                          <m:sSub>
                            <m:sSubPr>
                              <m:ctrlPr>
                                <a:rPr lang="en-CA" sz="1600" i="1" spc="-15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CA" sz="1600" spc="-15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O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CA" sz="1600" b="0" i="0" spc="-15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M</m:t>
                              </m:r>
                            </m:sub>
                          </m:sSub>
                        </m:sub>
                      </m:sSub>
                      <m:r>
                        <a:rPr lang="en-CA" sz="1600" b="0" i="1" spc="-15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CA" sz="1600" spc="-3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𝒩</m:t>
                      </m:r>
                      <m:sSub>
                        <m:sSubPr>
                          <m:ctrlPr>
                            <a:rPr lang="en-CA" sz="1600" i="1" spc="-15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1600" spc="-15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𝒞</m:t>
                          </m:r>
                        </m:e>
                        <m:sub>
                          <m:sSub>
                            <m:sSubPr>
                              <m:ctrlPr>
                                <a:rPr lang="en-CA" sz="1600" i="1" spc="-15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CA" sz="1600" spc="-15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O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CA" sz="1600" b="0" i="0" spc="-15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</m:sub>
                          </m:sSub>
                        </m:sub>
                      </m:sSub>
                      <m:r>
                        <a:rPr lang="en-CA" sz="1600" b="0" i="1" spc="-15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⊂</m:t>
                      </m:r>
                      <m:r>
                        <a:rPr lang="en-CA" sz="1600" spc="-3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𝒩</m:t>
                      </m:r>
                      <m:sSub>
                        <m:sSubPr>
                          <m:ctrlPr>
                            <a:rPr lang="en-CA" sz="1600" i="1" spc="-15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1600" spc="-15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𝒞</m:t>
                          </m:r>
                        </m:e>
                        <m:sub>
                          <m:sSub>
                            <m:sSubPr>
                              <m:ctrlPr>
                                <a:rPr lang="en-CA" sz="1600" i="1" spc="-15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CA" sz="1600" spc="-15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O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CA" sz="1600" b="0" i="0" spc="-15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triv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600" dirty="0"/>
                  <a:t>It can only certify entanglement in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CA" sz="16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CA" sz="1600" b="0" i="1" smtClean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CA" sz="1600" b="0" i="0" smtClean="0">
                            <a:latin typeface="Cambria Math" panose="02040503050406030204" pitchFamily="18" charset="0"/>
                          </a:rPr>
                          <m:t>Iso</m:t>
                        </m:r>
                      </m:sub>
                      <m:sup>
                        <m:r>
                          <a:rPr lang="en-CA" sz="16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</m:sSubSup>
                  </m:oMath>
                </a14:m>
                <a:r>
                  <a:rPr lang="en-US" sz="1600" dirty="0"/>
                  <a:t> for </a:t>
                </a:r>
                <a14:m>
                  <m:oMath xmlns:m="http://schemas.openxmlformats.org/officeDocument/2006/math">
                    <m:r>
                      <a:rPr lang="en-CA" sz="1600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CA" sz="1600" b="0" i="1" smtClean="0">
                        <a:latin typeface="Cambria Math" panose="02040503050406030204" pitchFamily="18" charset="0"/>
                      </a:rPr>
                      <m:t>≥</m:t>
                    </m:r>
                    <m:rad>
                      <m:radPr>
                        <m:degHide m:val="on"/>
                        <m:ctrlPr>
                          <a:rPr lang="en-CA" sz="1600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CA" sz="16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CA" sz="1600" b="0" i="1" smtClean="0">
                                <a:latin typeface="Cambria Math" panose="02040503050406030204" pitchFamily="18" charset="0"/>
                              </a:rPr>
                              <m:t>1+</m:t>
                            </m:r>
                            <m:sSup>
                              <m:sSupPr>
                                <m:ctrlPr>
                                  <a:rPr lang="en-CA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CA" sz="1600" b="0" i="1" smtClean="0">
                                    <a:latin typeface="Cambria Math" panose="02040503050406030204" pitchFamily="18" charset="0"/>
                                  </a:rPr>
                                  <m:t>𝜙</m:t>
                                </m:r>
                              </m:e>
                              <m:sup>
                                <m:r>
                                  <a:rPr lang="en-CA" sz="16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CA" sz="16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  <m:sSup>
                              <m:sSupPr>
                                <m:ctrlPr>
                                  <a:rPr lang="en-CA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CA" sz="1600" b="0" i="1" smtClean="0">
                                    <a:latin typeface="Cambria Math" panose="02040503050406030204" pitchFamily="18" charset="0"/>
                                  </a:rPr>
                                  <m:t>𝜙</m:t>
                                </m:r>
                              </m:e>
                              <m:sup>
                                <m:r>
                                  <a:rPr lang="en-CA" sz="1600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p>
                            </m:sSup>
                          </m:den>
                        </m:f>
                      </m:e>
                    </m:rad>
                    <m:r>
                      <a:rPr lang="en-CA" sz="1600" b="0" i="1" smtClean="0">
                        <a:latin typeface="Cambria Math" panose="02040503050406030204" pitchFamily="18" charset="0"/>
                      </a:rPr>
                      <m:t>≈0.4195,</m:t>
                    </m:r>
                  </m:oMath>
                </a14:m>
                <a:r>
                  <a:rPr lang="en-US" sz="1600" dirty="0"/>
                  <a:t> outperforming all steering inequalities (SDI test)</a:t>
                </a:r>
              </a:p>
            </p:txBody>
          </p:sp>
        </mc:Choice>
        <mc:Fallback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9A3099C5-DFC6-D1C9-E821-0B3A86E2F71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08888" y="2096569"/>
                <a:ext cx="8653252" cy="4364327"/>
              </a:xfrm>
              <a:prstGeom prst="rect">
                <a:avLst/>
              </a:prstGeom>
              <a:blipFill>
                <a:blip r:embed="rId3"/>
                <a:stretch>
                  <a:fillRect l="-292" b="-1734"/>
                </a:stretch>
              </a:blipFill>
              <a:ln w="25400">
                <a:solidFill>
                  <a:srgbClr val="0070C0">
                    <a:alpha val="98000"/>
                  </a:srgb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9" name="Picture 28">
            <a:extLst>
              <a:ext uri="{FF2B5EF4-FFF2-40B4-BE49-F238E27FC236}">
                <a16:creationId xmlns:a16="http://schemas.microsoft.com/office/drawing/2014/main" id="{6FBFF5DB-04AA-84DA-955C-130B2AD8E1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25646" y="520391"/>
            <a:ext cx="2859018" cy="1433689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08DA928A-C48F-C541-9B0B-40DC966B1FC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05200" y="3847669"/>
            <a:ext cx="4436459" cy="1833882"/>
          </a:xfrm>
          <a:prstGeom prst="rect">
            <a:avLst/>
          </a:prstGeom>
        </p:spPr>
      </p:pic>
      <p:sp>
        <p:nvSpPr>
          <p:cNvPr id="31" name="Rectangle 30">
            <a:extLst>
              <a:ext uri="{FF2B5EF4-FFF2-40B4-BE49-F238E27FC236}">
                <a16:creationId xmlns:a16="http://schemas.microsoft.com/office/drawing/2014/main" id="{12831C20-D17E-06D4-F653-C3AD8379201E}"/>
              </a:ext>
            </a:extLst>
          </p:cNvPr>
          <p:cNvSpPr/>
          <p:nvPr/>
        </p:nvSpPr>
        <p:spPr>
          <a:xfrm>
            <a:off x="9184013" y="5160377"/>
            <a:ext cx="807155" cy="38389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3620D23-86EF-DF86-6E16-2AAE809FB062}"/>
              </a:ext>
            </a:extLst>
          </p:cNvPr>
          <p:cNvSpPr txBox="1"/>
          <p:nvPr/>
        </p:nvSpPr>
        <p:spPr>
          <a:xfrm>
            <a:off x="0" y="397104"/>
            <a:ext cx="57347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</a:rPr>
              <a:t>Novel test for two-qubit isotropic states </a:t>
            </a: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F6FB0BFC-CE8C-F214-C38F-F6504419EFF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03240" y="546169"/>
            <a:ext cx="3382162" cy="1407911"/>
          </a:xfrm>
          <a:prstGeom prst="rect">
            <a:avLst/>
          </a:prstGeom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CEB97301-B0AA-4358-16A7-788709514B28}"/>
              </a:ext>
            </a:extLst>
          </p:cNvPr>
          <p:cNvSpPr/>
          <p:nvPr/>
        </p:nvSpPr>
        <p:spPr>
          <a:xfrm>
            <a:off x="5436351" y="520391"/>
            <a:ext cx="209106" cy="24287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C87B5F4-F2BC-1A59-3466-579B37D985B6}"/>
              </a:ext>
            </a:extLst>
          </p:cNvPr>
          <p:cNvCxnSpPr>
            <a:cxnSpLocks/>
          </p:cNvCxnSpPr>
          <p:nvPr/>
        </p:nvCxnSpPr>
        <p:spPr>
          <a:xfrm>
            <a:off x="954434" y="3298872"/>
            <a:ext cx="0" cy="160276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A9DC1DA7-1C4A-E94F-2BD7-4478BDD2CE4F}"/>
                  </a:ext>
                </a:extLst>
              </p:cNvPr>
              <p:cNvSpPr txBox="1"/>
              <p:nvPr/>
            </p:nvSpPr>
            <p:spPr>
              <a:xfrm>
                <a:off x="907440" y="3249065"/>
                <a:ext cx="204800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altLang="zh-CN" sz="12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sz="16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A9DC1DA7-1C4A-E94F-2BD7-4478BDD2CE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7440" y="3249065"/>
                <a:ext cx="204800" cy="276999"/>
              </a:xfrm>
              <a:prstGeom prst="rect">
                <a:avLst/>
              </a:prstGeom>
              <a:blipFill>
                <a:blip r:embed="rId7"/>
                <a:stretch>
                  <a:fillRect r="-17647" b="-4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6BBAD965-9654-11DB-9A39-0157AA87C7AB}"/>
              </a:ext>
            </a:extLst>
          </p:cNvPr>
          <p:cNvCxnSpPr>
            <a:cxnSpLocks/>
          </p:cNvCxnSpPr>
          <p:nvPr/>
        </p:nvCxnSpPr>
        <p:spPr>
          <a:xfrm>
            <a:off x="344044" y="3297233"/>
            <a:ext cx="0" cy="160276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9BC5F740-0D85-EE60-C7AF-F01E6850C925}"/>
                  </a:ext>
                </a:extLst>
              </p:cNvPr>
              <p:cNvSpPr txBox="1"/>
              <p:nvPr/>
            </p:nvSpPr>
            <p:spPr>
              <a:xfrm>
                <a:off x="297050" y="3247426"/>
                <a:ext cx="204800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altLang="zh-CN" sz="12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16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mc:Choice>
        <mc:Fallback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9BC5F740-0D85-EE60-C7AF-F01E6850C9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7050" y="3247426"/>
                <a:ext cx="204800" cy="276999"/>
              </a:xfrm>
              <a:prstGeom prst="rect">
                <a:avLst/>
              </a:prstGeom>
              <a:blipFill>
                <a:blip r:embed="rId8"/>
                <a:stretch>
                  <a:fillRect r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1CD25144-1826-5C8A-CCBF-D1A6BEF05666}"/>
                  </a:ext>
                </a:extLst>
              </p:cNvPr>
              <p:cNvSpPr txBox="1"/>
              <p:nvPr/>
            </p:nvSpPr>
            <p:spPr>
              <a:xfrm>
                <a:off x="221680" y="2786118"/>
                <a:ext cx="246689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12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12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16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mc:Choice>
        <mc:Fallback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1CD25144-1826-5C8A-CCBF-D1A6BEF056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1680" y="2786118"/>
                <a:ext cx="246689" cy="276999"/>
              </a:xfrm>
              <a:prstGeom prst="rect">
                <a:avLst/>
              </a:prstGeom>
              <a:blipFill>
                <a:blip r:embed="rId9"/>
                <a:stretch>
                  <a:fillRect r="-20000" b="-90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8" name="Group 37">
            <a:extLst>
              <a:ext uri="{FF2B5EF4-FFF2-40B4-BE49-F238E27FC236}">
                <a16:creationId xmlns:a16="http://schemas.microsoft.com/office/drawing/2014/main" id="{B0370BCA-A55F-1A82-22B3-0B90CD80883C}"/>
              </a:ext>
            </a:extLst>
          </p:cNvPr>
          <p:cNvGrpSpPr/>
          <p:nvPr/>
        </p:nvGrpSpPr>
        <p:grpSpPr>
          <a:xfrm>
            <a:off x="849180" y="3307538"/>
            <a:ext cx="45719" cy="210912"/>
            <a:chOff x="6548130" y="2237014"/>
            <a:chExt cx="49658" cy="440872"/>
          </a:xfrm>
        </p:grpSpPr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BF6CC57F-5DDD-82AB-C038-947796B70F73}"/>
                </a:ext>
              </a:extLst>
            </p:cNvPr>
            <p:cNvCxnSpPr>
              <a:cxnSpLocks/>
            </p:cNvCxnSpPr>
            <p:nvPr/>
          </p:nvCxnSpPr>
          <p:spPr>
            <a:xfrm>
              <a:off x="6548130" y="2237014"/>
              <a:ext cx="0" cy="440872"/>
            </a:xfrm>
            <a:prstGeom prst="line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1619A7C0-B3DE-7504-21D1-DD52888F2137}"/>
                </a:ext>
              </a:extLst>
            </p:cNvPr>
            <p:cNvCxnSpPr>
              <a:cxnSpLocks/>
            </p:cNvCxnSpPr>
            <p:nvPr/>
          </p:nvCxnSpPr>
          <p:spPr>
            <a:xfrm>
              <a:off x="6597788" y="2237014"/>
              <a:ext cx="0" cy="440872"/>
            </a:xfrm>
            <a:prstGeom prst="line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cxnSp>
      </p:grpSp>
      <p:sp>
        <p:nvSpPr>
          <p:cNvPr id="76" name="Flowchart: Delay 9">
            <a:extLst>
              <a:ext uri="{FF2B5EF4-FFF2-40B4-BE49-F238E27FC236}">
                <a16:creationId xmlns:a16="http://schemas.microsoft.com/office/drawing/2014/main" id="{64445127-6FBF-E8B1-902B-4FE317B37052}"/>
              </a:ext>
            </a:extLst>
          </p:cNvPr>
          <p:cNvSpPr/>
          <p:nvPr/>
        </p:nvSpPr>
        <p:spPr>
          <a:xfrm rot="16200000">
            <a:off x="724756" y="2968745"/>
            <a:ext cx="309789" cy="367797"/>
          </a:xfrm>
          <a:prstGeom prst="flowChartDelay">
            <a:avLst/>
          </a:prstGeom>
          <a:solidFill>
            <a:srgbClr val="FFC000">
              <a:lumMod val="40000"/>
              <a:lumOff val="60000"/>
            </a:srgbClr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eaVert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CA3A2AE1-0B11-51F6-28C4-8C5B967C5B82}"/>
                  </a:ext>
                </a:extLst>
              </p:cNvPr>
              <p:cNvSpPr txBox="1"/>
              <p:nvPr/>
            </p:nvSpPr>
            <p:spPr>
              <a:xfrm>
                <a:off x="854672" y="2786118"/>
                <a:ext cx="246689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12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sz="12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16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mc:Choice>
        <mc:Fallback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CA3A2AE1-0B11-51F6-28C4-8C5B967C5B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4672" y="2786118"/>
                <a:ext cx="246689" cy="276999"/>
              </a:xfrm>
              <a:prstGeom prst="rect">
                <a:avLst/>
              </a:prstGeom>
              <a:blipFill>
                <a:blip r:embed="rId10"/>
                <a:stretch>
                  <a:fillRect r="-20000" b="-90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8" name="Group 77">
            <a:extLst>
              <a:ext uri="{FF2B5EF4-FFF2-40B4-BE49-F238E27FC236}">
                <a16:creationId xmlns:a16="http://schemas.microsoft.com/office/drawing/2014/main" id="{E21A659B-7C28-7C5D-7C91-62BD89821218}"/>
              </a:ext>
            </a:extLst>
          </p:cNvPr>
          <p:cNvGrpSpPr/>
          <p:nvPr/>
        </p:nvGrpSpPr>
        <p:grpSpPr>
          <a:xfrm>
            <a:off x="233958" y="3307538"/>
            <a:ext cx="45719" cy="210912"/>
            <a:chOff x="6548130" y="2237014"/>
            <a:chExt cx="49658" cy="440872"/>
          </a:xfrm>
        </p:grpSpPr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EDC5823D-EE44-F600-4304-FC9D1031D5CE}"/>
                </a:ext>
              </a:extLst>
            </p:cNvPr>
            <p:cNvCxnSpPr>
              <a:cxnSpLocks/>
            </p:cNvCxnSpPr>
            <p:nvPr/>
          </p:nvCxnSpPr>
          <p:spPr>
            <a:xfrm>
              <a:off x="6548130" y="2237014"/>
              <a:ext cx="0" cy="440872"/>
            </a:xfrm>
            <a:prstGeom prst="line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572A6A2E-FF58-486C-E1CB-E4D501FC4705}"/>
                </a:ext>
              </a:extLst>
            </p:cNvPr>
            <p:cNvCxnSpPr>
              <a:cxnSpLocks/>
            </p:cNvCxnSpPr>
            <p:nvPr/>
          </p:nvCxnSpPr>
          <p:spPr>
            <a:xfrm>
              <a:off x="6597788" y="2237014"/>
              <a:ext cx="0" cy="440872"/>
            </a:xfrm>
            <a:prstGeom prst="line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cxnSp>
      </p:grpSp>
      <p:sp>
        <p:nvSpPr>
          <p:cNvPr id="81" name="Flowchart: Delay 17">
            <a:extLst>
              <a:ext uri="{FF2B5EF4-FFF2-40B4-BE49-F238E27FC236}">
                <a16:creationId xmlns:a16="http://schemas.microsoft.com/office/drawing/2014/main" id="{193BC7AB-02F3-1296-6F68-F7850CF306FE}"/>
              </a:ext>
            </a:extLst>
          </p:cNvPr>
          <p:cNvSpPr/>
          <p:nvPr/>
        </p:nvSpPr>
        <p:spPr>
          <a:xfrm rot="16200000">
            <a:off x="98095" y="2968745"/>
            <a:ext cx="309789" cy="367797"/>
          </a:xfrm>
          <a:prstGeom prst="flowChartDelay">
            <a:avLst/>
          </a:prstGeom>
          <a:solidFill>
            <a:srgbClr val="FFC000">
              <a:lumMod val="40000"/>
              <a:lumOff val="60000"/>
            </a:srgbClr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eaVert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0" dirty="0">
                <a:solidFill>
                  <a:prstClr val="black"/>
                </a:solidFill>
                <a:latin typeface="Calibri" panose="020F0502020204030204"/>
              </a:rPr>
              <a:t>N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7DE62DA3-DD6A-1B0A-0296-E8B180DD7433}"/>
              </a:ext>
            </a:extLst>
          </p:cNvPr>
          <p:cNvCxnSpPr>
            <a:cxnSpLocks/>
          </p:cNvCxnSpPr>
          <p:nvPr/>
        </p:nvCxnSpPr>
        <p:spPr>
          <a:xfrm>
            <a:off x="252772" y="2883590"/>
            <a:ext cx="0" cy="114159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57EE0945-3ED4-3B4B-6FC6-E79F4A803A1C}"/>
              </a:ext>
            </a:extLst>
          </p:cNvPr>
          <p:cNvCxnSpPr>
            <a:cxnSpLocks/>
          </p:cNvCxnSpPr>
          <p:nvPr/>
        </p:nvCxnSpPr>
        <p:spPr>
          <a:xfrm>
            <a:off x="879650" y="2883590"/>
            <a:ext cx="0" cy="114159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84" name="Rectangle: Rounded Corners 10">
                <a:extLst>
                  <a:ext uri="{FF2B5EF4-FFF2-40B4-BE49-F238E27FC236}">
                    <a16:creationId xmlns:a16="http://schemas.microsoft.com/office/drawing/2014/main" id="{97E3480D-2C01-9034-080E-EA73F90C9ECB}"/>
                  </a:ext>
                </a:extLst>
              </p:cNvPr>
              <p:cNvSpPr/>
              <p:nvPr/>
            </p:nvSpPr>
            <p:spPr>
              <a:xfrm>
                <a:off x="69091" y="3524425"/>
                <a:ext cx="994458" cy="406232"/>
              </a:xfrm>
              <a:prstGeom prst="roundRect">
                <a:avLst/>
              </a:prstGeom>
              <a:solidFill>
                <a:srgbClr val="FFC000">
                  <a:lumMod val="40000"/>
                  <a:lumOff val="60000"/>
                </a:srgbClr>
              </a:solidFill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CA" sz="18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𝜌</m:t>
                      </m:r>
                    </m:oMath>
                  </m:oMathPara>
                </a14:m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>
          <p:sp>
            <p:nvSpPr>
              <p:cNvPr id="84" name="Rectangle: Rounded Corners 10">
                <a:extLst>
                  <a:ext uri="{FF2B5EF4-FFF2-40B4-BE49-F238E27FC236}">
                    <a16:creationId xmlns:a16="http://schemas.microsoft.com/office/drawing/2014/main" id="{97E3480D-2C01-9034-080E-EA73F90C9EC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091" y="3524425"/>
                <a:ext cx="994458" cy="406232"/>
              </a:xfrm>
              <a:prstGeom prst="roundRect">
                <a:avLst/>
              </a:prstGeom>
              <a:blipFill>
                <a:blip r:embed="rId11"/>
                <a:stretch>
                  <a:fillRect/>
                </a:stretch>
              </a:blipFill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5" name="TextBox 84">
            <a:extLst>
              <a:ext uri="{FF2B5EF4-FFF2-40B4-BE49-F238E27FC236}">
                <a16:creationId xmlns:a16="http://schemas.microsoft.com/office/drawing/2014/main" id="{879F5C38-5705-6F78-0B65-2B3B100DE715}"/>
              </a:ext>
            </a:extLst>
          </p:cNvPr>
          <p:cNvSpPr txBox="1"/>
          <p:nvPr/>
        </p:nvSpPr>
        <p:spPr>
          <a:xfrm>
            <a:off x="1983999" y="4088835"/>
            <a:ext cx="141578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1200" dirty="0">
                <a:solidFill>
                  <a:prstClr val="black"/>
                </a:solidFill>
                <a:latin typeface="Calibri" panose="020F0502020204030204"/>
              </a:rPr>
              <a:t>Ontological model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40F42D34-4700-F04F-CD6F-267CC57D5F0B}"/>
              </a:ext>
            </a:extLst>
          </p:cNvPr>
          <p:cNvSpPr txBox="1"/>
          <p:nvPr/>
        </p:nvSpPr>
        <p:spPr>
          <a:xfrm>
            <a:off x="0" y="4075541"/>
            <a:ext cx="141578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1200" dirty="0">
                <a:solidFill>
                  <a:prstClr val="black"/>
                </a:solidFill>
                <a:latin typeface="Calibri" panose="020F0502020204030204"/>
              </a:rPr>
              <a:t>Quantum circuit</a:t>
            </a:r>
          </a:p>
        </p:txBody>
      </p:sp>
      <p:sp>
        <p:nvSpPr>
          <p:cNvPr id="87" name="Arrow: Right 117">
            <a:extLst>
              <a:ext uri="{FF2B5EF4-FFF2-40B4-BE49-F238E27FC236}">
                <a16:creationId xmlns:a16="http://schemas.microsoft.com/office/drawing/2014/main" id="{2CFA9BFC-D307-6F6B-ED54-A45C33D648EE}"/>
              </a:ext>
            </a:extLst>
          </p:cNvPr>
          <p:cNvSpPr/>
          <p:nvPr/>
        </p:nvSpPr>
        <p:spPr>
          <a:xfrm>
            <a:off x="1389154" y="3320086"/>
            <a:ext cx="394729" cy="426178"/>
          </a:xfrm>
          <a:prstGeom prst="rightArrow">
            <a:avLst/>
          </a:prstGeom>
          <a:solidFill>
            <a:srgbClr val="A5A5A5"/>
          </a:solidFill>
          <a:ln w="12700" cap="flat" cmpd="sng" algn="ctr">
            <a:solidFill>
              <a:srgbClr val="A5A5A5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00F3D93B-E169-A813-8692-5413832B2188}"/>
              </a:ext>
            </a:extLst>
          </p:cNvPr>
          <p:cNvSpPr txBox="1"/>
          <p:nvPr/>
        </p:nvSpPr>
        <p:spPr>
          <a:xfrm>
            <a:off x="1168888" y="2850769"/>
            <a:ext cx="9063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prstClr val="black"/>
                </a:solidFill>
                <a:latin typeface="Calibri" panose="020F0502020204030204"/>
              </a:rPr>
              <a:t>Linear</a:t>
            </a:r>
          </a:p>
          <a:p>
            <a:r>
              <a:rPr lang="en-US" sz="1200" dirty="0">
                <a:solidFill>
                  <a:prstClr val="black"/>
                </a:solidFill>
                <a:latin typeface="Calibri" panose="020F0502020204030204"/>
              </a:rPr>
              <a:t>Diag. Pres</a:t>
            </a:r>
          </a:p>
        </p:txBody>
      </p: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1867A866-074F-8FEC-5A1A-13E3214DB667}"/>
              </a:ext>
            </a:extLst>
          </p:cNvPr>
          <p:cNvCxnSpPr/>
          <p:nvPr/>
        </p:nvCxnSpPr>
        <p:spPr>
          <a:xfrm>
            <a:off x="2444128" y="3222510"/>
            <a:ext cx="0" cy="160276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B81AFDB9-9592-73FB-6745-3F80E73BCC2B}"/>
                  </a:ext>
                </a:extLst>
              </p:cNvPr>
              <p:cNvSpPr txBox="1"/>
              <p:nvPr/>
            </p:nvSpPr>
            <p:spPr>
              <a:xfrm>
                <a:off x="2422892" y="3199277"/>
                <a:ext cx="229932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altLang="zh-CN" sz="12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16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mc:Choice>
        <mc:Fallback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B81AFDB9-9592-73FB-6745-3F80E73BCC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22892" y="3199277"/>
                <a:ext cx="229932" cy="276999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EB9E1229-2F41-5C4A-D87D-067775170D0A}"/>
              </a:ext>
            </a:extLst>
          </p:cNvPr>
          <p:cNvCxnSpPr/>
          <p:nvPr/>
        </p:nvCxnSpPr>
        <p:spPr>
          <a:xfrm>
            <a:off x="3132205" y="3221690"/>
            <a:ext cx="0" cy="160276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535BD4EE-FACC-9893-748C-45583C7D2BB4}"/>
                  </a:ext>
                </a:extLst>
              </p:cNvPr>
              <p:cNvSpPr txBox="1"/>
              <p:nvPr/>
            </p:nvSpPr>
            <p:spPr>
              <a:xfrm>
                <a:off x="3085211" y="3171883"/>
                <a:ext cx="204800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altLang="zh-CN" sz="12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sz="16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mc:Choice>
        <mc:Fallback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535BD4EE-FACC-9893-748C-45583C7D2B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85211" y="3171883"/>
                <a:ext cx="204800" cy="276999"/>
              </a:xfrm>
              <a:prstGeom prst="rect">
                <a:avLst/>
              </a:prstGeom>
              <a:blipFill>
                <a:blip r:embed="rId13"/>
                <a:stretch>
                  <a:fillRect r="-11111" b="-4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95B525B7-8995-8DAE-48EF-7D683C38CF94}"/>
              </a:ext>
            </a:extLst>
          </p:cNvPr>
          <p:cNvCxnSpPr>
            <a:cxnSpLocks/>
            <a:stCxn id="94" idx="2"/>
          </p:cNvCxnSpPr>
          <p:nvPr/>
        </p:nvCxnSpPr>
        <p:spPr>
          <a:xfrm flipH="1">
            <a:off x="3058536" y="3228204"/>
            <a:ext cx="2476" cy="340734"/>
          </a:xfrm>
          <a:prstGeom prst="line">
            <a:avLst/>
          </a:prstGeom>
          <a:noFill/>
          <a:ln w="15875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94" name="Rectangle: Rounded Corners 40">
                <a:extLst>
                  <a:ext uri="{FF2B5EF4-FFF2-40B4-BE49-F238E27FC236}">
                    <a16:creationId xmlns:a16="http://schemas.microsoft.com/office/drawing/2014/main" id="{36281388-271A-1537-3187-CB3457C44938}"/>
                  </a:ext>
                </a:extLst>
              </p:cNvPr>
              <p:cNvSpPr/>
              <p:nvPr/>
            </p:nvSpPr>
            <p:spPr>
              <a:xfrm>
                <a:off x="2754045" y="2961279"/>
                <a:ext cx="613934" cy="266925"/>
              </a:xfrm>
              <a:prstGeom prst="roundRect">
                <a:avLst/>
              </a:prstGeom>
              <a:solidFill>
                <a:srgbClr val="70AD47">
                  <a:lumMod val="40000"/>
                  <a:lumOff val="60000"/>
                  <a:alpha val="96000"/>
                </a:srgbClr>
              </a:solidFill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1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 </m:t>
                      </m:r>
                      <m:r>
                        <a:rPr kumimoji="0" lang="en-US" sz="11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𝑝</m:t>
                      </m:r>
                      <m:r>
                        <a:rPr kumimoji="0" lang="en-US" sz="11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(</m:t>
                      </m:r>
                      <m:r>
                        <a:rPr kumimoji="0" lang="en-CA" sz="11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𝑏</m:t>
                      </m:r>
                      <m:r>
                        <a:rPr kumimoji="0" lang="en-US" sz="11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|</m:t>
                      </m:r>
                      <m:sSub>
                        <m:sSubPr>
                          <m:ctrlPr>
                            <a:rPr kumimoji="0" lang="en-US" sz="11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CA" sz="11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𝑦</m:t>
                          </m:r>
                          <m:r>
                            <a:rPr kumimoji="0" lang="en-US" sz="11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𝜆</m:t>
                          </m:r>
                        </m:e>
                        <m:sub>
                          <m:r>
                            <a:rPr kumimoji="0" lang="en-CA" sz="11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𝐵</m:t>
                          </m:r>
                        </m:sub>
                      </m:sSub>
                      <m:r>
                        <a:rPr kumimoji="0" lang="en-US" sz="11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)</m:t>
                      </m:r>
                    </m:oMath>
                  </m:oMathPara>
                </a14:m>
                <a:endPara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>
          <p:sp>
            <p:nvSpPr>
              <p:cNvPr id="94" name="Rectangle: Rounded Corners 40">
                <a:extLst>
                  <a:ext uri="{FF2B5EF4-FFF2-40B4-BE49-F238E27FC236}">
                    <a16:creationId xmlns:a16="http://schemas.microsoft.com/office/drawing/2014/main" id="{36281388-271A-1537-3187-CB3457C4493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4045" y="2961279"/>
                <a:ext cx="613934" cy="266925"/>
              </a:xfrm>
              <a:prstGeom prst="roundRect">
                <a:avLst/>
              </a:prstGeom>
              <a:blipFill>
                <a:blip r:embed="rId14"/>
                <a:stretch>
                  <a:fillRect/>
                </a:stretch>
              </a:blipFill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5" name="Rectangle: Rounded Corners 33">
                <a:extLst>
                  <a:ext uri="{FF2B5EF4-FFF2-40B4-BE49-F238E27FC236}">
                    <a16:creationId xmlns:a16="http://schemas.microsoft.com/office/drawing/2014/main" id="{24FDA4B0-1D6B-EECC-F5E6-728C6B88D32D}"/>
                  </a:ext>
                </a:extLst>
              </p:cNvPr>
              <p:cNvSpPr/>
              <p:nvPr/>
            </p:nvSpPr>
            <p:spPr>
              <a:xfrm>
                <a:off x="2113164" y="3561533"/>
                <a:ext cx="1170006" cy="398885"/>
              </a:xfrm>
              <a:prstGeom prst="roundRect">
                <a:avLst/>
              </a:prstGeom>
              <a:solidFill>
                <a:srgbClr val="70AD47">
                  <a:lumMod val="40000"/>
                  <a:lumOff val="60000"/>
                  <a:alpha val="96000"/>
                </a:srgbClr>
              </a:solidFill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1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𝑝</m:t>
                      </m:r>
                      <m:r>
                        <a:rPr kumimoji="0" lang="en-US" sz="11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(</m:t>
                      </m:r>
                      <m:sSub>
                        <m:sSubPr>
                          <m:ctrlPr>
                            <a:rPr kumimoji="0" lang="en-US" sz="11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11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𝜆</m:t>
                          </m:r>
                        </m:e>
                        <m:sub>
                          <m:r>
                            <a:rPr kumimoji="0" lang="en-CA" sz="11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𝐴</m:t>
                          </m:r>
                        </m:sub>
                      </m:sSub>
                      <m:sSub>
                        <m:sSubPr>
                          <m:ctrlPr>
                            <a:rPr kumimoji="0" lang="en-US" sz="11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11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𝜆</m:t>
                          </m:r>
                        </m:e>
                        <m:sub>
                          <m:r>
                            <a:rPr kumimoji="0" lang="en-CA" sz="11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𝐵</m:t>
                          </m:r>
                        </m:sub>
                      </m:sSub>
                      <m:r>
                        <a:rPr kumimoji="0" lang="en-US" sz="11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)</m:t>
                      </m:r>
                    </m:oMath>
                  </m:oMathPara>
                </a14:m>
                <a:endPara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>
          <p:sp>
            <p:nvSpPr>
              <p:cNvPr id="95" name="Rectangle: Rounded Corners 33">
                <a:extLst>
                  <a:ext uri="{FF2B5EF4-FFF2-40B4-BE49-F238E27FC236}">
                    <a16:creationId xmlns:a16="http://schemas.microsoft.com/office/drawing/2014/main" id="{24FDA4B0-1D6B-EECC-F5E6-728C6B88D32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13164" y="3561533"/>
                <a:ext cx="1170006" cy="398885"/>
              </a:xfrm>
              <a:prstGeom prst="roundRect">
                <a:avLst/>
              </a:prstGeom>
              <a:blipFill>
                <a:blip r:embed="rId15"/>
                <a:stretch>
                  <a:fillRect/>
                </a:stretch>
              </a:blipFill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2F74450B-BC81-FB68-ACE7-FB252EA122F2}"/>
              </a:ext>
            </a:extLst>
          </p:cNvPr>
          <p:cNvCxnSpPr>
            <a:cxnSpLocks/>
            <a:stCxn id="97" idx="2"/>
          </p:cNvCxnSpPr>
          <p:nvPr/>
        </p:nvCxnSpPr>
        <p:spPr>
          <a:xfrm flipH="1">
            <a:off x="2356057" y="3227252"/>
            <a:ext cx="2476" cy="340734"/>
          </a:xfrm>
          <a:prstGeom prst="line">
            <a:avLst/>
          </a:prstGeom>
          <a:noFill/>
          <a:ln w="15875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97" name="Rectangle: Rounded Corners 82">
                <a:extLst>
                  <a:ext uri="{FF2B5EF4-FFF2-40B4-BE49-F238E27FC236}">
                    <a16:creationId xmlns:a16="http://schemas.microsoft.com/office/drawing/2014/main" id="{12FF83CF-9D18-50FF-A597-8536CE543367}"/>
                  </a:ext>
                </a:extLst>
              </p:cNvPr>
              <p:cNvSpPr/>
              <p:nvPr/>
            </p:nvSpPr>
            <p:spPr>
              <a:xfrm>
                <a:off x="2051566" y="2960327"/>
                <a:ext cx="613934" cy="266925"/>
              </a:xfrm>
              <a:prstGeom prst="roundRect">
                <a:avLst/>
              </a:prstGeom>
              <a:solidFill>
                <a:srgbClr val="70AD47">
                  <a:lumMod val="40000"/>
                  <a:lumOff val="60000"/>
                  <a:alpha val="96000"/>
                </a:srgbClr>
              </a:solidFill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1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 </m:t>
                      </m:r>
                      <m:r>
                        <a:rPr kumimoji="0" lang="en-US" sz="11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𝑝</m:t>
                      </m:r>
                      <m:r>
                        <a:rPr kumimoji="0" lang="en-US" sz="11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(</m:t>
                      </m:r>
                      <m:r>
                        <a:rPr kumimoji="0" lang="en-CA" sz="11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𝑎</m:t>
                      </m:r>
                      <m:r>
                        <a:rPr kumimoji="0" lang="en-US" sz="11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|</m:t>
                      </m:r>
                      <m:sSub>
                        <m:sSubPr>
                          <m:ctrlPr>
                            <a:rPr kumimoji="0" lang="en-US" sz="11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CA" sz="11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𝑥</m:t>
                          </m:r>
                          <m:r>
                            <a:rPr kumimoji="0" lang="en-US" sz="11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𝜆</m:t>
                          </m:r>
                        </m:e>
                        <m:sub>
                          <m:r>
                            <a:rPr kumimoji="0" lang="en-CA" sz="11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𝐴</m:t>
                          </m:r>
                        </m:sub>
                      </m:sSub>
                      <m:r>
                        <a:rPr kumimoji="0" lang="en-US" sz="11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)</m:t>
                      </m:r>
                    </m:oMath>
                  </m:oMathPara>
                </a14:m>
                <a:endPara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>
          <p:sp>
            <p:nvSpPr>
              <p:cNvPr id="97" name="Rectangle: Rounded Corners 82">
                <a:extLst>
                  <a:ext uri="{FF2B5EF4-FFF2-40B4-BE49-F238E27FC236}">
                    <a16:creationId xmlns:a16="http://schemas.microsoft.com/office/drawing/2014/main" id="{12FF83CF-9D18-50FF-A597-8536CE54336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1566" y="2960327"/>
                <a:ext cx="613934" cy="266925"/>
              </a:xfrm>
              <a:prstGeom prst="roundRect">
                <a:avLst/>
              </a:prstGeom>
              <a:blipFill>
                <a:blip r:embed="rId16"/>
                <a:stretch>
                  <a:fillRect/>
                </a:stretch>
              </a:blipFill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3768D7BF-3F31-4CCD-D999-673A3232F220}"/>
                  </a:ext>
                </a:extLst>
              </p:cNvPr>
              <p:cNvSpPr txBox="1"/>
              <p:nvPr/>
            </p:nvSpPr>
            <p:spPr>
              <a:xfrm>
                <a:off x="2321764" y="2754405"/>
                <a:ext cx="246689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12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12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16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mc:Choice>
        <mc:Fallback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3768D7BF-3F31-4CCD-D999-673A3232F2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21764" y="2754405"/>
                <a:ext cx="246689" cy="276999"/>
              </a:xfrm>
              <a:prstGeom prst="rect">
                <a:avLst/>
              </a:prstGeom>
              <a:blipFill>
                <a:blip r:embed="rId17"/>
                <a:stretch>
                  <a:fillRect r="-14286" b="-86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4989283D-FF34-5A1A-57A2-5AEB237AA0D4}"/>
              </a:ext>
            </a:extLst>
          </p:cNvPr>
          <p:cNvCxnSpPr>
            <a:cxnSpLocks/>
          </p:cNvCxnSpPr>
          <p:nvPr/>
        </p:nvCxnSpPr>
        <p:spPr>
          <a:xfrm>
            <a:off x="2352856" y="2851877"/>
            <a:ext cx="0" cy="114159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0D34042E-AEAE-765F-D991-2C5244951580}"/>
                  </a:ext>
                </a:extLst>
              </p:cNvPr>
              <p:cNvSpPr txBox="1"/>
              <p:nvPr/>
            </p:nvSpPr>
            <p:spPr>
              <a:xfrm>
                <a:off x="3019564" y="2751946"/>
                <a:ext cx="246689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12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sz="12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16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mc:Choice>
        <mc:Fallback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0D34042E-AEAE-765F-D991-2C52449515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19564" y="2751946"/>
                <a:ext cx="246689" cy="276999"/>
              </a:xfrm>
              <a:prstGeom prst="rect">
                <a:avLst/>
              </a:prstGeom>
              <a:blipFill>
                <a:blip r:embed="rId18"/>
                <a:stretch>
                  <a:fillRect r="-14286" b="-86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3B6572BA-289B-AB51-8197-BD2642183BBC}"/>
              </a:ext>
            </a:extLst>
          </p:cNvPr>
          <p:cNvCxnSpPr>
            <a:cxnSpLocks/>
          </p:cNvCxnSpPr>
          <p:nvPr/>
        </p:nvCxnSpPr>
        <p:spPr>
          <a:xfrm>
            <a:off x="3044542" y="2849418"/>
            <a:ext cx="0" cy="114159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88235F4E-5B26-B34D-03ED-8B573D7E346E}"/>
                  </a:ext>
                </a:extLst>
              </p:cNvPr>
              <p:cNvSpPr txBox="1"/>
              <p:nvPr/>
            </p:nvSpPr>
            <p:spPr>
              <a:xfrm>
                <a:off x="2715287" y="3263452"/>
                <a:ext cx="430123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CA" sz="12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88235F4E-5B26-B34D-03ED-8B573D7E34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15287" y="3263452"/>
                <a:ext cx="430123" cy="276999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3" name="TextBox 102">
                <a:extLst>
                  <a:ext uri="{FF2B5EF4-FFF2-40B4-BE49-F238E27FC236}">
                    <a16:creationId xmlns:a16="http://schemas.microsoft.com/office/drawing/2014/main" id="{79DA66CA-2BB6-1E59-97BD-FED179A2DD3E}"/>
                  </a:ext>
                </a:extLst>
              </p:cNvPr>
              <p:cNvSpPr txBox="1"/>
              <p:nvPr/>
            </p:nvSpPr>
            <p:spPr>
              <a:xfrm>
                <a:off x="1983999" y="3259216"/>
                <a:ext cx="430123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CA" sz="12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>
          <p:sp>
            <p:nvSpPr>
              <p:cNvPr id="103" name="TextBox 102">
                <a:extLst>
                  <a:ext uri="{FF2B5EF4-FFF2-40B4-BE49-F238E27FC236}">
                    <a16:creationId xmlns:a16="http://schemas.microsoft.com/office/drawing/2014/main" id="{79DA66CA-2BB6-1E59-97BD-FED179A2DD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3999" y="3259216"/>
                <a:ext cx="430123" cy="276999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259663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35FF0A-075C-1BAD-C777-6703A268F2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ADEF4583-E91F-F2B8-0F7C-C62DD6FBC143}"/>
              </a:ext>
            </a:extLst>
          </p:cNvPr>
          <p:cNvSpPr/>
          <p:nvPr/>
        </p:nvSpPr>
        <p:spPr>
          <a:xfrm>
            <a:off x="-6766" y="5465135"/>
            <a:ext cx="4657060" cy="13928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5DDED2D8-92DE-85C5-1760-DDFE067EBCFE}"/>
                  </a:ext>
                </a:extLst>
              </p:cNvPr>
              <p:cNvSpPr/>
              <p:nvPr/>
            </p:nvSpPr>
            <p:spPr>
              <a:xfrm>
                <a:off x="3428139" y="2111365"/>
                <a:ext cx="8653252" cy="2964521"/>
              </a:xfrm>
              <a:prstGeom prst="rect">
                <a:avLst/>
              </a:prstGeom>
              <a:ln w="25400">
                <a:solidFill>
                  <a:srgbClr val="0070C0">
                    <a:alpha val="98000"/>
                  </a:srgb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t"/>
              <a:lstStyle/>
              <a:p>
                <a:r>
                  <a:rPr lang="en-US" sz="1600" dirty="0"/>
                  <a:t>Example 4: (Geodesic, Goldberg) Bell scenario, where one has </a:t>
                </a:r>
                <a14:m>
                  <m:oMath xmlns:m="http://schemas.openxmlformats.org/officeDocument/2006/math">
                    <m:r>
                      <a:rPr lang="en-CA" sz="1600" b="0" i="1" smtClean="0">
                        <a:latin typeface="Cambria Math" panose="02040503050406030204" pitchFamily="18" charset="0"/>
                      </a:rPr>
                      <m:t>5</m:t>
                    </m:r>
                    <m:sSup>
                      <m:sSupPr>
                        <m:ctrlPr>
                          <a:rPr lang="en-CA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sz="1600" b="0" i="1" smtClean="0">
                            <a:latin typeface="Cambria Math" panose="02040503050406030204" pitchFamily="18" charset="0"/>
                          </a:rPr>
                          <m:t>𝜈</m:t>
                        </m:r>
                      </m:e>
                      <m:sup>
                        <m:r>
                          <a:rPr lang="en-CA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CA" sz="1600" b="0" i="1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US" sz="1600" dirty="0"/>
                  <a:t> binary-outcome measurements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CA" sz="16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CA" sz="1600" i="1"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a:rPr lang="en-CA" sz="1600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CA" sz="1600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CA" sz="1600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CA" sz="1600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  <m:sup>
                        <m:r>
                          <a:rPr lang="en-CA" sz="1600" i="1">
                            <a:latin typeface="Cambria Math" panose="02040503050406030204" pitchFamily="18" charset="0"/>
                          </a:rPr>
                          <m:t>𝐴</m:t>
                        </m:r>
                      </m:sup>
                    </m:sSubSup>
                    <m:r>
                      <a:rPr lang="en-CA" sz="1600" i="1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sz="1600" dirty="0"/>
                  <a:t> and </a:t>
                </a:r>
                <a14:m>
                  <m:oMath xmlns:m="http://schemas.openxmlformats.org/officeDocument/2006/math">
                    <m:r>
                      <a:rPr lang="en-CA" sz="1600" i="1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CA" sz="1600" b="0" i="1" dirty="0" smtClean="0">
                        <a:latin typeface="Cambria Math" panose="02040503050406030204" pitchFamily="18" charset="0"/>
                      </a:rPr>
                      <m:t>0</m:t>
                    </m:r>
                    <m:sSup>
                      <m:sSupPr>
                        <m:ctrlPr>
                          <a:rPr lang="en-CA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sz="1600" i="1">
                            <a:latin typeface="Cambria Math" panose="02040503050406030204" pitchFamily="18" charset="0"/>
                          </a:rPr>
                          <m:t>𝜈</m:t>
                        </m:r>
                      </m:e>
                      <m:sup>
                        <m:r>
                          <a:rPr lang="en-CA" sz="16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1600" dirty="0"/>
                  <a:t> binary-outcome measurements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CA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CA" sz="16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CA" sz="1600" i="1">
                                <a:latin typeface="Cambria Math" panose="02040503050406030204" pitchFamily="18" charset="0"/>
                              </a:rPr>
                              <m:t>𝑀</m:t>
                            </m:r>
                          </m:e>
                          <m:sub>
                            <m:r>
                              <a:rPr lang="en-CA" sz="1600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en-CA" sz="1600" i="1"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CA" sz="16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  <m:sup>
                            <m:r>
                              <a:rPr lang="en-CA" sz="1600" i="1"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p>
                        </m:sSubSup>
                      </m:e>
                    </m:d>
                  </m:oMath>
                </a14:m>
                <a:r>
                  <a:rPr lang="en-US" sz="1600" dirty="0"/>
                  <a:t> on Bob, one has:</a:t>
                </a:r>
              </a:p>
            </p:txBody>
          </p:sp>
        </mc:Choice>
        <mc:Fallback xmlns="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5DDED2D8-92DE-85C5-1760-DDFE067EBCF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8139" y="2111365"/>
                <a:ext cx="8653252" cy="2964521"/>
              </a:xfrm>
              <a:prstGeom prst="rect">
                <a:avLst/>
              </a:prstGeom>
              <a:blipFill>
                <a:blip r:embed="rId28"/>
                <a:stretch>
                  <a:fillRect l="-146"/>
                </a:stretch>
              </a:blipFill>
              <a:ln w="25400">
                <a:solidFill>
                  <a:srgbClr val="0070C0">
                    <a:alpha val="98000"/>
                  </a:srgb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Rectangle 30">
            <a:extLst>
              <a:ext uri="{FF2B5EF4-FFF2-40B4-BE49-F238E27FC236}">
                <a16:creationId xmlns:a16="http://schemas.microsoft.com/office/drawing/2014/main" id="{81F06749-027B-DEE3-42CB-AF80D9D3D729}"/>
              </a:ext>
            </a:extLst>
          </p:cNvPr>
          <p:cNvSpPr/>
          <p:nvPr/>
        </p:nvSpPr>
        <p:spPr>
          <a:xfrm>
            <a:off x="9184013" y="5160377"/>
            <a:ext cx="807155" cy="38389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5B2477D-D133-43E1-A82A-6C0707815EC0}"/>
              </a:ext>
            </a:extLst>
          </p:cNvPr>
          <p:cNvSpPr txBox="1"/>
          <p:nvPr/>
        </p:nvSpPr>
        <p:spPr>
          <a:xfrm>
            <a:off x="0" y="397104"/>
            <a:ext cx="57347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</a:rPr>
              <a:t>Novel test for two-qubit isotropic states </a:t>
            </a: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6DF2A7CC-C99B-6324-566F-2BFDB2DED95B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5993616" y="473129"/>
            <a:ext cx="3577091" cy="1489055"/>
          </a:xfrm>
          <a:prstGeom prst="rect">
            <a:avLst/>
          </a:prstGeom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453787A4-5F72-522A-38DA-B46B2F305964}"/>
              </a:ext>
            </a:extLst>
          </p:cNvPr>
          <p:cNvSpPr/>
          <p:nvPr/>
        </p:nvSpPr>
        <p:spPr>
          <a:xfrm>
            <a:off x="5436351" y="520391"/>
            <a:ext cx="209106" cy="24287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301E53E-E5E8-707C-C224-6A13CC2064FB}"/>
              </a:ext>
            </a:extLst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4825294" y="2890602"/>
            <a:ext cx="5351433" cy="2036103"/>
          </a:xfrm>
          <a:prstGeom prst="rect">
            <a:avLst/>
          </a:prstGeom>
        </p:spPr>
      </p:pic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C5ADE0D9-2BE1-93A7-FC5E-8B2FF7415CED}"/>
              </a:ext>
            </a:extLst>
          </p:cNvPr>
          <p:cNvCxnSpPr>
            <a:cxnSpLocks/>
          </p:cNvCxnSpPr>
          <p:nvPr/>
        </p:nvCxnSpPr>
        <p:spPr>
          <a:xfrm>
            <a:off x="954434" y="3298872"/>
            <a:ext cx="0" cy="160276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04" name="TextBox 103">
                <a:extLst>
                  <a:ext uri="{FF2B5EF4-FFF2-40B4-BE49-F238E27FC236}">
                    <a16:creationId xmlns:a16="http://schemas.microsoft.com/office/drawing/2014/main" id="{64F1D27B-1501-C8C9-742C-C408A531CD01}"/>
                  </a:ext>
                </a:extLst>
              </p:cNvPr>
              <p:cNvSpPr txBox="1"/>
              <p:nvPr/>
            </p:nvSpPr>
            <p:spPr>
              <a:xfrm>
                <a:off x="907440" y="3249065"/>
                <a:ext cx="204800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altLang="zh-CN" sz="12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sz="16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mc:Choice>
        <mc:Fallback>
          <p:sp>
            <p:nvSpPr>
              <p:cNvPr id="104" name="TextBox 103">
                <a:extLst>
                  <a:ext uri="{FF2B5EF4-FFF2-40B4-BE49-F238E27FC236}">
                    <a16:creationId xmlns:a16="http://schemas.microsoft.com/office/drawing/2014/main" id="{64F1D27B-1501-C8C9-742C-C408A531CD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7440" y="3249065"/>
                <a:ext cx="204800" cy="276999"/>
              </a:xfrm>
              <a:prstGeom prst="rect">
                <a:avLst/>
              </a:prstGeom>
              <a:blipFill>
                <a:blip r:embed="rId31"/>
                <a:stretch>
                  <a:fillRect r="-17647" b="-4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873630BD-6C87-E253-D1D1-23443B368A03}"/>
              </a:ext>
            </a:extLst>
          </p:cNvPr>
          <p:cNvCxnSpPr>
            <a:cxnSpLocks/>
          </p:cNvCxnSpPr>
          <p:nvPr/>
        </p:nvCxnSpPr>
        <p:spPr>
          <a:xfrm>
            <a:off x="344044" y="3297233"/>
            <a:ext cx="0" cy="160276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06" name="TextBox 105">
                <a:extLst>
                  <a:ext uri="{FF2B5EF4-FFF2-40B4-BE49-F238E27FC236}">
                    <a16:creationId xmlns:a16="http://schemas.microsoft.com/office/drawing/2014/main" id="{78972529-49B7-DE66-EE32-F51239B81507}"/>
                  </a:ext>
                </a:extLst>
              </p:cNvPr>
              <p:cNvSpPr txBox="1"/>
              <p:nvPr/>
            </p:nvSpPr>
            <p:spPr>
              <a:xfrm>
                <a:off x="297050" y="3247426"/>
                <a:ext cx="204800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altLang="zh-CN" sz="12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16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mc:Choice>
        <mc:Fallback>
          <p:sp>
            <p:nvSpPr>
              <p:cNvPr id="106" name="TextBox 105">
                <a:extLst>
                  <a:ext uri="{FF2B5EF4-FFF2-40B4-BE49-F238E27FC236}">
                    <a16:creationId xmlns:a16="http://schemas.microsoft.com/office/drawing/2014/main" id="{78972529-49B7-DE66-EE32-F51239B815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7050" y="3247426"/>
                <a:ext cx="204800" cy="276999"/>
              </a:xfrm>
              <a:prstGeom prst="rect">
                <a:avLst/>
              </a:prstGeom>
              <a:blipFill>
                <a:blip r:embed="rId32"/>
                <a:stretch>
                  <a:fillRect r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7" name="TextBox 106">
                <a:extLst>
                  <a:ext uri="{FF2B5EF4-FFF2-40B4-BE49-F238E27FC236}">
                    <a16:creationId xmlns:a16="http://schemas.microsoft.com/office/drawing/2014/main" id="{29E5CD69-2AFC-060B-2906-8A1822A45BF5}"/>
                  </a:ext>
                </a:extLst>
              </p:cNvPr>
              <p:cNvSpPr txBox="1"/>
              <p:nvPr/>
            </p:nvSpPr>
            <p:spPr>
              <a:xfrm>
                <a:off x="221680" y="2786118"/>
                <a:ext cx="246689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12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12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16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mc:Choice>
        <mc:Fallback>
          <p:sp>
            <p:nvSpPr>
              <p:cNvPr id="107" name="TextBox 106">
                <a:extLst>
                  <a:ext uri="{FF2B5EF4-FFF2-40B4-BE49-F238E27FC236}">
                    <a16:creationId xmlns:a16="http://schemas.microsoft.com/office/drawing/2014/main" id="{29E5CD69-2AFC-060B-2906-8A1822A45B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1680" y="2786118"/>
                <a:ext cx="246689" cy="276999"/>
              </a:xfrm>
              <a:prstGeom prst="rect">
                <a:avLst/>
              </a:prstGeom>
              <a:blipFill>
                <a:blip r:embed="rId33"/>
                <a:stretch>
                  <a:fillRect r="-20000" b="-90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8" name="Group 107">
            <a:extLst>
              <a:ext uri="{FF2B5EF4-FFF2-40B4-BE49-F238E27FC236}">
                <a16:creationId xmlns:a16="http://schemas.microsoft.com/office/drawing/2014/main" id="{06860983-8016-AA11-401D-82C2A099DCBC}"/>
              </a:ext>
            </a:extLst>
          </p:cNvPr>
          <p:cNvGrpSpPr/>
          <p:nvPr/>
        </p:nvGrpSpPr>
        <p:grpSpPr>
          <a:xfrm>
            <a:off x="849180" y="3307538"/>
            <a:ext cx="45719" cy="210912"/>
            <a:chOff x="6548130" y="2237014"/>
            <a:chExt cx="49658" cy="440872"/>
          </a:xfrm>
        </p:grpSpPr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7E8E3655-4590-4A24-637B-DC31AC91767C}"/>
                </a:ext>
              </a:extLst>
            </p:cNvPr>
            <p:cNvCxnSpPr>
              <a:cxnSpLocks/>
            </p:cNvCxnSpPr>
            <p:nvPr/>
          </p:nvCxnSpPr>
          <p:spPr>
            <a:xfrm>
              <a:off x="6548130" y="2237014"/>
              <a:ext cx="0" cy="440872"/>
            </a:xfrm>
            <a:prstGeom prst="line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839681E2-E7C5-B86C-B70E-4EAF0A2AB57E}"/>
                </a:ext>
              </a:extLst>
            </p:cNvPr>
            <p:cNvCxnSpPr>
              <a:cxnSpLocks/>
            </p:cNvCxnSpPr>
            <p:nvPr/>
          </p:nvCxnSpPr>
          <p:spPr>
            <a:xfrm>
              <a:off x="6597788" y="2237014"/>
              <a:ext cx="0" cy="440872"/>
            </a:xfrm>
            <a:prstGeom prst="line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cxnSp>
      </p:grpSp>
      <p:sp>
        <p:nvSpPr>
          <p:cNvPr id="111" name="Flowchart: Delay 9">
            <a:extLst>
              <a:ext uri="{FF2B5EF4-FFF2-40B4-BE49-F238E27FC236}">
                <a16:creationId xmlns:a16="http://schemas.microsoft.com/office/drawing/2014/main" id="{B5DA1F2A-FF2C-D1D2-8653-3161DC39EE9A}"/>
              </a:ext>
            </a:extLst>
          </p:cNvPr>
          <p:cNvSpPr/>
          <p:nvPr/>
        </p:nvSpPr>
        <p:spPr>
          <a:xfrm rot="16200000">
            <a:off x="724756" y="2968745"/>
            <a:ext cx="309789" cy="367797"/>
          </a:xfrm>
          <a:prstGeom prst="flowChartDelay">
            <a:avLst/>
          </a:prstGeom>
          <a:solidFill>
            <a:srgbClr val="FFC000">
              <a:lumMod val="40000"/>
              <a:lumOff val="60000"/>
            </a:srgbClr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eaVert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2" name="TextBox 111">
                <a:extLst>
                  <a:ext uri="{FF2B5EF4-FFF2-40B4-BE49-F238E27FC236}">
                    <a16:creationId xmlns:a16="http://schemas.microsoft.com/office/drawing/2014/main" id="{38AA5BB4-5AE4-7190-24C7-F5298B99598B}"/>
                  </a:ext>
                </a:extLst>
              </p:cNvPr>
              <p:cNvSpPr txBox="1"/>
              <p:nvPr/>
            </p:nvSpPr>
            <p:spPr>
              <a:xfrm>
                <a:off x="854672" y="2786118"/>
                <a:ext cx="246689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12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sz="12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16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mc:Choice>
        <mc:Fallback>
          <p:sp>
            <p:nvSpPr>
              <p:cNvPr id="112" name="TextBox 111">
                <a:extLst>
                  <a:ext uri="{FF2B5EF4-FFF2-40B4-BE49-F238E27FC236}">
                    <a16:creationId xmlns:a16="http://schemas.microsoft.com/office/drawing/2014/main" id="{38AA5BB4-5AE4-7190-24C7-F5298B9959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4672" y="2786118"/>
                <a:ext cx="246689" cy="276999"/>
              </a:xfrm>
              <a:prstGeom prst="rect">
                <a:avLst/>
              </a:prstGeom>
              <a:blipFill>
                <a:blip r:embed="rId34"/>
                <a:stretch>
                  <a:fillRect r="-20000" b="-90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3" name="Group 112">
            <a:extLst>
              <a:ext uri="{FF2B5EF4-FFF2-40B4-BE49-F238E27FC236}">
                <a16:creationId xmlns:a16="http://schemas.microsoft.com/office/drawing/2014/main" id="{10C0E69D-C2AE-0745-FC57-6F8D3E6C868E}"/>
              </a:ext>
            </a:extLst>
          </p:cNvPr>
          <p:cNvGrpSpPr/>
          <p:nvPr/>
        </p:nvGrpSpPr>
        <p:grpSpPr>
          <a:xfrm>
            <a:off x="233958" y="3307538"/>
            <a:ext cx="45719" cy="210912"/>
            <a:chOff x="6548130" y="2237014"/>
            <a:chExt cx="49658" cy="440872"/>
          </a:xfrm>
        </p:grpSpPr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575B2633-A89A-E2F3-094A-46084C04CCA6}"/>
                </a:ext>
              </a:extLst>
            </p:cNvPr>
            <p:cNvCxnSpPr>
              <a:cxnSpLocks/>
            </p:cNvCxnSpPr>
            <p:nvPr/>
          </p:nvCxnSpPr>
          <p:spPr>
            <a:xfrm>
              <a:off x="6548130" y="2237014"/>
              <a:ext cx="0" cy="440872"/>
            </a:xfrm>
            <a:prstGeom prst="line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cxn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9AD7460F-1C00-83A9-A476-DDB7352970BF}"/>
                </a:ext>
              </a:extLst>
            </p:cNvPr>
            <p:cNvCxnSpPr>
              <a:cxnSpLocks/>
            </p:cNvCxnSpPr>
            <p:nvPr/>
          </p:nvCxnSpPr>
          <p:spPr>
            <a:xfrm>
              <a:off x="6597788" y="2237014"/>
              <a:ext cx="0" cy="440872"/>
            </a:xfrm>
            <a:prstGeom prst="line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cxnSp>
      </p:grpSp>
      <p:sp>
        <p:nvSpPr>
          <p:cNvPr id="116" name="Flowchart: Delay 17">
            <a:extLst>
              <a:ext uri="{FF2B5EF4-FFF2-40B4-BE49-F238E27FC236}">
                <a16:creationId xmlns:a16="http://schemas.microsoft.com/office/drawing/2014/main" id="{B9BEC7FF-C7C7-3E9C-6CFD-50F99AF27B7C}"/>
              </a:ext>
            </a:extLst>
          </p:cNvPr>
          <p:cNvSpPr/>
          <p:nvPr/>
        </p:nvSpPr>
        <p:spPr>
          <a:xfrm rot="16200000">
            <a:off x="98095" y="2968745"/>
            <a:ext cx="309789" cy="367797"/>
          </a:xfrm>
          <a:prstGeom prst="flowChartDelay">
            <a:avLst/>
          </a:prstGeom>
          <a:solidFill>
            <a:srgbClr val="FFC000">
              <a:lumMod val="40000"/>
              <a:lumOff val="60000"/>
            </a:srgbClr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eaVert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0" dirty="0">
                <a:solidFill>
                  <a:prstClr val="black"/>
                </a:solidFill>
                <a:latin typeface="Calibri" panose="020F0502020204030204"/>
              </a:rPr>
              <a:t>N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17" name="Straight Connector 116">
            <a:extLst>
              <a:ext uri="{FF2B5EF4-FFF2-40B4-BE49-F238E27FC236}">
                <a16:creationId xmlns:a16="http://schemas.microsoft.com/office/drawing/2014/main" id="{90B62B29-263B-1DA8-0B17-17A5640602C8}"/>
              </a:ext>
            </a:extLst>
          </p:cNvPr>
          <p:cNvCxnSpPr>
            <a:cxnSpLocks/>
          </p:cNvCxnSpPr>
          <p:nvPr/>
        </p:nvCxnSpPr>
        <p:spPr>
          <a:xfrm>
            <a:off x="252772" y="2883590"/>
            <a:ext cx="0" cy="114159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p:cxnSp>
        <p:nvCxnSpPr>
          <p:cNvPr id="118" name="Straight Connector 117">
            <a:extLst>
              <a:ext uri="{FF2B5EF4-FFF2-40B4-BE49-F238E27FC236}">
                <a16:creationId xmlns:a16="http://schemas.microsoft.com/office/drawing/2014/main" id="{30A75460-68D8-D316-479F-DD69B964D49E}"/>
              </a:ext>
            </a:extLst>
          </p:cNvPr>
          <p:cNvCxnSpPr>
            <a:cxnSpLocks/>
          </p:cNvCxnSpPr>
          <p:nvPr/>
        </p:nvCxnSpPr>
        <p:spPr>
          <a:xfrm>
            <a:off x="879650" y="2883590"/>
            <a:ext cx="0" cy="114159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19" name="Rectangle: Rounded Corners 10">
                <a:extLst>
                  <a:ext uri="{FF2B5EF4-FFF2-40B4-BE49-F238E27FC236}">
                    <a16:creationId xmlns:a16="http://schemas.microsoft.com/office/drawing/2014/main" id="{7EC7F491-8656-D747-3C39-34B504F07F7B}"/>
                  </a:ext>
                </a:extLst>
              </p:cNvPr>
              <p:cNvSpPr/>
              <p:nvPr/>
            </p:nvSpPr>
            <p:spPr>
              <a:xfrm>
                <a:off x="69091" y="3524425"/>
                <a:ext cx="994458" cy="406232"/>
              </a:xfrm>
              <a:prstGeom prst="roundRect">
                <a:avLst/>
              </a:prstGeom>
              <a:solidFill>
                <a:srgbClr val="FFC000">
                  <a:lumMod val="40000"/>
                  <a:lumOff val="60000"/>
                </a:srgbClr>
              </a:solidFill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CA" sz="18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𝜌</m:t>
                      </m:r>
                    </m:oMath>
                  </m:oMathPara>
                </a14:m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>
          <p:sp>
            <p:nvSpPr>
              <p:cNvPr id="119" name="Rectangle: Rounded Corners 10">
                <a:extLst>
                  <a:ext uri="{FF2B5EF4-FFF2-40B4-BE49-F238E27FC236}">
                    <a16:creationId xmlns:a16="http://schemas.microsoft.com/office/drawing/2014/main" id="{7EC7F491-8656-D747-3C39-34B504F07F7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091" y="3524425"/>
                <a:ext cx="994458" cy="406232"/>
              </a:xfrm>
              <a:prstGeom prst="roundRect">
                <a:avLst/>
              </a:prstGeom>
              <a:blipFill>
                <a:blip r:embed="rId35"/>
                <a:stretch>
                  <a:fillRect/>
                </a:stretch>
              </a:blipFill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0" name="TextBox 119">
            <a:extLst>
              <a:ext uri="{FF2B5EF4-FFF2-40B4-BE49-F238E27FC236}">
                <a16:creationId xmlns:a16="http://schemas.microsoft.com/office/drawing/2014/main" id="{1268D503-A9A8-BBC1-B322-19C9FB0B3939}"/>
              </a:ext>
            </a:extLst>
          </p:cNvPr>
          <p:cNvSpPr txBox="1"/>
          <p:nvPr/>
        </p:nvSpPr>
        <p:spPr>
          <a:xfrm>
            <a:off x="1983999" y="4088835"/>
            <a:ext cx="141578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1200" dirty="0">
                <a:solidFill>
                  <a:prstClr val="black"/>
                </a:solidFill>
                <a:latin typeface="Calibri" panose="020F0502020204030204"/>
              </a:rPr>
              <a:t>Ontological model</a:t>
            </a: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9E31A8FD-1348-5D17-27B3-DA6FB8F9D57F}"/>
              </a:ext>
            </a:extLst>
          </p:cNvPr>
          <p:cNvSpPr txBox="1"/>
          <p:nvPr/>
        </p:nvSpPr>
        <p:spPr>
          <a:xfrm>
            <a:off x="0" y="4075541"/>
            <a:ext cx="141578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1200" dirty="0">
                <a:solidFill>
                  <a:prstClr val="black"/>
                </a:solidFill>
                <a:latin typeface="Calibri" panose="020F0502020204030204"/>
              </a:rPr>
              <a:t>Quantum circuit</a:t>
            </a:r>
          </a:p>
        </p:txBody>
      </p:sp>
      <p:sp>
        <p:nvSpPr>
          <p:cNvPr id="122" name="Arrow: Right 117">
            <a:extLst>
              <a:ext uri="{FF2B5EF4-FFF2-40B4-BE49-F238E27FC236}">
                <a16:creationId xmlns:a16="http://schemas.microsoft.com/office/drawing/2014/main" id="{1A4E0646-A5C2-47C4-DE1A-DAE6DA163980}"/>
              </a:ext>
            </a:extLst>
          </p:cNvPr>
          <p:cNvSpPr/>
          <p:nvPr/>
        </p:nvSpPr>
        <p:spPr>
          <a:xfrm>
            <a:off x="1389154" y="3320086"/>
            <a:ext cx="394729" cy="426178"/>
          </a:xfrm>
          <a:prstGeom prst="rightArrow">
            <a:avLst/>
          </a:prstGeom>
          <a:solidFill>
            <a:srgbClr val="A5A5A5"/>
          </a:solidFill>
          <a:ln w="12700" cap="flat" cmpd="sng" algn="ctr">
            <a:solidFill>
              <a:srgbClr val="A5A5A5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B3487835-B662-74CD-9EEA-8B5217FD9461}"/>
              </a:ext>
            </a:extLst>
          </p:cNvPr>
          <p:cNvSpPr txBox="1"/>
          <p:nvPr/>
        </p:nvSpPr>
        <p:spPr>
          <a:xfrm>
            <a:off x="1168888" y="2850769"/>
            <a:ext cx="9063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prstClr val="black"/>
                </a:solidFill>
                <a:latin typeface="Calibri" panose="020F0502020204030204"/>
              </a:rPr>
              <a:t>Linear</a:t>
            </a:r>
          </a:p>
          <a:p>
            <a:r>
              <a:rPr lang="en-US" sz="1200" dirty="0">
                <a:solidFill>
                  <a:prstClr val="black"/>
                </a:solidFill>
                <a:latin typeface="Calibri" panose="020F0502020204030204"/>
              </a:rPr>
              <a:t>Diag. Pres</a:t>
            </a:r>
          </a:p>
        </p:txBody>
      </p: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D7A13BD8-E963-ED07-F364-4B5E57E7B1E0}"/>
              </a:ext>
            </a:extLst>
          </p:cNvPr>
          <p:cNvCxnSpPr/>
          <p:nvPr/>
        </p:nvCxnSpPr>
        <p:spPr>
          <a:xfrm>
            <a:off x="2444128" y="3222510"/>
            <a:ext cx="0" cy="160276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25" name="TextBox 124">
                <a:extLst>
                  <a:ext uri="{FF2B5EF4-FFF2-40B4-BE49-F238E27FC236}">
                    <a16:creationId xmlns:a16="http://schemas.microsoft.com/office/drawing/2014/main" id="{F1264B5A-62EC-2328-33B0-ED366E5CE9F8}"/>
                  </a:ext>
                </a:extLst>
              </p:cNvPr>
              <p:cNvSpPr txBox="1"/>
              <p:nvPr/>
            </p:nvSpPr>
            <p:spPr>
              <a:xfrm>
                <a:off x="2422892" y="3199277"/>
                <a:ext cx="229932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altLang="zh-CN" sz="12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16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mc:Choice>
        <mc:Fallback>
          <p:sp>
            <p:nvSpPr>
              <p:cNvPr id="125" name="TextBox 124">
                <a:extLst>
                  <a:ext uri="{FF2B5EF4-FFF2-40B4-BE49-F238E27FC236}">
                    <a16:creationId xmlns:a16="http://schemas.microsoft.com/office/drawing/2014/main" id="{F1264B5A-62EC-2328-33B0-ED366E5CE9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22892" y="3199277"/>
                <a:ext cx="229932" cy="276999"/>
              </a:xfrm>
              <a:prstGeom prst="rect">
                <a:avLst/>
              </a:prstGeom>
              <a:blipFill>
                <a:blip r:embed="rId3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6" name="Straight Connector 125">
            <a:extLst>
              <a:ext uri="{FF2B5EF4-FFF2-40B4-BE49-F238E27FC236}">
                <a16:creationId xmlns:a16="http://schemas.microsoft.com/office/drawing/2014/main" id="{49FF6B74-A29A-6BAF-5D16-85269D2C5312}"/>
              </a:ext>
            </a:extLst>
          </p:cNvPr>
          <p:cNvCxnSpPr/>
          <p:nvPr/>
        </p:nvCxnSpPr>
        <p:spPr>
          <a:xfrm>
            <a:off x="3132205" y="3221690"/>
            <a:ext cx="0" cy="160276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27" name="TextBox 126">
                <a:extLst>
                  <a:ext uri="{FF2B5EF4-FFF2-40B4-BE49-F238E27FC236}">
                    <a16:creationId xmlns:a16="http://schemas.microsoft.com/office/drawing/2014/main" id="{D79F8A47-3500-5E70-6FA7-4D20EDC4E606}"/>
                  </a:ext>
                </a:extLst>
              </p:cNvPr>
              <p:cNvSpPr txBox="1"/>
              <p:nvPr/>
            </p:nvSpPr>
            <p:spPr>
              <a:xfrm>
                <a:off x="3085211" y="3171883"/>
                <a:ext cx="204800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altLang="zh-CN" sz="12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sz="16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mc:Choice>
        <mc:Fallback>
          <p:sp>
            <p:nvSpPr>
              <p:cNvPr id="127" name="TextBox 126">
                <a:extLst>
                  <a:ext uri="{FF2B5EF4-FFF2-40B4-BE49-F238E27FC236}">
                    <a16:creationId xmlns:a16="http://schemas.microsoft.com/office/drawing/2014/main" id="{D79F8A47-3500-5E70-6FA7-4D20EDC4E6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85211" y="3171883"/>
                <a:ext cx="204800" cy="276999"/>
              </a:xfrm>
              <a:prstGeom prst="rect">
                <a:avLst/>
              </a:prstGeom>
              <a:blipFill>
                <a:blip r:embed="rId37"/>
                <a:stretch>
                  <a:fillRect r="-11111" b="-4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8" name="Straight Connector 127">
            <a:extLst>
              <a:ext uri="{FF2B5EF4-FFF2-40B4-BE49-F238E27FC236}">
                <a16:creationId xmlns:a16="http://schemas.microsoft.com/office/drawing/2014/main" id="{4939F85F-2178-49E1-C8D7-B83ABC94346E}"/>
              </a:ext>
            </a:extLst>
          </p:cNvPr>
          <p:cNvCxnSpPr>
            <a:cxnSpLocks/>
            <a:stCxn id="129" idx="2"/>
          </p:cNvCxnSpPr>
          <p:nvPr/>
        </p:nvCxnSpPr>
        <p:spPr>
          <a:xfrm flipH="1">
            <a:off x="3058536" y="3228204"/>
            <a:ext cx="2476" cy="340734"/>
          </a:xfrm>
          <a:prstGeom prst="line">
            <a:avLst/>
          </a:prstGeom>
          <a:noFill/>
          <a:ln w="15875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29" name="Rectangle: Rounded Corners 40">
                <a:extLst>
                  <a:ext uri="{FF2B5EF4-FFF2-40B4-BE49-F238E27FC236}">
                    <a16:creationId xmlns:a16="http://schemas.microsoft.com/office/drawing/2014/main" id="{38CF3BF5-53F5-DFF9-618B-8A7CE70AB26C}"/>
                  </a:ext>
                </a:extLst>
              </p:cNvPr>
              <p:cNvSpPr/>
              <p:nvPr/>
            </p:nvSpPr>
            <p:spPr>
              <a:xfrm>
                <a:off x="2754045" y="2961279"/>
                <a:ext cx="613934" cy="266925"/>
              </a:xfrm>
              <a:prstGeom prst="roundRect">
                <a:avLst/>
              </a:prstGeom>
              <a:solidFill>
                <a:srgbClr val="70AD47">
                  <a:lumMod val="40000"/>
                  <a:lumOff val="60000"/>
                  <a:alpha val="96000"/>
                </a:srgbClr>
              </a:solidFill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1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 </m:t>
                      </m:r>
                      <m:r>
                        <a:rPr kumimoji="0" lang="en-US" sz="11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𝑝</m:t>
                      </m:r>
                      <m:r>
                        <a:rPr kumimoji="0" lang="en-US" sz="11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(</m:t>
                      </m:r>
                      <m:r>
                        <a:rPr kumimoji="0" lang="en-CA" sz="11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𝑏</m:t>
                      </m:r>
                      <m:r>
                        <a:rPr kumimoji="0" lang="en-US" sz="11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|</m:t>
                      </m:r>
                      <m:sSub>
                        <m:sSubPr>
                          <m:ctrlPr>
                            <a:rPr kumimoji="0" lang="en-US" sz="11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CA" sz="11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𝑦</m:t>
                          </m:r>
                          <m:r>
                            <a:rPr kumimoji="0" lang="en-US" sz="11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𝜆</m:t>
                          </m:r>
                        </m:e>
                        <m:sub>
                          <m:r>
                            <a:rPr kumimoji="0" lang="en-CA" sz="11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𝐵</m:t>
                          </m:r>
                        </m:sub>
                      </m:sSub>
                      <m:r>
                        <a:rPr kumimoji="0" lang="en-US" sz="11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)</m:t>
                      </m:r>
                    </m:oMath>
                  </m:oMathPara>
                </a14:m>
                <a:endPara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>
          <p:sp>
            <p:nvSpPr>
              <p:cNvPr id="129" name="Rectangle: Rounded Corners 40">
                <a:extLst>
                  <a:ext uri="{FF2B5EF4-FFF2-40B4-BE49-F238E27FC236}">
                    <a16:creationId xmlns:a16="http://schemas.microsoft.com/office/drawing/2014/main" id="{38CF3BF5-53F5-DFF9-618B-8A7CE70AB26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4045" y="2961279"/>
                <a:ext cx="613934" cy="266925"/>
              </a:xfrm>
              <a:prstGeom prst="roundRect">
                <a:avLst/>
              </a:prstGeom>
              <a:blipFill>
                <a:blip r:embed="rId38"/>
                <a:stretch>
                  <a:fillRect/>
                </a:stretch>
              </a:blipFill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0" name="Rectangle: Rounded Corners 33">
                <a:extLst>
                  <a:ext uri="{FF2B5EF4-FFF2-40B4-BE49-F238E27FC236}">
                    <a16:creationId xmlns:a16="http://schemas.microsoft.com/office/drawing/2014/main" id="{73E3084E-C4A4-5345-5722-539FBC13C065}"/>
                  </a:ext>
                </a:extLst>
              </p:cNvPr>
              <p:cNvSpPr/>
              <p:nvPr/>
            </p:nvSpPr>
            <p:spPr>
              <a:xfrm>
                <a:off x="2113164" y="3561533"/>
                <a:ext cx="1170006" cy="398885"/>
              </a:xfrm>
              <a:prstGeom prst="roundRect">
                <a:avLst/>
              </a:prstGeom>
              <a:solidFill>
                <a:srgbClr val="70AD47">
                  <a:lumMod val="40000"/>
                  <a:lumOff val="60000"/>
                  <a:alpha val="96000"/>
                </a:srgbClr>
              </a:solidFill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1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𝑝</m:t>
                      </m:r>
                      <m:r>
                        <a:rPr kumimoji="0" lang="en-US" sz="11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(</m:t>
                      </m:r>
                      <m:sSub>
                        <m:sSubPr>
                          <m:ctrlPr>
                            <a:rPr kumimoji="0" lang="en-US" sz="11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11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𝜆</m:t>
                          </m:r>
                        </m:e>
                        <m:sub>
                          <m:r>
                            <a:rPr kumimoji="0" lang="en-CA" sz="11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𝐴</m:t>
                          </m:r>
                        </m:sub>
                      </m:sSub>
                      <m:sSub>
                        <m:sSubPr>
                          <m:ctrlPr>
                            <a:rPr kumimoji="0" lang="en-US" sz="11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11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𝜆</m:t>
                          </m:r>
                        </m:e>
                        <m:sub>
                          <m:r>
                            <a:rPr kumimoji="0" lang="en-CA" sz="11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𝐵</m:t>
                          </m:r>
                        </m:sub>
                      </m:sSub>
                      <m:r>
                        <a:rPr kumimoji="0" lang="en-US" sz="11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)</m:t>
                      </m:r>
                    </m:oMath>
                  </m:oMathPara>
                </a14:m>
                <a:endPara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>
          <p:sp>
            <p:nvSpPr>
              <p:cNvPr id="130" name="Rectangle: Rounded Corners 33">
                <a:extLst>
                  <a:ext uri="{FF2B5EF4-FFF2-40B4-BE49-F238E27FC236}">
                    <a16:creationId xmlns:a16="http://schemas.microsoft.com/office/drawing/2014/main" id="{73E3084E-C4A4-5345-5722-539FBC13C06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13164" y="3561533"/>
                <a:ext cx="1170006" cy="398885"/>
              </a:xfrm>
              <a:prstGeom prst="roundRect">
                <a:avLst/>
              </a:prstGeom>
              <a:blipFill>
                <a:blip r:embed="rId39"/>
                <a:stretch>
                  <a:fillRect/>
                </a:stretch>
              </a:blipFill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1" name="Straight Connector 130">
            <a:extLst>
              <a:ext uri="{FF2B5EF4-FFF2-40B4-BE49-F238E27FC236}">
                <a16:creationId xmlns:a16="http://schemas.microsoft.com/office/drawing/2014/main" id="{396038E3-7AFF-5029-ADBE-143BAD6F01A3}"/>
              </a:ext>
            </a:extLst>
          </p:cNvPr>
          <p:cNvCxnSpPr>
            <a:cxnSpLocks/>
            <a:stCxn id="132" idx="2"/>
          </p:cNvCxnSpPr>
          <p:nvPr/>
        </p:nvCxnSpPr>
        <p:spPr>
          <a:xfrm flipH="1">
            <a:off x="2356057" y="3227252"/>
            <a:ext cx="2476" cy="340734"/>
          </a:xfrm>
          <a:prstGeom prst="line">
            <a:avLst/>
          </a:prstGeom>
          <a:noFill/>
          <a:ln w="15875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32" name="Rectangle: Rounded Corners 82">
                <a:extLst>
                  <a:ext uri="{FF2B5EF4-FFF2-40B4-BE49-F238E27FC236}">
                    <a16:creationId xmlns:a16="http://schemas.microsoft.com/office/drawing/2014/main" id="{B2675EE2-2375-A2BD-8AEE-DFE1A2403459}"/>
                  </a:ext>
                </a:extLst>
              </p:cNvPr>
              <p:cNvSpPr/>
              <p:nvPr/>
            </p:nvSpPr>
            <p:spPr>
              <a:xfrm>
                <a:off x="2051566" y="2960327"/>
                <a:ext cx="613934" cy="266925"/>
              </a:xfrm>
              <a:prstGeom prst="roundRect">
                <a:avLst/>
              </a:prstGeom>
              <a:solidFill>
                <a:srgbClr val="70AD47">
                  <a:lumMod val="40000"/>
                  <a:lumOff val="60000"/>
                  <a:alpha val="96000"/>
                </a:srgbClr>
              </a:solidFill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1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 </m:t>
                      </m:r>
                      <m:r>
                        <a:rPr kumimoji="0" lang="en-US" sz="11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𝑝</m:t>
                      </m:r>
                      <m:r>
                        <a:rPr kumimoji="0" lang="en-US" sz="11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(</m:t>
                      </m:r>
                      <m:r>
                        <a:rPr kumimoji="0" lang="en-CA" sz="11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𝑎</m:t>
                      </m:r>
                      <m:r>
                        <a:rPr kumimoji="0" lang="en-US" sz="11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|</m:t>
                      </m:r>
                      <m:sSub>
                        <m:sSubPr>
                          <m:ctrlPr>
                            <a:rPr kumimoji="0" lang="en-US" sz="11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CA" sz="11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𝑥</m:t>
                          </m:r>
                          <m:r>
                            <a:rPr kumimoji="0" lang="en-US" sz="11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𝜆</m:t>
                          </m:r>
                        </m:e>
                        <m:sub>
                          <m:r>
                            <a:rPr kumimoji="0" lang="en-CA" sz="11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𝐴</m:t>
                          </m:r>
                        </m:sub>
                      </m:sSub>
                      <m:r>
                        <a:rPr kumimoji="0" lang="en-US" sz="11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)</m:t>
                      </m:r>
                    </m:oMath>
                  </m:oMathPara>
                </a14:m>
                <a:endPara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>
          <p:sp>
            <p:nvSpPr>
              <p:cNvPr id="132" name="Rectangle: Rounded Corners 82">
                <a:extLst>
                  <a:ext uri="{FF2B5EF4-FFF2-40B4-BE49-F238E27FC236}">
                    <a16:creationId xmlns:a16="http://schemas.microsoft.com/office/drawing/2014/main" id="{B2675EE2-2375-A2BD-8AEE-DFE1A240345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1566" y="2960327"/>
                <a:ext cx="613934" cy="266925"/>
              </a:xfrm>
              <a:prstGeom prst="roundRect">
                <a:avLst/>
              </a:prstGeom>
              <a:blipFill>
                <a:blip r:embed="rId40"/>
                <a:stretch>
                  <a:fillRect/>
                </a:stretch>
              </a:blipFill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3" name="TextBox 132">
                <a:extLst>
                  <a:ext uri="{FF2B5EF4-FFF2-40B4-BE49-F238E27FC236}">
                    <a16:creationId xmlns:a16="http://schemas.microsoft.com/office/drawing/2014/main" id="{28F41BD3-4CFB-B59F-BB89-344800B1574E}"/>
                  </a:ext>
                </a:extLst>
              </p:cNvPr>
              <p:cNvSpPr txBox="1"/>
              <p:nvPr/>
            </p:nvSpPr>
            <p:spPr>
              <a:xfrm>
                <a:off x="2321764" y="2754405"/>
                <a:ext cx="246689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12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12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16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mc:Choice>
        <mc:Fallback>
          <p:sp>
            <p:nvSpPr>
              <p:cNvPr id="133" name="TextBox 132">
                <a:extLst>
                  <a:ext uri="{FF2B5EF4-FFF2-40B4-BE49-F238E27FC236}">
                    <a16:creationId xmlns:a16="http://schemas.microsoft.com/office/drawing/2014/main" id="{28F41BD3-4CFB-B59F-BB89-344800B157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21764" y="2754405"/>
                <a:ext cx="246689" cy="276999"/>
              </a:xfrm>
              <a:prstGeom prst="rect">
                <a:avLst/>
              </a:prstGeom>
              <a:blipFill>
                <a:blip r:embed="rId41"/>
                <a:stretch>
                  <a:fillRect r="-14286" b="-86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4" name="Straight Connector 133">
            <a:extLst>
              <a:ext uri="{FF2B5EF4-FFF2-40B4-BE49-F238E27FC236}">
                <a16:creationId xmlns:a16="http://schemas.microsoft.com/office/drawing/2014/main" id="{01954691-0A39-4F38-9B8F-BB24FE9347F7}"/>
              </a:ext>
            </a:extLst>
          </p:cNvPr>
          <p:cNvCxnSpPr>
            <a:cxnSpLocks/>
          </p:cNvCxnSpPr>
          <p:nvPr/>
        </p:nvCxnSpPr>
        <p:spPr>
          <a:xfrm>
            <a:off x="2352856" y="2851877"/>
            <a:ext cx="0" cy="114159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35" name="TextBox 134">
                <a:extLst>
                  <a:ext uri="{FF2B5EF4-FFF2-40B4-BE49-F238E27FC236}">
                    <a16:creationId xmlns:a16="http://schemas.microsoft.com/office/drawing/2014/main" id="{9E429BD2-C0AB-4BEF-79E2-7D0B098F4389}"/>
                  </a:ext>
                </a:extLst>
              </p:cNvPr>
              <p:cNvSpPr txBox="1"/>
              <p:nvPr/>
            </p:nvSpPr>
            <p:spPr>
              <a:xfrm>
                <a:off x="3019564" y="2751946"/>
                <a:ext cx="246689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12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sz="12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16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mc:Choice>
        <mc:Fallback>
          <p:sp>
            <p:nvSpPr>
              <p:cNvPr id="135" name="TextBox 134">
                <a:extLst>
                  <a:ext uri="{FF2B5EF4-FFF2-40B4-BE49-F238E27FC236}">
                    <a16:creationId xmlns:a16="http://schemas.microsoft.com/office/drawing/2014/main" id="{9E429BD2-C0AB-4BEF-79E2-7D0B098F43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19564" y="2751946"/>
                <a:ext cx="246689" cy="276999"/>
              </a:xfrm>
              <a:prstGeom prst="rect">
                <a:avLst/>
              </a:prstGeom>
              <a:blipFill>
                <a:blip r:embed="rId42"/>
                <a:stretch>
                  <a:fillRect r="-14286" b="-86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6" name="Straight Connector 135">
            <a:extLst>
              <a:ext uri="{FF2B5EF4-FFF2-40B4-BE49-F238E27FC236}">
                <a16:creationId xmlns:a16="http://schemas.microsoft.com/office/drawing/2014/main" id="{06C4E937-9D66-8CDD-EB68-1F4AABF83B4B}"/>
              </a:ext>
            </a:extLst>
          </p:cNvPr>
          <p:cNvCxnSpPr>
            <a:cxnSpLocks/>
          </p:cNvCxnSpPr>
          <p:nvPr/>
        </p:nvCxnSpPr>
        <p:spPr>
          <a:xfrm>
            <a:off x="3044542" y="2849418"/>
            <a:ext cx="0" cy="114159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37" name="TextBox 136">
                <a:extLst>
                  <a:ext uri="{FF2B5EF4-FFF2-40B4-BE49-F238E27FC236}">
                    <a16:creationId xmlns:a16="http://schemas.microsoft.com/office/drawing/2014/main" id="{C7103C1A-F0AD-742C-4B54-CE01096FD5B0}"/>
                  </a:ext>
                </a:extLst>
              </p:cNvPr>
              <p:cNvSpPr txBox="1"/>
              <p:nvPr/>
            </p:nvSpPr>
            <p:spPr>
              <a:xfrm>
                <a:off x="2715287" y="3263452"/>
                <a:ext cx="430123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CA" sz="12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>
          <p:sp>
            <p:nvSpPr>
              <p:cNvPr id="137" name="TextBox 136">
                <a:extLst>
                  <a:ext uri="{FF2B5EF4-FFF2-40B4-BE49-F238E27FC236}">
                    <a16:creationId xmlns:a16="http://schemas.microsoft.com/office/drawing/2014/main" id="{C7103C1A-F0AD-742C-4B54-CE01096FD5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15287" y="3263452"/>
                <a:ext cx="430123" cy="276999"/>
              </a:xfrm>
              <a:prstGeom prst="rect">
                <a:avLst/>
              </a:prstGeom>
              <a:blipFill>
                <a:blip r:embed="rId4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8" name="TextBox 137">
                <a:extLst>
                  <a:ext uri="{FF2B5EF4-FFF2-40B4-BE49-F238E27FC236}">
                    <a16:creationId xmlns:a16="http://schemas.microsoft.com/office/drawing/2014/main" id="{A2C7FF47-E242-8220-1CDC-B2CF765DCB36}"/>
                  </a:ext>
                </a:extLst>
              </p:cNvPr>
              <p:cNvSpPr txBox="1"/>
              <p:nvPr/>
            </p:nvSpPr>
            <p:spPr>
              <a:xfrm>
                <a:off x="1983999" y="3259216"/>
                <a:ext cx="430123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CA" sz="12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>
          <p:sp>
            <p:nvSpPr>
              <p:cNvPr id="138" name="TextBox 137">
                <a:extLst>
                  <a:ext uri="{FF2B5EF4-FFF2-40B4-BE49-F238E27FC236}">
                    <a16:creationId xmlns:a16="http://schemas.microsoft.com/office/drawing/2014/main" id="{A2C7FF47-E242-8220-1CDC-B2CF765DCB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3999" y="3259216"/>
                <a:ext cx="430123" cy="276999"/>
              </a:xfrm>
              <a:prstGeom prst="rect">
                <a:avLst/>
              </a:prstGeom>
              <a:blipFill>
                <a:blip r:embed="rId4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247324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23186D-09A9-93AA-49EB-A45663649F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566836D2-6EFE-4943-B2AB-FFE64321F645}"/>
              </a:ext>
            </a:extLst>
          </p:cNvPr>
          <p:cNvSpPr/>
          <p:nvPr/>
        </p:nvSpPr>
        <p:spPr>
          <a:xfrm>
            <a:off x="0" y="5465135"/>
            <a:ext cx="4657060" cy="13928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DA6A6402-584D-0C69-D98A-B2841BD88F36}"/>
              </a:ext>
            </a:extLst>
          </p:cNvPr>
          <p:cNvCxnSpPr>
            <a:cxnSpLocks/>
          </p:cNvCxnSpPr>
          <p:nvPr/>
        </p:nvCxnSpPr>
        <p:spPr>
          <a:xfrm>
            <a:off x="939352" y="1712501"/>
            <a:ext cx="0" cy="160276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E4C3ACA2-A177-F63D-6DF3-1DB2E9B3BF77}"/>
                  </a:ext>
                </a:extLst>
              </p:cNvPr>
              <p:cNvSpPr txBox="1"/>
              <p:nvPr/>
            </p:nvSpPr>
            <p:spPr>
              <a:xfrm>
                <a:off x="892358" y="1662694"/>
                <a:ext cx="204800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altLang="zh-CN" sz="12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sz="16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E4C3ACA2-A177-F63D-6DF3-1DB2E9B3BF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2358" y="1662694"/>
                <a:ext cx="204800" cy="276999"/>
              </a:xfrm>
              <a:prstGeom prst="rect">
                <a:avLst/>
              </a:prstGeom>
              <a:blipFill>
                <a:blip r:embed="rId14"/>
                <a:stretch>
                  <a:fillRect r="-11765" b="-45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6AFAFF76-52FB-C5A4-FF6D-B6880F8F2E74}"/>
              </a:ext>
            </a:extLst>
          </p:cNvPr>
          <p:cNvCxnSpPr>
            <a:cxnSpLocks/>
          </p:cNvCxnSpPr>
          <p:nvPr/>
        </p:nvCxnSpPr>
        <p:spPr>
          <a:xfrm>
            <a:off x="328962" y="1710862"/>
            <a:ext cx="0" cy="160276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2B520E50-B57F-0A1B-6BB5-87B588BED112}"/>
                  </a:ext>
                </a:extLst>
              </p:cNvPr>
              <p:cNvSpPr txBox="1"/>
              <p:nvPr/>
            </p:nvSpPr>
            <p:spPr>
              <a:xfrm>
                <a:off x="281968" y="1661055"/>
                <a:ext cx="204800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altLang="zh-CN" sz="12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16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2B520E50-B57F-0A1B-6BB5-87B588BED1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968" y="1661055"/>
                <a:ext cx="204800" cy="276999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E7885419-23A1-96C7-9161-C96EF30F00E0}"/>
                  </a:ext>
                </a:extLst>
              </p:cNvPr>
              <p:cNvSpPr txBox="1"/>
              <p:nvPr/>
            </p:nvSpPr>
            <p:spPr>
              <a:xfrm>
                <a:off x="206598" y="1199747"/>
                <a:ext cx="246689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12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12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16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E7885419-23A1-96C7-9161-C96EF30F00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598" y="1199747"/>
                <a:ext cx="246689" cy="276999"/>
              </a:xfrm>
              <a:prstGeom prst="rect">
                <a:avLst/>
              </a:prstGeom>
              <a:blipFill>
                <a:blip r:embed="rId16"/>
                <a:stretch>
                  <a:fillRect r="-20000" b="-86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3" name="Group 42">
            <a:extLst>
              <a:ext uri="{FF2B5EF4-FFF2-40B4-BE49-F238E27FC236}">
                <a16:creationId xmlns:a16="http://schemas.microsoft.com/office/drawing/2014/main" id="{6A1AEE9A-DD89-FC3F-68D9-F71C60B8D2C1}"/>
              </a:ext>
            </a:extLst>
          </p:cNvPr>
          <p:cNvGrpSpPr/>
          <p:nvPr/>
        </p:nvGrpSpPr>
        <p:grpSpPr>
          <a:xfrm>
            <a:off x="834098" y="1721167"/>
            <a:ext cx="45719" cy="210912"/>
            <a:chOff x="6548130" y="2237014"/>
            <a:chExt cx="49658" cy="440872"/>
          </a:xfrm>
        </p:grpSpPr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82AE36BB-F850-9898-FC2E-D97CB8C94BFD}"/>
                </a:ext>
              </a:extLst>
            </p:cNvPr>
            <p:cNvCxnSpPr>
              <a:cxnSpLocks/>
            </p:cNvCxnSpPr>
            <p:nvPr/>
          </p:nvCxnSpPr>
          <p:spPr>
            <a:xfrm>
              <a:off x="6548130" y="2237014"/>
              <a:ext cx="0" cy="440872"/>
            </a:xfrm>
            <a:prstGeom prst="line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211B8B01-4E16-858E-ED02-FAB80E09E927}"/>
                </a:ext>
              </a:extLst>
            </p:cNvPr>
            <p:cNvCxnSpPr>
              <a:cxnSpLocks/>
            </p:cNvCxnSpPr>
            <p:nvPr/>
          </p:nvCxnSpPr>
          <p:spPr>
            <a:xfrm>
              <a:off x="6597788" y="2237014"/>
              <a:ext cx="0" cy="440872"/>
            </a:xfrm>
            <a:prstGeom prst="line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cxnSp>
      </p:grpSp>
      <p:sp>
        <p:nvSpPr>
          <p:cNvPr id="46" name="Flowchart: Delay 9">
            <a:extLst>
              <a:ext uri="{FF2B5EF4-FFF2-40B4-BE49-F238E27FC236}">
                <a16:creationId xmlns:a16="http://schemas.microsoft.com/office/drawing/2014/main" id="{83310493-5A1B-8D62-AB34-42A0247DF1FD}"/>
              </a:ext>
            </a:extLst>
          </p:cNvPr>
          <p:cNvSpPr/>
          <p:nvPr/>
        </p:nvSpPr>
        <p:spPr>
          <a:xfrm rot="16200000">
            <a:off x="709674" y="1382374"/>
            <a:ext cx="309789" cy="367797"/>
          </a:xfrm>
          <a:prstGeom prst="flowChartDelay">
            <a:avLst/>
          </a:prstGeom>
          <a:solidFill>
            <a:srgbClr val="FFC000">
              <a:lumMod val="40000"/>
              <a:lumOff val="60000"/>
            </a:srgbClr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eaVert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C6582EB5-8047-35E3-117C-C15B8D690A36}"/>
                  </a:ext>
                </a:extLst>
              </p:cNvPr>
              <p:cNvSpPr txBox="1"/>
              <p:nvPr/>
            </p:nvSpPr>
            <p:spPr>
              <a:xfrm>
                <a:off x="839590" y="1199747"/>
                <a:ext cx="246689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12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sz="12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16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C6582EB5-8047-35E3-117C-C15B8D690A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9590" y="1199747"/>
                <a:ext cx="246689" cy="276999"/>
              </a:xfrm>
              <a:prstGeom prst="rect">
                <a:avLst/>
              </a:prstGeom>
              <a:blipFill>
                <a:blip r:embed="rId17"/>
                <a:stretch>
                  <a:fillRect r="-15000" b="-86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8" name="Group 47">
            <a:extLst>
              <a:ext uri="{FF2B5EF4-FFF2-40B4-BE49-F238E27FC236}">
                <a16:creationId xmlns:a16="http://schemas.microsoft.com/office/drawing/2014/main" id="{8D618F0C-3F56-33B7-6C7A-39D19F2F937F}"/>
              </a:ext>
            </a:extLst>
          </p:cNvPr>
          <p:cNvGrpSpPr/>
          <p:nvPr/>
        </p:nvGrpSpPr>
        <p:grpSpPr>
          <a:xfrm>
            <a:off x="218876" y="1721167"/>
            <a:ext cx="45719" cy="210912"/>
            <a:chOff x="6548130" y="2237014"/>
            <a:chExt cx="49658" cy="440872"/>
          </a:xfrm>
        </p:grpSpPr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2A7B76D6-6A23-82D0-C2D2-7B9B33AE6E48}"/>
                </a:ext>
              </a:extLst>
            </p:cNvPr>
            <p:cNvCxnSpPr>
              <a:cxnSpLocks/>
            </p:cNvCxnSpPr>
            <p:nvPr/>
          </p:nvCxnSpPr>
          <p:spPr>
            <a:xfrm>
              <a:off x="6548130" y="2237014"/>
              <a:ext cx="0" cy="440872"/>
            </a:xfrm>
            <a:prstGeom prst="line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5EF12D54-F492-F2F9-DF76-333BF2E5F2A6}"/>
                </a:ext>
              </a:extLst>
            </p:cNvPr>
            <p:cNvCxnSpPr>
              <a:cxnSpLocks/>
            </p:cNvCxnSpPr>
            <p:nvPr/>
          </p:nvCxnSpPr>
          <p:spPr>
            <a:xfrm>
              <a:off x="6597788" y="2237014"/>
              <a:ext cx="0" cy="440872"/>
            </a:xfrm>
            <a:prstGeom prst="line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cxnSp>
      </p:grpSp>
      <p:sp>
        <p:nvSpPr>
          <p:cNvPr id="51" name="Flowchart: Delay 17">
            <a:extLst>
              <a:ext uri="{FF2B5EF4-FFF2-40B4-BE49-F238E27FC236}">
                <a16:creationId xmlns:a16="http://schemas.microsoft.com/office/drawing/2014/main" id="{7A3B11BE-D3FF-B869-67D3-077398CEB3BC}"/>
              </a:ext>
            </a:extLst>
          </p:cNvPr>
          <p:cNvSpPr/>
          <p:nvPr/>
        </p:nvSpPr>
        <p:spPr>
          <a:xfrm rot="16200000">
            <a:off x="83013" y="1382374"/>
            <a:ext cx="309789" cy="367797"/>
          </a:xfrm>
          <a:prstGeom prst="flowChartDelay">
            <a:avLst/>
          </a:prstGeom>
          <a:solidFill>
            <a:srgbClr val="FFC000">
              <a:lumMod val="40000"/>
              <a:lumOff val="60000"/>
            </a:srgbClr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eaVert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0" dirty="0">
                <a:solidFill>
                  <a:prstClr val="black"/>
                </a:solidFill>
                <a:latin typeface="Calibri" panose="020F0502020204030204"/>
              </a:rPr>
              <a:t>N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CFF5B7E6-8D10-04BA-369A-C34C6D4F0FFA}"/>
              </a:ext>
            </a:extLst>
          </p:cNvPr>
          <p:cNvCxnSpPr>
            <a:cxnSpLocks/>
          </p:cNvCxnSpPr>
          <p:nvPr/>
        </p:nvCxnSpPr>
        <p:spPr>
          <a:xfrm>
            <a:off x="237690" y="1297219"/>
            <a:ext cx="0" cy="114159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BA5F2207-8A35-3DBB-E72F-5AD7C6041A31}"/>
              </a:ext>
            </a:extLst>
          </p:cNvPr>
          <p:cNvCxnSpPr>
            <a:cxnSpLocks/>
          </p:cNvCxnSpPr>
          <p:nvPr/>
        </p:nvCxnSpPr>
        <p:spPr>
          <a:xfrm>
            <a:off x="864568" y="1297219"/>
            <a:ext cx="0" cy="114159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Rectangle: Rounded Corners 10">
                <a:extLst>
                  <a:ext uri="{FF2B5EF4-FFF2-40B4-BE49-F238E27FC236}">
                    <a16:creationId xmlns:a16="http://schemas.microsoft.com/office/drawing/2014/main" id="{1D51E461-8212-20D4-C4EF-94AD74BD9DE7}"/>
                  </a:ext>
                </a:extLst>
              </p:cNvPr>
              <p:cNvSpPr/>
              <p:nvPr/>
            </p:nvSpPr>
            <p:spPr>
              <a:xfrm>
                <a:off x="54009" y="1938054"/>
                <a:ext cx="994458" cy="406232"/>
              </a:xfrm>
              <a:prstGeom prst="roundRect">
                <a:avLst/>
              </a:prstGeom>
              <a:solidFill>
                <a:srgbClr val="FFC000">
                  <a:lumMod val="40000"/>
                  <a:lumOff val="60000"/>
                </a:srgbClr>
              </a:solidFill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CA" sz="18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𝜌</m:t>
                      </m:r>
                    </m:oMath>
                  </m:oMathPara>
                </a14:m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54" name="Rectangle: Rounded Corners 10">
                <a:extLst>
                  <a:ext uri="{FF2B5EF4-FFF2-40B4-BE49-F238E27FC236}">
                    <a16:creationId xmlns:a16="http://schemas.microsoft.com/office/drawing/2014/main" id="{1D51E461-8212-20D4-C4EF-94AD74BD9DE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09" y="1938054"/>
                <a:ext cx="994458" cy="406232"/>
              </a:xfrm>
              <a:prstGeom prst="roundRect">
                <a:avLst/>
              </a:prstGeom>
              <a:blipFill>
                <a:blip r:embed="rId18"/>
                <a:stretch>
                  <a:fillRect/>
                </a:stretch>
              </a:blipFill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5" name="TextBox 54">
            <a:extLst>
              <a:ext uri="{FF2B5EF4-FFF2-40B4-BE49-F238E27FC236}">
                <a16:creationId xmlns:a16="http://schemas.microsoft.com/office/drawing/2014/main" id="{CCDEE6A0-B6D1-51AC-D4DB-8B17FB9E1CE1}"/>
              </a:ext>
            </a:extLst>
          </p:cNvPr>
          <p:cNvSpPr txBox="1"/>
          <p:nvPr/>
        </p:nvSpPr>
        <p:spPr>
          <a:xfrm>
            <a:off x="1968917" y="2502464"/>
            <a:ext cx="141578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1200" dirty="0">
                <a:solidFill>
                  <a:prstClr val="black"/>
                </a:solidFill>
                <a:latin typeface="Calibri" panose="020F0502020204030204"/>
              </a:rPr>
              <a:t>Ontological model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73E72D5-0C31-DB8D-56FF-108351040EFD}"/>
              </a:ext>
            </a:extLst>
          </p:cNvPr>
          <p:cNvSpPr txBox="1"/>
          <p:nvPr/>
        </p:nvSpPr>
        <p:spPr>
          <a:xfrm>
            <a:off x="-15082" y="2489170"/>
            <a:ext cx="141578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1200" dirty="0">
                <a:solidFill>
                  <a:prstClr val="black"/>
                </a:solidFill>
                <a:latin typeface="Calibri" panose="020F0502020204030204"/>
              </a:rPr>
              <a:t>Quantum circuit</a:t>
            </a:r>
          </a:p>
        </p:txBody>
      </p:sp>
      <p:sp>
        <p:nvSpPr>
          <p:cNvPr id="57" name="Arrow: Right 117">
            <a:extLst>
              <a:ext uri="{FF2B5EF4-FFF2-40B4-BE49-F238E27FC236}">
                <a16:creationId xmlns:a16="http://schemas.microsoft.com/office/drawing/2014/main" id="{0DA5FC5A-75BD-0690-3CC3-ED099E624DA3}"/>
              </a:ext>
            </a:extLst>
          </p:cNvPr>
          <p:cNvSpPr/>
          <p:nvPr/>
        </p:nvSpPr>
        <p:spPr>
          <a:xfrm>
            <a:off x="1374072" y="1733715"/>
            <a:ext cx="394729" cy="426178"/>
          </a:xfrm>
          <a:prstGeom prst="rightArrow">
            <a:avLst/>
          </a:prstGeom>
          <a:solidFill>
            <a:srgbClr val="A5A5A5"/>
          </a:solidFill>
          <a:ln w="12700" cap="flat" cmpd="sng" algn="ctr">
            <a:solidFill>
              <a:srgbClr val="A5A5A5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F095AA05-1122-3716-AD07-66AAC9D98CAF}"/>
              </a:ext>
            </a:extLst>
          </p:cNvPr>
          <p:cNvSpPr txBox="1"/>
          <p:nvPr/>
        </p:nvSpPr>
        <p:spPr>
          <a:xfrm>
            <a:off x="1153806" y="1264398"/>
            <a:ext cx="9063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prstClr val="black"/>
                </a:solidFill>
                <a:latin typeface="Calibri" panose="020F0502020204030204"/>
              </a:rPr>
              <a:t>Linear</a:t>
            </a:r>
          </a:p>
          <a:p>
            <a:r>
              <a:rPr lang="en-US" sz="1200" dirty="0">
                <a:solidFill>
                  <a:prstClr val="black"/>
                </a:solidFill>
                <a:latin typeface="Calibri" panose="020F0502020204030204"/>
              </a:rPr>
              <a:t>Diag. Pres</a:t>
            </a:r>
          </a:p>
        </p:txBody>
      </p: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869582BA-63E4-219A-198F-89DC8CBD5FE5}"/>
              </a:ext>
            </a:extLst>
          </p:cNvPr>
          <p:cNvCxnSpPr/>
          <p:nvPr/>
        </p:nvCxnSpPr>
        <p:spPr>
          <a:xfrm>
            <a:off x="2429046" y="1636139"/>
            <a:ext cx="0" cy="160276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803E56EE-2031-4054-7065-8E123B8CBAAD}"/>
                  </a:ext>
                </a:extLst>
              </p:cNvPr>
              <p:cNvSpPr txBox="1"/>
              <p:nvPr/>
            </p:nvSpPr>
            <p:spPr>
              <a:xfrm>
                <a:off x="2407810" y="1612906"/>
                <a:ext cx="229932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altLang="zh-CN" sz="12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16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mc:Choice>
        <mc:Fallback xmlns="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803E56EE-2031-4054-7065-8E123B8CBA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7810" y="1612906"/>
                <a:ext cx="229932" cy="276999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DA51F1F5-36CE-1028-0921-5DD352C19A5A}"/>
              </a:ext>
            </a:extLst>
          </p:cNvPr>
          <p:cNvCxnSpPr/>
          <p:nvPr/>
        </p:nvCxnSpPr>
        <p:spPr>
          <a:xfrm>
            <a:off x="3117123" y="1635319"/>
            <a:ext cx="0" cy="160276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C2BD7B5C-9ABE-7D26-2526-1FA040FAE33F}"/>
                  </a:ext>
                </a:extLst>
              </p:cNvPr>
              <p:cNvSpPr txBox="1"/>
              <p:nvPr/>
            </p:nvSpPr>
            <p:spPr>
              <a:xfrm>
                <a:off x="3070129" y="1585512"/>
                <a:ext cx="204800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altLang="zh-CN" sz="12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sz="16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mc:Choice>
        <mc:Fallback xmlns="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C2BD7B5C-9ABE-7D26-2526-1FA040FAE3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0129" y="1585512"/>
                <a:ext cx="204800" cy="276999"/>
              </a:xfrm>
              <a:prstGeom prst="rect">
                <a:avLst/>
              </a:prstGeom>
              <a:blipFill>
                <a:blip r:embed="rId20"/>
                <a:stretch>
                  <a:fillRect r="-17647" b="-4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5CDCBA6C-9CE0-B9B1-95E6-DC4FDE939D9D}"/>
              </a:ext>
            </a:extLst>
          </p:cNvPr>
          <p:cNvCxnSpPr>
            <a:cxnSpLocks/>
            <a:stCxn id="64" idx="2"/>
          </p:cNvCxnSpPr>
          <p:nvPr/>
        </p:nvCxnSpPr>
        <p:spPr>
          <a:xfrm flipH="1">
            <a:off x="3043454" y="1641833"/>
            <a:ext cx="2476" cy="340734"/>
          </a:xfrm>
          <a:prstGeom prst="line">
            <a:avLst/>
          </a:prstGeom>
          <a:noFill/>
          <a:ln w="15875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Rectangle: Rounded Corners 40">
                <a:extLst>
                  <a:ext uri="{FF2B5EF4-FFF2-40B4-BE49-F238E27FC236}">
                    <a16:creationId xmlns:a16="http://schemas.microsoft.com/office/drawing/2014/main" id="{96BDD249-C210-2A75-D580-7D76B9B07E81}"/>
                  </a:ext>
                </a:extLst>
              </p:cNvPr>
              <p:cNvSpPr/>
              <p:nvPr/>
            </p:nvSpPr>
            <p:spPr>
              <a:xfrm>
                <a:off x="2738963" y="1374908"/>
                <a:ext cx="613934" cy="266925"/>
              </a:xfrm>
              <a:prstGeom prst="roundRect">
                <a:avLst/>
              </a:prstGeom>
              <a:solidFill>
                <a:srgbClr val="70AD47">
                  <a:lumMod val="40000"/>
                  <a:lumOff val="60000"/>
                  <a:alpha val="96000"/>
                </a:srgbClr>
              </a:solidFill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1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 </m:t>
                      </m:r>
                      <m:r>
                        <a:rPr kumimoji="0" lang="en-US" sz="11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𝑝</m:t>
                      </m:r>
                      <m:r>
                        <a:rPr kumimoji="0" lang="en-US" sz="11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(</m:t>
                      </m:r>
                      <m:r>
                        <a:rPr kumimoji="0" lang="en-CA" sz="11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𝑏</m:t>
                      </m:r>
                      <m:r>
                        <a:rPr kumimoji="0" lang="en-US" sz="11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|</m:t>
                      </m:r>
                      <m:sSub>
                        <m:sSubPr>
                          <m:ctrlPr>
                            <a:rPr kumimoji="0" lang="en-US" sz="11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CA" sz="11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𝑦</m:t>
                          </m:r>
                          <m:r>
                            <a:rPr kumimoji="0" lang="en-US" sz="11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𝜆</m:t>
                          </m:r>
                        </m:e>
                        <m:sub>
                          <m:r>
                            <a:rPr kumimoji="0" lang="en-CA" sz="11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𝐵</m:t>
                          </m:r>
                        </m:sub>
                      </m:sSub>
                      <m:r>
                        <a:rPr kumimoji="0" lang="en-US" sz="11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)</m:t>
                      </m:r>
                    </m:oMath>
                  </m:oMathPara>
                </a14:m>
                <a:endPara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64" name="Rectangle: Rounded Corners 40">
                <a:extLst>
                  <a:ext uri="{FF2B5EF4-FFF2-40B4-BE49-F238E27FC236}">
                    <a16:creationId xmlns:a16="http://schemas.microsoft.com/office/drawing/2014/main" id="{96BDD249-C210-2A75-D580-7D76B9B07E8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38963" y="1374908"/>
                <a:ext cx="613934" cy="266925"/>
              </a:xfrm>
              <a:prstGeom prst="roundRect">
                <a:avLst/>
              </a:prstGeom>
              <a:blipFill>
                <a:blip r:embed="rId21"/>
                <a:stretch>
                  <a:fillRect/>
                </a:stretch>
              </a:blipFill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Rectangle: Rounded Corners 33">
                <a:extLst>
                  <a:ext uri="{FF2B5EF4-FFF2-40B4-BE49-F238E27FC236}">
                    <a16:creationId xmlns:a16="http://schemas.microsoft.com/office/drawing/2014/main" id="{FD48816F-CC54-3774-A548-FCBF214EF163}"/>
                  </a:ext>
                </a:extLst>
              </p:cNvPr>
              <p:cNvSpPr/>
              <p:nvPr/>
            </p:nvSpPr>
            <p:spPr>
              <a:xfrm>
                <a:off x="2098082" y="1975162"/>
                <a:ext cx="1170006" cy="398885"/>
              </a:xfrm>
              <a:prstGeom prst="roundRect">
                <a:avLst/>
              </a:prstGeom>
              <a:solidFill>
                <a:srgbClr val="70AD47">
                  <a:lumMod val="40000"/>
                  <a:lumOff val="60000"/>
                  <a:alpha val="96000"/>
                </a:srgbClr>
              </a:solidFill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1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𝑝</m:t>
                      </m:r>
                      <m:r>
                        <a:rPr kumimoji="0" lang="en-US" sz="11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(</m:t>
                      </m:r>
                      <m:sSub>
                        <m:sSubPr>
                          <m:ctrlPr>
                            <a:rPr kumimoji="0" lang="en-US" sz="11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11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𝜆</m:t>
                          </m:r>
                        </m:e>
                        <m:sub>
                          <m:r>
                            <a:rPr kumimoji="0" lang="en-CA" sz="11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𝐴</m:t>
                          </m:r>
                        </m:sub>
                      </m:sSub>
                      <m:sSub>
                        <m:sSubPr>
                          <m:ctrlPr>
                            <a:rPr kumimoji="0" lang="en-US" sz="11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11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𝜆</m:t>
                          </m:r>
                        </m:e>
                        <m:sub>
                          <m:r>
                            <a:rPr kumimoji="0" lang="en-CA" sz="11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𝐵</m:t>
                          </m:r>
                        </m:sub>
                      </m:sSub>
                      <m:r>
                        <a:rPr kumimoji="0" lang="en-US" sz="11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)</m:t>
                      </m:r>
                    </m:oMath>
                  </m:oMathPara>
                </a14:m>
                <a:endPara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65" name="Rectangle: Rounded Corners 33">
                <a:extLst>
                  <a:ext uri="{FF2B5EF4-FFF2-40B4-BE49-F238E27FC236}">
                    <a16:creationId xmlns:a16="http://schemas.microsoft.com/office/drawing/2014/main" id="{FD48816F-CC54-3774-A548-FCBF214EF16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98082" y="1975162"/>
                <a:ext cx="1170006" cy="398885"/>
              </a:xfrm>
              <a:prstGeom prst="roundRect">
                <a:avLst/>
              </a:prstGeom>
              <a:blipFill>
                <a:blip r:embed="rId22"/>
                <a:stretch>
                  <a:fillRect/>
                </a:stretch>
              </a:blipFill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A9A4A00E-AE2F-33F7-EE10-CD85CF7A38DD}"/>
              </a:ext>
            </a:extLst>
          </p:cNvPr>
          <p:cNvCxnSpPr>
            <a:cxnSpLocks/>
            <a:stCxn id="67" idx="2"/>
          </p:cNvCxnSpPr>
          <p:nvPr/>
        </p:nvCxnSpPr>
        <p:spPr>
          <a:xfrm flipH="1">
            <a:off x="2340975" y="1640881"/>
            <a:ext cx="2476" cy="340734"/>
          </a:xfrm>
          <a:prstGeom prst="line">
            <a:avLst/>
          </a:prstGeom>
          <a:noFill/>
          <a:ln w="15875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7" name="Rectangle: Rounded Corners 82">
                <a:extLst>
                  <a:ext uri="{FF2B5EF4-FFF2-40B4-BE49-F238E27FC236}">
                    <a16:creationId xmlns:a16="http://schemas.microsoft.com/office/drawing/2014/main" id="{D90AB863-B023-B4E0-BC6B-A550DEC62DB0}"/>
                  </a:ext>
                </a:extLst>
              </p:cNvPr>
              <p:cNvSpPr/>
              <p:nvPr/>
            </p:nvSpPr>
            <p:spPr>
              <a:xfrm>
                <a:off x="2036484" y="1373956"/>
                <a:ext cx="613934" cy="266925"/>
              </a:xfrm>
              <a:prstGeom prst="roundRect">
                <a:avLst/>
              </a:prstGeom>
              <a:solidFill>
                <a:srgbClr val="70AD47">
                  <a:lumMod val="40000"/>
                  <a:lumOff val="60000"/>
                  <a:alpha val="96000"/>
                </a:srgbClr>
              </a:solidFill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1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 </m:t>
                      </m:r>
                      <m:r>
                        <a:rPr kumimoji="0" lang="en-US" sz="11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𝑝</m:t>
                      </m:r>
                      <m:r>
                        <a:rPr kumimoji="0" lang="en-US" sz="11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(</m:t>
                      </m:r>
                      <m:r>
                        <a:rPr kumimoji="0" lang="en-CA" sz="11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𝑎</m:t>
                      </m:r>
                      <m:r>
                        <a:rPr kumimoji="0" lang="en-US" sz="11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|</m:t>
                      </m:r>
                      <m:sSub>
                        <m:sSubPr>
                          <m:ctrlPr>
                            <a:rPr kumimoji="0" lang="en-US" sz="11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CA" sz="11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𝑥</m:t>
                          </m:r>
                          <m:r>
                            <a:rPr kumimoji="0" lang="en-US" sz="11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𝜆</m:t>
                          </m:r>
                        </m:e>
                        <m:sub>
                          <m:r>
                            <a:rPr kumimoji="0" lang="en-CA" sz="11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𝐴</m:t>
                          </m:r>
                        </m:sub>
                      </m:sSub>
                      <m:r>
                        <a:rPr kumimoji="0" lang="en-US" sz="11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)</m:t>
                      </m:r>
                    </m:oMath>
                  </m:oMathPara>
                </a14:m>
                <a:endPara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67" name="Rectangle: Rounded Corners 82">
                <a:extLst>
                  <a:ext uri="{FF2B5EF4-FFF2-40B4-BE49-F238E27FC236}">
                    <a16:creationId xmlns:a16="http://schemas.microsoft.com/office/drawing/2014/main" id="{D90AB863-B023-B4E0-BC6B-A550DEC62DB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6484" y="1373956"/>
                <a:ext cx="613934" cy="266925"/>
              </a:xfrm>
              <a:prstGeom prst="roundRect">
                <a:avLst/>
              </a:prstGeom>
              <a:blipFill>
                <a:blip r:embed="rId23"/>
                <a:stretch>
                  <a:fillRect/>
                </a:stretch>
              </a:blipFill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7FCC1CCD-F603-7694-531D-B5B4CDA6FEAD}"/>
                  </a:ext>
                </a:extLst>
              </p:cNvPr>
              <p:cNvSpPr txBox="1"/>
              <p:nvPr/>
            </p:nvSpPr>
            <p:spPr>
              <a:xfrm>
                <a:off x="2306682" y="1168034"/>
                <a:ext cx="246689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12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12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16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mc:Choice>
        <mc:Fallback xmlns="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7FCC1CCD-F603-7694-531D-B5B4CDA6FE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06682" y="1168034"/>
                <a:ext cx="246689" cy="276999"/>
              </a:xfrm>
              <a:prstGeom prst="rect">
                <a:avLst/>
              </a:prstGeom>
              <a:blipFill>
                <a:blip r:embed="rId24"/>
                <a:stretch>
                  <a:fillRect r="-14286" b="-90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1A1A7B6B-6BB4-4812-4629-7BDB17C55F15}"/>
              </a:ext>
            </a:extLst>
          </p:cNvPr>
          <p:cNvCxnSpPr>
            <a:cxnSpLocks/>
          </p:cNvCxnSpPr>
          <p:nvPr/>
        </p:nvCxnSpPr>
        <p:spPr>
          <a:xfrm>
            <a:off x="2337774" y="1265506"/>
            <a:ext cx="0" cy="114159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585A3FE3-8855-1950-E0D2-1E6892604E4D}"/>
                  </a:ext>
                </a:extLst>
              </p:cNvPr>
              <p:cNvSpPr txBox="1"/>
              <p:nvPr/>
            </p:nvSpPr>
            <p:spPr>
              <a:xfrm>
                <a:off x="3004482" y="1165575"/>
                <a:ext cx="246689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12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sz="12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16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mc:Choice>
        <mc:Fallback xmlns="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585A3FE3-8855-1950-E0D2-1E6892604E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4482" y="1165575"/>
                <a:ext cx="246689" cy="276999"/>
              </a:xfrm>
              <a:prstGeom prst="rect">
                <a:avLst/>
              </a:prstGeom>
              <a:blipFill>
                <a:blip r:embed="rId25"/>
                <a:stretch>
                  <a:fillRect r="-20000" b="-86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E3AC9135-5AE4-39A6-449A-431C005492AE}"/>
              </a:ext>
            </a:extLst>
          </p:cNvPr>
          <p:cNvCxnSpPr>
            <a:cxnSpLocks/>
          </p:cNvCxnSpPr>
          <p:nvPr/>
        </p:nvCxnSpPr>
        <p:spPr>
          <a:xfrm>
            <a:off x="3029460" y="1263047"/>
            <a:ext cx="0" cy="114159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5B3FF484-42CD-19D7-ED88-4F05BB6D1963}"/>
                  </a:ext>
                </a:extLst>
              </p:cNvPr>
              <p:cNvSpPr txBox="1"/>
              <p:nvPr/>
            </p:nvSpPr>
            <p:spPr>
              <a:xfrm>
                <a:off x="2700205" y="1677081"/>
                <a:ext cx="430123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CA" sz="12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5B3FF484-42CD-19D7-ED88-4F05BB6D19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00205" y="1677081"/>
                <a:ext cx="430123" cy="276999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676BB8D4-A464-13EA-9627-0F7B7E715FE1}"/>
                  </a:ext>
                </a:extLst>
              </p:cNvPr>
              <p:cNvSpPr txBox="1"/>
              <p:nvPr/>
            </p:nvSpPr>
            <p:spPr>
              <a:xfrm>
                <a:off x="1968917" y="1672845"/>
                <a:ext cx="430123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CA" sz="12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676BB8D4-A464-13EA-9627-0F7B7E715F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8917" y="1672845"/>
                <a:ext cx="430123" cy="276999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61340AB4-7D12-DDE0-395F-F2BC418D43D1}"/>
                  </a:ext>
                </a:extLst>
              </p:cNvPr>
              <p:cNvSpPr/>
              <p:nvPr/>
            </p:nvSpPr>
            <p:spPr>
              <a:xfrm>
                <a:off x="3428139" y="2111366"/>
                <a:ext cx="8653252" cy="2899388"/>
              </a:xfrm>
              <a:prstGeom prst="rect">
                <a:avLst/>
              </a:prstGeom>
              <a:ln w="25400">
                <a:solidFill>
                  <a:srgbClr val="0070C0">
                    <a:alpha val="98000"/>
                  </a:srgb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t"/>
              <a:lstStyle/>
              <a:p>
                <a:r>
                  <a:rPr lang="en-US" sz="1600" dirty="0"/>
                  <a:t>Example 5: (randomized) Bell scenario, where one has </a:t>
                </a:r>
                <a14:m>
                  <m:oMath xmlns:m="http://schemas.openxmlformats.org/officeDocument/2006/math">
                    <m:r>
                      <a:rPr lang="en-CA" sz="1600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CA" sz="16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600" dirty="0"/>
                  <a:t>binary-outcome measurements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CA" sz="16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CA" sz="1600" i="1"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a:rPr lang="en-CA" sz="1600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CA" sz="1600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CA" sz="1600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CA" sz="1600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  <m:sup>
                        <m:r>
                          <a:rPr lang="en-CA" sz="1600" i="1">
                            <a:latin typeface="Cambria Math" panose="02040503050406030204" pitchFamily="18" charset="0"/>
                          </a:rPr>
                          <m:t>𝐴</m:t>
                        </m:r>
                      </m:sup>
                    </m:sSubSup>
                    <m:r>
                      <a:rPr lang="en-CA" sz="1600" i="1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sz="1600" dirty="0"/>
                  <a:t> and </a:t>
                </a:r>
                <a14:m>
                  <m:oMath xmlns:m="http://schemas.openxmlformats.org/officeDocument/2006/math">
                    <m:r>
                      <a:rPr lang="en-CA" sz="1600" i="1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sz="1600" dirty="0"/>
                  <a:t> binary-outcome measurements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CA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CA" sz="16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CA" sz="1600" i="1">
                                <a:latin typeface="Cambria Math" panose="02040503050406030204" pitchFamily="18" charset="0"/>
                              </a:rPr>
                              <m:t>𝑀</m:t>
                            </m:r>
                          </m:e>
                          <m:sub>
                            <m:r>
                              <a:rPr lang="en-CA" sz="1600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en-CA" sz="1600" i="1"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CA" sz="16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  <m:sup>
                            <m:r>
                              <a:rPr lang="en-CA" sz="1600" i="1"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p>
                        </m:sSubSup>
                      </m:e>
                    </m:d>
                  </m:oMath>
                </a14:m>
                <a:r>
                  <a:rPr lang="en-US" sz="1600" dirty="0"/>
                  <a:t> on Bob, one has:</a:t>
                </a:r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r>
                  <a:rPr lang="en-US" sz="1600" dirty="0"/>
                  <a:t>Error bar is obtained from 100 independent trials for each </a:t>
                </a:r>
                <a14:m>
                  <m:oMath xmlns:m="http://schemas.openxmlformats.org/officeDocument/2006/math">
                    <m:r>
                      <a:rPr lang="en-CA" sz="1600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endParaRPr lang="en-US" sz="1600" dirty="0"/>
              </a:p>
            </p:txBody>
          </p:sp>
        </mc:Choice>
        <mc:Fallback xmlns="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61340AB4-7D12-DDE0-395F-F2BC418D43D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8139" y="2111366"/>
                <a:ext cx="8653252" cy="2899388"/>
              </a:xfrm>
              <a:prstGeom prst="rect">
                <a:avLst/>
              </a:prstGeom>
              <a:blipFill>
                <a:blip r:embed="rId28"/>
                <a:stretch>
                  <a:fillRect l="-146" t="-433"/>
                </a:stretch>
              </a:blipFill>
              <a:ln w="25400">
                <a:solidFill>
                  <a:srgbClr val="0070C0">
                    <a:alpha val="98000"/>
                  </a:srgb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Rectangle 30">
            <a:extLst>
              <a:ext uri="{FF2B5EF4-FFF2-40B4-BE49-F238E27FC236}">
                <a16:creationId xmlns:a16="http://schemas.microsoft.com/office/drawing/2014/main" id="{BE6B6DAC-F1B6-3BA8-8253-BBCAAAF80ADA}"/>
              </a:ext>
            </a:extLst>
          </p:cNvPr>
          <p:cNvSpPr/>
          <p:nvPr/>
        </p:nvSpPr>
        <p:spPr>
          <a:xfrm>
            <a:off x="9184013" y="5160377"/>
            <a:ext cx="807155" cy="38389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7998BCF-C496-0980-B90E-6F9E6BB9AC77}"/>
              </a:ext>
            </a:extLst>
          </p:cNvPr>
          <p:cNvSpPr txBox="1"/>
          <p:nvPr/>
        </p:nvSpPr>
        <p:spPr>
          <a:xfrm>
            <a:off x="0" y="397104"/>
            <a:ext cx="57347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</a:rPr>
              <a:t>Novel test for two-qubit isotropic states </a:t>
            </a: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CA25385E-1065-2BD1-6CD9-96C85159C240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5993616" y="473129"/>
            <a:ext cx="3577091" cy="1489055"/>
          </a:xfrm>
          <a:prstGeom prst="rect">
            <a:avLst/>
          </a:prstGeom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C2EC085E-4126-B2B0-0A6E-2A62F118EA72}"/>
              </a:ext>
            </a:extLst>
          </p:cNvPr>
          <p:cNvSpPr/>
          <p:nvPr/>
        </p:nvSpPr>
        <p:spPr>
          <a:xfrm>
            <a:off x="5436351" y="520391"/>
            <a:ext cx="209106" cy="24287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02E15FA-B5F3-FCBB-5C18-D8C7A0A113B7}"/>
              </a:ext>
            </a:extLst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4445434" y="2793273"/>
            <a:ext cx="6311716" cy="1867877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DB8B077F-5F99-5C63-C289-68060E161E62}"/>
              </a:ext>
            </a:extLst>
          </p:cNvPr>
          <p:cNvSpPr txBox="1"/>
          <p:nvPr/>
        </p:nvSpPr>
        <p:spPr>
          <a:xfrm>
            <a:off x="5593644" y="2974622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22928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3EC731-9FC1-BDDA-6EFF-3721C3AC5C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3391E0E4-B01D-9ECB-E70F-D5723259D37F}"/>
              </a:ext>
            </a:extLst>
          </p:cNvPr>
          <p:cNvSpPr/>
          <p:nvPr/>
        </p:nvSpPr>
        <p:spPr>
          <a:xfrm>
            <a:off x="0" y="5465135"/>
            <a:ext cx="4657060" cy="13928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FFE9AD72-397C-6D4F-3351-3E15424F5389}"/>
              </a:ext>
            </a:extLst>
          </p:cNvPr>
          <p:cNvGrpSpPr/>
          <p:nvPr/>
        </p:nvGrpSpPr>
        <p:grpSpPr>
          <a:xfrm>
            <a:off x="302636" y="2982921"/>
            <a:ext cx="2751115" cy="3178646"/>
            <a:chOff x="975496" y="2160574"/>
            <a:chExt cx="3401599" cy="3988636"/>
          </a:xfrm>
        </p:grpSpPr>
        <p:sp>
          <p:nvSpPr>
            <p:cNvPr id="2" name="Oval 1">
              <a:extLst>
                <a:ext uri="{FF2B5EF4-FFF2-40B4-BE49-F238E27FC236}">
                  <a16:creationId xmlns:a16="http://schemas.microsoft.com/office/drawing/2014/main" id="{FC193911-9FEC-DE75-57C2-13F072B2D866}"/>
                </a:ext>
              </a:extLst>
            </p:cNvPr>
            <p:cNvSpPr/>
            <p:nvPr/>
          </p:nvSpPr>
          <p:spPr>
            <a:xfrm>
              <a:off x="992530" y="2495273"/>
              <a:ext cx="3160591" cy="2291600"/>
            </a:xfrm>
            <a:prstGeom prst="ellipse">
              <a:avLst/>
            </a:prstGeom>
            <a:solidFill>
              <a:srgbClr val="9A41DB">
                <a:alpha val="89804"/>
              </a:srgbClr>
            </a:solidFill>
            <a:ln w="19050">
              <a:solidFill>
                <a:schemeClr val="tx1">
                  <a:alpha val="9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100" b="0" dirty="0">
                <a:solidFill>
                  <a:srgbClr val="9B4ED6"/>
                </a:solidFill>
              </a:endParaRPr>
            </a:p>
          </p:txBody>
        </p:sp>
        <p:sp>
          <p:nvSpPr>
            <p:cNvPr id="4" name="Regular Pentagon 3">
              <a:extLst>
                <a:ext uri="{FF2B5EF4-FFF2-40B4-BE49-F238E27FC236}">
                  <a16:creationId xmlns:a16="http://schemas.microsoft.com/office/drawing/2014/main" id="{0E0D8559-86E2-E223-E270-118D8DA6B352}"/>
                </a:ext>
              </a:extLst>
            </p:cNvPr>
            <p:cNvSpPr/>
            <p:nvPr/>
          </p:nvSpPr>
          <p:spPr>
            <a:xfrm rot="10800000">
              <a:off x="1071418" y="2583242"/>
              <a:ext cx="2564118" cy="2172452"/>
            </a:xfrm>
            <a:prstGeom prst="pentagon">
              <a:avLst/>
            </a:prstGeom>
            <a:solidFill>
              <a:srgbClr val="F0C679"/>
            </a:solidFill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100" b="0" dirty="0">
                <a:solidFill>
                  <a:srgbClr val="F0C679"/>
                </a:solidFill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81496311-E620-4749-D7DB-535B1A2724CC}"/>
                </a:ext>
              </a:extLst>
            </p:cNvPr>
            <p:cNvSpPr/>
            <p:nvPr/>
          </p:nvSpPr>
          <p:spPr>
            <a:xfrm>
              <a:off x="1429423" y="2194070"/>
              <a:ext cx="1845288" cy="375160"/>
            </a:xfrm>
            <a:prstGeom prst="rect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100" b="0" dirty="0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0A28E6C5-C888-E365-DDD3-34CBAC28A069}"/>
                </a:ext>
              </a:extLst>
            </p:cNvPr>
            <p:cNvSpPr/>
            <p:nvPr/>
          </p:nvSpPr>
          <p:spPr>
            <a:xfrm rot="17382588">
              <a:off x="240432" y="2895638"/>
              <a:ext cx="1845288" cy="375160"/>
            </a:xfrm>
            <a:prstGeom prst="rect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100" b="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9F0A0549-032F-9D1F-478A-6DFE69BB0A93}"/>
                    </a:ext>
                  </a:extLst>
                </p:cNvPr>
                <p:cNvSpPr txBox="1"/>
                <p:nvPr/>
              </p:nvSpPr>
              <p:spPr>
                <a:xfrm>
                  <a:off x="3207326" y="3325958"/>
                  <a:ext cx="1166346" cy="34758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CA" sz="1200" b="0" i="1" smtClean="0">
                            <a:latin typeface="Cambria Math" panose="02040503050406030204" pitchFamily="18" charset="0"/>
                          </a:rPr>
                          <m:t>𝒬</m:t>
                        </m:r>
                      </m:oMath>
                    </m:oMathPara>
                  </a14:m>
                  <a:endParaRPr lang="en-US" sz="1200" dirty="0"/>
                </a:p>
              </p:txBody>
            </p:sp>
          </mc:Choice>
          <mc:Fallback xmlns="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9F0A0549-032F-9D1F-478A-6DFE69BB0A9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07326" y="3325958"/>
                  <a:ext cx="1166346" cy="347585"/>
                </a:xfrm>
                <a:prstGeom prst="rect">
                  <a:avLst/>
                </a:prstGeom>
                <a:blipFill>
                  <a:blip r:embed="rId3"/>
                  <a:stretch>
                    <a:fillRect b="-454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C62EAD4E-FD8E-3650-5716-19BF16BF7EFF}"/>
                    </a:ext>
                  </a:extLst>
                </p:cNvPr>
                <p:cNvSpPr txBox="1"/>
                <p:nvPr/>
              </p:nvSpPr>
              <p:spPr>
                <a:xfrm>
                  <a:off x="976805" y="5253706"/>
                  <a:ext cx="3118516" cy="31861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sz="105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CA" sz="1050" b="0" i="1" dirty="0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1050" i="1" dirty="0"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r>
                    <a:rPr lang="en-US" sz="1050" dirty="0"/>
                    <a:t> Steering-Witnessing NC inequality</a:t>
                  </a:r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C62EAD4E-FD8E-3650-5716-19BF16BF7EF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6805" y="5253706"/>
                  <a:ext cx="3118516" cy="318619"/>
                </a:xfrm>
                <a:prstGeom prst="rect">
                  <a:avLst/>
                </a:prstGeom>
                <a:blipFill>
                  <a:blip r:embed="rId4"/>
                  <a:stretch>
                    <a:fillRect b="-1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1609211F-9B9B-F8E9-9B42-9FB23BE942CA}"/>
                    </a:ext>
                  </a:extLst>
                </p:cNvPr>
                <p:cNvSpPr txBox="1"/>
                <p:nvPr/>
              </p:nvSpPr>
              <p:spPr>
                <a:xfrm>
                  <a:off x="1468167" y="2615744"/>
                  <a:ext cx="1623637" cy="32827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CA" sz="1050" spc="-300" smtClean="0">
                            <a:latin typeface="Cambria Math" panose="02040503050406030204" pitchFamily="18" charset="0"/>
                          </a:rPr>
                          <m:t>𝒩</m:t>
                        </m:r>
                        <m:sSub>
                          <m:sSubPr>
                            <m:ctrlPr>
                              <a:rPr lang="en-CA" sz="1050" b="0" i="1" spc="-15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1050" b="0" i="0" spc="-150" smtClean="0">
                                <a:latin typeface="Cambria Math" panose="02040503050406030204" pitchFamily="18" charset="0"/>
                              </a:rPr>
                              <m:t>𝒞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CA" sz="1050" b="0" i="0" spc="-150" smtClean="0">
                                <a:latin typeface="Cambria Math" panose="02040503050406030204" pitchFamily="18" charset="0"/>
                              </a:rPr>
                              <m:t>triv</m:t>
                            </m:r>
                          </m:sub>
                        </m:sSub>
                        <m:r>
                          <a:rPr lang="en-CA" sz="1050" b="0" i="0" spc="-15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CA" sz="1050" b="0" i="1" spc="-150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CA" sz="1050" b="0" i="1" spc="-300" smtClean="0">
                            <a:latin typeface="Cambria Math" panose="02040503050406030204" pitchFamily="18" charset="0"/>
                          </a:rPr>
                          <m:t>ℒ</m:t>
                        </m:r>
                      </m:oMath>
                    </m:oMathPara>
                  </a14:m>
                  <a:endParaRPr lang="en-US" sz="1050" spc="-300" dirty="0"/>
                </a:p>
              </p:txBody>
            </p:sp>
          </mc:Choice>
          <mc:Fallback xmlns="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1609211F-9B9B-F8E9-9B42-9FB23BE942C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68167" y="2615744"/>
                  <a:ext cx="1623637" cy="328274"/>
                </a:xfrm>
                <a:prstGeom prst="rect">
                  <a:avLst/>
                </a:prstGeom>
                <a:blipFill>
                  <a:blip r:embed="rId5"/>
                  <a:stretch>
                    <a:fillRect b="-454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" name="Regular Pentagon 3">
              <a:extLst>
                <a:ext uri="{FF2B5EF4-FFF2-40B4-BE49-F238E27FC236}">
                  <a16:creationId xmlns:a16="http://schemas.microsoft.com/office/drawing/2014/main" id="{F9199B07-4C42-78E5-7202-36EB1386FE32}"/>
                </a:ext>
              </a:extLst>
            </p:cNvPr>
            <p:cNvSpPr/>
            <p:nvPr/>
          </p:nvSpPr>
          <p:spPr>
            <a:xfrm rot="10800000" flipH="1">
              <a:off x="1292889" y="2922018"/>
              <a:ext cx="2115730" cy="1829749"/>
            </a:xfrm>
            <a:custGeom>
              <a:avLst/>
              <a:gdLst>
                <a:gd name="connsiteX0" fmla="*/ 2 w 2055729"/>
                <a:gd name="connsiteY0" fmla="*/ 666685 h 1745409"/>
                <a:gd name="connsiteX1" fmla="*/ 1027865 w 2055729"/>
                <a:gd name="connsiteY1" fmla="*/ 0 h 1745409"/>
                <a:gd name="connsiteX2" fmla="*/ 2055727 w 2055729"/>
                <a:gd name="connsiteY2" fmla="*/ 666685 h 1745409"/>
                <a:gd name="connsiteX3" fmla="*/ 1663118 w 2055729"/>
                <a:gd name="connsiteY3" fmla="*/ 1745405 h 1745409"/>
                <a:gd name="connsiteX4" fmla="*/ 392611 w 2055729"/>
                <a:gd name="connsiteY4" fmla="*/ 1745405 h 1745409"/>
                <a:gd name="connsiteX5" fmla="*/ 2 w 2055729"/>
                <a:gd name="connsiteY5" fmla="*/ 666685 h 1745409"/>
                <a:gd name="connsiteX0" fmla="*/ 0 w 2055725"/>
                <a:gd name="connsiteY0" fmla="*/ 666685 h 1745405"/>
                <a:gd name="connsiteX1" fmla="*/ 1027863 w 2055725"/>
                <a:gd name="connsiteY1" fmla="*/ 0 h 1745405"/>
                <a:gd name="connsiteX2" fmla="*/ 2055725 w 2055725"/>
                <a:gd name="connsiteY2" fmla="*/ 666685 h 1745405"/>
                <a:gd name="connsiteX3" fmla="*/ 1663116 w 2055725"/>
                <a:gd name="connsiteY3" fmla="*/ 1745405 h 1745405"/>
                <a:gd name="connsiteX4" fmla="*/ 273789 w 2055725"/>
                <a:gd name="connsiteY4" fmla="*/ 1745405 h 1745405"/>
                <a:gd name="connsiteX5" fmla="*/ 0 w 2055725"/>
                <a:gd name="connsiteY5" fmla="*/ 666685 h 1745405"/>
                <a:gd name="connsiteX0" fmla="*/ 0 w 2190044"/>
                <a:gd name="connsiteY0" fmla="*/ 744177 h 1745405"/>
                <a:gd name="connsiteX1" fmla="*/ 1162182 w 2190044"/>
                <a:gd name="connsiteY1" fmla="*/ 0 h 1745405"/>
                <a:gd name="connsiteX2" fmla="*/ 2190044 w 2190044"/>
                <a:gd name="connsiteY2" fmla="*/ 666685 h 1745405"/>
                <a:gd name="connsiteX3" fmla="*/ 1797435 w 2190044"/>
                <a:gd name="connsiteY3" fmla="*/ 1745405 h 1745405"/>
                <a:gd name="connsiteX4" fmla="*/ 408108 w 2190044"/>
                <a:gd name="connsiteY4" fmla="*/ 1745405 h 1745405"/>
                <a:gd name="connsiteX5" fmla="*/ 0 w 2190044"/>
                <a:gd name="connsiteY5" fmla="*/ 744177 h 1745405"/>
                <a:gd name="connsiteX0" fmla="*/ 0 w 2019562"/>
                <a:gd name="connsiteY0" fmla="*/ 744177 h 1745405"/>
                <a:gd name="connsiteX1" fmla="*/ 1162182 w 2019562"/>
                <a:gd name="connsiteY1" fmla="*/ 0 h 1745405"/>
                <a:gd name="connsiteX2" fmla="*/ 2019562 w 2019562"/>
                <a:gd name="connsiteY2" fmla="*/ 553031 h 1745405"/>
                <a:gd name="connsiteX3" fmla="*/ 1797435 w 2019562"/>
                <a:gd name="connsiteY3" fmla="*/ 1745405 h 1745405"/>
                <a:gd name="connsiteX4" fmla="*/ 408108 w 2019562"/>
                <a:gd name="connsiteY4" fmla="*/ 1745405 h 1745405"/>
                <a:gd name="connsiteX5" fmla="*/ 0 w 2019562"/>
                <a:gd name="connsiteY5" fmla="*/ 744177 h 1745405"/>
                <a:gd name="connsiteX0" fmla="*/ 0 w 2019562"/>
                <a:gd name="connsiteY0" fmla="*/ 744177 h 1755737"/>
                <a:gd name="connsiteX1" fmla="*/ 1162182 w 2019562"/>
                <a:gd name="connsiteY1" fmla="*/ 0 h 1755737"/>
                <a:gd name="connsiteX2" fmla="*/ 2019562 w 2019562"/>
                <a:gd name="connsiteY2" fmla="*/ 553031 h 1755737"/>
                <a:gd name="connsiteX3" fmla="*/ 1642452 w 2019562"/>
                <a:gd name="connsiteY3" fmla="*/ 1755737 h 1755737"/>
                <a:gd name="connsiteX4" fmla="*/ 408108 w 2019562"/>
                <a:gd name="connsiteY4" fmla="*/ 1745405 h 1755737"/>
                <a:gd name="connsiteX5" fmla="*/ 0 w 2019562"/>
                <a:gd name="connsiteY5" fmla="*/ 744177 h 1755737"/>
                <a:gd name="connsiteX0" fmla="*/ 0 w 2019562"/>
                <a:gd name="connsiteY0" fmla="*/ 744177 h 1750571"/>
                <a:gd name="connsiteX1" fmla="*/ 1162182 w 2019562"/>
                <a:gd name="connsiteY1" fmla="*/ 0 h 1750571"/>
                <a:gd name="connsiteX2" fmla="*/ 2019562 w 2019562"/>
                <a:gd name="connsiteY2" fmla="*/ 553031 h 1750571"/>
                <a:gd name="connsiteX3" fmla="*/ 1621788 w 2019562"/>
                <a:gd name="connsiteY3" fmla="*/ 1750571 h 1750571"/>
                <a:gd name="connsiteX4" fmla="*/ 408108 w 2019562"/>
                <a:gd name="connsiteY4" fmla="*/ 1745405 h 1750571"/>
                <a:gd name="connsiteX5" fmla="*/ 0 w 2019562"/>
                <a:gd name="connsiteY5" fmla="*/ 744177 h 1750571"/>
                <a:gd name="connsiteX0" fmla="*/ 0 w 2019562"/>
                <a:gd name="connsiteY0" fmla="*/ 744177 h 1750571"/>
                <a:gd name="connsiteX1" fmla="*/ 1162182 w 2019562"/>
                <a:gd name="connsiteY1" fmla="*/ 0 h 1750571"/>
                <a:gd name="connsiteX2" fmla="*/ 2019562 w 2019562"/>
                <a:gd name="connsiteY2" fmla="*/ 553031 h 1750571"/>
                <a:gd name="connsiteX3" fmla="*/ 1549463 w 2019562"/>
                <a:gd name="connsiteY3" fmla="*/ 1750571 h 1750571"/>
                <a:gd name="connsiteX4" fmla="*/ 408108 w 2019562"/>
                <a:gd name="connsiteY4" fmla="*/ 1745405 h 1750571"/>
                <a:gd name="connsiteX5" fmla="*/ 0 w 2019562"/>
                <a:gd name="connsiteY5" fmla="*/ 744177 h 1750571"/>
                <a:gd name="connsiteX0" fmla="*/ 0 w 1983399"/>
                <a:gd name="connsiteY0" fmla="*/ 744177 h 1750571"/>
                <a:gd name="connsiteX1" fmla="*/ 1162182 w 1983399"/>
                <a:gd name="connsiteY1" fmla="*/ 0 h 1750571"/>
                <a:gd name="connsiteX2" fmla="*/ 1983399 w 1983399"/>
                <a:gd name="connsiteY2" fmla="*/ 532366 h 1750571"/>
                <a:gd name="connsiteX3" fmla="*/ 1549463 w 1983399"/>
                <a:gd name="connsiteY3" fmla="*/ 1750571 h 1750571"/>
                <a:gd name="connsiteX4" fmla="*/ 408108 w 1983399"/>
                <a:gd name="connsiteY4" fmla="*/ 1745405 h 1750571"/>
                <a:gd name="connsiteX5" fmla="*/ 0 w 1983399"/>
                <a:gd name="connsiteY5" fmla="*/ 744177 h 1750571"/>
                <a:gd name="connsiteX0" fmla="*/ 0 w 1983399"/>
                <a:gd name="connsiteY0" fmla="*/ 744177 h 1750571"/>
                <a:gd name="connsiteX1" fmla="*/ 1162182 w 1983399"/>
                <a:gd name="connsiteY1" fmla="*/ 0 h 1750571"/>
                <a:gd name="connsiteX2" fmla="*/ 1983399 w 1983399"/>
                <a:gd name="connsiteY2" fmla="*/ 532366 h 1750571"/>
                <a:gd name="connsiteX3" fmla="*/ 1549463 w 1983399"/>
                <a:gd name="connsiteY3" fmla="*/ 1750571 h 1750571"/>
                <a:gd name="connsiteX4" fmla="*/ 371945 w 1983399"/>
                <a:gd name="connsiteY4" fmla="*/ 1735073 h 1750571"/>
                <a:gd name="connsiteX5" fmla="*/ 0 w 1983399"/>
                <a:gd name="connsiteY5" fmla="*/ 744177 h 1750571"/>
                <a:gd name="connsiteX0" fmla="*/ 0 w 1983399"/>
                <a:gd name="connsiteY0" fmla="*/ 744177 h 1735073"/>
                <a:gd name="connsiteX1" fmla="*/ 1162182 w 1983399"/>
                <a:gd name="connsiteY1" fmla="*/ 0 h 1735073"/>
                <a:gd name="connsiteX2" fmla="*/ 1983399 w 1983399"/>
                <a:gd name="connsiteY2" fmla="*/ 532366 h 1735073"/>
                <a:gd name="connsiteX3" fmla="*/ 1539131 w 1983399"/>
                <a:gd name="connsiteY3" fmla="*/ 1729907 h 1735073"/>
                <a:gd name="connsiteX4" fmla="*/ 371945 w 1983399"/>
                <a:gd name="connsiteY4" fmla="*/ 1735073 h 1735073"/>
                <a:gd name="connsiteX5" fmla="*/ 0 w 1983399"/>
                <a:gd name="connsiteY5" fmla="*/ 744177 h 1735073"/>
                <a:gd name="connsiteX0" fmla="*/ 0 w 1983399"/>
                <a:gd name="connsiteY0" fmla="*/ 744177 h 1745405"/>
                <a:gd name="connsiteX1" fmla="*/ 1162182 w 1983399"/>
                <a:gd name="connsiteY1" fmla="*/ 0 h 1745405"/>
                <a:gd name="connsiteX2" fmla="*/ 1983399 w 1983399"/>
                <a:gd name="connsiteY2" fmla="*/ 532366 h 1745405"/>
                <a:gd name="connsiteX3" fmla="*/ 1523632 w 1983399"/>
                <a:gd name="connsiteY3" fmla="*/ 1745405 h 1745405"/>
                <a:gd name="connsiteX4" fmla="*/ 371945 w 1983399"/>
                <a:gd name="connsiteY4" fmla="*/ 1735073 h 1745405"/>
                <a:gd name="connsiteX5" fmla="*/ 0 w 1983399"/>
                <a:gd name="connsiteY5" fmla="*/ 744177 h 1745405"/>
                <a:gd name="connsiteX0" fmla="*/ 0 w 1983399"/>
                <a:gd name="connsiteY0" fmla="*/ 744177 h 1735073"/>
                <a:gd name="connsiteX1" fmla="*/ 1162182 w 1983399"/>
                <a:gd name="connsiteY1" fmla="*/ 0 h 1735073"/>
                <a:gd name="connsiteX2" fmla="*/ 1983399 w 1983399"/>
                <a:gd name="connsiteY2" fmla="*/ 532366 h 1735073"/>
                <a:gd name="connsiteX3" fmla="*/ 1513300 w 1983399"/>
                <a:gd name="connsiteY3" fmla="*/ 1729907 h 1735073"/>
                <a:gd name="connsiteX4" fmla="*/ 371945 w 1983399"/>
                <a:gd name="connsiteY4" fmla="*/ 1735073 h 1735073"/>
                <a:gd name="connsiteX5" fmla="*/ 0 w 1983399"/>
                <a:gd name="connsiteY5" fmla="*/ 744177 h 1735073"/>
                <a:gd name="connsiteX0" fmla="*/ 0 w 1983399"/>
                <a:gd name="connsiteY0" fmla="*/ 744177 h 1740239"/>
                <a:gd name="connsiteX1" fmla="*/ 1162182 w 1983399"/>
                <a:gd name="connsiteY1" fmla="*/ 0 h 1740239"/>
                <a:gd name="connsiteX2" fmla="*/ 1983399 w 1983399"/>
                <a:gd name="connsiteY2" fmla="*/ 532366 h 1740239"/>
                <a:gd name="connsiteX3" fmla="*/ 1962751 w 1983399"/>
                <a:gd name="connsiteY3" fmla="*/ 1740239 h 1740239"/>
                <a:gd name="connsiteX4" fmla="*/ 371945 w 1983399"/>
                <a:gd name="connsiteY4" fmla="*/ 1735073 h 1740239"/>
                <a:gd name="connsiteX5" fmla="*/ 0 w 1983399"/>
                <a:gd name="connsiteY5" fmla="*/ 744177 h 1740239"/>
                <a:gd name="connsiteX0" fmla="*/ 0 w 2334694"/>
                <a:gd name="connsiteY0" fmla="*/ 744177 h 1740239"/>
                <a:gd name="connsiteX1" fmla="*/ 1162182 w 2334694"/>
                <a:gd name="connsiteY1" fmla="*/ 0 h 1740239"/>
                <a:gd name="connsiteX2" fmla="*/ 2334694 w 2334694"/>
                <a:gd name="connsiteY2" fmla="*/ 739010 h 1740239"/>
                <a:gd name="connsiteX3" fmla="*/ 1962751 w 2334694"/>
                <a:gd name="connsiteY3" fmla="*/ 1740239 h 1740239"/>
                <a:gd name="connsiteX4" fmla="*/ 371945 w 2334694"/>
                <a:gd name="connsiteY4" fmla="*/ 1735073 h 1740239"/>
                <a:gd name="connsiteX5" fmla="*/ 0 w 2334694"/>
                <a:gd name="connsiteY5" fmla="*/ 744177 h 1740239"/>
                <a:gd name="connsiteX0" fmla="*/ 0 w 2334694"/>
                <a:gd name="connsiteY0" fmla="*/ 744177 h 1740239"/>
                <a:gd name="connsiteX1" fmla="*/ 1162182 w 2334694"/>
                <a:gd name="connsiteY1" fmla="*/ 0 h 1740239"/>
                <a:gd name="connsiteX2" fmla="*/ 2334694 w 2334694"/>
                <a:gd name="connsiteY2" fmla="*/ 753186 h 1740239"/>
                <a:gd name="connsiteX3" fmla="*/ 1962751 w 2334694"/>
                <a:gd name="connsiteY3" fmla="*/ 1740239 h 1740239"/>
                <a:gd name="connsiteX4" fmla="*/ 371945 w 2334694"/>
                <a:gd name="connsiteY4" fmla="*/ 1735073 h 1740239"/>
                <a:gd name="connsiteX5" fmla="*/ 0 w 2334694"/>
                <a:gd name="connsiteY5" fmla="*/ 744177 h 1740239"/>
                <a:gd name="connsiteX0" fmla="*/ 0 w 2334694"/>
                <a:gd name="connsiteY0" fmla="*/ 744177 h 1740239"/>
                <a:gd name="connsiteX1" fmla="*/ 1162182 w 2334694"/>
                <a:gd name="connsiteY1" fmla="*/ 0 h 1740239"/>
                <a:gd name="connsiteX2" fmla="*/ 2334694 w 2334694"/>
                <a:gd name="connsiteY2" fmla="*/ 753186 h 1740239"/>
                <a:gd name="connsiteX3" fmla="*/ 1962751 w 2334694"/>
                <a:gd name="connsiteY3" fmla="*/ 1740239 h 1740239"/>
                <a:gd name="connsiteX4" fmla="*/ 480650 w 2334694"/>
                <a:gd name="connsiteY4" fmla="*/ 1735073 h 1740239"/>
                <a:gd name="connsiteX5" fmla="*/ 0 w 2334694"/>
                <a:gd name="connsiteY5" fmla="*/ 744177 h 1740239"/>
                <a:gd name="connsiteX0" fmla="*/ 0 w 2213201"/>
                <a:gd name="connsiteY0" fmla="*/ 667444 h 1740239"/>
                <a:gd name="connsiteX1" fmla="*/ 1040689 w 2213201"/>
                <a:gd name="connsiteY1" fmla="*/ 0 h 1740239"/>
                <a:gd name="connsiteX2" fmla="*/ 2213201 w 2213201"/>
                <a:gd name="connsiteY2" fmla="*/ 753186 h 1740239"/>
                <a:gd name="connsiteX3" fmla="*/ 1841258 w 2213201"/>
                <a:gd name="connsiteY3" fmla="*/ 1740239 h 1740239"/>
                <a:gd name="connsiteX4" fmla="*/ 359157 w 2213201"/>
                <a:gd name="connsiteY4" fmla="*/ 1735073 h 1740239"/>
                <a:gd name="connsiteX5" fmla="*/ 0 w 2213201"/>
                <a:gd name="connsiteY5" fmla="*/ 667444 h 1740239"/>
                <a:gd name="connsiteX0" fmla="*/ 0 w 2213201"/>
                <a:gd name="connsiteY0" fmla="*/ 667444 h 1740239"/>
                <a:gd name="connsiteX1" fmla="*/ 1040689 w 2213201"/>
                <a:gd name="connsiteY1" fmla="*/ 0 h 1740239"/>
                <a:gd name="connsiteX2" fmla="*/ 2213201 w 2213201"/>
                <a:gd name="connsiteY2" fmla="*/ 753186 h 1740239"/>
                <a:gd name="connsiteX3" fmla="*/ 1726159 w 2213201"/>
                <a:gd name="connsiteY3" fmla="*/ 1740239 h 1740239"/>
                <a:gd name="connsiteX4" fmla="*/ 359157 w 2213201"/>
                <a:gd name="connsiteY4" fmla="*/ 1735073 h 1740239"/>
                <a:gd name="connsiteX5" fmla="*/ 0 w 2213201"/>
                <a:gd name="connsiteY5" fmla="*/ 667444 h 1740239"/>
                <a:gd name="connsiteX0" fmla="*/ 0 w 2085313"/>
                <a:gd name="connsiteY0" fmla="*/ 667444 h 1740239"/>
                <a:gd name="connsiteX1" fmla="*/ 1040689 w 2085313"/>
                <a:gd name="connsiteY1" fmla="*/ 0 h 1740239"/>
                <a:gd name="connsiteX2" fmla="*/ 2085313 w 2085313"/>
                <a:gd name="connsiteY2" fmla="*/ 695636 h 1740239"/>
                <a:gd name="connsiteX3" fmla="*/ 1726159 w 2085313"/>
                <a:gd name="connsiteY3" fmla="*/ 1740239 h 1740239"/>
                <a:gd name="connsiteX4" fmla="*/ 359157 w 2085313"/>
                <a:gd name="connsiteY4" fmla="*/ 1735073 h 1740239"/>
                <a:gd name="connsiteX5" fmla="*/ 0 w 2085313"/>
                <a:gd name="connsiteY5" fmla="*/ 667444 h 1740239"/>
                <a:gd name="connsiteX0" fmla="*/ 0 w 2110890"/>
                <a:gd name="connsiteY0" fmla="*/ 667444 h 1740239"/>
                <a:gd name="connsiteX1" fmla="*/ 1040689 w 2110890"/>
                <a:gd name="connsiteY1" fmla="*/ 0 h 1740239"/>
                <a:gd name="connsiteX2" fmla="*/ 2110890 w 2110890"/>
                <a:gd name="connsiteY2" fmla="*/ 689242 h 1740239"/>
                <a:gd name="connsiteX3" fmla="*/ 1726159 w 2110890"/>
                <a:gd name="connsiteY3" fmla="*/ 1740239 h 1740239"/>
                <a:gd name="connsiteX4" fmla="*/ 359157 w 2110890"/>
                <a:gd name="connsiteY4" fmla="*/ 1735073 h 1740239"/>
                <a:gd name="connsiteX5" fmla="*/ 0 w 2110890"/>
                <a:gd name="connsiteY5" fmla="*/ 667444 h 1740239"/>
                <a:gd name="connsiteX0" fmla="*/ 0 w 2110890"/>
                <a:gd name="connsiteY0" fmla="*/ 667444 h 1856567"/>
                <a:gd name="connsiteX1" fmla="*/ 1040689 w 2110890"/>
                <a:gd name="connsiteY1" fmla="*/ 0 h 1856567"/>
                <a:gd name="connsiteX2" fmla="*/ 2110890 w 2110890"/>
                <a:gd name="connsiteY2" fmla="*/ 689242 h 1856567"/>
                <a:gd name="connsiteX3" fmla="*/ 1726159 w 2110890"/>
                <a:gd name="connsiteY3" fmla="*/ 1740239 h 1856567"/>
                <a:gd name="connsiteX4" fmla="*/ 410312 w 2110890"/>
                <a:gd name="connsiteY4" fmla="*/ 1856567 h 1856567"/>
                <a:gd name="connsiteX5" fmla="*/ 0 w 2110890"/>
                <a:gd name="connsiteY5" fmla="*/ 667444 h 1856567"/>
                <a:gd name="connsiteX0" fmla="*/ 0 w 2110890"/>
                <a:gd name="connsiteY0" fmla="*/ 667444 h 1856567"/>
                <a:gd name="connsiteX1" fmla="*/ 1040689 w 2110890"/>
                <a:gd name="connsiteY1" fmla="*/ 0 h 1856567"/>
                <a:gd name="connsiteX2" fmla="*/ 2110890 w 2110890"/>
                <a:gd name="connsiteY2" fmla="*/ 689242 h 1856567"/>
                <a:gd name="connsiteX3" fmla="*/ 1675003 w 2110890"/>
                <a:gd name="connsiteY3" fmla="*/ 1855339 h 1856567"/>
                <a:gd name="connsiteX4" fmla="*/ 410312 w 2110890"/>
                <a:gd name="connsiteY4" fmla="*/ 1856567 h 1856567"/>
                <a:gd name="connsiteX5" fmla="*/ 0 w 2110890"/>
                <a:gd name="connsiteY5" fmla="*/ 667444 h 1856567"/>
                <a:gd name="connsiteX0" fmla="*/ 0 w 2110890"/>
                <a:gd name="connsiteY0" fmla="*/ 667444 h 1855339"/>
                <a:gd name="connsiteX1" fmla="*/ 1040689 w 2110890"/>
                <a:gd name="connsiteY1" fmla="*/ 0 h 1855339"/>
                <a:gd name="connsiteX2" fmla="*/ 2110890 w 2110890"/>
                <a:gd name="connsiteY2" fmla="*/ 689242 h 1855339"/>
                <a:gd name="connsiteX3" fmla="*/ 1675003 w 2110890"/>
                <a:gd name="connsiteY3" fmla="*/ 1855339 h 1855339"/>
                <a:gd name="connsiteX4" fmla="*/ 416706 w 2110890"/>
                <a:gd name="connsiteY4" fmla="*/ 1824595 h 1855339"/>
                <a:gd name="connsiteX5" fmla="*/ 0 w 2110890"/>
                <a:gd name="connsiteY5" fmla="*/ 667444 h 1855339"/>
                <a:gd name="connsiteX0" fmla="*/ 0 w 2110890"/>
                <a:gd name="connsiteY0" fmla="*/ 667444 h 1829761"/>
                <a:gd name="connsiteX1" fmla="*/ 1040689 w 2110890"/>
                <a:gd name="connsiteY1" fmla="*/ 0 h 1829761"/>
                <a:gd name="connsiteX2" fmla="*/ 2110890 w 2110890"/>
                <a:gd name="connsiteY2" fmla="*/ 689242 h 1829761"/>
                <a:gd name="connsiteX3" fmla="*/ 1675003 w 2110890"/>
                <a:gd name="connsiteY3" fmla="*/ 1829761 h 1829761"/>
                <a:gd name="connsiteX4" fmla="*/ 416706 w 2110890"/>
                <a:gd name="connsiteY4" fmla="*/ 1824595 h 1829761"/>
                <a:gd name="connsiteX5" fmla="*/ 0 w 2110890"/>
                <a:gd name="connsiteY5" fmla="*/ 667444 h 1829761"/>
                <a:gd name="connsiteX0" fmla="*/ 0 w 2091707"/>
                <a:gd name="connsiteY0" fmla="*/ 667444 h 1829761"/>
                <a:gd name="connsiteX1" fmla="*/ 1040689 w 2091707"/>
                <a:gd name="connsiteY1" fmla="*/ 0 h 1829761"/>
                <a:gd name="connsiteX2" fmla="*/ 2091707 w 2091707"/>
                <a:gd name="connsiteY2" fmla="*/ 676454 h 1829761"/>
                <a:gd name="connsiteX3" fmla="*/ 1675003 w 2091707"/>
                <a:gd name="connsiteY3" fmla="*/ 1829761 h 1829761"/>
                <a:gd name="connsiteX4" fmla="*/ 416706 w 2091707"/>
                <a:gd name="connsiteY4" fmla="*/ 1824595 h 1829761"/>
                <a:gd name="connsiteX5" fmla="*/ 0 w 2091707"/>
                <a:gd name="connsiteY5" fmla="*/ 667444 h 1829761"/>
                <a:gd name="connsiteX0" fmla="*/ 0 w 2095806"/>
                <a:gd name="connsiteY0" fmla="*/ 679857 h 1829761"/>
                <a:gd name="connsiteX1" fmla="*/ 1044788 w 2095806"/>
                <a:gd name="connsiteY1" fmla="*/ 0 h 1829761"/>
                <a:gd name="connsiteX2" fmla="*/ 2095806 w 2095806"/>
                <a:gd name="connsiteY2" fmla="*/ 676454 h 1829761"/>
                <a:gd name="connsiteX3" fmla="*/ 1679102 w 2095806"/>
                <a:gd name="connsiteY3" fmla="*/ 1829761 h 1829761"/>
                <a:gd name="connsiteX4" fmla="*/ 420805 w 2095806"/>
                <a:gd name="connsiteY4" fmla="*/ 1824595 h 1829761"/>
                <a:gd name="connsiteX5" fmla="*/ 0 w 2095806"/>
                <a:gd name="connsiteY5" fmla="*/ 679857 h 1829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095806" h="1829761">
                  <a:moveTo>
                    <a:pt x="0" y="679857"/>
                  </a:moveTo>
                  <a:lnTo>
                    <a:pt x="1044788" y="0"/>
                  </a:lnTo>
                  <a:lnTo>
                    <a:pt x="2095806" y="676454"/>
                  </a:lnTo>
                  <a:lnTo>
                    <a:pt x="1679102" y="1829761"/>
                  </a:lnTo>
                  <a:lnTo>
                    <a:pt x="420805" y="1824595"/>
                  </a:lnTo>
                  <a:lnTo>
                    <a:pt x="0" y="679857"/>
                  </a:lnTo>
                  <a:close/>
                </a:path>
              </a:pathLst>
            </a:custGeom>
            <a:solidFill>
              <a:schemeClr val="accent2">
                <a:lumMod val="40000"/>
                <a:lumOff val="60000"/>
              </a:schemeClr>
            </a:solidFill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100" b="0" dirty="0">
                <a:solidFill>
                  <a:srgbClr val="F8C974"/>
                </a:solidFill>
              </a:endParaRPr>
            </a:p>
          </p:txBody>
        </p:sp>
        <p:sp>
          <p:nvSpPr>
            <p:cNvPr id="14" name="Regular Pentagon 4">
              <a:extLst>
                <a:ext uri="{FF2B5EF4-FFF2-40B4-BE49-F238E27FC236}">
                  <a16:creationId xmlns:a16="http://schemas.microsoft.com/office/drawing/2014/main" id="{3F68D054-A40B-1F22-EE74-6772B98C4659}"/>
                </a:ext>
              </a:extLst>
            </p:cNvPr>
            <p:cNvSpPr/>
            <p:nvPr/>
          </p:nvSpPr>
          <p:spPr>
            <a:xfrm rot="10800000">
              <a:off x="1510369" y="3229272"/>
              <a:ext cx="1691845" cy="1516073"/>
            </a:xfrm>
            <a:custGeom>
              <a:avLst/>
              <a:gdLst>
                <a:gd name="connsiteX0" fmla="*/ 2 w 1421905"/>
                <a:gd name="connsiteY0" fmla="*/ 453943 h 1188441"/>
                <a:gd name="connsiteX1" fmla="*/ 710953 w 1421905"/>
                <a:gd name="connsiteY1" fmla="*/ 0 h 1188441"/>
                <a:gd name="connsiteX2" fmla="*/ 1421903 w 1421905"/>
                <a:gd name="connsiteY2" fmla="*/ 453943 h 1188441"/>
                <a:gd name="connsiteX3" fmla="*/ 1150344 w 1421905"/>
                <a:gd name="connsiteY3" fmla="*/ 1188438 h 1188441"/>
                <a:gd name="connsiteX4" fmla="*/ 271561 w 1421905"/>
                <a:gd name="connsiteY4" fmla="*/ 1188438 h 1188441"/>
                <a:gd name="connsiteX5" fmla="*/ 2 w 1421905"/>
                <a:gd name="connsiteY5" fmla="*/ 453943 h 1188441"/>
                <a:gd name="connsiteX0" fmla="*/ 0 w 1421901"/>
                <a:gd name="connsiteY0" fmla="*/ 453943 h 1188438"/>
                <a:gd name="connsiteX1" fmla="*/ 710951 w 1421901"/>
                <a:gd name="connsiteY1" fmla="*/ 0 h 1188438"/>
                <a:gd name="connsiteX2" fmla="*/ 1421901 w 1421901"/>
                <a:gd name="connsiteY2" fmla="*/ 453943 h 1188438"/>
                <a:gd name="connsiteX3" fmla="*/ 1150342 w 1421901"/>
                <a:gd name="connsiteY3" fmla="*/ 1188438 h 1188438"/>
                <a:gd name="connsiteX4" fmla="*/ 257382 w 1421901"/>
                <a:gd name="connsiteY4" fmla="*/ 1188438 h 1188438"/>
                <a:gd name="connsiteX5" fmla="*/ 0 w 1421901"/>
                <a:gd name="connsiteY5" fmla="*/ 453943 h 1188438"/>
                <a:gd name="connsiteX0" fmla="*/ 0 w 1421901"/>
                <a:gd name="connsiteY0" fmla="*/ 453943 h 1300889"/>
                <a:gd name="connsiteX1" fmla="*/ 710951 w 1421901"/>
                <a:gd name="connsiteY1" fmla="*/ 0 h 1300889"/>
                <a:gd name="connsiteX2" fmla="*/ 1421901 w 1421901"/>
                <a:gd name="connsiteY2" fmla="*/ 453943 h 1300889"/>
                <a:gd name="connsiteX3" fmla="*/ 1150342 w 1421901"/>
                <a:gd name="connsiteY3" fmla="*/ 1188438 h 1300889"/>
                <a:gd name="connsiteX4" fmla="*/ 230701 w 1421901"/>
                <a:gd name="connsiteY4" fmla="*/ 1300889 h 1300889"/>
                <a:gd name="connsiteX5" fmla="*/ 0 w 1421901"/>
                <a:gd name="connsiteY5" fmla="*/ 453943 h 1300889"/>
                <a:gd name="connsiteX0" fmla="*/ 0 w 1421901"/>
                <a:gd name="connsiteY0" fmla="*/ 453943 h 1300889"/>
                <a:gd name="connsiteX1" fmla="*/ 710951 w 1421901"/>
                <a:gd name="connsiteY1" fmla="*/ 0 h 1300889"/>
                <a:gd name="connsiteX2" fmla="*/ 1421901 w 1421901"/>
                <a:gd name="connsiteY2" fmla="*/ 453943 h 1300889"/>
                <a:gd name="connsiteX3" fmla="*/ 1183693 w 1421901"/>
                <a:gd name="connsiteY3" fmla="*/ 1294275 h 1300889"/>
                <a:gd name="connsiteX4" fmla="*/ 230701 w 1421901"/>
                <a:gd name="connsiteY4" fmla="*/ 1300889 h 1300889"/>
                <a:gd name="connsiteX5" fmla="*/ 0 w 1421901"/>
                <a:gd name="connsiteY5" fmla="*/ 453943 h 1300889"/>
                <a:gd name="connsiteX0" fmla="*/ 0 w 1505884"/>
                <a:gd name="connsiteY0" fmla="*/ 500281 h 1300889"/>
                <a:gd name="connsiteX1" fmla="*/ 794934 w 1505884"/>
                <a:gd name="connsiteY1" fmla="*/ 0 h 1300889"/>
                <a:gd name="connsiteX2" fmla="*/ 1505884 w 1505884"/>
                <a:gd name="connsiteY2" fmla="*/ 453943 h 1300889"/>
                <a:gd name="connsiteX3" fmla="*/ 1267676 w 1505884"/>
                <a:gd name="connsiteY3" fmla="*/ 1294275 h 1300889"/>
                <a:gd name="connsiteX4" fmla="*/ 314684 w 1505884"/>
                <a:gd name="connsiteY4" fmla="*/ 1300889 h 1300889"/>
                <a:gd name="connsiteX5" fmla="*/ 0 w 1505884"/>
                <a:gd name="connsiteY5" fmla="*/ 500281 h 1300889"/>
                <a:gd name="connsiteX0" fmla="*/ 0 w 1595866"/>
                <a:gd name="connsiteY0" fmla="*/ 500281 h 1300889"/>
                <a:gd name="connsiteX1" fmla="*/ 794934 w 1595866"/>
                <a:gd name="connsiteY1" fmla="*/ 0 h 1300889"/>
                <a:gd name="connsiteX2" fmla="*/ 1595866 w 1595866"/>
                <a:gd name="connsiteY2" fmla="*/ 523450 h 1300889"/>
                <a:gd name="connsiteX3" fmla="*/ 1267676 w 1595866"/>
                <a:gd name="connsiteY3" fmla="*/ 1294275 h 1300889"/>
                <a:gd name="connsiteX4" fmla="*/ 314684 w 1595866"/>
                <a:gd name="connsiteY4" fmla="*/ 1300889 h 1300889"/>
                <a:gd name="connsiteX5" fmla="*/ 0 w 1595866"/>
                <a:gd name="connsiteY5" fmla="*/ 500281 h 1300889"/>
                <a:gd name="connsiteX0" fmla="*/ 0 w 1565872"/>
                <a:gd name="connsiteY0" fmla="*/ 500281 h 1300889"/>
                <a:gd name="connsiteX1" fmla="*/ 794934 w 1565872"/>
                <a:gd name="connsiteY1" fmla="*/ 0 h 1300889"/>
                <a:gd name="connsiteX2" fmla="*/ 1565872 w 1565872"/>
                <a:gd name="connsiteY2" fmla="*/ 506073 h 1300889"/>
                <a:gd name="connsiteX3" fmla="*/ 1267676 w 1565872"/>
                <a:gd name="connsiteY3" fmla="*/ 1294275 h 1300889"/>
                <a:gd name="connsiteX4" fmla="*/ 314684 w 1565872"/>
                <a:gd name="connsiteY4" fmla="*/ 1300889 h 1300889"/>
                <a:gd name="connsiteX5" fmla="*/ 0 w 1565872"/>
                <a:gd name="connsiteY5" fmla="*/ 500281 h 1300889"/>
                <a:gd name="connsiteX0" fmla="*/ 0 w 1583869"/>
                <a:gd name="connsiteY0" fmla="*/ 500281 h 1300889"/>
                <a:gd name="connsiteX1" fmla="*/ 794934 w 1583869"/>
                <a:gd name="connsiteY1" fmla="*/ 0 h 1300889"/>
                <a:gd name="connsiteX2" fmla="*/ 1583869 w 1583869"/>
                <a:gd name="connsiteY2" fmla="*/ 511865 h 1300889"/>
                <a:gd name="connsiteX3" fmla="*/ 1267676 w 1583869"/>
                <a:gd name="connsiteY3" fmla="*/ 1294275 h 1300889"/>
                <a:gd name="connsiteX4" fmla="*/ 314684 w 1583869"/>
                <a:gd name="connsiteY4" fmla="*/ 1300889 h 1300889"/>
                <a:gd name="connsiteX5" fmla="*/ 0 w 1583869"/>
                <a:gd name="connsiteY5" fmla="*/ 500281 h 1300889"/>
                <a:gd name="connsiteX0" fmla="*/ 0 w 1541877"/>
                <a:gd name="connsiteY0" fmla="*/ 500281 h 1300889"/>
                <a:gd name="connsiteX1" fmla="*/ 794934 w 1541877"/>
                <a:gd name="connsiteY1" fmla="*/ 0 h 1300889"/>
                <a:gd name="connsiteX2" fmla="*/ 1541877 w 1541877"/>
                <a:gd name="connsiteY2" fmla="*/ 471319 h 1300889"/>
                <a:gd name="connsiteX3" fmla="*/ 1267676 w 1541877"/>
                <a:gd name="connsiteY3" fmla="*/ 1294275 h 1300889"/>
                <a:gd name="connsiteX4" fmla="*/ 314684 w 1541877"/>
                <a:gd name="connsiteY4" fmla="*/ 1300889 h 1300889"/>
                <a:gd name="connsiteX5" fmla="*/ 0 w 1541877"/>
                <a:gd name="connsiteY5" fmla="*/ 500281 h 1300889"/>
                <a:gd name="connsiteX0" fmla="*/ 0 w 1523881"/>
                <a:gd name="connsiteY0" fmla="*/ 482904 h 1300889"/>
                <a:gd name="connsiteX1" fmla="*/ 776938 w 1523881"/>
                <a:gd name="connsiteY1" fmla="*/ 0 h 1300889"/>
                <a:gd name="connsiteX2" fmla="*/ 1523881 w 1523881"/>
                <a:gd name="connsiteY2" fmla="*/ 471319 h 1300889"/>
                <a:gd name="connsiteX3" fmla="*/ 1249680 w 1523881"/>
                <a:gd name="connsiteY3" fmla="*/ 1294275 h 1300889"/>
                <a:gd name="connsiteX4" fmla="*/ 296688 w 1523881"/>
                <a:gd name="connsiteY4" fmla="*/ 1300889 h 1300889"/>
                <a:gd name="connsiteX5" fmla="*/ 0 w 1523881"/>
                <a:gd name="connsiteY5" fmla="*/ 482904 h 1300889"/>
                <a:gd name="connsiteX0" fmla="*/ 0 w 1523881"/>
                <a:gd name="connsiteY0" fmla="*/ 482904 h 1295097"/>
                <a:gd name="connsiteX1" fmla="*/ 776938 w 1523881"/>
                <a:gd name="connsiteY1" fmla="*/ 0 h 1295097"/>
                <a:gd name="connsiteX2" fmla="*/ 1523881 w 1523881"/>
                <a:gd name="connsiteY2" fmla="*/ 471319 h 1295097"/>
                <a:gd name="connsiteX3" fmla="*/ 1249680 w 1523881"/>
                <a:gd name="connsiteY3" fmla="*/ 1294275 h 1295097"/>
                <a:gd name="connsiteX4" fmla="*/ 314684 w 1523881"/>
                <a:gd name="connsiteY4" fmla="*/ 1295097 h 1295097"/>
                <a:gd name="connsiteX5" fmla="*/ 0 w 1523881"/>
                <a:gd name="connsiteY5" fmla="*/ 482904 h 1295097"/>
                <a:gd name="connsiteX0" fmla="*/ 0 w 1554519"/>
                <a:gd name="connsiteY0" fmla="*/ 482904 h 1295097"/>
                <a:gd name="connsiteX1" fmla="*/ 776938 w 1554519"/>
                <a:gd name="connsiteY1" fmla="*/ 0 h 1295097"/>
                <a:gd name="connsiteX2" fmla="*/ 1554519 w 1554519"/>
                <a:gd name="connsiteY2" fmla="*/ 460715 h 1295097"/>
                <a:gd name="connsiteX3" fmla="*/ 1249680 w 1554519"/>
                <a:gd name="connsiteY3" fmla="*/ 1294275 h 1295097"/>
                <a:gd name="connsiteX4" fmla="*/ 314684 w 1554519"/>
                <a:gd name="connsiteY4" fmla="*/ 1295097 h 1295097"/>
                <a:gd name="connsiteX5" fmla="*/ 0 w 1554519"/>
                <a:gd name="connsiteY5" fmla="*/ 482904 h 1295097"/>
                <a:gd name="connsiteX0" fmla="*/ 0 w 1566009"/>
                <a:gd name="connsiteY0" fmla="*/ 468766 h 1295097"/>
                <a:gd name="connsiteX1" fmla="*/ 788428 w 1566009"/>
                <a:gd name="connsiteY1" fmla="*/ 0 h 1295097"/>
                <a:gd name="connsiteX2" fmla="*/ 1566009 w 1566009"/>
                <a:gd name="connsiteY2" fmla="*/ 460715 h 1295097"/>
                <a:gd name="connsiteX3" fmla="*/ 1261170 w 1566009"/>
                <a:gd name="connsiteY3" fmla="*/ 1294275 h 1295097"/>
                <a:gd name="connsiteX4" fmla="*/ 326174 w 1566009"/>
                <a:gd name="connsiteY4" fmla="*/ 1295097 h 1295097"/>
                <a:gd name="connsiteX5" fmla="*/ 0 w 1566009"/>
                <a:gd name="connsiteY5" fmla="*/ 468766 h 1295097"/>
                <a:gd name="connsiteX0" fmla="*/ 0 w 1566009"/>
                <a:gd name="connsiteY0" fmla="*/ 468766 h 1295097"/>
                <a:gd name="connsiteX1" fmla="*/ 773109 w 1566009"/>
                <a:gd name="connsiteY1" fmla="*/ 0 h 1295097"/>
                <a:gd name="connsiteX2" fmla="*/ 1566009 w 1566009"/>
                <a:gd name="connsiteY2" fmla="*/ 460715 h 1295097"/>
                <a:gd name="connsiteX3" fmla="*/ 1261170 w 1566009"/>
                <a:gd name="connsiteY3" fmla="*/ 1294275 h 1295097"/>
                <a:gd name="connsiteX4" fmla="*/ 326174 w 1566009"/>
                <a:gd name="connsiteY4" fmla="*/ 1295097 h 1295097"/>
                <a:gd name="connsiteX5" fmla="*/ 0 w 1566009"/>
                <a:gd name="connsiteY5" fmla="*/ 468766 h 1295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66009" h="1295097">
                  <a:moveTo>
                    <a:pt x="0" y="468766"/>
                  </a:moveTo>
                  <a:lnTo>
                    <a:pt x="773109" y="0"/>
                  </a:lnTo>
                  <a:lnTo>
                    <a:pt x="1566009" y="460715"/>
                  </a:lnTo>
                  <a:lnTo>
                    <a:pt x="1261170" y="1294275"/>
                  </a:lnTo>
                  <a:lnTo>
                    <a:pt x="326174" y="1295097"/>
                  </a:lnTo>
                  <a:lnTo>
                    <a:pt x="0" y="468766"/>
                  </a:lnTo>
                  <a:close/>
                </a:path>
              </a:pathLst>
            </a:custGeom>
            <a:solidFill>
              <a:srgbClr val="FA9576"/>
            </a:solidFill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100" b="0" dirty="0">
                <a:solidFill>
                  <a:srgbClr val="FA9576"/>
                </a:solidFill>
              </a:endParaRPr>
            </a:p>
          </p:txBody>
        </p: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E3C74893-028F-75B4-67ED-0852411BA54E}"/>
                </a:ext>
              </a:extLst>
            </p:cNvPr>
            <p:cNvCxnSpPr>
              <a:cxnSpLocks/>
            </p:cNvCxnSpPr>
            <p:nvPr/>
          </p:nvCxnSpPr>
          <p:spPr>
            <a:xfrm>
              <a:off x="2802203" y="2375628"/>
              <a:ext cx="858073" cy="2369717"/>
            </a:xfrm>
            <a:prstGeom prst="line">
              <a:avLst/>
            </a:prstGeom>
            <a:ln w="12700" cap="flat" cmpd="sng" algn="ctr">
              <a:solidFill>
                <a:schemeClr val="tx1">
                  <a:alpha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167A9EE2-168B-FF08-6709-5B298000A91D}"/>
                    </a:ext>
                  </a:extLst>
                </p:cNvPr>
                <p:cNvSpPr txBox="1"/>
                <p:nvPr/>
              </p:nvSpPr>
              <p:spPr>
                <a:xfrm>
                  <a:off x="980556" y="4892894"/>
                  <a:ext cx="2110248" cy="32827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sz="1050" i="1" dirty="0" smtClean="0">
                          <a:latin typeface="Cambria Math" panose="02040503050406030204" pitchFamily="18" charset="0"/>
                        </a:rPr>
                        <m:t>(1</m:t>
                      </m:r>
                      <m:r>
                        <a:rPr lang="en-US" sz="1050" i="1" dirty="0"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r>
                    <a:rPr lang="en-US" sz="1050" dirty="0"/>
                    <a:t> Bell inequality</a:t>
                  </a:r>
                </a:p>
              </p:txBody>
            </p:sp>
          </mc:Choice>
          <mc:Fallback xmlns="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167A9EE2-168B-FF08-6709-5B298000A91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0556" y="4892894"/>
                  <a:ext cx="2110248" cy="328274"/>
                </a:xfrm>
                <a:prstGeom prst="rect">
                  <a:avLst/>
                </a:prstGeom>
                <a:blipFill>
                  <a:blip r:embed="rId6"/>
                  <a:stretch>
                    <a:fillRect b="-952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8" name="Regular Pentagon 4">
              <a:extLst>
                <a:ext uri="{FF2B5EF4-FFF2-40B4-BE49-F238E27FC236}">
                  <a16:creationId xmlns:a16="http://schemas.microsoft.com/office/drawing/2014/main" id="{2784FED5-0590-A375-0CAF-5B3DB4DFAE16}"/>
                </a:ext>
              </a:extLst>
            </p:cNvPr>
            <p:cNvSpPr/>
            <p:nvPr/>
          </p:nvSpPr>
          <p:spPr>
            <a:xfrm rot="10800000">
              <a:off x="1707388" y="3687075"/>
              <a:ext cx="1283904" cy="1059483"/>
            </a:xfrm>
            <a:custGeom>
              <a:avLst/>
              <a:gdLst>
                <a:gd name="connsiteX0" fmla="*/ 2 w 1421905"/>
                <a:gd name="connsiteY0" fmla="*/ 453943 h 1188441"/>
                <a:gd name="connsiteX1" fmla="*/ 710953 w 1421905"/>
                <a:gd name="connsiteY1" fmla="*/ 0 h 1188441"/>
                <a:gd name="connsiteX2" fmla="*/ 1421903 w 1421905"/>
                <a:gd name="connsiteY2" fmla="*/ 453943 h 1188441"/>
                <a:gd name="connsiteX3" fmla="*/ 1150344 w 1421905"/>
                <a:gd name="connsiteY3" fmla="*/ 1188438 h 1188441"/>
                <a:gd name="connsiteX4" fmla="*/ 271561 w 1421905"/>
                <a:gd name="connsiteY4" fmla="*/ 1188438 h 1188441"/>
                <a:gd name="connsiteX5" fmla="*/ 2 w 1421905"/>
                <a:gd name="connsiteY5" fmla="*/ 453943 h 1188441"/>
                <a:gd name="connsiteX0" fmla="*/ 0 w 1421901"/>
                <a:gd name="connsiteY0" fmla="*/ 453943 h 1188438"/>
                <a:gd name="connsiteX1" fmla="*/ 710951 w 1421901"/>
                <a:gd name="connsiteY1" fmla="*/ 0 h 1188438"/>
                <a:gd name="connsiteX2" fmla="*/ 1421901 w 1421901"/>
                <a:gd name="connsiteY2" fmla="*/ 453943 h 1188438"/>
                <a:gd name="connsiteX3" fmla="*/ 1150342 w 1421901"/>
                <a:gd name="connsiteY3" fmla="*/ 1188438 h 1188438"/>
                <a:gd name="connsiteX4" fmla="*/ 257382 w 1421901"/>
                <a:gd name="connsiteY4" fmla="*/ 1188438 h 1188438"/>
                <a:gd name="connsiteX5" fmla="*/ 0 w 1421901"/>
                <a:gd name="connsiteY5" fmla="*/ 453943 h 1188438"/>
                <a:gd name="connsiteX0" fmla="*/ 0 w 1421901"/>
                <a:gd name="connsiteY0" fmla="*/ 453943 h 1300889"/>
                <a:gd name="connsiteX1" fmla="*/ 710951 w 1421901"/>
                <a:gd name="connsiteY1" fmla="*/ 0 h 1300889"/>
                <a:gd name="connsiteX2" fmla="*/ 1421901 w 1421901"/>
                <a:gd name="connsiteY2" fmla="*/ 453943 h 1300889"/>
                <a:gd name="connsiteX3" fmla="*/ 1150342 w 1421901"/>
                <a:gd name="connsiteY3" fmla="*/ 1188438 h 1300889"/>
                <a:gd name="connsiteX4" fmla="*/ 230701 w 1421901"/>
                <a:gd name="connsiteY4" fmla="*/ 1300889 h 1300889"/>
                <a:gd name="connsiteX5" fmla="*/ 0 w 1421901"/>
                <a:gd name="connsiteY5" fmla="*/ 453943 h 1300889"/>
                <a:gd name="connsiteX0" fmla="*/ 0 w 1421901"/>
                <a:gd name="connsiteY0" fmla="*/ 453943 h 1300889"/>
                <a:gd name="connsiteX1" fmla="*/ 710951 w 1421901"/>
                <a:gd name="connsiteY1" fmla="*/ 0 h 1300889"/>
                <a:gd name="connsiteX2" fmla="*/ 1421901 w 1421901"/>
                <a:gd name="connsiteY2" fmla="*/ 453943 h 1300889"/>
                <a:gd name="connsiteX3" fmla="*/ 1183693 w 1421901"/>
                <a:gd name="connsiteY3" fmla="*/ 1294275 h 1300889"/>
                <a:gd name="connsiteX4" fmla="*/ 230701 w 1421901"/>
                <a:gd name="connsiteY4" fmla="*/ 1300889 h 1300889"/>
                <a:gd name="connsiteX5" fmla="*/ 0 w 1421901"/>
                <a:gd name="connsiteY5" fmla="*/ 453943 h 1300889"/>
                <a:gd name="connsiteX0" fmla="*/ 0 w 1421901"/>
                <a:gd name="connsiteY0" fmla="*/ 453943 h 1300889"/>
                <a:gd name="connsiteX1" fmla="*/ 710951 w 1421901"/>
                <a:gd name="connsiteY1" fmla="*/ 0 h 1300889"/>
                <a:gd name="connsiteX2" fmla="*/ 1421901 w 1421901"/>
                <a:gd name="connsiteY2" fmla="*/ 453943 h 1300889"/>
                <a:gd name="connsiteX3" fmla="*/ 723444 w 1421901"/>
                <a:gd name="connsiteY3" fmla="*/ 824626 h 1300889"/>
                <a:gd name="connsiteX4" fmla="*/ 230701 w 1421901"/>
                <a:gd name="connsiteY4" fmla="*/ 1300889 h 1300889"/>
                <a:gd name="connsiteX5" fmla="*/ 0 w 1421901"/>
                <a:gd name="connsiteY5" fmla="*/ 453943 h 1300889"/>
                <a:gd name="connsiteX0" fmla="*/ 0 w 1421901"/>
                <a:gd name="connsiteY0" fmla="*/ 453943 h 1300889"/>
                <a:gd name="connsiteX1" fmla="*/ 710951 w 1421901"/>
                <a:gd name="connsiteY1" fmla="*/ 0 h 1300889"/>
                <a:gd name="connsiteX2" fmla="*/ 1421901 w 1421901"/>
                <a:gd name="connsiteY2" fmla="*/ 453943 h 1300889"/>
                <a:gd name="connsiteX3" fmla="*/ 730114 w 1421901"/>
                <a:gd name="connsiteY3" fmla="*/ 989995 h 1300889"/>
                <a:gd name="connsiteX4" fmla="*/ 230701 w 1421901"/>
                <a:gd name="connsiteY4" fmla="*/ 1300889 h 1300889"/>
                <a:gd name="connsiteX5" fmla="*/ 0 w 1421901"/>
                <a:gd name="connsiteY5" fmla="*/ 453943 h 1300889"/>
                <a:gd name="connsiteX0" fmla="*/ 0 w 1421901"/>
                <a:gd name="connsiteY0" fmla="*/ 453943 h 1300889"/>
                <a:gd name="connsiteX1" fmla="*/ 710951 w 1421901"/>
                <a:gd name="connsiteY1" fmla="*/ 0 h 1300889"/>
                <a:gd name="connsiteX2" fmla="*/ 1421901 w 1421901"/>
                <a:gd name="connsiteY2" fmla="*/ 453943 h 1300889"/>
                <a:gd name="connsiteX3" fmla="*/ 730114 w 1421901"/>
                <a:gd name="connsiteY3" fmla="*/ 989995 h 1300889"/>
                <a:gd name="connsiteX4" fmla="*/ 230701 w 1421901"/>
                <a:gd name="connsiteY4" fmla="*/ 1300889 h 1300889"/>
                <a:gd name="connsiteX5" fmla="*/ 0 w 1421901"/>
                <a:gd name="connsiteY5" fmla="*/ 453943 h 1300889"/>
                <a:gd name="connsiteX0" fmla="*/ 0 w 1421901"/>
                <a:gd name="connsiteY0" fmla="*/ 453943 h 989995"/>
                <a:gd name="connsiteX1" fmla="*/ 710951 w 1421901"/>
                <a:gd name="connsiteY1" fmla="*/ 0 h 989995"/>
                <a:gd name="connsiteX2" fmla="*/ 1421901 w 1421901"/>
                <a:gd name="connsiteY2" fmla="*/ 453943 h 989995"/>
                <a:gd name="connsiteX3" fmla="*/ 730114 w 1421901"/>
                <a:gd name="connsiteY3" fmla="*/ 989995 h 989995"/>
                <a:gd name="connsiteX4" fmla="*/ 737642 w 1421901"/>
                <a:gd name="connsiteY4" fmla="*/ 976765 h 989995"/>
                <a:gd name="connsiteX5" fmla="*/ 0 w 1421901"/>
                <a:gd name="connsiteY5" fmla="*/ 453943 h 989995"/>
                <a:gd name="connsiteX0" fmla="*/ 0 w 1421901"/>
                <a:gd name="connsiteY0" fmla="*/ 453943 h 989995"/>
                <a:gd name="connsiteX1" fmla="*/ 710951 w 1421901"/>
                <a:gd name="connsiteY1" fmla="*/ 0 h 989995"/>
                <a:gd name="connsiteX2" fmla="*/ 1421901 w 1421901"/>
                <a:gd name="connsiteY2" fmla="*/ 453943 h 989995"/>
                <a:gd name="connsiteX3" fmla="*/ 730114 w 1421901"/>
                <a:gd name="connsiteY3" fmla="*/ 989995 h 989995"/>
                <a:gd name="connsiteX4" fmla="*/ 737642 w 1421901"/>
                <a:gd name="connsiteY4" fmla="*/ 976765 h 989995"/>
                <a:gd name="connsiteX5" fmla="*/ 0 w 1421901"/>
                <a:gd name="connsiteY5" fmla="*/ 453943 h 989995"/>
                <a:gd name="connsiteX0" fmla="*/ 0 w 1421901"/>
                <a:gd name="connsiteY0" fmla="*/ 453943 h 996610"/>
                <a:gd name="connsiteX1" fmla="*/ 710951 w 1421901"/>
                <a:gd name="connsiteY1" fmla="*/ 0 h 996610"/>
                <a:gd name="connsiteX2" fmla="*/ 1421901 w 1421901"/>
                <a:gd name="connsiteY2" fmla="*/ 453943 h 996610"/>
                <a:gd name="connsiteX3" fmla="*/ 730114 w 1421901"/>
                <a:gd name="connsiteY3" fmla="*/ 989995 h 996610"/>
                <a:gd name="connsiteX4" fmla="*/ 730973 w 1421901"/>
                <a:gd name="connsiteY4" fmla="*/ 996610 h 996610"/>
                <a:gd name="connsiteX5" fmla="*/ 0 w 1421901"/>
                <a:gd name="connsiteY5" fmla="*/ 453943 h 996610"/>
                <a:gd name="connsiteX0" fmla="*/ 0 w 1188442"/>
                <a:gd name="connsiteY0" fmla="*/ 308418 h 996610"/>
                <a:gd name="connsiteX1" fmla="*/ 477492 w 1188442"/>
                <a:gd name="connsiteY1" fmla="*/ 0 h 996610"/>
                <a:gd name="connsiteX2" fmla="*/ 1188442 w 1188442"/>
                <a:gd name="connsiteY2" fmla="*/ 453943 h 996610"/>
                <a:gd name="connsiteX3" fmla="*/ 496655 w 1188442"/>
                <a:gd name="connsiteY3" fmla="*/ 989995 h 996610"/>
                <a:gd name="connsiteX4" fmla="*/ 497514 w 1188442"/>
                <a:gd name="connsiteY4" fmla="*/ 996610 h 996610"/>
                <a:gd name="connsiteX5" fmla="*/ 0 w 1188442"/>
                <a:gd name="connsiteY5" fmla="*/ 308418 h 996610"/>
                <a:gd name="connsiteX0" fmla="*/ 0 w 941642"/>
                <a:gd name="connsiteY0" fmla="*/ 308418 h 996610"/>
                <a:gd name="connsiteX1" fmla="*/ 477492 w 941642"/>
                <a:gd name="connsiteY1" fmla="*/ 0 h 996610"/>
                <a:gd name="connsiteX2" fmla="*/ 941642 w 941642"/>
                <a:gd name="connsiteY2" fmla="*/ 288574 h 996610"/>
                <a:gd name="connsiteX3" fmla="*/ 496655 w 941642"/>
                <a:gd name="connsiteY3" fmla="*/ 989995 h 996610"/>
                <a:gd name="connsiteX4" fmla="*/ 497514 w 941642"/>
                <a:gd name="connsiteY4" fmla="*/ 996610 h 996610"/>
                <a:gd name="connsiteX5" fmla="*/ 0 w 941642"/>
                <a:gd name="connsiteY5" fmla="*/ 308418 h 996610"/>
                <a:gd name="connsiteX0" fmla="*/ 0 w 968324"/>
                <a:gd name="connsiteY0" fmla="*/ 308418 h 996610"/>
                <a:gd name="connsiteX1" fmla="*/ 477492 w 968324"/>
                <a:gd name="connsiteY1" fmla="*/ 0 h 996610"/>
                <a:gd name="connsiteX2" fmla="*/ 968324 w 968324"/>
                <a:gd name="connsiteY2" fmla="*/ 315034 h 996610"/>
                <a:gd name="connsiteX3" fmla="*/ 496655 w 968324"/>
                <a:gd name="connsiteY3" fmla="*/ 989995 h 996610"/>
                <a:gd name="connsiteX4" fmla="*/ 497514 w 968324"/>
                <a:gd name="connsiteY4" fmla="*/ 996610 h 996610"/>
                <a:gd name="connsiteX5" fmla="*/ 0 w 968324"/>
                <a:gd name="connsiteY5" fmla="*/ 308418 h 996610"/>
                <a:gd name="connsiteX0" fmla="*/ 0 w 1135081"/>
                <a:gd name="connsiteY0" fmla="*/ 387796 h 996610"/>
                <a:gd name="connsiteX1" fmla="*/ 644249 w 1135081"/>
                <a:gd name="connsiteY1" fmla="*/ 0 h 996610"/>
                <a:gd name="connsiteX2" fmla="*/ 1135081 w 1135081"/>
                <a:gd name="connsiteY2" fmla="*/ 315034 h 996610"/>
                <a:gd name="connsiteX3" fmla="*/ 663412 w 1135081"/>
                <a:gd name="connsiteY3" fmla="*/ 989995 h 996610"/>
                <a:gd name="connsiteX4" fmla="*/ 664271 w 1135081"/>
                <a:gd name="connsiteY4" fmla="*/ 996610 h 996610"/>
                <a:gd name="connsiteX5" fmla="*/ 0 w 1135081"/>
                <a:gd name="connsiteY5" fmla="*/ 387796 h 996610"/>
                <a:gd name="connsiteX0" fmla="*/ 0 w 1295167"/>
                <a:gd name="connsiteY0" fmla="*/ 387796 h 996610"/>
                <a:gd name="connsiteX1" fmla="*/ 644249 w 1295167"/>
                <a:gd name="connsiteY1" fmla="*/ 0 h 996610"/>
                <a:gd name="connsiteX2" fmla="*/ 1295167 w 1295167"/>
                <a:gd name="connsiteY2" fmla="*/ 414256 h 996610"/>
                <a:gd name="connsiteX3" fmla="*/ 663412 w 1295167"/>
                <a:gd name="connsiteY3" fmla="*/ 989995 h 996610"/>
                <a:gd name="connsiteX4" fmla="*/ 664271 w 1295167"/>
                <a:gd name="connsiteY4" fmla="*/ 996610 h 996610"/>
                <a:gd name="connsiteX5" fmla="*/ 0 w 1295167"/>
                <a:gd name="connsiteY5" fmla="*/ 387796 h 996610"/>
                <a:gd name="connsiteX0" fmla="*/ 0 w 1312080"/>
                <a:gd name="connsiteY0" fmla="*/ 387796 h 996610"/>
                <a:gd name="connsiteX1" fmla="*/ 644249 w 1312080"/>
                <a:gd name="connsiteY1" fmla="*/ 0 h 996610"/>
                <a:gd name="connsiteX2" fmla="*/ 1312080 w 1312080"/>
                <a:gd name="connsiteY2" fmla="*/ 394797 h 996610"/>
                <a:gd name="connsiteX3" fmla="*/ 663412 w 1312080"/>
                <a:gd name="connsiteY3" fmla="*/ 989995 h 996610"/>
                <a:gd name="connsiteX4" fmla="*/ 664271 w 1312080"/>
                <a:gd name="connsiteY4" fmla="*/ 996610 h 996610"/>
                <a:gd name="connsiteX5" fmla="*/ 0 w 1312080"/>
                <a:gd name="connsiteY5" fmla="*/ 387796 h 996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12080" h="996610">
                  <a:moveTo>
                    <a:pt x="0" y="387796"/>
                  </a:moveTo>
                  <a:lnTo>
                    <a:pt x="644249" y="0"/>
                  </a:lnTo>
                  <a:cubicBezTo>
                    <a:pt x="861222" y="138085"/>
                    <a:pt x="1095107" y="256712"/>
                    <a:pt x="1312080" y="394797"/>
                  </a:cubicBezTo>
                  <a:cubicBezTo>
                    <a:pt x="1081484" y="573481"/>
                    <a:pt x="727251" y="473958"/>
                    <a:pt x="663412" y="989995"/>
                  </a:cubicBezTo>
                  <a:lnTo>
                    <a:pt x="664271" y="996610"/>
                  </a:lnTo>
                  <a:cubicBezTo>
                    <a:pt x="571806" y="524671"/>
                    <a:pt x="245881" y="562070"/>
                    <a:pt x="0" y="387796"/>
                  </a:cubicBezTo>
                  <a:close/>
                </a:path>
              </a:pathLst>
            </a:custGeom>
            <a:solidFill>
              <a:srgbClr val="F66565"/>
            </a:solidFill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100" b="0" dirty="0">
                <a:solidFill>
                  <a:srgbClr val="F66565"/>
                </a:solidFill>
              </a:endParaRPr>
            </a:p>
          </p:txBody>
        </p: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95141A75-B8E6-D9B0-D673-99347D4757B9}"/>
                </a:ext>
              </a:extLst>
            </p:cNvPr>
            <p:cNvCxnSpPr>
              <a:cxnSpLocks/>
            </p:cNvCxnSpPr>
            <p:nvPr/>
          </p:nvCxnSpPr>
          <p:spPr>
            <a:xfrm>
              <a:off x="3071442" y="2362741"/>
              <a:ext cx="789403" cy="2200297"/>
            </a:xfrm>
            <a:prstGeom prst="line">
              <a:avLst/>
            </a:prstGeom>
            <a:ln w="12700" cap="flat" cmpd="sng" algn="ctr">
              <a:solidFill>
                <a:schemeClr val="tx1">
                  <a:alpha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18BC376C-08D1-F3CC-A46E-040088BB8A02}"/>
                </a:ext>
              </a:extLst>
            </p:cNvPr>
            <p:cNvCxnSpPr>
              <a:cxnSpLocks/>
            </p:cNvCxnSpPr>
            <p:nvPr/>
          </p:nvCxnSpPr>
          <p:spPr>
            <a:xfrm>
              <a:off x="2557824" y="2393057"/>
              <a:ext cx="898028" cy="2490078"/>
            </a:xfrm>
            <a:prstGeom prst="line">
              <a:avLst/>
            </a:prstGeom>
            <a:ln w="12700" cap="flat" cmpd="sng" algn="ctr">
              <a:solidFill>
                <a:schemeClr val="tx1">
                  <a:alpha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FC5519F0-AA69-8DE0-5C49-30271EC14485}"/>
                    </a:ext>
                  </a:extLst>
                </p:cNvPr>
                <p:cNvSpPr txBox="1"/>
                <p:nvPr/>
              </p:nvSpPr>
              <p:spPr>
                <a:xfrm>
                  <a:off x="1738999" y="2954919"/>
                  <a:ext cx="1165107" cy="34678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CA" sz="1050" spc="-30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𝒩</m:t>
                        </m:r>
                        <m:sSub>
                          <m:sSubPr>
                            <m:ctrlPr>
                              <a:rPr lang="en-CA" sz="1050" b="0" i="1" spc="-150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1050" i="0" spc="-15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𝒞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CA" sz="1050" b="0" i="1" spc="-150" smtClea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CA" sz="1050" b="0" i="0" spc="-150" smtClea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O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CA" sz="1050" b="0" i="0" spc="-150" smtClea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N</m:t>
                                </m:r>
                              </m:sub>
                            </m:sSub>
                          </m:sub>
                        </m:sSub>
                      </m:oMath>
                    </m:oMathPara>
                  </a14:m>
                  <a:endParaRPr lang="en-US" sz="1050" dirty="0"/>
                </a:p>
              </p:txBody>
            </p:sp>
          </mc:Choice>
          <mc:Fallback xmlns="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FC5519F0-AA69-8DE0-5C49-30271EC1448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38999" y="2954919"/>
                  <a:ext cx="1165107" cy="346780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28FCF89A-D98C-141E-1D27-B5BCB2D40ADC}"/>
                    </a:ext>
                  </a:extLst>
                </p:cNvPr>
                <p:cNvSpPr txBox="1"/>
                <p:nvPr/>
              </p:nvSpPr>
              <p:spPr>
                <a:xfrm>
                  <a:off x="1862524" y="3410613"/>
                  <a:ext cx="1072897" cy="34678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CA" sz="1050" spc="-3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𝒩</m:t>
                        </m:r>
                        <m:sSub>
                          <m:sSubPr>
                            <m:ctrlPr>
                              <a:rPr lang="en-CA" sz="1050" i="1" spc="-15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1050" spc="-15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𝒞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CA" sz="1050" i="1" spc="-15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CA" sz="1050" spc="-15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O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CA" sz="1050" spc="-15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N</m:t>
                                </m:r>
                              </m:sub>
                            </m:sSub>
                            <m:r>
                              <a:rPr lang="en-CA" sz="1050" i="1" spc="-15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∪</m:t>
                            </m:r>
                            <m:sSub>
                              <m:sSubPr>
                                <m:ctrlPr>
                                  <a:rPr lang="en-CA" sz="1050" i="1" spc="-15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CA" sz="1050" i="1" spc="-15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</m:e>
                              <m:sub>
                                <m:r>
                                  <a:rPr lang="en-CA" sz="1050" i="1" spc="-15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𝑀</m:t>
                                </m:r>
                              </m:sub>
                            </m:sSub>
                          </m:sub>
                        </m:sSub>
                      </m:oMath>
                    </m:oMathPara>
                  </a14:m>
                  <a:endParaRPr lang="en-US" sz="1050" dirty="0"/>
                </a:p>
              </p:txBody>
            </p:sp>
          </mc:Choice>
          <mc:Fallback xmlns="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28FCF89A-D98C-141E-1D27-B5BCB2D40AD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62524" y="3410613"/>
                  <a:ext cx="1072897" cy="346780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D52C9683-FD6C-2C66-55C3-6EE82D226159}"/>
                    </a:ext>
                  </a:extLst>
                </p:cNvPr>
                <p:cNvSpPr txBox="1"/>
                <p:nvPr/>
              </p:nvSpPr>
              <p:spPr>
                <a:xfrm>
                  <a:off x="1822398" y="4199237"/>
                  <a:ext cx="1072897" cy="32827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CA" sz="1050" spc="-30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𝒩</m:t>
                        </m:r>
                        <m:sSub>
                          <m:sSubPr>
                            <m:ctrlPr>
                              <a:rPr lang="en-CA" sz="1050" b="0" i="1" spc="-150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1050" i="0" spc="-15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𝒞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CA" sz="1050" b="0" i="0" spc="-150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a</m:t>
                            </m:r>
                            <m:r>
                              <a:rPr lang="en-CA" sz="1050" b="0" i="1" spc="-150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𝑙𝑙</m:t>
                            </m:r>
                          </m:sub>
                        </m:sSub>
                      </m:oMath>
                    </m:oMathPara>
                  </a14:m>
                  <a:endParaRPr lang="en-US" sz="1050" dirty="0"/>
                </a:p>
              </p:txBody>
            </p:sp>
          </mc:Choice>
          <mc:Fallback xmlns="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D52C9683-FD6C-2C66-55C3-6EE82D22615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22398" y="4199237"/>
                  <a:ext cx="1072897" cy="328274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92988476-7254-DBB0-3091-B6CC3632354B}"/>
                    </a:ext>
                  </a:extLst>
                </p:cNvPr>
                <p:cNvSpPr txBox="1"/>
                <p:nvPr/>
              </p:nvSpPr>
              <p:spPr>
                <a:xfrm>
                  <a:off x="3748420" y="4396181"/>
                  <a:ext cx="509785" cy="30896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000" i="1" dirty="0" smtClean="0">
                            <a:latin typeface="Cambria Math" panose="02040503050406030204" pitchFamily="18" charset="0"/>
                          </a:rPr>
                          <m:t>(1</m:t>
                        </m:r>
                        <m:r>
                          <a:rPr lang="en-US" sz="1000" i="1" dirty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1000" dirty="0"/>
                </a:p>
              </p:txBody>
            </p:sp>
          </mc:Choice>
          <mc:Fallback xmlns="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92988476-7254-DBB0-3091-B6CC3632354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48420" y="4396181"/>
                  <a:ext cx="509785" cy="308964"/>
                </a:xfrm>
                <a:prstGeom prst="rect">
                  <a:avLst/>
                </a:prstGeom>
                <a:blipFill>
                  <a:blip r:embed="rId10"/>
                  <a:stretch>
                    <a:fillRect b="-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3CDA8C78-3782-C256-E925-7C77357CDF62}"/>
                    </a:ext>
                  </a:extLst>
                </p:cNvPr>
                <p:cNvSpPr txBox="1"/>
                <p:nvPr/>
              </p:nvSpPr>
              <p:spPr>
                <a:xfrm>
                  <a:off x="3532010" y="4599678"/>
                  <a:ext cx="509785" cy="30896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000" i="1" dirty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CA" sz="10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1000" i="1" dirty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1000" dirty="0"/>
                </a:p>
              </p:txBody>
            </p:sp>
          </mc:Choice>
          <mc:Fallback xmlns="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3CDA8C78-3782-C256-E925-7C77357CDF6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32010" y="4599678"/>
                  <a:ext cx="509785" cy="308964"/>
                </a:xfrm>
                <a:prstGeom prst="rect">
                  <a:avLst/>
                </a:prstGeom>
                <a:blipFill>
                  <a:blip r:embed="rId11"/>
                  <a:stretch>
                    <a:fillRect b="-476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C6B4F3A6-6E1C-43F7-5D67-2681F6577505}"/>
                    </a:ext>
                  </a:extLst>
                </p:cNvPr>
                <p:cNvSpPr txBox="1"/>
                <p:nvPr/>
              </p:nvSpPr>
              <p:spPr>
                <a:xfrm>
                  <a:off x="3301087" y="4797646"/>
                  <a:ext cx="509785" cy="30896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000" i="1" dirty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CA" sz="1000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sz="1000" i="1" dirty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1000" dirty="0"/>
                </a:p>
              </p:txBody>
            </p:sp>
          </mc:Choice>
          <mc:Fallback xmlns="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C6B4F3A6-6E1C-43F7-5D67-2681F657750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01087" y="4797646"/>
                  <a:ext cx="509785" cy="308964"/>
                </a:xfrm>
                <a:prstGeom prst="rect">
                  <a:avLst/>
                </a:prstGeom>
                <a:blipFill>
                  <a:blip r:embed="rId12"/>
                  <a:stretch>
                    <a:fillRect b="-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42200218-5808-2ABE-F1A1-4421C7652643}"/>
                    </a:ext>
                  </a:extLst>
                </p:cNvPr>
                <p:cNvSpPr txBox="1"/>
                <p:nvPr/>
              </p:nvSpPr>
              <p:spPr>
                <a:xfrm>
                  <a:off x="976805" y="5608523"/>
                  <a:ext cx="3400290" cy="54068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sz="105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CA" sz="1050" b="0" i="1" dirty="0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sz="1050" i="1" dirty="0"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r>
                    <a:rPr lang="en-US" sz="1050" dirty="0"/>
                    <a:t> Entanglement-Witnessing NC inequality</a:t>
                  </a:r>
                </a:p>
              </p:txBody>
            </p:sp>
          </mc:Choice>
          <mc:Fallback xmlns="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42200218-5808-2ABE-F1A1-4421C765264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6805" y="5608523"/>
                  <a:ext cx="3400290" cy="540687"/>
                </a:xfrm>
                <a:prstGeom prst="rect">
                  <a:avLst/>
                </a:prstGeom>
                <a:blipFill>
                  <a:blip r:embed="rId13"/>
                  <a:stretch>
                    <a:fillRect b="-285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E79671E2-1AFD-81FC-8614-98057C65AFBF}"/>
              </a:ext>
            </a:extLst>
          </p:cNvPr>
          <p:cNvCxnSpPr>
            <a:cxnSpLocks/>
          </p:cNvCxnSpPr>
          <p:nvPr/>
        </p:nvCxnSpPr>
        <p:spPr>
          <a:xfrm>
            <a:off x="939352" y="1712501"/>
            <a:ext cx="0" cy="160276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7EC80068-1C15-A80A-A635-D728DB75F4AC}"/>
                  </a:ext>
                </a:extLst>
              </p:cNvPr>
              <p:cNvSpPr txBox="1"/>
              <p:nvPr/>
            </p:nvSpPr>
            <p:spPr>
              <a:xfrm>
                <a:off x="892358" y="1662694"/>
                <a:ext cx="204800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altLang="zh-CN" sz="12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sz="16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7EC80068-1C15-A80A-A635-D728DB75F4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2358" y="1662694"/>
                <a:ext cx="204800" cy="276999"/>
              </a:xfrm>
              <a:prstGeom prst="rect">
                <a:avLst/>
              </a:prstGeom>
              <a:blipFill>
                <a:blip r:embed="rId14"/>
                <a:stretch>
                  <a:fillRect r="-11765" b="-45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00367E96-F099-86FA-1B66-AF22F0623EE4}"/>
              </a:ext>
            </a:extLst>
          </p:cNvPr>
          <p:cNvCxnSpPr>
            <a:cxnSpLocks/>
          </p:cNvCxnSpPr>
          <p:nvPr/>
        </p:nvCxnSpPr>
        <p:spPr>
          <a:xfrm>
            <a:off x="328962" y="1710862"/>
            <a:ext cx="0" cy="160276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61D7DBAC-BFAC-8690-8179-A39B27C3F865}"/>
                  </a:ext>
                </a:extLst>
              </p:cNvPr>
              <p:cNvSpPr txBox="1"/>
              <p:nvPr/>
            </p:nvSpPr>
            <p:spPr>
              <a:xfrm>
                <a:off x="281968" y="1661055"/>
                <a:ext cx="204800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altLang="zh-CN" sz="12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16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61D7DBAC-BFAC-8690-8179-A39B27C3F8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968" y="1661055"/>
                <a:ext cx="204800" cy="276999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CE0657CD-A972-D1C6-D359-BFFA5C795649}"/>
                  </a:ext>
                </a:extLst>
              </p:cNvPr>
              <p:cNvSpPr txBox="1"/>
              <p:nvPr/>
            </p:nvSpPr>
            <p:spPr>
              <a:xfrm>
                <a:off x="206598" y="1199747"/>
                <a:ext cx="246689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12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12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16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CE0657CD-A972-D1C6-D359-BFFA5C7956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598" y="1199747"/>
                <a:ext cx="246689" cy="276999"/>
              </a:xfrm>
              <a:prstGeom prst="rect">
                <a:avLst/>
              </a:prstGeom>
              <a:blipFill>
                <a:blip r:embed="rId16"/>
                <a:stretch>
                  <a:fillRect r="-20000" b="-86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3" name="Group 42">
            <a:extLst>
              <a:ext uri="{FF2B5EF4-FFF2-40B4-BE49-F238E27FC236}">
                <a16:creationId xmlns:a16="http://schemas.microsoft.com/office/drawing/2014/main" id="{F25AB770-CB4B-F176-6458-170B58C1D0BE}"/>
              </a:ext>
            </a:extLst>
          </p:cNvPr>
          <p:cNvGrpSpPr/>
          <p:nvPr/>
        </p:nvGrpSpPr>
        <p:grpSpPr>
          <a:xfrm>
            <a:off x="834098" y="1721167"/>
            <a:ext cx="45719" cy="210912"/>
            <a:chOff x="6548130" y="2237014"/>
            <a:chExt cx="49658" cy="440872"/>
          </a:xfrm>
        </p:grpSpPr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FE497DFA-999D-006C-9A28-35EF275F2680}"/>
                </a:ext>
              </a:extLst>
            </p:cNvPr>
            <p:cNvCxnSpPr>
              <a:cxnSpLocks/>
            </p:cNvCxnSpPr>
            <p:nvPr/>
          </p:nvCxnSpPr>
          <p:spPr>
            <a:xfrm>
              <a:off x="6548130" y="2237014"/>
              <a:ext cx="0" cy="440872"/>
            </a:xfrm>
            <a:prstGeom prst="line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A6DD1A79-96CB-4A4F-CA74-B7D59A682F1A}"/>
                </a:ext>
              </a:extLst>
            </p:cNvPr>
            <p:cNvCxnSpPr>
              <a:cxnSpLocks/>
            </p:cNvCxnSpPr>
            <p:nvPr/>
          </p:nvCxnSpPr>
          <p:spPr>
            <a:xfrm>
              <a:off x="6597788" y="2237014"/>
              <a:ext cx="0" cy="440872"/>
            </a:xfrm>
            <a:prstGeom prst="line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cxnSp>
      </p:grpSp>
      <p:sp>
        <p:nvSpPr>
          <p:cNvPr id="46" name="Flowchart: Delay 9">
            <a:extLst>
              <a:ext uri="{FF2B5EF4-FFF2-40B4-BE49-F238E27FC236}">
                <a16:creationId xmlns:a16="http://schemas.microsoft.com/office/drawing/2014/main" id="{7A846B08-2127-05AA-A2A6-5CB01307FCB0}"/>
              </a:ext>
            </a:extLst>
          </p:cNvPr>
          <p:cNvSpPr/>
          <p:nvPr/>
        </p:nvSpPr>
        <p:spPr>
          <a:xfrm rot="16200000">
            <a:off x="709674" y="1382374"/>
            <a:ext cx="309789" cy="367797"/>
          </a:xfrm>
          <a:prstGeom prst="flowChartDelay">
            <a:avLst/>
          </a:prstGeom>
          <a:solidFill>
            <a:srgbClr val="FFC000">
              <a:lumMod val="40000"/>
              <a:lumOff val="60000"/>
            </a:srgbClr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eaVert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F31719C5-77C4-910F-1B87-588CB4638676}"/>
                  </a:ext>
                </a:extLst>
              </p:cNvPr>
              <p:cNvSpPr txBox="1"/>
              <p:nvPr/>
            </p:nvSpPr>
            <p:spPr>
              <a:xfrm>
                <a:off x="839590" y="1199747"/>
                <a:ext cx="246689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12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sz="12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16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F31719C5-77C4-910F-1B87-588CB46386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9590" y="1199747"/>
                <a:ext cx="246689" cy="276999"/>
              </a:xfrm>
              <a:prstGeom prst="rect">
                <a:avLst/>
              </a:prstGeom>
              <a:blipFill>
                <a:blip r:embed="rId17"/>
                <a:stretch>
                  <a:fillRect r="-15000" b="-86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8" name="Group 47">
            <a:extLst>
              <a:ext uri="{FF2B5EF4-FFF2-40B4-BE49-F238E27FC236}">
                <a16:creationId xmlns:a16="http://schemas.microsoft.com/office/drawing/2014/main" id="{0C673FF7-0C48-6F1D-866B-D5EC43C0300C}"/>
              </a:ext>
            </a:extLst>
          </p:cNvPr>
          <p:cNvGrpSpPr/>
          <p:nvPr/>
        </p:nvGrpSpPr>
        <p:grpSpPr>
          <a:xfrm>
            <a:off x="218876" y="1721167"/>
            <a:ext cx="45719" cy="210912"/>
            <a:chOff x="6548130" y="2237014"/>
            <a:chExt cx="49658" cy="440872"/>
          </a:xfrm>
        </p:grpSpPr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1E251A7B-61E2-6D66-4575-F3B8EC1ED717}"/>
                </a:ext>
              </a:extLst>
            </p:cNvPr>
            <p:cNvCxnSpPr>
              <a:cxnSpLocks/>
            </p:cNvCxnSpPr>
            <p:nvPr/>
          </p:nvCxnSpPr>
          <p:spPr>
            <a:xfrm>
              <a:off x="6548130" y="2237014"/>
              <a:ext cx="0" cy="440872"/>
            </a:xfrm>
            <a:prstGeom prst="line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D44E3D99-E279-A54F-B466-6EE324A102C8}"/>
                </a:ext>
              </a:extLst>
            </p:cNvPr>
            <p:cNvCxnSpPr>
              <a:cxnSpLocks/>
            </p:cNvCxnSpPr>
            <p:nvPr/>
          </p:nvCxnSpPr>
          <p:spPr>
            <a:xfrm>
              <a:off x="6597788" y="2237014"/>
              <a:ext cx="0" cy="440872"/>
            </a:xfrm>
            <a:prstGeom prst="line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cxnSp>
      </p:grpSp>
      <p:sp>
        <p:nvSpPr>
          <p:cNvPr id="51" name="Flowchart: Delay 17">
            <a:extLst>
              <a:ext uri="{FF2B5EF4-FFF2-40B4-BE49-F238E27FC236}">
                <a16:creationId xmlns:a16="http://schemas.microsoft.com/office/drawing/2014/main" id="{8C84EEB5-13F8-E69F-29B1-9D1BC5AE6872}"/>
              </a:ext>
            </a:extLst>
          </p:cNvPr>
          <p:cNvSpPr/>
          <p:nvPr/>
        </p:nvSpPr>
        <p:spPr>
          <a:xfrm rot="16200000">
            <a:off x="83013" y="1382374"/>
            <a:ext cx="309789" cy="367797"/>
          </a:xfrm>
          <a:prstGeom prst="flowChartDelay">
            <a:avLst/>
          </a:prstGeom>
          <a:solidFill>
            <a:srgbClr val="FFC000">
              <a:lumMod val="40000"/>
              <a:lumOff val="60000"/>
            </a:srgbClr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eaVert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0" dirty="0">
                <a:solidFill>
                  <a:prstClr val="black"/>
                </a:solidFill>
                <a:latin typeface="Calibri" panose="020F0502020204030204"/>
              </a:rPr>
              <a:t>N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114D468A-78E2-3A82-A848-E08B5CDA4901}"/>
              </a:ext>
            </a:extLst>
          </p:cNvPr>
          <p:cNvCxnSpPr>
            <a:cxnSpLocks/>
          </p:cNvCxnSpPr>
          <p:nvPr/>
        </p:nvCxnSpPr>
        <p:spPr>
          <a:xfrm>
            <a:off x="237690" y="1297219"/>
            <a:ext cx="0" cy="114159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7D058D00-31FE-DC07-8E98-A120F3E0E993}"/>
              </a:ext>
            </a:extLst>
          </p:cNvPr>
          <p:cNvCxnSpPr>
            <a:cxnSpLocks/>
          </p:cNvCxnSpPr>
          <p:nvPr/>
        </p:nvCxnSpPr>
        <p:spPr>
          <a:xfrm>
            <a:off x="864568" y="1297219"/>
            <a:ext cx="0" cy="114159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Rectangle: Rounded Corners 10">
                <a:extLst>
                  <a:ext uri="{FF2B5EF4-FFF2-40B4-BE49-F238E27FC236}">
                    <a16:creationId xmlns:a16="http://schemas.microsoft.com/office/drawing/2014/main" id="{8C659B92-1817-560E-F441-1AF9435E65C9}"/>
                  </a:ext>
                </a:extLst>
              </p:cNvPr>
              <p:cNvSpPr/>
              <p:nvPr/>
            </p:nvSpPr>
            <p:spPr>
              <a:xfrm>
                <a:off x="54009" y="1938054"/>
                <a:ext cx="994458" cy="406232"/>
              </a:xfrm>
              <a:prstGeom prst="roundRect">
                <a:avLst/>
              </a:prstGeom>
              <a:solidFill>
                <a:srgbClr val="FFC000">
                  <a:lumMod val="40000"/>
                  <a:lumOff val="60000"/>
                </a:srgbClr>
              </a:solidFill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CA" sz="18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𝜌</m:t>
                      </m:r>
                    </m:oMath>
                  </m:oMathPara>
                </a14:m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54" name="Rectangle: Rounded Corners 10">
                <a:extLst>
                  <a:ext uri="{FF2B5EF4-FFF2-40B4-BE49-F238E27FC236}">
                    <a16:creationId xmlns:a16="http://schemas.microsoft.com/office/drawing/2014/main" id="{8C659B92-1817-560E-F441-1AF9435E65C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09" y="1938054"/>
                <a:ext cx="994458" cy="406232"/>
              </a:xfrm>
              <a:prstGeom prst="roundRect">
                <a:avLst/>
              </a:prstGeom>
              <a:blipFill>
                <a:blip r:embed="rId18"/>
                <a:stretch>
                  <a:fillRect/>
                </a:stretch>
              </a:blipFill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5" name="TextBox 54">
            <a:extLst>
              <a:ext uri="{FF2B5EF4-FFF2-40B4-BE49-F238E27FC236}">
                <a16:creationId xmlns:a16="http://schemas.microsoft.com/office/drawing/2014/main" id="{E44C9EE6-4A3D-E4C0-375C-05D0C9FFEA8E}"/>
              </a:ext>
            </a:extLst>
          </p:cNvPr>
          <p:cNvSpPr txBox="1"/>
          <p:nvPr/>
        </p:nvSpPr>
        <p:spPr>
          <a:xfrm>
            <a:off x="1968917" y="2502464"/>
            <a:ext cx="141578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1200" dirty="0">
                <a:solidFill>
                  <a:prstClr val="black"/>
                </a:solidFill>
                <a:latin typeface="Calibri" panose="020F0502020204030204"/>
              </a:rPr>
              <a:t>Ontological model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D448EF2F-972E-61AF-6506-4D8EF97B3FA9}"/>
              </a:ext>
            </a:extLst>
          </p:cNvPr>
          <p:cNvSpPr txBox="1"/>
          <p:nvPr/>
        </p:nvSpPr>
        <p:spPr>
          <a:xfrm>
            <a:off x="-15082" y="2489170"/>
            <a:ext cx="141578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1200" dirty="0">
                <a:solidFill>
                  <a:prstClr val="black"/>
                </a:solidFill>
                <a:latin typeface="Calibri" panose="020F0502020204030204"/>
              </a:rPr>
              <a:t>Quantum circuit</a:t>
            </a:r>
          </a:p>
        </p:txBody>
      </p:sp>
      <p:sp>
        <p:nvSpPr>
          <p:cNvPr id="57" name="Arrow: Right 117">
            <a:extLst>
              <a:ext uri="{FF2B5EF4-FFF2-40B4-BE49-F238E27FC236}">
                <a16:creationId xmlns:a16="http://schemas.microsoft.com/office/drawing/2014/main" id="{AE1E4E3F-1235-88F2-2087-71F81C7B880C}"/>
              </a:ext>
            </a:extLst>
          </p:cNvPr>
          <p:cNvSpPr/>
          <p:nvPr/>
        </p:nvSpPr>
        <p:spPr>
          <a:xfrm>
            <a:off x="1374072" y="1733715"/>
            <a:ext cx="394729" cy="426178"/>
          </a:xfrm>
          <a:prstGeom prst="rightArrow">
            <a:avLst/>
          </a:prstGeom>
          <a:solidFill>
            <a:srgbClr val="A5A5A5"/>
          </a:solidFill>
          <a:ln w="12700" cap="flat" cmpd="sng" algn="ctr">
            <a:solidFill>
              <a:srgbClr val="A5A5A5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3EDF519-7480-C988-B068-8E6FA159A061}"/>
              </a:ext>
            </a:extLst>
          </p:cNvPr>
          <p:cNvSpPr txBox="1"/>
          <p:nvPr/>
        </p:nvSpPr>
        <p:spPr>
          <a:xfrm>
            <a:off x="1153806" y="1264398"/>
            <a:ext cx="9063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prstClr val="black"/>
                </a:solidFill>
                <a:latin typeface="Calibri" panose="020F0502020204030204"/>
              </a:rPr>
              <a:t>Linear</a:t>
            </a:r>
          </a:p>
          <a:p>
            <a:r>
              <a:rPr lang="en-US" sz="1200" dirty="0">
                <a:solidFill>
                  <a:prstClr val="black"/>
                </a:solidFill>
                <a:latin typeface="Calibri" panose="020F0502020204030204"/>
              </a:rPr>
              <a:t>Diag. Pres</a:t>
            </a:r>
          </a:p>
        </p:txBody>
      </p: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67F1FE06-BDEF-A322-FB6D-E9B87487AFDB}"/>
              </a:ext>
            </a:extLst>
          </p:cNvPr>
          <p:cNvCxnSpPr/>
          <p:nvPr/>
        </p:nvCxnSpPr>
        <p:spPr>
          <a:xfrm>
            <a:off x="2429046" y="1636139"/>
            <a:ext cx="0" cy="160276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06399607-E561-E134-E4BD-91C707FC353E}"/>
                  </a:ext>
                </a:extLst>
              </p:cNvPr>
              <p:cNvSpPr txBox="1"/>
              <p:nvPr/>
            </p:nvSpPr>
            <p:spPr>
              <a:xfrm>
                <a:off x="2407810" y="1612906"/>
                <a:ext cx="229932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altLang="zh-CN" sz="12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16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mc:Choice>
        <mc:Fallback xmlns="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06399607-E561-E134-E4BD-91C707FC35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7810" y="1612906"/>
                <a:ext cx="229932" cy="276999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CFEEFA5E-195D-C6F0-208F-32E890B618D4}"/>
              </a:ext>
            </a:extLst>
          </p:cNvPr>
          <p:cNvCxnSpPr/>
          <p:nvPr/>
        </p:nvCxnSpPr>
        <p:spPr>
          <a:xfrm>
            <a:off x="3117123" y="1635319"/>
            <a:ext cx="0" cy="160276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31F0DDAD-8B87-D9A5-EAE5-91FB60D6A46C}"/>
                  </a:ext>
                </a:extLst>
              </p:cNvPr>
              <p:cNvSpPr txBox="1"/>
              <p:nvPr/>
            </p:nvSpPr>
            <p:spPr>
              <a:xfrm>
                <a:off x="3070129" y="1585512"/>
                <a:ext cx="204800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altLang="zh-CN" sz="12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sz="16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mc:Choice>
        <mc:Fallback xmlns="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31F0DDAD-8B87-D9A5-EAE5-91FB60D6A4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0129" y="1585512"/>
                <a:ext cx="204800" cy="276999"/>
              </a:xfrm>
              <a:prstGeom prst="rect">
                <a:avLst/>
              </a:prstGeom>
              <a:blipFill>
                <a:blip r:embed="rId20"/>
                <a:stretch>
                  <a:fillRect r="-17647" b="-4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E55583B6-C528-8E10-AAEA-258D4ADE4105}"/>
              </a:ext>
            </a:extLst>
          </p:cNvPr>
          <p:cNvCxnSpPr>
            <a:cxnSpLocks/>
            <a:stCxn id="64" idx="2"/>
          </p:cNvCxnSpPr>
          <p:nvPr/>
        </p:nvCxnSpPr>
        <p:spPr>
          <a:xfrm flipH="1">
            <a:off x="3043454" y="1641833"/>
            <a:ext cx="2476" cy="340734"/>
          </a:xfrm>
          <a:prstGeom prst="line">
            <a:avLst/>
          </a:prstGeom>
          <a:noFill/>
          <a:ln w="15875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Rectangle: Rounded Corners 40">
                <a:extLst>
                  <a:ext uri="{FF2B5EF4-FFF2-40B4-BE49-F238E27FC236}">
                    <a16:creationId xmlns:a16="http://schemas.microsoft.com/office/drawing/2014/main" id="{2F96E73B-55C2-6D1C-612F-0A3678DED35F}"/>
                  </a:ext>
                </a:extLst>
              </p:cNvPr>
              <p:cNvSpPr/>
              <p:nvPr/>
            </p:nvSpPr>
            <p:spPr>
              <a:xfrm>
                <a:off x="2738963" y="1374908"/>
                <a:ext cx="613934" cy="266925"/>
              </a:xfrm>
              <a:prstGeom prst="roundRect">
                <a:avLst/>
              </a:prstGeom>
              <a:solidFill>
                <a:srgbClr val="70AD47">
                  <a:lumMod val="40000"/>
                  <a:lumOff val="60000"/>
                  <a:alpha val="96000"/>
                </a:srgbClr>
              </a:solidFill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1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 </m:t>
                      </m:r>
                      <m:r>
                        <a:rPr kumimoji="0" lang="en-US" sz="11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𝑝</m:t>
                      </m:r>
                      <m:r>
                        <a:rPr kumimoji="0" lang="en-US" sz="11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(</m:t>
                      </m:r>
                      <m:r>
                        <a:rPr kumimoji="0" lang="en-CA" sz="11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𝑏</m:t>
                      </m:r>
                      <m:r>
                        <a:rPr kumimoji="0" lang="en-US" sz="11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|</m:t>
                      </m:r>
                      <m:sSub>
                        <m:sSubPr>
                          <m:ctrlPr>
                            <a:rPr kumimoji="0" lang="en-US" sz="11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CA" sz="11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𝑦</m:t>
                          </m:r>
                          <m:r>
                            <a:rPr kumimoji="0" lang="en-US" sz="11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𝜆</m:t>
                          </m:r>
                        </m:e>
                        <m:sub>
                          <m:r>
                            <a:rPr kumimoji="0" lang="en-CA" sz="11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𝐵</m:t>
                          </m:r>
                        </m:sub>
                      </m:sSub>
                      <m:r>
                        <a:rPr kumimoji="0" lang="en-US" sz="11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)</m:t>
                      </m:r>
                    </m:oMath>
                  </m:oMathPara>
                </a14:m>
                <a:endPara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64" name="Rectangle: Rounded Corners 40">
                <a:extLst>
                  <a:ext uri="{FF2B5EF4-FFF2-40B4-BE49-F238E27FC236}">
                    <a16:creationId xmlns:a16="http://schemas.microsoft.com/office/drawing/2014/main" id="{2F96E73B-55C2-6D1C-612F-0A3678DED35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38963" y="1374908"/>
                <a:ext cx="613934" cy="266925"/>
              </a:xfrm>
              <a:prstGeom prst="roundRect">
                <a:avLst/>
              </a:prstGeom>
              <a:blipFill>
                <a:blip r:embed="rId21"/>
                <a:stretch>
                  <a:fillRect/>
                </a:stretch>
              </a:blipFill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Rectangle: Rounded Corners 33">
                <a:extLst>
                  <a:ext uri="{FF2B5EF4-FFF2-40B4-BE49-F238E27FC236}">
                    <a16:creationId xmlns:a16="http://schemas.microsoft.com/office/drawing/2014/main" id="{EB4E1B23-A072-C10E-88C0-96C61D39783F}"/>
                  </a:ext>
                </a:extLst>
              </p:cNvPr>
              <p:cNvSpPr/>
              <p:nvPr/>
            </p:nvSpPr>
            <p:spPr>
              <a:xfrm>
                <a:off x="2098082" y="1975162"/>
                <a:ext cx="1170006" cy="398885"/>
              </a:xfrm>
              <a:prstGeom prst="roundRect">
                <a:avLst/>
              </a:prstGeom>
              <a:solidFill>
                <a:srgbClr val="70AD47">
                  <a:lumMod val="40000"/>
                  <a:lumOff val="60000"/>
                  <a:alpha val="96000"/>
                </a:srgbClr>
              </a:solidFill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1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𝑝</m:t>
                      </m:r>
                      <m:r>
                        <a:rPr kumimoji="0" lang="en-US" sz="11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(</m:t>
                      </m:r>
                      <m:sSub>
                        <m:sSubPr>
                          <m:ctrlPr>
                            <a:rPr kumimoji="0" lang="en-US" sz="11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11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𝜆</m:t>
                          </m:r>
                        </m:e>
                        <m:sub>
                          <m:r>
                            <a:rPr kumimoji="0" lang="en-CA" sz="11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𝐴</m:t>
                          </m:r>
                        </m:sub>
                      </m:sSub>
                      <m:sSub>
                        <m:sSubPr>
                          <m:ctrlPr>
                            <a:rPr kumimoji="0" lang="en-US" sz="11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11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𝜆</m:t>
                          </m:r>
                        </m:e>
                        <m:sub>
                          <m:r>
                            <a:rPr kumimoji="0" lang="en-CA" sz="11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𝐵</m:t>
                          </m:r>
                        </m:sub>
                      </m:sSub>
                      <m:r>
                        <a:rPr kumimoji="0" lang="en-US" sz="11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)</m:t>
                      </m:r>
                    </m:oMath>
                  </m:oMathPara>
                </a14:m>
                <a:endPara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65" name="Rectangle: Rounded Corners 33">
                <a:extLst>
                  <a:ext uri="{FF2B5EF4-FFF2-40B4-BE49-F238E27FC236}">
                    <a16:creationId xmlns:a16="http://schemas.microsoft.com/office/drawing/2014/main" id="{EB4E1B23-A072-C10E-88C0-96C61D39783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98082" y="1975162"/>
                <a:ext cx="1170006" cy="398885"/>
              </a:xfrm>
              <a:prstGeom prst="roundRect">
                <a:avLst/>
              </a:prstGeom>
              <a:blipFill>
                <a:blip r:embed="rId22"/>
                <a:stretch>
                  <a:fillRect/>
                </a:stretch>
              </a:blipFill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EFC68B2D-F30F-E478-CA26-13F3FA519343}"/>
              </a:ext>
            </a:extLst>
          </p:cNvPr>
          <p:cNvCxnSpPr>
            <a:cxnSpLocks/>
            <a:stCxn id="67" idx="2"/>
          </p:cNvCxnSpPr>
          <p:nvPr/>
        </p:nvCxnSpPr>
        <p:spPr>
          <a:xfrm flipH="1">
            <a:off x="2340975" y="1640881"/>
            <a:ext cx="2476" cy="340734"/>
          </a:xfrm>
          <a:prstGeom prst="line">
            <a:avLst/>
          </a:prstGeom>
          <a:noFill/>
          <a:ln w="15875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7" name="Rectangle: Rounded Corners 82">
                <a:extLst>
                  <a:ext uri="{FF2B5EF4-FFF2-40B4-BE49-F238E27FC236}">
                    <a16:creationId xmlns:a16="http://schemas.microsoft.com/office/drawing/2014/main" id="{F0D7B939-0C9C-6F9D-2FC5-034A9856DA35}"/>
                  </a:ext>
                </a:extLst>
              </p:cNvPr>
              <p:cNvSpPr/>
              <p:nvPr/>
            </p:nvSpPr>
            <p:spPr>
              <a:xfrm>
                <a:off x="2036484" y="1373956"/>
                <a:ext cx="613934" cy="266925"/>
              </a:xfrm>
              <a:prstGeom prst="roundRect">
                <a:avLst/>
              </a:prstGeom>
              <a:solidFill>
                <a:srgbClr val="70AD47">
                  <a:lumMod val="40000"/>
                  <a:lumOff val="60000"/>
                  <a:alpha val="96000"/>
                </a:srgbClr>
              </a:solidFill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1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 </m:t>
                      </m:r>
                      <m:r>
                        <a:rPr kumimoji="0" lang="en-US" sz="11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𝑝</m:t>
                      </m:r>
                      <m:r>
                        <a:rPr kumimoji="0" lang="en-US" sz="11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(</m:t>
                      </m:r>
                      <m:r>
                        <a:rPr kumimoji="0" lang="en-CA" sz="11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𝑎</m:t>
                      </m:r>
                      <m:r>
                        <a:rPr kumimoji="0" lang="en-US" sz="11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|</m:t>
                      </m:r>
                      <m:sSub>
                        <m:sSubPr>
                          <m:ctrlPr>
                            <a:rPr kumimoji="0" lang="en-US" sz="11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CA" sz="11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𝑥</m:t>
                          </m:r>
                          <m:r>
                            <a:rPr kumimoji="0" lang="en-US" sz="11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𝜆</m:t>
                          </m:r>
                        </m:e>
                        <m:sub>
                          <m:r>
                            <a:rPr kumimoji="0" lang="en-CA" sz="11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𝐴</m:t>
                          </m:r>
                        </m:sub>
                      </m:sSub>
                      <m:r>
                        <a:rPr kumimoji="0" lang="en-US" sz="11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)</m:t>
                      </m:r>
                    </m:oMath>
                  </m:oMathPara>
                </a14:m>
                <a:endPara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67" name="Rectangle: Rounded Corners 82">
                <a:extLst>
                  <a:ext uri="{FF2B5EF4-FFF2-40B4-BE49-F238E27FC236}">
                    <a16:creationId xmlns:a16="http://schemas.microsoft.com/office/drawing/2014/main" id="{F0D7B939-0C9C-6F9D-2FC5-034A9856DA3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6484" y="1373956"/>
                <a:ext cx="613934" cy="266925"/>
              </a:xfrm>
              <a:prstGeom prst="roundRect">
                <a:avLst/>
              </a:prstGeom>
              <a:blipFill>
                <a:blip r:embed="rId23"/>
                <a:stretch>
                  <a:fillRect/>
                </a:stretch>
              </a:blipFill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8E16A54B-D17B-4856-3584-42AAB708738D}"/>
                  </a:ext>
                </a:extLst>
              </p:cNvPr>
              <p:cNvSpPr txBox="1"/>
              <p:nvPr/>
            </p:nvSpPr>
            <p:spPr>
              <a:xfrm>
                <a:off x="2306682" y="1168034"/>
                <a:ext cx="246689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12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12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16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mc:Choice>
        <mc:Fallback xmlns="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8E16A54B-D17B-4856-3584-42AAB70873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06682" y="1168034"/>
                <a:ext cx="246689" cy="276999"/>
              </a:xfrm>
              <a:prstGeom prst="rect">
                <a:avLst/>
              </a:prstGeom>
              <a:blipFill>
                <a:blip r:embed="rId24"/>
                <a:stretch>
                  <a:fillRect r="-14286" b="-90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A10CD489-29CA-77A1-13FD-2575C4DB7ECC}"/>
              </a:ext>
            </a:extLst>
          </p:cNvPr>
          <p:cNvCxnSpPr>
            <a:cxnSpLocks/>
          </p:cNvCxnSpPr>
          <p:nvPr/>
        </p:nvCxnSpPr>
        <p:spPr>
          <a:xfrm>
            <a:off x="2337774" y="1265506"/>
            <a:ext cx="0" cy="114159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62FC596B-687A-E65A-8E57-956EF4FF1E3B}"/>
                  </a:ext>
                </a:extLst>
              </p:cNvPr>
              <p:cNvSpPr txBox="1"/>
              <p:nvPr/>
            </p:nvSpPr>
            <p:spPr>
              <a:xfrm>
                <a:off x="3004482" y="1165575"/>
                <a:ext cx="246689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12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sz="12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16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mc:Choice>
        <mc:Fallback xmlns="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62FC596B-687A-E65A-8E57-956EF4FF1E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4482" y="1165575"/>
                <a:ext cx="246689" cy="276999"/>
              </a:xfrm>
              <a:prstGeom prst="rect">
                <a:avLst/>
              </a:prstGeom>
              <a:blipFill>
                <a:blip r:embed="rId25"/>
                <a:stretch>
                  <a:fillRect r="-20000" b="-86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9D8236B4-C441-0E79-EE76-19FC2016C6EB}"/>
              </a:ext>
            </a:extLst>
          </p:cNvPr>
          <p:cNvCxnSpPr>
            <a:cxnSpLocks/>
          </p:cNvCxnSpPr>
          <p:nvPr/>
        </p:nvCxnSpPr>
        <p:spPr>
          <a:xfrm>
            <a:off x="3029460" y="1263047"/>
            <a:ext cx="0" cy="114159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E88DD1EF-9A93-096E-21CF-5E9597EB1977}"/>
                  </a:ext>
                </a:extLst>
              </p:cNvPr>
              <p:cNvSpPr txBox="1"/>
              <p:nvPr/>
            </p:nvSpPr>
            <p:spPr>
              <a:xfrm>
                <a:off x="2700205" y="1677081"/>
                <a:ext cx="430123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CA" sz="12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E88DD1EF-9A93-096E-21CF-5E9597EB19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00205" y="1677081"/>
                <a:ext cx="430123" cy="276999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E257020A-7667-FCD0-B5A9-B95BD5E124D9}"/>
                  </a:ext>
                </a:extLst>
              </p:cNvPr>
              <p:cNvSpPr txBox="1"/>
              <p:nvPr/>
            </p:nvSpPr>
            <p:spPr>
              <a:xfrm>
                <a:off x="1968917" y="1672845"/>
                <a:ext cx="430123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CA" sz="12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E257020A-7667-FCD0-B5A9-B95BD5E124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8917" y="1672845"/>
                <a:ext cx="430123" cy="276999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4C72E1F5-1501-488C-8D0D-622BADA309C3}"/>
                  </a:ext>
                </a:extLst>
              </p:cNvPr>
              <p:cNvSpPr/>
              <p:nvPr/>
            </p:nvSpPr>
            <p:spPr>
              <a:xfrm>
                <a:off x="3428139" y="2111366"/>
                <a:ext cx="8653252" cy="2899388"/>
              </a:xfrm>
              <a:prstGeom prst="rect">
                <a:avLst/>
              </a:prstGeom>
              <a:ln w="25400">
                <a:solidFill>
                  <a:srgbClr val="0070C0">
                    <a:alpha val="98000"/>
                  </a:srgb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t"/>
              <a:lstStyle/>
              <a:p>
                <a:r>
                  <a:rPr lang="en-US" sz="1600" dirty="0"/>
                  <a:t>Example 6: </a:t>
                </a:r>
                <a:r>
                  <a:rPr lang="en-CA" sz="1600" dirty="0"/>
                  <a:t>The percentage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CA" sz="16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sz="1600" i="1" dirty="0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CA" sz="1600" b="0" i="1" dirty="0" smtClean="0"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a:rPr lang="en-CA" sz="16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CA" sz="1600" dirty="0"/>
                  <a:t>randomly sampled* two-qubit entangled states that are certified as entangled by each certification method from the previous examples. </a:t>
                </a:r>
                <a:endParaRPr lang="en-US" sz="1600" dirty="0"/>
              </a:p>
            </p:txBody>
          </p:sp>
        </mc:Choice>
        <mc:Fallback xmlns="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4C72E1F5-1501-488C-8D0D-622BADA309C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8139" y="2111366"/>
                <a:ext cx="8653252" cy="2899388"/>
              </a:xfrm>
              <a:prstGeom prst="rect">
                <a:avLst/>
              </a:prstGeom>
              <a:blipFill>
                <a:blip r:embed="rId28"/>
                <a:stretch>
                  <a:fillRect l="-146"/>
                </a:stretch>
              </a:blipFill>
              <a:ln w="25400">
                <a:solidFill>
                  <a:srgbClr val="0070C0">
                    <a:alpha val="98000"/>
                  </a:srgb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Rectangle 30">
            <a:extLst>
              <a:ext uri="{FF2B5EF4-FFF2-40B4-BE49-F238E27FC236}">
                <a16:creationId xmlns:a16="http://schemas.microsoft.com/office/drawing/2014/main" id="{B1B07D54-9737-AA45-ED34-26828017EE70}"/>
              </a:ext>
            </a:extLst>
          </p:cNvPr>
          <p:cNvSpPr/>
          <p:nvPr/>
        </p:nvSpPr>
        <p:spPr>
          <a:xfrm>
            <a:off x="9184013" y="5160377"/>
            <a:ext cx="807155" cy="38389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B3E1D5B-D4BC-034C-C39D-A6ECE651074E}"/>
              </a:ext>
            </a:extLst>
          </p:cNvPr>
          <p:cNvSpPr txBox="1"/>
          <p:nvPr/>
        </p:nvSpPr>
        <p:spPr>
          <a:xfrm>
            <a:off x="-1" y="397104"/>
            <a:ext cx="60959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</a:rPr>
              <a:t>Novel test for all two-qubit entangled states 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8C00F0A-B63D-9797-E0EB-7AF20B8EF934}"/>
              </a:ext>
            </a:extLst>
          </p:cNvPr>
          <p:cNvSpPr txBox="1"/>
          <p:nvPr/>
        </p:nvSpPr>
        <p:spPr>
          <a:xfrm>
            <a:off x="5593644" y="2974622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6294E59-2B09-B99B-72B3-3D25C4058211}"/>
                  </a:ext>
                </a:extLst>
              </p:cNvPr>
              <p:cNvSpPr txBox="1"/>
              <p:nvPr/>
            </p:nvSpPr>
            <p:spPr>
              <a:xfrm>
                <a:off x="3926468" y="6547845"/>
                <a:ext cx="8265531" cy="2820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/>
                  <a:t>*: we draw mixed states from the Hilbert–Schmidt measure by generating complex matrix </a:t>
                </a:r>
                <a14:m>
                  <m:oMath xmlns:m="http://schemas.openxmlformats.org/officeDocument/2006/math">
                    <m:r>
                      <a:rPr lang="en-CA" sz="1200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1200" dirty="0"/>
                  <a:t> and define </a:t>
                </a:r>
                <a14:m>
                  <m:oMath xmlns:m="http://schemas.openxmlformats.org/officeDocument/2006/math">
                    <m:r>
                      <a:rPr lang="en-CA" sz="1200" b="0" i="1" smtClean="0"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CA" sz="12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CA" sz="1200" b="0" i="1" smtClean="0">
                        <a:latin typeface="Cambria Math" panose="02040503050406030204" pitchFamily="18" charset="0"/>
                      </a:rPr>
                      <m:t>𝐴</m:t>
                    </m:r>
                    <m:sSup>
                      <m:sSupPr>
                        <m:ctrlPr>
                          <a:rPr lang="en-CA" sz="1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sz="12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CA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†</m:t>
                        </m:r>
                      </m:sup>
                    </m:sSup>
                    <m:r>
                      <a:rPr lang="en-CA" sz="1200" i="1">
                        <a:latin typeface="Cambria Math" panose="02040503050406030204" pitchFamily="18" charset="0"/>
                      </a:rPr>
                      <m:t>/</m:t>
                    </m:r>
                    <m:r>
                      <m:rPr>
                        <m:sty m:val="p"/>
                      </m:rPr>
                      <a:rPr lang="en-CA" sz="1200" i="0">
                        <a:latin typeface="Cambria Math" panose="02040503050406030204" pitchFamily="18" charset="0"/>
                      </a:rPr>
                      <m:t>tr</m:t>
                    </m:r>
                    <m:r>
                      <a:rPr lang="en-CA" sz="1200" i="1">
                        <a:latin typeface="Cambria Math" panose="02040503050406030204" pitchFamily="18" charset="0"/>
                      </a:rPr>
                      <m:t>[</m:t>
                    </m:r>
                    <m:r>
                      <a:rPr lang="en-CA" sz="1200" i="1">
                        <a:latin typeface="Cambria Math" panose="02040503050406030204" pitchFamily="18" charset="0"/>
                      </a:rPr>
                      <m:t>𝐴</m:t>
                    </m:r>
                    <m:sSup>
                      <m:sSupPr>
                        <m:ctrlPr>
                          <a:rPr lang="en-CA" sz="1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sz="12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CA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†</m:t>
                        </m:r>
                      </m:sup>
                    </m:sSup>
                    <m:r>
                      <a:rPr lang="en-CA" sz="1200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sz="12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6294E59-2B09-B99B-72B3-3D25C40582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6468" y="6547845"/>
                <a:ext cx="8265531" cy="282065"/>
              </a:xfrm>
              <a:prstGeom prst="rect">
                <a:avLst/>
              </a:prstGeom>
              <a:blipFill>
                <a:blip r:embed="rId29"/>
                <a:stretch>
                  <a:fillRect b="-173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9" name="Picture 28">
            <a:extLst>
              <a:ext uri="{FF2B5EF4-FFF2-40B4-BE49-F238E27FC236}">
                <a16:creationId xmlns:a16="http://schemas.microsoft.com/office/drawing/2014/main" id="{3009DA43-0F15-A202-688E-1FDBEF130B3E}"/>
              </a:ext>
            </a:extLst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4053467" y="2850507"/>
            <a:ext cx="6140756" cy="1884395"/>
          </a:xfrm>
          <a:prstGeom prst="rect">
            <a:avLst/>
          </a:prstGeom>
        </p:spPr>
      </p:pic>
      <p:sp>
        <p:nvSpPr>
          <p:cNvPr id="30" name="Rectangle 29">
            <a:extLst>
              <a:ext uri="{FF2B5EF4-FFF2-40B4-BE49-F238E27FC236}">
                <a16:creationId xmlns:a16="http://schemas.microsoft.com/office/drawing/2014/main" id="{CF9E8D4C-6C28-ADBB-560D-F82F5169AEE8}"/>
              </a:ext>
            </a:extLst>
          </p:cNvPr>
          <p:cNvSpPr/>
          <p:nvPr/>
        </p:nvSpPr>
        <p:spPr>
          <a:xfrm>
            <a:off x="6654802" y="3532545"/>
            <a:ext cx="1608666" cy="26015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09867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1669A1-D38B-EFD9-E6BE-B8755E9240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0DD49AC0-BE13-DC63-8BCF-B629BD90AB61}"/>
              </a:ext>
            </a:extLst>
          </p:cNvPr>
          <p:cNvSpPr/>
          <p:nvPr/>
        </p:nvSpPr>
        <p:spPr>
          <a:xfrm>
            <a:off x="0" y="5465135"/>
            <a:ext cx="4657060" cy="13928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245D7B8-448C-E36B-B40B-80CD7A3139EA}"/>
              </a:ext>
            </a:extLst>
          </p:cNvPr>
          <p:cNvSpPr txBox="1"/>
          <p:nvPr/>
        </p:nvSpPr>
        <p:spPr>
          <a:xfrm>
            <a:off x="0" y="397104"/>
            <a:ext cx="4791919" cy="4594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</a:rPr>
              <a:t>Experimental demonstration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202F71F-F626-A673-660F-FCA8081655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8530" y="2186541"/>
            <a:ext cx="7453489" cy="385525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FBB9882-E011-B5EC-5577-3C75DBD71972}"/>
              </a:ext>
            </a:extLst>
          </p:cNvPr>
          <p:cNvSpPr txBox="1"/>
          <p:nvPr/>
        </p:nvSpPr>
        <p:spPr>
          <a:xfrm>
            <a:off x="2564498" y="1274835"/>
            <a:ext cx="721752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How to test it experimentally?</a:t>
            </a:r>
          </a:p>
        </p:txBody>
      </p:sp>
    </p:spTree>
    <p:extLst>
      <p:ext uri="{BB962C8B-B14F-4D97-AF65-F5344CB8AC3E}">
        <p14:creationId xmlns:p14="http://schemas.microsoft.com/office/powerpoint/2010/main" val="13849708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2E2EF9-B76F-5905-F6EB-3F26691A14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CA7BB5BE-533C-EFE9-00AA-439A88F89AAA}"/>
              </a:ext>
            </a:extLst>
          </p:cNvPr>
          <p:cNvSpPr/>
          <p:nvPr/>
        </p:nvSpPr>
        <p:spPr>
          <a:xfrm>
            <a:off x="0" y="5465135"/>
            <a:ext cx="4657060" cy="13928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E684F5A-5D64-CE29-12B2-A2E50A59A758}"/>
              </a:ext>
            </a:extLst>
          </p:cNvPr>
          <p:cNvSpPr txBox="1"/>
          <p:nvPr/>
        </p:nvSpPr>
        <p:spPr>
          <a:xfrm>
            <a:off x="1" y="397104"/>
            <a:ext cx="70555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</a:rPr>
              <a:t>Experimental demonstration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86134D5-B806-E587-50F3-23557813831A}"/>
              </a:ext>
            </a:extLst>
          </p:cNvPr>
          <p:cNvSpPr txBox="1"/>
          <p:nvPr/>
        </p:nvSpPr>
        <p:spPr>
          <a:xfrm>
            <a:off x="4657061" y="1040941"/>
            <a:ext cx="2680718" cy="411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0070C0"/>
                </a:solidFill>
              </a:rPr>
              <a:t>A brief justification</a:t>
            </a:r>
            <a:endParaRPr lang="en-US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8C4927F-C044-E38D-60FC-944ACAD4384C}"/>
              </a:ext>
            </a:extLst>
          </p:cNvPr>
          <p:cNvSpPr txBox="1"/>
          <p:nvPr/>
        </p:nvSpPr>
        <p:spPr>
          <a:xfrm>
            <a:off x="67235" y="1634995"/>
            <a:ext cx="5802474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Bell test:  </a:t>
            </a:r>
          </a:p>
          <a:p>
            <a:r>
              <a:rPr lang="en-US" dirty="0"/>
              <a:t> </a:t>
            </a:r>
          </a:p>
          <a:p>
            <a:r>
              <a:rPr lang="en-US" dirty="0"/>
              <a:t>requires ensuring the Bell causal structure, which is typically guaranteed by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belief in special relativity.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Space-like separation, measured by your clock and ruler. 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E9B24FF-C092-1AC3-0286-C3A2D900F8AF}"/>
              </a:ext>
            </a:extLst>
          </p:cNvPr>
          <p:cNvCxnSpPr>
            <a:cxnSpLocks/>
          </p:cNvCxnSpPr>
          <p:nvPr/>
        </p:nvCxnSpPr>
        <p:spPr>
          <a:xfrm>
            <a:off x="5689599" y="1769839"/>
            <a:ext cx="0" cy="3139321"/>
          </a:xfrm>
          <a:prstGeom prst="line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7F12850-0735-4FD6-5023-C6778F0B4F3D}"/>
                  </a:ext>
                </a:extLst>
              </p:cNvPr>
              <p:cNvSpPr txBox="1"/>
              <p:nvPr/>
            </p:nvSpPr>
            <p:spPr>
              <a:xfrm>
                <a:off x="5779911" y="1677506"/>
                <a:ext cx="6412089" cy="33891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Noncontextuality test:  </a:t>
                </a:r>
              </a:p>
              <a:p>
                <a:r>
                  <a:rPr lang="en-US" dirty="0"/>
                  <a:t> </a:t>
                </a:r>
              </a:p>
              <a:p>
                <a:r>
                  <a:rPr lang="en-US" dirty="0"/>
                  <a:t>requires ensuring the Bell causal structure, and the specific operational identities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CA" sz="180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CA" sz="1800" b="0" i="1" smtClean="0"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a:rPr lang="en-CA" sz="1800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CA" sz="1800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CA" sz="1800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CA" sz="1800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  <m:sup>
                        <m:r>
                          <a:rPr lang="en-CA" sz="1800" i="1">
                            <a:latin typeface="Cambria Math" panose="02040503050406030204" pitchFamily="18" charset="0"/>
                          </a:rPr>
                          <m:t>𝐴</m:t>
                        </m:r>
                      </m:sup>
                    </m:sSubSup>
                    <m:r>
                      <a:rPr lang="en-CA" sz="1800" b="0" i="1" smtClean="0">
                        <a:latin typeface="Cambria Math" panose="02040503050406030204" pitchFamily="18" charset="0"/>
                      </a:rPr>
                      <m:t>} </m:t>
                    </m:r>
                    <m:r>
                      <m:rPr>
                        <m:sty m:val="p"/>
                      </m:rPr>
                      <a:rPr lang="en-CA" sz="1800" b="0" i="0" smtClean="0">
                        <a:latin typeface="Cambria Math" panose="02040503050406030204" pitchFamily="18" charset="0"/>
                      </a:rPr>
                      <m:t>and</m:t>
                    </m:r>
                    <m:r>
                      <a:rPr lang="en-CA" sz="1800" b="0" i="0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begChr m:val="{"/>
                        <m:endChr m:val="}"/>
                        <m:ctrlPr>
                          <a:rPr lang="en-CA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CA" sz="18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CA" sz="1800" i="1">
                                <a:latin typeface="Cambria Math" panose="02040503050406030204" pitchFamily="18" charset="0"/>
                              </a:rPr>
                              <m:t>𝑀</m:t>
                            </m:r>
                          </m:e>
                          <m:sub>
                            <m:r>
                              <a:rPr lang="en-CA" sz="1800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en-CA" sz="1800" i="1"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CA" sz="18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  <m:sup>
                            <m:r>
                              <a:rPr lang="en-CA" sz="1800" i="1"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p>
                        </m:sSubSup>
                      </m:e>
                    </m:d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e.g., an operational identity of the form of  </a:t>
                </a:r>
              </a:p>
              <a:p>
                <a:r>
                  <a:rPr lang="en-US" dirty="0"/>
                  <a:t>                                 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CA" sz="18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CA" sz="18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CA" sz="18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CA" sz="1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CA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1800" b="0" i="1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CA" sz="18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CA" sz="18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CA" sz="18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e>
                    </m:nary>
                    <m:sSubSup>
                      <m:sSubSupPr>
                        <m:ctrlPr>
                          <a:rPr lang="en-CA" sz="180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CA" sz="1800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CA" sz="1800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CA" sz="1800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CA" sz="1800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  <m:sup>
                        <m:r>
                          <a:rPr lang="en-CA" sz="1800" i="1">
                            <a:latin typeface="Cambria Math" panose="02040503050406030204" pitchFamily="18" charset="0"/>
                          </a:rPr>
                          <m:t>𝐴</m:t>
                        </m:r>
                      </m:sup>
                    </m:sSubSup>
                    <m:r>
                      <a:rPr lang="en-CA" sz="18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CA" sz="1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sz="1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a:rPr lang="en-CA" sz="18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p>
                    </m:sSup>
                  </m:oMath>
                </a14:m>
                <a:endParaRPr lang="en-US" dirty="0"/>
              </a:p>
              <a:p>
                <a:r>
                  <a:rPr lang="en-US" dirty="0"/>
                  <a:t>Needs to reads off from the statistics: </a:t>
                </a:r>
              </a:p>
              <a:p>
                <a:r>
                  <a:rPr lang="en-CA" b="0" dirty="0"/>
                  <a:t>  </a:t>
                </a:r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</a:rPr>
                      <m:t>  </m:t>
                    </m:r>
                    <m:nary>
                      <m:naryPr>
                        <m:chr m:val="∑"/>
                        <m:supHide m:val="on"/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CA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CA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CA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CA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CA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CA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CA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e>
                    </m:nary>
                    <m:r>
                      <a:rPr lang="en-CA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𝑎𝑏</m:t>
                        </m:r>
                      </m:e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𝑥𝑦</m:t>
                        </m:r>
                      </m:e>
                    </m:d>
                    <m:r>
                      <a:rPr lang="en-CA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CA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CA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CA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CA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CA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CA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CA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e>
                    </m:nary>
                    <m:r>
                      <m:rPr>
                        <m:sty m:val="p"/>
                      </m:rPr>
                      <a:rPr lang="en-CA">
                        <a:latin typeface="Cambria Math" panose="02040503050406030204" pitchFamily="18" charset="0"/>
                      </a:rPr>
                      <m:t>tr</m:t>
                    </m:r>
                    <m:r>
                      <a:rPr lang="en-CA" i="1">
                        <a:latin typeface="Cambria Math" panose="02040503050406030204" pitchFamily="18" charset="0"/>
                      </a:rPr>
                      <m:t>[</m:t>
                    </m:r>
                    <m:sSubSup>
                      <m:sSubSup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CA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CA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CA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CA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  <m:sup>
                        <m:r>
                          <a:rPr lang="en-CA" i="1">
                            <a:latin typeface="Cambria Math" panose="02040503050406030204" pitchFamily="18" charset="0"/>
                          </a:rPr>
                          <m:t>𝐴</m:t>
                        </m:r>
                      </m:sup>
                    </m:sSubSup>
                    <m:r>
                      <a:rPr lang="en-CA" i="1">
                        <a:latin typeface="Cambria Math" panose="02040503050406030204" pitchFamily="18" charset="0"/>
                      </a:rPr>
                      <m:t>⊗</m:t>
                    </m:r>
                    <m:sSubSup>
                      <m:sSubSup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CA" i="1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CA" i="1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CA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CA" i="1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  <m:sup>
                        <m:r>
                          <a:rPr lang="en-CA" i="1">
                            <a:latin typeface="Cambria Math" panose="02040503050406030204" pitchFamily="18" charset="0"/>
                          </a:rPr>
                          <m:t>𝐵</m:t>
                        </m:r>
                      </m:sup>
                    </m:sSubSup>
                    <m:sSup>
                      <m:sSup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i="1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p>
                        <m:r>
                          <a:rPr lang="en-CA" i="1">
                            <a:latin typeface="Cambria Math" panose="02040503050406030204" pitchFamily="18" charset="0"/>
                          </a:rPr>
                          <m:t>𝐴𝐵</m:t>
                        </m:r>
                      </m:sup>
                    </m:sSup>
                    <m:r>
                      <a:rPr lang="en-CA" i="1">
                        <a:latin typeface="Cambria Math" panose="02040503050406030204" pitchFamily="18" charset="0"/>
                      </a:rPr>
                      <m:t>]=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dirty="0"/>
                  <a:t>  </a:t>
                </a:r>
                <a14:m>
                  <m:oMath xmlns:m="http://schemas.openxmlformats.org/officeDocument/2006/math">
                    <m:r>
                      <a:rPr lang="en-CA" i="1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CA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CA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CA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en-US" dirty="0"/>
              </a:p>
              <a:p>
                <a:r>
                  <a:rPr lang="en-US" dirty="0"/>
                  <a:t>             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7F12850-0735-4FD6-5023-C6778F0B4F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79911" y="1677506"/>
                <a:ext cx="6412089" cy="3389198"/>
              </a:xfrm>
              <a:prstGeom prst="rect">
                <a:avLst/>
              </a:prstGeom>
              <a:blipFill>
                <a:blip r:embed="rId3"/>
                <a:stretch>
                  <a:fillRect l="-1779" t="-1498" b="-11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470929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9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07ECE5-F9B1-0187-CDB8-92937C7084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F9D14867-449D-4556-40E0-E001850F093A}"/>
              </a:ext>
            </a:extLst>
          </p:cNvPr>
          <p:cNvSpPr/>
          <p:nvPr/>
        </p:nvSpPr>
        <p:spPr>
          <a:xfrm>
            <a:off x="0" y="5465135"/>
            <a:ext cx="4657060" cy="13928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323AC13-2422-8C03-6398-1E24EF379899}"/>
              </a:ext>
            </a:extLst>
          </p:cNvPr>
          <p:cNvSpPr txBox="1"/>
          <p:nvPr/>
        </p:nvSpPr>
        <p:spPr>
          <a:xfrm>
            <a:off x="1" y="397104"/>
            <a:ext cx="70555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</a:rPr>
              <a:t>Experimental demonstration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101D9BA-75F2-9491-35EB-D03262E0DE37}"/>
              </a:ext>
            </a:extLst>
          </p:cNvPr>
          <p:cNvSpPr txBox="1"/>
          <p:nvPr/>
        </p:nvSpPr>
        <p:spPr>
          <a:xfrm>
            <a:off x="3211687" y="937883"/>
            <a:ext cx="57686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0070C0"/>
                </a:solidFill>
              </a:rPr>
              <a:t>A justification from self-consistent tomography </a:t>
            </a:r>
            <a:endParaRPr lang="en-US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DF72D94-8625-FBD3-B619-E47A0CE4ECA0}"/>
              </a:ext>
            </a:extLst>
          </p:cNvPr>
          <p:cNvSpPr txBox="1"/>
          <p:nvPr/>
        </p:nvSpPr>
        <p:spPr>
          <a:xfrm>
            <a:off x="25403" y="1791454"/>
            <a:ext cx="5588000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Standard quantum state tomography</a:t>
            </a:r>
          </a:p>
          <a:p>
            <a:endParaRPr lang="en-US" dirty="0"/>
          </a:p>
          <a:p>
            <a:pPr marL="285750" indent="-285750">
              <a:buFont typeface="Wingdings" pitchFamily="2" charset="2"/>
              <a:buChar char="§"/>
            </a:pPr>
            <a:r>
              <a:rPr lang="en-US" dirty="0"/>
              <a:t>Requires the full characterization of measurement devices, </a:t>
            </a:r>
          </a:p>
          <a:p>
            <a:pPr marL="285750" indent="-285750">
              <a:buFont typeface="Wingdings" pitchFamily="2" charset="2"/>
              <a:buChar char="§"/>
            </a:pPr>
            <a:endParaRPr lang="en-US" dirty="0"/>
          </a:p>
          <a:p>
            <a:pPr marL="285750" indent="-285750">
              <a:buFont typeface="Wingdings" pitchFamily="2" charset="2"/>
              <a:buChar char="§"/>
            </a:pPr>
            <a:r>
              <a:rPr lang="en-US" dirty="0"/>
              <a:t>Returns a unique solution of the quantum states.</a:t>
            </a:r>
          </a:p>
          <a:p>
            <a:pPr marL="285750" indent="-285750">
              <a:buFont typeface="Wingdings" pitchFamily="2" charset="2"/>
              <a:buChar char="§"/>
            </a:pPr>
            <a:endParaRPr lang="en-US" dirty="0"/>
          </a:p>
          <a:p>
            <a:pPr marL="285750" indent="-285750">
              <a:buFont typeface="Wingdings" pitchFamily="2" charset="2"/>
              <a:buChar char="§"/>
            </a:pPr>
            <a:r>
              <a:rPr lang="en-US" dirty="0"/>
              <a:t>Results in a test that is completely device-dependent. </a:t>
            </a:r>
          </a:p>
          <a:p>
            <a:pPr marL="285750" indent="-285750">
              <a:buFont typeface="Wingdings" pitchFamily="2" charset="2"/>
              <a:buChar char="§"/>
            </a:pP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9FC0385-6F3E-7A6A-64FF-5CCEC1FF897F}"/>
                  </a:ext>
                </a:extLst>
              </p:cNvPr>
              <p:cNvSpPr txBox="1"/>
              <p:nvPr/>
            </p:nvSpPr>
            <p:spPr>
              <a:xfrm>
                <a:off x="5870227" y="1628570"/>
                <a:ext cx="6321773" cy="36008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/>
                  <a:t>Self-consistent tomography</a:t>
                </a:r>
              </a:p>
              <a:p>
                <a:endParaRPr lang="en-US" dirty="0"/>
              </a:p>
              <a:p>
                <a:pPr marL="285750" indent="-285750">
                  <a:buFont typeface="Wingdings" pitchFamily="2" charset="2"/>
                  <a:buChar char="§"/>
                </a:pPr>
                <a:r>
                  <a:rPr lang="en-US" dirty="0"/>
                  <a:t>Assumes neither states nor measurements are characterized, </a:t>
                </a:r>
              </a:p>
              <a:p>
                <a:pPr marL="285750" indent="-285750">
                  <a:buFont typeface="Wingdings" pitchFamily="2" charset="2"/>
                  <a:buChar char="§"/>
                </a:pPr>
                <a:endParaRPr lang="en-US" dirty="0"/>
              </a:p>
              <a:p>
                <a:pPr marL="285750" indent="-285750">
                  <a:buFont typeface="Wingdings" pitchFamily="2" charset="2"/>
                  <a:buChar char="§"/>
                </a:pPr>
                <a:r>
                  <a:rPr lang="en-US" dirty="0"/>
                  <a:t>Returns a non-unique solution of the tuple </a:t>
                </a:r>
              </a:p>
              <a:p>
                <a:r>
                  <a:rPr lang="en-US" b="0" dirty="0"/>
                  <a:t>     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CA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e>
                              <m:sub>
                                <m: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  <m: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b>
                            </m:sSub>
                          </m:e>
                        </m:d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en-CA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  <m:t>𝑀</m:t>
                                </m:r>
                              </m:e>
                              <m:sub>
                                <m: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  <m: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  <m: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sub>
                            </m:sSub>
                          </m:e>
                        </m:d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</m:d>
                  </m:oMath>
                </a14:m>
                <a:r>
                  <a:rPr lang="en-US" dirty="0"/>
                  <a:t> that can realize </a:t>
                </a:r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𝑎𝑏</m:t>
                        </m:r>
                      </m:e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𝑥𝑦</m:t>
                        </m:r>
                      </m:e>
                    </m:d>
                    <m:r>
                      <a:rPr lang="en-CA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pPr marL="285750" indent="-285750">
                  <a:buFont typeface="Wingdings" pitchFamily="2" charset="2"/>
                  <a:buChar char="§"/>
                </a:pPr>
                <a:r>
                  <a:rPr lang="en-US" dirty="0"/>
                  <a:t>The solutions to self-consistent tomography are related by some invertible maps (gauge). </a:t>
                </a:r>
              </a:p>
              <a:p>
                <a:r>
                  <a:rPr lang="en-US" dirty="0"/>
                  <a:t>i.e., if  </a:t>
                </a:r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𝑎𝑏</m:t>
                        </m:r>
                      </m:e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𝑥𝑦</m:t>
                        </m:r>
                      </m:e>
                    </m:d>
                    <m:r>
                      <a:rPr lang="en-CA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CA">
                        <a:latin typeface="Cambria Math" panose="02040503050406030204" pitchFamily="18" charset="0"/>
                      </a:rPr>
                      <m:t>tr</m:t>
                    </m:r>
                    <m:d>
                      <m:dPr>
                        <m:begChr m:val="["/>
                        <m:endChr m:val="]"/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CA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CA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CA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CA" i="1"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CA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  <m:sup>
                            <m:r>
                              <a:rPr lang="en-CA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p>
                        </m:sSubSup>
                        <m:r>
                          <a:rPr lang="en-CA" i="1">
                            <a:latin typeface="Cambria Math" panose="02040503050406030204" pitchFamily="18" charset="0"/>
                          </a:rPr>
                          <m:t>⊗</m:t>
                        </m:r>
                        <m:sSubSup>
                          <m:sSubSupPr>
                            <m:ctrlPr>
                              <a:rPr lang="en-CA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CA" i="1">
                                <a:latin typeface="Cambria Math" panose="02040503050406030204" pitchFamily="18" charset="0"/>
                              </a:rPr>
                              <m:t>𝑀</m:t>
                            </m:r>
                          </m:e>
                          <m:sub>
                            <m:r>
                              <a:rPr lang="en-CA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en-CA" i="1"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CA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  <m:sup>
                            <m:r>
                              <a:rPr lang="en-CA" i="1"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p>
                        </m:sSubSup>
                        <m:sSup>
                          <m:sSupPr>
                            <m:ctrlPr>
                              <a:rPr lang="en-CA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CA" i="1">
                                <a:latin typeface="Cambria Math" panose="02040503050406030204" pitchFamily="18" charset="0"/>
                              </a:rPr>
                              <m:t>𝜌</m:t>
                            </m:r>
                          </m:e>
                          <m:sup>
                            <m:r>
                              <a:rPr lang="en-CA" i="1">
                                <a:latin typeface="Cambria Math" panose="02040503050406030204" pitchFamily="18" charset="0"/>
                              </a:rPr>
                              <m:t>𝐴𝐵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dirty="0"/>
                  <a:t>, then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𝑎𝑏</m:t>
                          </m:r>
                        </m:e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𝑥𝑦</m:t>
                          </m:r>
                        </m:e>
                      </m:d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CA">
                          <a:latin typeface="Cambria Math" panose="02040503050406030204" pitchFamily="18" charset="0"/>
                        </a:rPr>
                        <m:t>tr</m:t>
                      </m:r>
                      <m:d>
                        <m:dPr>
                          <m:begChr m:val="["/>
                          <m:endChr m:val="]"/>
                          <m:ctrlPr>
                            <a:rPr lang="en-CA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CA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ℰ</m:t>
                              </m:r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CA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CA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CA" i="1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CA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  <m:sup>
                              <m:r>
                                <a:rPr lang="en-CA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p>
                          </m:sSubSup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en-CA" i="1">
                              <a:latin typeface="Cambria Math" panose="02040503050406030204" pitchFamily="18" charset="0"/>
                            </a:rPr>
                            <m:t>⊗</m:t>
                          </m:r>
                          <m:sSubSup>
                            <m:sSubSupPr>
                              <m:ctrlPr>
                                <a:rPr lang="en-CA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𝒟</m:t>
                              </m:r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CA" i="1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en-CA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lang="en-CA" i="1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CA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  <m:sup>
                              <m:r>
                                <a:rPr lang="en-CA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p>
                          </m:sSubSup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) (</m:t>
                          </m:r>
                          <m:sSup>
                            <m:sSupPr>
                              <m:ctrlP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ℰ</m:t>
                              </m:r>
                            </m:e>
                            <m:sup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⊗</m:t>
                          </m:r>
                          <m:sSup>
                            <m:sSupPr>
                              <m:ctrlP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𝒟</m:t>
                              </m:r>
                            </m:e>
                            <m:sup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)(</m:t>
                          </m:r>
                          <m:sSup>
                            <m:sSupPr>
                              <m:ctrlPr>
                                <a:rPr lang="en-CA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CA" i="1"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p>
                              <m:r>
                                <a:rPr lang="en-CA" i="1">
                                  <a:latin typeface="Cambria Math" panose="02040503050406030204" pitchFamily="18" charset="0"/>
                                </a:rPr>
                                <m:t>𝐴𝐵</m:t>
                              </m:r>
                            </m:sup>
                          </m:sSup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9FC0385-6F3E-7A6A-64FF-5CCEC1FF89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70227" y="1628570"/>
                <a:ext cx="6321773" cy="3600858"/>
              </a:xfrm>
              <a:prstGeom prst="rect">
                <a:avLst/>
              </a:prstGeom>
              <a:blipFill>
                <a:blip r:embed="rId3"/>
                <a:stretch>
                  <a:fillRect l="-1202" t="-10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79522D7-AC5B-1795-00F4-EBFEB5805E26}"/>
              </a:ext>
            </a:extLst>
          </p:cNvPr>
          <p:cNvCxnSpPr/>
          <p:nvPr/>
        </p:nvCxnSpPr>
        <p:spPr>
          <a:xfrm>
            <a:off x="5683958" y="1791454"/>
            <a:ext cx="0" cy="327509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4F65447B-EECF-C29E-F5A0-DA6F45D91F47}"/>
              </a:ext>
            </a:extLst>
          </p:cNvPr>
          <p:cNvSpPr/>
          <p:nvPr/>
        </p:nvSpPr>
        <p:spPr>
          <a:xfrm>
            <a:off x="694264" y="5373592"/>
            <a:ext cx="10803467" cy="1241697"/>
          </a:xfrm>
          <a:prstGeom prst="rect">
            <a:avLst/>
          </a:prstGeom>
          <a:ln w="28575">
            <a:solidFill>
              <a:srgbClr val="0070C0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US" sz="12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7C07B36-6073-08ED-7D14-7BA92E59D797}"/>
              </a:ext>
            </a:extLst>
          </p:cNvPr>
          <p:cNvSpPr txBox="1"/>
          <p:nvPr/>
        </p:nvSpPr>
        <p:spPr>
          <a:xfrm>
            <a:off x="778933" y="5502653"/>
            <a:ext cx="1080346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itchFamily="2" charset="2"/>
              <a:buChar char="v"/>
            </a:pPr>
            <a:r>
              <a:rPr lang="en-US" dirty="0"/>
              <a:t>The operational identities are gauge-independent.</a:t>
            </a:r>
          </a:p>
          <a:p>
            <a:pPr marL="285750" indent="-285750">
              <a:buFont typeface="Wingdings" pitchFamily="2" charset="2"/>
              <a:buChar char="v"/>
            </a:pPr>
            <a:endParaRPr lang="en-US" dirty="0"/>
          </a:p>
          <a:p>
            <a:pPr marL="285750" indent="-285750">
              <a:buFont typeface="Wingdings" pitchFamily="2" charset="2"/>
              <a:buChar char="v"/>
            </a:pPr>
            <a:r>
              <a:rPr lang="en-US" dirty="0"/>
              <a:t>A noncontextuality test thus requires no measurement characterization and is gauge-independent </a:t>
            </a:r>
          </a:p>
        </p:txBody>
      </p:sp>
    </p:spTree>
    <p:extLst>
      <p:ext uri="{BB962C8B-B14F-4D97-AF65-F5344CB8AC3E}">
        <p14:creationId xmlns:p14="http://schemas.microsoft.com/office/powerpoint/2010/main" val="39436423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16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49F437-999B-B6ED-53A4-1BCBEC704A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56869CE6-EFA7-7055-703B-0BBDA0AD4F03}"/>
              </a:ext>
            </a:extLst>
          </p:cNvPr>
          <p:cNvSpPr/>
          <p:nvPr/>
        </p:nvSpPr>
        <p:spPr>
          <a:xfrm>
            <a:off x="0" y="5465135"/>
            <a:ext cx="4657060" cy="13928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B9CAC73-8841-59B7-B8A0-70DF28B1DBA5}"/>
              </a:ext>
            </a:extLst>
          </p:cNvPr>
          <p:cNvSpPr txBox="1"/>
          <p:nvPr/>
        </p:nvSpPr>
        <p:spPr>
          <a:xfrm>
            <a:off x="0" y="397104"/>
            <a:ext cx="4791919" cy="4594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</a:rPr>
              <a:t>Experimental demonstration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852C3BAC-2D33-FC33-43B7-237F80303236}"/>
              </a:ext>
            </a:extLst>
          </p:cNvPr>
          <p:cNvGrpSpPr/>
          <p:nvPr/>
        </p:nvGrpSpPr>
        <p:grpSpPr>
          <a:xfrm>
            <a:off x="6167083" y="2362654"/>
            <a:ext cx="5653594" cy="2868774"/>
            <a:chOff x="6167083" y="2362654"/>
            <a:chExt cx="5653594" cy="2868774"/>
          </a:xfrm>
        </p:grpSpPr>
        <p:pic>
          <p:nvPicPr>
            <p:cNvPr id="36" name="Picture 35">
              <a:extLst>
                <a:ext uri="{FF2B5EF4-FFF2-40B4-BE49-F238E27FC236}">
                  <a16:creationId xmlns:a16="http://schemas.microsoft.com/office/drawing/2014/main" id="{CE92F7A0-5F68-7424-DF7E-BDCB9E7E524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167083" y="2362654"/>
              <a:ext cx="5188823" cy="2868774"/>
            </a:xfrm>
            <a:prstGeom prst="rect">
              <a:avLst/>
            </a:prstGeom>
          </p:spPr>
        </p:pic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7BBA3156-FB78-E68E-EECA-9EB1054F24CB}"/>
                </a:ext>
              </a:extLst>
            </p:cNvPr>
            <p:cNvSpPr/>
            <p:nvPr/>
          </p:nvSpPr>
          <p:spPr>
            <a:xfrm>
              <a:off x="10618952" y="4747022"/>
              <a:ext cx="1201725" cy="42536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endParaRPr>
            </a:p>
          </p:txBody>
        </p:sp>
      </p:grpSp>
      <p:pic>
        <p:nvPicPr>
          <p:cNvPr id="39" name="Picture 38">
            <a:extLst>
              <a:ext uri="{FF2B5EF4-FFF2-40B4-BE49-F238E27FC236}">
                <a16:creationId xmlns:a16="http://schemas.microsoft.com/office/drawing/2014/main" id="{92BAF7EB-9117-A7EC-74EB-394BC672E6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4737" y="1228037"/>
            <a:ext cx="5909307" cy="4889426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916704E1-7BB0-819E-C637-76D05A32B02D}"/>
              </a:ext>
            </a:extLst>
          </p:cNvPr>
          <p:cNvSpPr/>
          <p:nvPr/>
        </p:nvSpPr>
        <p:spPr>
          <a:xfrm>
            <a:off x="10255956" y="3904962"/>
            <a:ext cx="1099950" cy="42536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023676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UofWaterloo_WhiteBkgrd">
  <a:themeElements>
    <a:clrScheme name="UWaterloo">
      <a:dk1>
        <a:sysClr val="windowText" lastClr="000000"/>
      </a:dk1>
      <a:lt1>
        <a:sysClr val="window" lastClr="FFFFFF"/>
      </a:lt1>
      <a:dk2>
        <a:srgbClr val="787878"/>
      </a:dk2>
      <a:lt2>
        <a:srgbClr val="DFDFDF"/>
      </a:lt2>
      <a:accent1>
        <a:srgbClr val="F2EDA8"/>
      </a:accent1>
      <a:accent2>
        <a:srgbClr val="FAE100"/>
      </a:accent2>
      <a:accent3>
        <a:srgbClr val="FED34C"/>
      </a:accent3>
      <a:accent4>
        <a:srgbClr val="EBAB00"/>
      </a:accent4>
      <a:accent5>
        <a:srgbClr val="BB0F33"/>
      </a:accent5>
      <a:accent6>
        <a:srgbClr val="A2A2A2"/>
      </a:accent6>
      <a:hlink>
        <a:srgbClr val="000000"/>
      </a:hlink>
      <a:folHlink>
        <a:srgbClr val="000000"/>
      </a:folHlink>
    </a:clrScheme>
    <a:fontScheme name="Custom 1">
      <a:majorFont>
        <a:latin typeface="Barlow Condensed"/>
        <a:ea typeface=""/>
        <a:cs typeface=""/>
      </a:majorFont>
      <a:minorFont>
        <a:latin typeface="Georg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>
          <a:tailEnd type="triangle"/>
        </a:ln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waterloo_powerpoint_template_16-9_widescreen" id="{E4282101-675F-A445-8F53-64115176576B}" vid="{FE1396AD-CDE7-C040-8CC2-F51B417BF6C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a9ee03e0-b78c-4998-8bf4-79b266b85105}" enabled="1" method="Standard" siteId="{723a5a87-f39a-4a22-9247-3fc240c01396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61912</TotalTime>
  <Words>2155</Words>
  <Application>Microsoft Macintosh PowerPoint</Application>
  <PresentationFormat>Widescreen</PresentationFormat>
  <Paragraphs>575</Paragraphs>
  <Slides>22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1" baseType="lpstr">
      <vt:lpstr>Aptos</vt:lpstr>
      <vt:lpstr>Arial</vt:lpstr>
      <vt:lpstr>Barlow Condensed</vt:lpstr>
      <vt:lpstr>Calibri</vt:lpstr>
      <vt:lpstr>Cambria Math</vt:lpstr>
      <vt:lpstr>Georgia</vt:lpstr>
      <vt:lpstr>Verdana</vt:lpstr>
      <vt:lpstr>Wingdings</vt:lpstr>
      <vt:lpstr>UofWaterloo_WhiteBkgrd</vt:lpstr>
      <vt:lpstr>Entanglement certification: Noncontextuality inequalities and self-consistent certification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Yujie Zhang</dc:creator>
  <cp:lastModifiedBy>Yujie Zhang</cp:lastModifiedBy>
  <cp:revision>22</cp:revision>
  <dcterms:created xsi:type="dcterms:W3CDTF">2024-10-29T03:01:44Z</dcterms:created>
  <dcterms:modified xsi:type="dcterms:W3CDTF">2026-07-03T16:42:08Z</dcterms:modified>
</cp:coreProperties>
</file>