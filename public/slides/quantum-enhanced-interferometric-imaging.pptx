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91" r:id="rId7"/>
    <p:sldId id="259" r:id="rId8"/>
    <p:sldId id="262" r:id="rId9"/>
    <p:sldId id="289" r:id="rId10"/>
    <p:sldId id="273" r:id="rId11"/>
    <p:sldId id="284" r:id="rId12"/>
    <p:sldId id="274" r:id="rId13"/>
    <p:sldId id="275" r:id="rId14"/>
    <p:sldId id="278" r:id="rId15"/>
    <p:sldId id="280" r:id="rId16"/>
    <p:sldId id="281" r:id="rId17"/>
    <p:sldId id="282" r:id="rId18"/>
    <p:sldId id="286" r:id="rId19"/>
    <p:sldId id="279" r:id="rId20"/>
    <p:sldId id="288" r:id="rId21"/>
    <p:sldId id="285" r:id="rId22"/>
    <p:sldId id="290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5C1A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0336" autoAdjust="0"/>
  </p:normalViewPr>
  <p:slideViewPr>
    <p:cSldViewPr snapToGrid="0">
      <p:cViewPr varScale="1">
        <p:scale>
          <a:sx n="108" d="100"/>
          <a:sy n="108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27F45-1B2B-49EB-994A-3AFC6CF40B38}" type="datetimeFigureOut">
              <a:rPr lang="en-US" smtClean="0"/>
              <a:t>6/17/23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F8E93-E8A6-476A-A83B-1E99980A9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people’s name (with mine underlined)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99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70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animation, caption.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5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Replacing it with brief summary.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72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it with a brief summary.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85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be too strong to say anything won’t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84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1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 the source photon </a:t>
            </a:r>
          </a:p>
          <a:p>
            <a:endParaRPr lang="en-US" dirty="0"/>
          </a:p>
          <a:p>
            <a:r>
              <a:rPr lang="en-US" dirty="0"/>
              <a:t>Have a better animation on the arrow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12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Putting </a:t>
            </a:r>
            <a:r>
              <a:rPr lang="en-US" dirty="0" err="1"/>
              <a:t>d,e,f</a:t>
            </a:r>
            <a:r>
              <a:rPr lang="en-US" dirty="0"/>
              <a:t> in parallel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5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with words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mentioning it is with three </a:t>
            </a:r>
            <a:r>
              <a:rPr lang="en-US" dirty="0" err="1"/>
              <a:t>telesopes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39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Replace it with a brief summarization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39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97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axis with words.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63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Included all the other works we have done with references.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89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all collaborators.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F8E93-E8A6-476A-A83B-1E99980A911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59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E08A-0D1B-BFBC-03FF-294A905FC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16118-019A-C08B-7DE5-2FBD07ACD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6975-EA81-7121-9ABE-F354C4B9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52BB-512A-6403-25BD-14036EF9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B1EB8-8D76-33A5-FED5-1497E23D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589D-CE09-6A21-C261-ED521EE4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58D7-C78A-181C-069B-6BED14BF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8724-2FA3-BCE5-8ED6-11694FA2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69701-3851-C17D-19C0-0D61D5A8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A6E6C-9549-A1A0-115C-CA2F9D6B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8E43-E7E2-E6A5-5171-06776C93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1B956-7586-21AC-1AE5-48AA9095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75E93-D953-1B21-56C8-8047DFC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86C3-4548-E78B-BFCA-E2EB1CCF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EC298-6BD9-0710-6FFA-B8E390D6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8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878A-C5AF-A22F-195B-3EE1FBFE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E2FC9-C8B5-6F37-0854-7198C74D8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ABCA7-22CC-0A27-9DD4-5DFEDED1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FDB87-1B47-00CC-EB9E-E8AD2BAF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D9D5F-5931-632E-E055-73DE518E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76EF-B838-9FC6-42F4-7CCBEA16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0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2075-8682-A164-44A7-CFCC81411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C4C16-E58D-561E-837C-8FF7A0D50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984E8-0016-8D02-B2D7-ADE248D6B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038D5-7ABA-D113-48AB-72BDB0226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8B8BD-15FF-79BA-2454-BA8623876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A58F8-38EB-7430-E5C0-DDC37011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921B4-35FF-F03A-35E1-9AFEA73C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0E586-B2C7-B85C-6480-129B8B42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2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3435-4A63-353A-AA3A-0F62BD1F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35275-5F16-AC6A-283D-001826DD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5F466-81B9-99A3-D24B-72D55AC7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685CF-24AE-160C-4A60-68745636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E7BAE-2287-490A-4951-E3E16743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B02C1-214E-EA2E-D87E-4FE4D60D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102A2-F9B2-057A-DB65-CA7FA53A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1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B4C0-97F7-7755-3FFA-9B9E8086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F900-F3DF-9471-DEC9-6D9DD6A4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4788E-63CA-2D57-4E12-7B75E946E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CB64A-3CC8-0FB9-DD8D-DA3047D2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C6F7E-D448-AFEA-B919-11AB12F5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0617F-F486-3070-69CE-247ACA14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8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AB74-F2D6-14FC-D3ED-459AA273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083A9-466E-EB78-F6EF-7101FF418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BC223-C0F9-85F2-3E11-94541D8FE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7C6AE-1E3C-731A-005A-20D70BBD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CA72-8AFF-831A-57E2-8C8BDDB3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6F74-1C2C-9826-4DB3-701D56D5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8790-AD98-8C3C-4AE4-72C05751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9EE15-D662-F5C7-C2FB-A7818F55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F5E02-14A5-EBB0-8146-83543626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D6F7-F06C-60CB-341E-7EB4E611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B113-AF77-266B-3535-B319E2ED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9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37910-85B5-E926-DD71-BBC3D3E33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464BC-0F89-6B06-D191-AB9A8CB84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0167-2A14-60D6-EE23-3AEBEEFB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A546F-E101-B23E-F782-6DFBCC5F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B6DE-0AB4-A96E-43F2-3D626038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5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5555B-FCB8-7CB3-FB23-1A077A63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F81CD-C46C-C117-0117-F89D7D40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106A-D9E1-E399-BDC6-B13DFF7AC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E3ECC-077A-4F8D-9A25-06418E3CC1F5}" type="datetimeFigureOut">
              <a:rPr lang="en-US" smtClean="0"/>
              <a:t>6/17/23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82707-0B35-52DF-8FBA-0B208C247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EEE4-246F-6767-085B-ABF714214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F9D79-3A76-45D9-8AEF-940715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7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1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6.svg"/><Relationship Id="rId5" Type="http://schemas.openxmlformats.org/officeDocument/2006/relationships/image" Target="../media/image34.png"/><Relationship Id="rId10" Type="http://schemas.openxmlformats.org/officeDocument/2006/relationships/image" Target="../media/image5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8" Type="http://schemas.openxmlformats.org/officeDocument/2006/relationships/image" Target="../media/image33.png"/><Relationship Id="rId13" Type="http://schemas.openxmlformats.org/officeDocument/2006/relationships/image" Target="../media/image300.png"/><Relationship Id="rId3" Type="http://schemas.openxmlformats.org/officeDocument/2006/relationships/image" Target="../media/image1.png"/><Relationship Id="rId12" Type="http://schemas.openxmlformats.org/officeDocument/2006/relationships/image" Target="../media/image290.png"/><Relationship Id="rId1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.png"/><Relationship Id="rId20" Type="http://schemas.openxmlformats.org/officeDocument/2006/relationships/image" Target="../media/image4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320.png"/><Relationship Id="rId10" Type="http://schemas.openxmlformats.org/officeDocument/2006/relationships/image" Target="../media/image44.png"/><Relationship Id="rId19" Type="http://schemas.openxmlformats.org/officeDocument/2006/relationships/image" Target="../media/image41.png"/><Relationship Id="rId4" Type="http://schemas.openxmlformats.org/officeDocument/2006/relationships/image" Target="../media/image240.png"/><Relationship Id="rId9" Type="http://schemas.openxmlformats.org/officeDocument/2006/relationships/image" Target="../media/image32.png"/><Relationship Id="rId1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10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6.svg"/><Relationship Id="rId5" Type="http://schemas.openxmlformats.org/officeDocument/2006/relationships/image" Target="../media/image46.png"/><Relationship Id="rId15" Type="http://schemas.openxmlformats.org/officeDocument/2006/relationships/image" Target="../media/image43.png"/><Relationship Id="rId10" Type="http://schemas.openxmlformats.org/officeDocument/2006/relationships/image" Target="../media/image5.png"/><Relationship Id="rId4" Type="http://schemas.openxmlformats.org/officeDocument/2006/relationships/image" Target="../media/image240.png"/><Relationship Id="rId9" Type="http://schemas.openxmlformats.org/officeDocument/2006/relationships/image" Target="../media/image49.png"/><Relationship Id="rId14" Type="http://schemas.openxmlformats.org/officeDocument/2006/relationships/image" Target="../media/image29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300.png"/><Relationship Id="rId3" Type="http://schemas.openxmlformats.org/officeDocument/2006/relationships/image" Target="../media/image1.png"/><Relationship Id="rId21" Type="http://schemas.openxmlformats.org/officeDocument/2006/relationships/image" Target="../media/image58.png"/><Relationship Id="rId7" Type="http://schemas.openxmlformats.org/officeDocument/2006/relationships/image" Target="../media/image54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5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0.png"/><Relationship Id="rId15" Type="http://schemas.openxmlformats.org/officeDocument/2006/relationships/image" Target="../media/image6.svg"/><Relationship Id="rId19" Type="http://schemas.openxmlformats.org/officeDocument/2006/relationships/image" Target="../media/image310.png"/><Relationship Id="rId4" Type="http://schemas.openxmlformats.org/officeDocument/2006/relationships/image" Target="../media/image52.png"/><Relationship Id="rId14" Type="http://schemas.openxmlformats.org/officeDocument/2006/relationships/image" Target="../media/image5.png"/><Relationship Id="rId22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67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6.png"/><Relationship Id="rId5" Type="http://schemas.openxmlformats.org/officeDocument/2006/relationships/image" Target="../media/image62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6.svg"/><Relationship Id="rId5" Type="http://schemas.openxmlformats.org/officeDocument/2006/relationships/image" Target="../media/image62.svg"/><Relationship Id="rId10" Type="http://schemas.openxmlformats.org/officeDocument/2006/relationships/image" Target="../media/image5.png"/><Relationship Id="rId4" Type="http://schemas.openxmlformats.org/officeDocument/2006/relationships/image" Target="../media/image61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6.png"/><Relationship Id="rId3" Type="http://schemas.openxmlformats.org/officeDocument/2006/relationships/image" Target="../media/image73.png"/><Relationship Id="rId7" Type="http://schemas.openxmlformats.org/officeDocument/2006/relationships/image" Target="../media/image82.png"/><Relationship Id="rId12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5.png"/><Relationship Id="rId5" Type="http://schemas.openxmlformats.org/officeDocument/2006/relationships/image" Target="../media/image80.png"/><Relationship Id="rId15" Type="http://schemas.openxmlformats.org/officeDocument/2006/relationships/image" Target="../media/image88.png"/><Relationship Id="rId10" Type="http://schemas.openxmlformats.org/officeDocument/2006/relationships/image" Target="../media/image85.png"/><Relationship Id="rId4" Type="http://schemas.openxmlformats.org/officeDocument/2006/relationships/image" Target="../media/image1.png"/><Relationship Id="rId9" Type="http://schemas.openxmlformats.org/officeDocument/2006/relationships/image" Target="../media/image79.png"/><Relationship Id="rId1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76.png"/><Relationship Id="rId7" Type="http://schemas.openxmlformats.org/officeDocument/2006/relationships/image" Target="../media/image90.png"/><Relationship Id="rId12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6.svg"/><Relationship Id="rId5" Type="http://schemas.openxmlformats.org/officeDocument/2006/relationships/image" Target="../media/image89.png"/><Relationship Id="rId10" Type="http://schemas.openxmlformats.org/officeDocument/2006/relationships/image" Target="../media/image5.png"/><Relationship Id="rId4" Type="http://schemas.openxmlformats.org/officeDocument/2006/relationships/image" Target="../media/image81.png"/><Relationship Id="rId9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91.png"/><Relationship Id="rId3" Type="http://schemas.openxmlformats.org/officeDocument/2006/relationships/image" Target="../media/image94.png"/><Relationship Id="rId12" Type="http://schemas.openxmlformats.org/officeDocument/2006/relationships/image" Target="../media/image97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20" Type="http://schemas.openxmlformats.org/officeDocument/2006/relationships/image" Target="../media/image100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03.png"/><Relationship Id="rId5" Type="http://schemas.openxmlformats.org/officeDocument/2006/relationships/image" Target="../media/image95.png"/><Relationship Id="rId15" Type="http://schemas.openxmlformats.org/officeDocument/2006/relationships/image" Target="../media/image98.png"/><Relationship Id="rId23" Type="http://schemas.openxmlformats.org/officeDocument/2006/relationships/image" Target="../media/image81.png"/><Relationship Id="rId28" Type="http://schemas.openxmlformats.org/officeDocument/2006/relationships/image" Target="../media/image6.svg"/><Relationship Id="rId19" Type="http://schemas.openxmlformats.org/officeDocument/2006/relationships/image" Target="../media/image102.png"/><Relationship Id="rId4" Type="http://schemas.openxmlformats.org/officeDocument/2006/relationships/image" Target="../media/image1.png"/><Relationship Id="rId14" Type="http://schemas.openxmlformats.org/officeDocument/2006/relationships/image" Target="../media/image99.png"/><Relationship Id="rId22" Type="http://schemas.openxmlformats.org/officeDocument/2006/relationships/image" Target="../media/image76.png"/><Relationship Id="rId27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12" Type="http://schemas.openxmlformats.org/officeDocument/2006/relationships/image" Target="../media/image10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62.svg"/><Relationship Id="rId5" Type="http://schemas.openxmlformats.org/officeDocument/2006/relationships/image" Target="../media/image106.svg"/><Relationship Id="rId10" Type="http://schemas.openxmlformats.org/officeDocument/2006/relationships/image" Target="../media/image61.png"/><Relationship Id="rId4" Type="http://schemas.openxmlformats.org/officeDocument/2006/relationships/image" Target="../media/image105.png"/><Relationship Id="rId9" Type="http://schemas.openxmlformats.org/officeDocument/2006/relationships/image" Target="../media/image10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8.png"/><Relationship Id="rId7" Type="http://schemas.openxmlformats.org/officeDocument/2006/relationships/image" Target="../media/image6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111.png"/><Relationship Id="rId5" Type="http://schemas.openxmlformats.org/officeDocument/2006/relationships/image" Target="../media/image106.png"/><Relationship Id="rId10" Type="http://schemas.openxmlformats.org/officeDocument/2006/relationships/image" Target="../media/image110.png"/><Relationship Id="rId9" Type="http://schemas.openxmlformats.org/officeDocument/2006/relationships/image" Target="../media/image10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9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12" Type="http://schemas.openxmlformats.org/officeDocument/2006/relationships/image" Target="../media/image118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11" Type="http://schemas.openxmlformats.org/officeDocument/2006/relationships/image" Target="../media/image116.png"/><Relationship Id="rId5" Type="http://schemas.openxmlformats.org/officeDocument/2006/relationships/image" Target="../media/image61.png"/><Relationship Id="rId15" Type="http://schemas.openxmlformats.org/officeDocument/2006/relationships/image" Target="../media/image121.png"/><Relationship Id="rId10" Type="http://schemas.openxmlformats.org/officeDocument/2006/relationships/image" Target="../media/image114.png"/><Relationship Id="rId4" Type="http://schemas.openxmlformats.org/officeDocument/2006/relationships/image" Target="../media/image106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jpeg"/><Relationship Id="rId5" Type="http://schemas.openxmlformats.org/officeDocument/2006/relationships/image" Target="../media/image4.png"/><Relationship Id="rId4" Type="http://schemas.openxmlformats.org/officeDocument/2006/relationships/image" Target="../media/image11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0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2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8.png"/><Relationship Id="rId5" Type="http://schemas.openxmlformats.org/officeDocument/2006/relationships/image" Target="../media/image126.png"/><Relationship Id="rId10" Type="http://schemas.openxmlformats.org/officeDocument/2006/relationships/image" Target="../media/image68.png"/><Relationship Id="rId4" Type="http://schemas.openxmlformats.org/officeDocument/2006/relationships/image" Target="../media/image125.png"/><Relationship Id="rId9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76.png"/><Relationship Id="rId7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6.svg"/><Relationship Id="rId5" Type="http://schemas.openxmlformats.org/officeDocument/2006/relationships/image" Target="../media/image89.png"/><Relationship Id="rId10" Type="http://schemas.openxmlformats.org/officeDocument/2006/relationships/image" Target="../media/image5.png"/><Relationship Id="rId4" Type="http://schemas.openxmlformats.org/officeDocument/2006/relationships/image" Target="../media/image77.png"/><Relationship Id="rId9" Type="http://schemas.openxmlformats.org/officeDocument/2006/relationships/image" Target="../media/image9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4" y="-2"/>
            <a:ext cx="714377" cy="7239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-1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13DAB7-C70E-7062-F044-050EB30D7075}"/>
              </a:ext>
            </a:extLst>
          </p:cNvPr>
          <p:cNvSpPr/>
          <p:nvPr/>
        </p:nvSpPr>
        <p:spPr>
          <a:xfrm>
            <a:off x="11468100" y="723899"/>
            <a:ext cx="714376" cy="3562351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93054-5712-D3C7-277B-823003F8F907}"/>
              </a:ext>
            </a:extLst>
          </p:cNvPr>
          <p:cNvSpPr/>
          <p:nvPr/>
        </p:nvSpPr>
        <p:spPr>
          <a:xfrm>
            <a:off x="0" y="723899"/>
            <a:ext cx="821916" cy="3562351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40BED0-41E3-B652-FA10-2E64E716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174" y="6231197"/>
            <a:ext cx="628650" cy="5463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6D87C9-BB2D-E989-B26C-607D8B861C26}"/>
              </a:ext>
            </a:extLst>
          </p:cNvPr>
          <p:cNvSpPr/>
          <p:nvPr/>
        </p:nvSpPr>
        <p:spPr>
          <a:xfrm>
            <a:off x="821916" y="5935682"/>
            <a:ext cx="10655708" cy="46757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82451B9-CDB0-32F4-AFA8-D257257DA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978"/>
            <a:ext cx="1981200" cy="51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E1D9DF-AC31-8175-C3D3-02A75D156456}"/>
              </a:ext>
            </a:extLst>
          </p:cNvPr>
          <p:cNvSpPr txBox="1"/>
          <p:nvPr/>
        </p:nvSpPr>
        <p:spPr>
          <a:xfrm>
            <a:off x="5829299" y="6313865"/>
            <a:ext cx="1651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orenz group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4" name="Picture 13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23F52BFA-4820-AFD8-727B-E736D3545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305" y="6067339"/>
            <a:ext cx="777495" cy="78110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285B390-6457-56D5-3302-F78771E81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750" y="1819872"/>
            <a:ext cx="9505950" cy="68317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4000" dirty="0"/>
              <a:t>Quantum interferometric imaging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F41A5B-8A71-750E-C6E3-32DC3D2FDBDD}"/>
              </a:ext>
            </a:extLst>
          </p:cNvPr>
          <p:cNvSpPr/>
          <p:nvPr/>
        </p:nvSpPr>
        <p:spPr>
          <a:xfrm>
            <a:off x="9637093" y="3468441"/>
            <a:ext cx="1507070" cy="14049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8AE4AC-42ED-797F-6E14-E5895DE8FF28}"/>
              </a:ext>
            </a:extLst>
          </p:cNvPr>
          <p:cNvGrpSpPr/>
          <p:nvPr/>
        </p:nvGrpSpPr>
        <p:grpSpPr>
          <a:xfrm>
            <a:off x="4180384" y="3557462"/>
            <a:ext cx="1536986" cy="1296907"/>
            <a:chOff x="2389356" y="2668878"/>
            <a:chExt cx="2820818" cy="2056698"/>
          </a:xfrm>
        </p:grpSpPr>
        <p:pic>
          <p:nvPicPr>
            <p:cNvPr id="17" name="Graphic 16" descr="Solar system with solid fill">
              <a:extLst>
                <a:ext uri="{FF2B5EF4-FFF2-40B4-BE49-F238E27FC236}">
                  <a16:creationId xmlns:a16="http://schemas.microsoft.com/office/drawing/2014/main" id="{B1F1E030-5BEA-8B0A-BA81-69DE1C70A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49361">
              <a:off x="3396457" y="2668878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CC34C8A-F893-E632-4CA7-BADFE35F97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2726" y="3341745"/>
              <a:ext cx="531834" cy="502022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587BA20-7E74-3F95-C968-C5C83BFC3F02}"/>
                </a:ext>
              </a:extLst>
            </p:cNvPr>
            <p:cNvCxnSpPr>
              <a:cxnSpLocks/>
            </p:cNvCxnSpPr>
            <p:nvPr/>
          </p:nvCxnSpPr>
          <p:spPr>
            <a:xfrm>
              <a:off x="4195761" y="3333404"/>
              <a:ext cx="423863" cy="539820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0" name="Graphic 19" descr="Satellite dish with solid fill">
              <a:extLst>
                <a:ext uri="{FF2B5EF4-FFF2-40B4-BE49-F238E27FC236}">
                  <a16:creationId xmlns:a16="http://schemas.microsoft.com/office/drawing/2014/main" id="{A1B28BA9-8318-87B8-06C2-67351E6A4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4295774" y="3811176"/>
              <a:ext cx="914400" cy="9144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Graphic 20" descr="Satellite dish with solid fill">
              <a:extLst>
                <a:ext uri="{FF2B5EF4-FFF2-40B4-BE49-F238E27FC236}">
                  <a16:creationId xmlns:a16="http://schemas.microsoft.com/office/drawing/2014/main" id="{7497BAF7-3167-E14C-737C-7D3FFE1D4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389356" y="3789854"/>
              <a:ext cx="914400" cy="9144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D091D09-E6D6-D1C3-5A46-ED803E64147F}"/>
              </a:ext>
            </a:extLst>
          </p:cNvPr>
          <p:cNvGrpSpPr/>
          <p:nvPr/>
        </p:nvGrpSpPr>
        <p:grpSpPr>
          <a:xfrm>
            <a:off x="7784168" y="3470554"/>
            <a:ext cx="1583467" cy="1382992"/>
            <a:chOff x="7679405" y="3598302"/>
            <a:chExt cx="2102604" cy="159908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6C67FBE-FD6C-2829-7D94-8BE4A1840E1D}"/>
                </a:ext>
              </a:extLst>
            </p:cNvPr>
            <p:cNvGrpSpPr/>
            <p:nvPr/>
          </p:nvGrpSpPr>
          <p:grpSpPr>
            <a:xfrm flipH="1">
              <a:off x="9206156" y="4619672"/>
              <a:ext cx="575853" cy="577717"/>
              <a:chOff x="2098274" y="1374606"/>
              <a:chExt cx="1690182" cy="165241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D8EB6D3-46BF-0514-E854-EF72E7ABAF73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5" name="Flowchart: Delay 24">
                  <a:extLst>
                    <a:ext uri="{FF2B5EF4-FFF2-40B4-BE49-F238E27FC236}">
                      <a16:creationId xmlns:a16="http://schemas.microsoft.com/office/drawing/2014/main" id="{83876F46-FF6D-23EF-BE3D-5F02B8296A4F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6C5AE00-8424-32F8-C947-C13126F0EEBF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F938C40-B33D-57E6-F346-FA10FB670B27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72A13F58-E3D4-AB5C-1C53-48FC51BC8A06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81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ED5031D-1E1B-2C70-BFD0-DB1C149789AE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9D7909F-51FB-6A9B-41FC-61A2F45CA53C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16D20FA-5C52-2F6E-E9D9-E033BF5DA1F0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86B7320-C83C-4D16-9B70-89EAEB162C7C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12A002-57BA-C47E-945C-071EE36D2934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3" name="Graphic 32" descr="Solar system with solid fill">
              <a:extLst>
                <a:ext uri="{FF2B5EF4-FFF2-40B4-BE49-F238E27FC236}">
                  <a16:creationId xmlns:a16="http://schemas.microsoft.com/office/drawing/2014/main" id="{2D3AAC15-BDFF-A4F6-0A77-217483740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201826">
              <a:off x="8476558" y="3598302"/>
              <a:ext cx="672706" cy="76791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1DA4E85-AEDE-66CE-D746-279CA8355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3009" y="4158449"/>
              <a:ext cx="379966" cy="408944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5E07BA0-AA22-E8D1-F49E-BAA910923223}"/>
                </a:ext>
              </a:extLst>
            </p:cNvPr>
            <p:cNvCxnSpPr>
              <a:cxnSpLocks/>
            </p:cNvCxnSpPr>
            <p:nvPr/>
          </p:nvCxnSpPr>
          <p:spPr>
            <a:xfrm>
              <a:off x="8917517" y="4185759"/>
              <a:ext cx="323438" cy="407275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3D302D-3A89-EB9E-0D2E-C0DA37CAE731}"/>
                </a:ext>
              </a:extLst>
            </p:cNvPr>
            <p:cNvGrpSpPr/>
            <p:nvPr/>
          </p:nvGrpSpPr>
          <p:grpSpPr>
            <a:xfrm>
              <a:off x="7679405" y="4601748"/>
              <a:ext cx="565673" cy="577717"/>
              <a:chOff x="2098274" y="1374606"/>
              <a:chExt cx="1690182" cy="165241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84D453A-9E10-BBFB-F83F-FF3307C6149B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9" name="Flowchart: Delay 38">
                  <a:extLst>
                    <a:ext uri="{FF2B5EF4-FFF2-40B4-BE49-F238E27FC236}">
                      <a16:creationId xmlns:a16="http://schemas.microsoft.com/office/drawing/2014/main" id="{831FAF1F-7711-568B-B4C0-A60380DAB019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4FC576E5-5851-39A7-8D5B-DCD4FA59236A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D36D1FE-9CD7-A939-1EE7-3F97A3CAAC01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Arc 41">
                  <a:extLst>
                    <a:ext uri="{FF2B5EF4-FFF2-40B4-BE49-F238E27FC236}">
                      <a16:creationId xmlns:a16="http://schemas.microsoft.com/office/drawing/2014/main" id="{E9713601-1BCF-96E4-8B90-4E61D1FC1926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81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CB53799-793E-7CC9-AD3C-AAC9F9ED6910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B4D6D4A-4390-1D04-5B4E-ED2F5B573649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79E465-8FB7-0744-871A-76C807FC996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421E2755-B501-C5A3-D5E6-B807C863424A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05A45F0-B750-6F89-B807-5E43960769C4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A1BCC3B-7BB6-9599-4E22-72320ABC417C}"/>
              </a:ext>
            </a:extLst>
          </p:cNvPr>
          <p:cNvSpPr txBox="1"/>
          <p:nvPr/>
        </p:nvSpPr>
        <p:spPr>
          <a:xfrm>
            <a:off x="4131879" y="4963265"/>
            <a:ext cx="34667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374151"/>
                </a:solidFill>
              </a:rPr>
              <a:t>R</a:t>
            </a:r>
            <a:r>
              <a:rPr lang="en-US" sz="1500" b="0" i="0" dirty="0">
                <a:solidFill>
                  <a:srgbClr val="374151"/>
                </a:solidFill>
                <a:effectLst/>
              </a:rPr>
              <a:t>adio </a:t>
            </a:r>
            <a:r>
              <a:rPr lang="en-US" sz="1500" dirty="0">
                <a:solidFill>
                  <a:srgbClr val="374151"/>
                </a:solidFill>
              </a:rPr>
              <a:t>Interferometry</a:t>
            </a:r>
            <a:r>
              <a:rPr lang="en-US" sz="1500" b="0" i="0" dirty="0">
                <a:solidFill>
                  <a:srgbClr val="374151"/>
                </a:solidFill>
                <a:effectLst/>
              </a:rPr>
              <a:t>: Image of M87 blackhole with the EHT(2019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  <a:endParaRPr lang="en-US" sz="15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EAF16B-8E7B-263E-11A8-264B3A1CC3BC}"/>
              </a:ext>
            </a:extLst>
          </p:cNvPr>
          <p:cNvSpPr txBox="1"/>
          <p:nvPr/>
        </p:nvSpPr>
        <p:spPr>
          <a:xfrm>
            <a:off x="7686737" y="4959053"/>
            <a:ext cx="36946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374151"/>
                </a:solidFill>
                <a:latin typeface="Söhne"/>
              </a:rPr>
              <a:t>Quantum-enhanced Optical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500" dirty="0"/>
              <a:t>I</a:t>
            </a:r>
            <a:r>
              <a:rPr lang="en-US" sz="1500" b="0" i="0" dirty="0">
                <a:effectLst/>
              </a:rPr>
              <a:t>nterferometry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towards next generation? (20xx) </a:t>
            </a:r>
            <a:endParaRPr lang="en-US" sz="1500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C472A4E7-D75F-2552-26B3-7158EBF9F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11" y="3491358"/>
            <a:ext cx="1365746" cy="13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Graphic 52" descr="Question Mark with solid fill">
            <a:extLst>
              <a:ext uri="{FF2B5EF4-FFF2-40B4-BE49-F238E27FC236}">
                <a16:creationId xmlns:a16="http://schemas.microsoft.com/office/drawing/2014/main" id="{8C797359-7FDB-C525-59C6-36F6D36A21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28666" y="3552329"/>
            <a:ext cx="1280736" cy="129690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2BE7510-297B-40D8-8585-93823DFA2F18}"/>
              </a:ext>
            </a:extLst>
          </p:cNvPr>
          <p:cNvSpPr txBox="1"/>
          <p:nvPr/>
        </p:nvSpPr>
        <p:spPr>
          <a:xfrm>
            <a:off x="636370" y="4963265"/>
            <a:ext cx="35548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0" i="0" dirty="0">
                <a:solidFill>
                  <a:srgbClr val="374151"/>
                </a:solidFill>
                <a:effectLst/>
              </a:rPr>
              <a:t>Single telescope: Image </a:t>
            </a:r>
            <a:r>
              <a:rPr lang="en-US" sz="1500" b="0" i="0" dirty="0">
                <a:solidFill>
                  <a:srgbClr val="202124"/>
                </a:solidFill>
                <a:effectLst/>
              </a:rPr>
              <a:t>NGC 3132</a:t>
            </a:r>
          </a:p>
          <a:p>
            <a:r>
              <a:rPr lang="en-US" sz="1500" b="0" i="0" dirty="0">
                <a:solidFill>
                  <a:srgbClr val="374151"/>
                </a:solidFill>
                <a:effectLst/>
              </a:rPr>
              <a:t> with James Webb Space telescope (2022)</a:t>
            </a:r>
          </a:p>
        </p:txBody>
      </p:sp>
      <p:pic>
        <p:nvPicPr>
          <p:cNvPr id="58" name="Picture 12" descr="NASA韋伯望遠鏡拍下130億年前光芒| 星島日報">
            <a:extLst>
              <a:ext uri="{FF2B5EF4-FFF2-40B4-BE49-F238E27FC236}">
                <a16:creationId xmlns:a16="http://schemas.microsoft.com/office/drawing/2014/main" id="{C0C35B5E-DCD6-E093-ADD4-D2FEFEAF3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019" y="3483844"/>
            <a:ext cx="1569783" cy="14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A1BCC3B-7BB6-9599-4E22-72320ABC417C}"/>
              </a:ext>
            </a:extLst>
          </p:cNvPr>
          <p:cNvSpPr txBox="1"/>
          <p:nvPr/>
        </p:nvSpPr>
        <p:spPr>
          <a:xfrm>
            <a:off x="2860844" y="2642629"/>
            <a:ext cx="6470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374151"/>
                </a:solidFill>
                <a:latin typeface="Söhne"/>
              </a:rPr>
              <a:t>            </a:t>
            </a:r>
            <a:r>
              <a:rPr lang="en-US" sz="1500" u="sng" dirty="0"/>
              <a:t>Yujie Zhang</a:t>
            </a:r>
            <a:r>
              <a:rPr lang="en-US" sz="1500" dirty="0"/>
              <a:t>, Yunkai Wang, David Diaz, Paul Kwiat, Virginia Lorenz</a:t>
            </a:r>
          </a:p>
          <a:p>
            <a:pPr algn="ctr"/>
            <a:r>
              <a:rPr lang="en-US" sz="1500" i="1" dirty="0"/>
              <a:t>University of Illinois Urbana-Champaign</a:t>
            </a:r>
          </a:p>
        </p:txBody>
      </p:sp>
      <p:pic>
        <p:nvPicPr>
          <p:cNvPr id="1026" name="Picture 2" descr="james webb space telescope Icon 4564794">
            <a:extLst>
              <a:ext uri="{FF2B5EF4-FFF2-40B4-BE49-F238E27FC236}">
                <a16:creationId xmlns:a16="http://schemas.microsoft.com/office/drawing/2014/main" id="{7290FE97-4D68-2E1A-9C1E-DF174DC7B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29" y="3670277"/>
            <a:ext cx="1166873" cy="116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360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278A4-5E02-B0DB-095E-068354ABF583}"/>
              </a:ext>
            </a:extLst>
          </p:cNvPr>
          <p:cNvSpPr txBox="1"/>
          <p:nvPr/>
        </p:nvSpPr>
        <p:spPr>
          <a:xfrm>
            <a:off x="3269" y="1504596"/>
            <a:ext cx="12053170" cy="3877985"/>
          </a:xfrm>
          <a:prstGeom prst="rect">
            <a:avLst/>
          </a:prstGeom>
          <a:noFill/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Table-top demonstration of quantum-enhanced telescope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Comparison between classical local oscillator and ‘quantum’ local oscillator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Source simulation and closure phase reconstruction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Protocols for enhanced interferometric imaging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Quantum telescope using continuous-variable quantum teleportation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Super-resolution of two incoherent strong thermal source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Outline</a:t>
            </a:r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5284408D-82B3-A061-601B-8CC0BA8479DB}"/>
              </a:ext>
            </a:extLst>
          </p:cNvPr>
          <p:cNvGrpSpPr/>
          <p:nvPr/>
        </p:nvGrpSpPr>
        <p:grpSpPr>
          <a:xfrm>
            <a:off x="8830404" y="2363033"/>
            <a:ext cx="2761860" cy="2682778"/>
            <a:chOff x="9039615" y="650189"/>
            <a:chExt cx="2888283" cy="296765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056" name="Group 2055">
              <a:extLst>
                <a:ext uri="{FF2B5EF4-FFF2-40B4-BE49-F238E27FC236}">
                  <a16:creationId xmlns:a16="http://schemas.microsoft.com/office/drawing/2014/main" id="{8BDF2B87-73CE-D497-AC7B-3F65C25B7465}"/>
                </a:ext>
              </a:extLst>
            </p:cNvPr>
            <p:cNvGrpSpPr/>
            <p:nvPr/>
          </p:nvGrpSpPr>
          <p:grpSpPr>
            <a:xfrm>
              <a:off x="9039615" y="650189"/>
              <a:ext cx="2868735" cy="1952014"/>
              <a:chOff x="9016648" y="3973880"/>
              <a:chExt cx="2868735" cy="1952014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065127C6-AF17-30CD-0FCE-ED0A022FD42C}"/>
                  </a:ext>
                </a:extLst>
              </p:cNvPr>
              <p:cNvGrpSpPr/>
              <p:nvPr/>
            </p:nvGrpSpPr>
            <p:grpSpPr>
              <a:xfrm flipH="1">
                <a:off x="11099704" y="5235397"/>
                <a:ext cx="785679" cy="690497"/>
                <a:chOff x="2098274" y="1374606"/>
                <a:chExt cx="1690182" cy="1652414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9D7B7FAC-7745-42E1-42F6-86F603DDBE22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1072" name="Flowchart: Delay 1071">
                    <a:extLst>
                      <a:ext uri="{FF2B5EF4-FFF2-40B4-BE49-F238E27FC236}">
                        <a16:creationId xmlns:a16="http://schemas.microsoft.com/office/drawing/2014/main" id="{A7B2CFF4-4696-A27C-147F-3E045A49265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3" name="Rectangle 1072">
                    <a:extLst>
                      <a:ext uri="{FF2B5EF4-FFF2-40B4-BE49-F238E27FC236}">
                        <a16:creationId xmlns:a16="http://schemas.microsoft.com/office/drawing/2014/main" id="{D012DDDE-26D4-AA55-9CEE-DEA8306C5645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4" name="Rectangle 1073">
                    <a:extLst>
                      <a:ext uri="{FF2B5EF4-FFF2-40B4-BE49-F238E27FC236}">
                        <a16:creationId xmlns:a16="http://schemas.microsoft.com/office/drawing/2014/main" id="{A49F54BB-4552-BF54-2C58-5952D6E292C2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5" name="Arc 1074">
                    <a:extLst>
                      <a:ext uri="{FF2B5EF4-FFF2-40B4-BE49-F238E27FC236}">
                        <a16:creationId xmlns:a16="http://schemas.microsoft.com/office/drawing/2014/main" id="{BBE88F6E-C99C-5EF2-65BF-6F7C2F41F319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5080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6" name="Rectangle 1075">
                    <a:extLst>
                      <a:ext uri="{FF2B5EF4-FFF2-40B4-BE49-F238E27FC236}">
                        <a16:creationId xmlns:a16="http://schemas.microsoft.com/office/drawing/2014/main" id="{7E6A09A8-FC65-B4E7-FD37-879593C93BB0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7" name="Rectangle 1076">
                    <a:extLst>
                      <a:ext uri="{FF2B5EF4-FFF2-40B4-BE49-F238E27FC236}">
                        <a16:creationId xmlns:a16="http://schemas.microsoft.com/office/drawing/2014/main" id="{27C1C70F-6929-D284-2DC3-FA8FEEACA139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8" name="Rectangle 1077">
                    <a:extLst>
                      <a:ext uri="{FF2B5EF4-FFF2-40B4-BE49-F238E27FC236}">
                        <a16:creationId xmlns:a16="http://schemas.microsoft.com/office/drawing/2014/main" id="{76857A17-24E3-EBB9-BAAB-341F7DE84791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9" name="Rectangle 1078">
                    <a:extLst>
                      <a:ext uri="{FF2B5EF4-FFF2-40B4-BE49-F238E27FC236}">
                        <a16:creationId xmlns:a16="http://schemas.microsoft.com/office/drawing/2014/main" id="{D8CC7378-780C-139B-53E5-EE5FC0E1196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071" name="Rectangle 1070">
                  <a:extLst>
                    <a:ext uri="{FF2B5EF4-FFF2-40B4-BE49-F238E27FC236}">
                      <a16:creationId xmlns:a16="http://schemas.microsoft.com/office/drawing/2014/main" id="{65E5F0E7-D369-2241-9199-46309857EF2B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80" name="Graphic 1079" descr="Solar system with solid fill">
                <a:extLst>
                  <a:ext uri="{FF2B5EF4-FFF2-40B4-BE49-F238E27FC236}">
                    <a16:creationId xmlns:a16="http://schemas.microsoft.com/office/drawing/2014/main" id="{5B138BC4-5DAC-4549-0C09-9592C1FFB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949361">
                <a:off x="10127236" y="3973880"/>
                <a:ext cx="917821" cy="917821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081" name="Straight Arrow Connector 1080">
                <a:extLst>
                  <a:ext uri="{FF2B5EF4-FFF2-40B4-BE49-F238E27FC236}">
                    <a16:creationId xmlns:a16="http://schemas.microsoft.com/office/drawing/2014/main" id="{CB548538-39E6-3B70-3122-BE2684AE05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5614" y="4684137"/>
                <a:ext cx="518414" cy="488776"/>
              </a:xfrm>
              <a:prstGeom prst="straightConnector1">
                <a:avLst/>
              </a:prstGeom>
              <a:ln w="19050">
                <a:solidFill>
                  <a:schemeClr val="dk1"/>
                </a:solidFill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2" name="Straight Arrow Connector 1081">
                <a:extLst>
                  <a:ext uri="{FF2B5EF4-FFF2-40B4-BE49-F238E27FC236}">
                    <a16:creationId xmlns:a16="http://schemas.microsoft.com/office/drawing/2014/main" id="{0010A224-E3A2-60BE-B33A-6FCD00BEBC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5894" y="4716777"/>
                <a:ext cx="441289" cy="486782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83" name="Group 1082">
                <a:extLst>
                  <a:ext uri="{FF2B5EF4-FFF2-40B4-BE49-F238E27FC236}">
                    <a16:creationId xmlns:a16="http://schemas.microsoft.com/office/drawing/2014/main" id="{7CE0A54D-4ADC-C8AD-C81F-86E3140A26C7}"/>
                  </a:ext>
                </a:extLst>
              </p:cNvPr>
              <p:cNvGrpSpPr/>
              <p:nvPr/>
            </p:nvGrpSpPr>
            <p:grpSpPr>
              <a:xfrm>
                <a:off x="9016648" y="5213974"/>
                <a:ext cx="771789" cy="690497"/>
                <a:chOff x="2098274" y="1374606"/>
                <a:chExt cx="1690182" cy="1652414"/>
              </a:xfrm>
            </p:grpSpPr>
            <p:grpSp>
              <p:nvGrpSpPr>
                <p:cNvPr id="1084" name="Group 1083">
                  <a:extLst>
                    <a:ext uri="{FF2B5EF4-FFF2-40B4-BE49-F238E27FC236}">
                      <a16:creationId xmlns:a16="http://schemas.microsoft.com/office/drawing/2014/main" id="{C5C24316-0454-85CF-5D73-A209FE4C0DD7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1086" name="Flowchart: Delay 1085">
                    <a:extLst>
                      <a:ext uri="{FF2B5EF4-FFF2-40B4-BE49-F238E27FC236}">
                        <a16:creationId xmlns:a16="http://schemas.microsoft.com/office/drawing/2014/main" id="{8E91E747-33CC-9F88-5C71-BEEB8013052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87" name="Rectangle 1086">
                    <a:extLst>
                      <a:ext uri="{FF2B5EF4-FFF2-40B4-BE49-F238E27FC236}">
                        <a16:creationId xmlns:a16="http://schemas.microsoft.com/office/drawing/2014/main" id="{B95B019B-FDD1-0FD0-36AF-B1C9F3EF967F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48" name="Rectangle 2047">
                    <a:extLst>
                      <a:ext uri="{FF2B5EF4-FFF2-40B4-BE49-F238E27FC236}">
                        <a16:creationId xmlns:a16="http://schemas.microsoft.com/office/drawing/2014/main" id="{444ECF92-EC31-7FF6-E327-824614F43416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49" name="Arc 2048">
                    <a:extLst>
                      <a:ext uri="{FF2B5EF4-FFF2-40B4-BE49-F238E27FC236}">
                        <a16:creationId xmlns:a16="http://schemas.microsoft.com/office/drawing/2014/main" id="{C478544C-3F58-78D4-016C-0C5055852588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5080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51" name="Rectangle 2050">
                    <a:extLst>
                      <a:ext uri="{FF2B5EF4-FFF2-40B4-BE49-F238E27FC236}">
                        <a16:creationId xmlns:a16="http://schemas.microsoft.com/office/drawing/2014/main" id="{96285C9D-DB90-674B-A467-FF426228142C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53" name="Rectangle 2052">
                    <a:extLst>
                      <a:ext uri="{FF2B5EF4-FFF2-40B4-BE49-F238E27FC236}">
                        <a16:creationId xmlns:a16="http://schemas.microsoft.com/office/drawing/2014/main" id="{599B8636-171A-06EA-79E8-BE9D33433E8E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54" name="Rectangle 2053">
                    <a:extLst>
                      <a:ext uri="{FF2B5EF4-FFF2-40B4-BE49-F238E27FC236}">
                        <a16:creationId xmlns:a16="http://schemas.microsoft.com/office/drawing/2014/main" id="{4AC7E5DC-D74B-EE11-74B5-450F3A9E4DDC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055" name="Rectangle 2054">
                    <a:extLst>
                      <a:ext uri="{FF2B5EF4-FFF2-40B4-BE49-F238E27FC236}">
                        <a16:creationId xmlns:a16="http://schemas.microsoft.com/office/drawing/2014/main" id="{C6DFA29A-CB08-8A8F-374A-C333D87C5AC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508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085" name="Rectangle 1084">
                  <a:extLst>
                    <a:ext uri="{FF2B5EF4-FFF2-40B4-BE49-F238E27FC236}">
                      <a16:creationId xmlns:a16="http://schemas.microsoft.com/office/drawing/2014/main" id="{311F4CB0-145B-0F82-12F2-875E1255B878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16AC403E-3049-9615-5E72-DC6BC2B45490}"/>
                </a:ext>
              </a:extLst>
            </p:cNvPr>
            <p:cNvSpPr/>
            <p:nvPr/>
          </p:nvSpPr>
          <p:spPr>
            <a:xfrm>
              <a:off x="9117632" y="2843906"/>
              <a:ext cx="2810266" cy="773937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Measurement</a:t>
              </a:r>
            </a:p>
          </p:txBody>
        </p: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0D96F122-EE93-E6CF-FA30-F3ECD78F91D0}"/>
                </a:ext>
              </a:extLst>
            </p:cNvPr>
            <p:cNvCxnSpPr>
              <a:cxnSpLocks/>
            </p:cNvCxnSpPr>
            <p:nvPr/>
          </p:nvCxnSpPr>
          <p:spPr>
            <a:xfrm>
              <a:off x="9414512" y="2638425"/>
              <a:ext cx="0" cy="159734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27EAAC92-86E3-044C-D845-02610F58B3A9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512" y="2647950"/>
              <a:ext cx="0" cy="159734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64" name="TextBox 2063">
            <a:extLst>
              <a:ext uri="{FF2B5EF4-FFF2-40B4-BE49-F238E27FC236}">
                <a16:creationId xmlns:a16="http://schemas.microsoft.com/office/drawing/2014/main" id="{5E5A0045-4E69-6FE8-6914-6F7A533FD085}"/>
              </a:ext>
            </a:extLst>
          </p:cNvPr>
          <p:cNvSpPr txBox="1"/>
          <p:nvPr/>
        </p:nvSpPr>
        <p:spPr>
          <a:xfrm>
            <a:off x="8605968" y="1988027"/>
            <a:ext cx="3450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Interferometric-based imaging </a:t>
            </a:r>
          </a:p>
        </p:txBody>
      </p:sp>
    </p:spTree>
    <p:extLst>
      <p:ext uri="{BB962C8B-B14F-4D97-AF65-F5344CB8AC3E}">
        <p14:creationId xmlns:p14="http://schemas.microsoft.com/office/powerpoint/2010/main" val="261760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BC1EF6-F105-633D-06BC-3289E5A87678}"/>
                  </a:ext>
                </a:extLst>
              </p:cNvPr>
              <p:cNvSpPr txBox="1"/>
              <p:nvPr/>
            </p:nvSpPr>
            <p:spPr>
              <a:xfrm>
                <a:off x="4289121" y="1241986"/>
                <a:ext cx="7736293" cy="5113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5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Source photon can be described by </a:t>
                </a:r>
                <a:endParaRPr lang="en-US" sz="1700" i="1" dirty="0">
                  <a:latin typeface="Cambria Math" panose="02040503050406030204" pitchFamily="18" charset="0"/>
                </a:endParaRPr>
              </a:p>
              <a:p>
                <a:r>
                  <a:rPr lang="en-US" sz="1700" b="0" i="1" dirty="0">
                    <a:latin typeface="Cambria Math" panose="020405030504060302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700" dirty="0"/>
                  <a:t>                   </a:t>
                </a:r>
              </a:p>
              <a:p>
                <a:r>
                  <a:rPr lang="en-US" sz="1700" dirty="0"/>
                  <a:t>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chemeClr val="tx1"/>
                    </a:solidFill>
                  </a:rPr>
                  <a:t> </a:t>
                </a:r>
                <a:r>
                  <a:rPr lang="en-US" sz="1700" dirty="0"/>
                  <a:t>is written in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7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700" dirty="0"/>
                  <a:t>; </a:t>
                </a:r>
              </a:p>
              <a:p>
                <a:endParaRPr lang="en-US" sz="17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The visibility 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00" dirty="0">
                    <a:solidFill>
                      <a:srgbClr val="0070C0"/>
                    </a:solidFill>
                  </a:rPr>
                  <a:t> </a:t>
                </a:r>
                <a:r>
                  <a:rPr lang="en-US" sz="1700" dirty="0"/>
                  <a:t>is related to the transverse spatial intensity distribution of the source </a:t>
                </a:r>
                <a14:m>
                  <m:oMath xmlns:m="http://schemas.openxmlformats.org/officeDocument/2006/math">
                    <m:r>
                      <a:rPr lang="en-US" sz="17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700" dirty="0"/>
                  <a:t>  through the van </a:t>
                </a:r>
                <a:r>
                  <a:rPr lang="en-US" sz="1700" dirty="0" err="1"/>
                  <a:t>Cittert</a:t>
                </a:r>
                <a:r>
                  <a:rPr lang="en-US" sz="1700" dirty="0"/>
                  <a:t>–Zernike theorem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7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7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 lang="en-US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sz="17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17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7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sz="17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⃗"/>
                              <m:ctrlPr>
                                <a:rPr lang="en-US" sz="17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17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17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p>
                      </m:sSup>
                      <m:r>
                        <a:rPr lang="en-US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1700" dirty="0"/>
              </a:p>
              <a:p>
                <a:r>
                  <a:rPr lang="en-US" sz="1700" dirty="0"/>
                  <a:t>                              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The visibility 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00" dirty="0"/>
                  <a:t> can be measured by a direct interference measurement </a:t>
                </a:r>
              </a:p>
              <a:p>
                <a:r>
                  <a:rPr lang="en-US" sz="1700" b="0" dirty="0"/>
                  <a:t>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1700" b="0" i="0" smtClean="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                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7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700" b="0" i="0" smtClean="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sz="1700" dirty="0"/>
              </a:p>
              <a:p>
                <a:endParaRPr lang="en-US" sz="1400" dirty="0"/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EE5C1A"/>
                    </a:solidFill>
                  </a:rPr>
                  <a:t>For optical wavelengths, extra loss is unavoidable when bringing photons together from two separated telescopes.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>
                  <a:solidFill>
                    <a:srgbClr val="EE5C1A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EE5C1A"/>
                    </a:solidFill>
                  </a:rPr>
                  <a:t>Active stabilization is required to maintain interferometric visibility. 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BC1EF6-F105-633D-06BC-3289E5A87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121" y="1241986"/>
                <a:ext cx="7736293" cy="5113516"/>
              </a:xfrm>
              <a:prstGeom prst="rect">
                <a:avLst/>
              </a:prstGeom>
              <a:blipFill>
                <a:blip r:embed="rId3"/>
                <a:stretch>
                  <a:fillRect l="-552" b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8" name="Rectangle 2087">
            <a:extLst>
              <a:ext uri="{FF2B5EF4-FFF2-40B4-BE49-F238E27FC236}">
                <a16:creationId xmlns:a16="http://schemas.microsoft.com/office/drawing/2014/main" id="{7E299DD7-2772-66E0-979B-EC76DA8E92F4}"/>
              </a:ext>
            </a:extLst>
          </p:cNvPr>
          <p:cNvSpPr/>
          <p:nvPr/>
        </p:nvSpPr>
        <p:spPr>
          <a:xfrm>
            <a:off x="4302361" y="5059033"/>
            <a:ext cx="7584717" cy="1255287"/>
          </a:xfrm>
          <a:prstGeom prst="rect">
            <a:avLst/>
          </a:prstGeom>
          <a:solidFill>
            <a:schemeClr val="lt1">
              <a:alpha val="0"/>
            </a:schemeClr>
          </a:solidFill>
          <a:ln w="50800">
            <a:solidFill>
              <a:srgbClr val="EE5C1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telescope: Direct detection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2708E4-7C47-9432-1085-CC3E43B2DAA2}"/>
              </a:ext>
            </a:extLst>
          </p:cNvPr>
          <p:cNvCxnSpPr/>
          <p:nvPr/>
        </p:nvCxnSpPr>
        <p:spPr>
          <a:xfrm>
            <a:off x="1099856" y="3682046"/>
            <a:ext cx="0" cy="25717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94C638-0FAE-A2BF-0E13-E3F566B54572}"/>
              </a:ext>
            </a:extLst>
          </p:cNvPr>
          <p:cNvCxnSpPr/>
          <p:nvPr/>
        </p:nvCxnSpPr>
        <p:spPr>
          <a:xfrm>
            <a:off x="3166781" y="3682046"/>
            <a:ext cx="0" cy="25717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16D58B-9F69-072E-D9EA-B4E7B7AF09DF}"/>
              </a:ext>
            </a:extLst>
          </p:cNvPr>
          <p:cNvCxnSpPr>
            <a:cxnSpLocks/>
          </p:cNvCxnSpPr>
          <p:nvPr/>
        </p:nvCxnSpPr>
        <p:spPr>
          <a:xfrm>
            <a:off x="1099856" y="3939221"/>
            <a:ext cx="1472741" cy="877862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CBE75D-A12A-5AB8-A7BA-FA8DAC52134B}"/>
              </a:ext>
            </a:extLst>
          </p:cNvPr>
          <p:cNvCxnSpPr>
            <a:cxnSpLocks/>
          </p:cNvCxnSpPr>
          <p:nvPr/>
        </p:nvCxnSpPr>
        <p:spPr>
          <a:xfrm flipV="1">
            <a:off x="1747556" y="3939221"/>
            <a:ext cx="1419225" cy="877862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FEDBDD9-2476-8F05-5A53-DD97696D183B}"/>
              </a:ext>
            </a:extLst>
          </p:cNvPr>
          <p:cNvSpPr/>
          <p:nvPr/>
        </p:nvSpPr>
        <p:spPr>
          <a:xfrm>
            <a:off x="2630229" y="4020901"/>
            <a:ext cx="270920" cy="341636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FEB107-F433-92D1-CFA8-31260972F750}"/>
                  </a:ext>
                </a:extLst>
              </p:cNvPr>
              <p:cNvSpPr txBox="1"/>
              <p:nvPr/>
            </p:nvSpPr>
            <p:spPr>
              <a:xfrm>
                <a:off x="2616814" y="4012255"/>
                <a:ext cx="279359" cy="369332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FEB107-F433-92D1-CFA8-31260972F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814" y="4012255"/>
                <a:ext cx="2793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509ADF68-F14C-3C9D-8686-0971ADE0D329}"/>
              </a:ext>
            </a:extLst>
          </p:cNvPr>
          <p:cNvSpPr/>
          <p:nvPr/>
        </p:nvSpPr>
        <p:spPr>
          <a:xfrm>
            <a:off x="2127891" y="4430994"/>
            <a:ext cx="45719" cy="2857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Delay 46">
            <a:extLst>
              <a:ext uri="{FF2B5EF4-FFF2-40B4-BE49-F238E27FC236}">
                <a16:creationId xmlns:a16="http://schemas.microsoft.com/office/drawing/2014/main" id="{B885B8C1-EA6C-E27B-1C7E-84113D242B47}"/>
              </a:ext>
            </a:extLst>
          </p:cNvPr>
          <p:cNvSpPr/>
          <p:nvPr/>
        </p:nvSpPr>
        <p:spPr>
          <a:xfrm rot="1729933">
            <a:off x="2584587" y="4717082"/>
            <a:ext cx="184961" cy="32024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Delay 49">
            <a:extLst>
              <a:ext uri="{FF2B5EF4-FFF2-40B4-BE49-F238E27FC236}">
                <a16:creationId xmlns:a16="http://schemas.microsoft.com/office/drawing/2014/main" id="{1D1652C8-F56A-F4FC-F3FC-1765C60BC414}"/>
              </a:ext>
            </a:extLst>
          </p:cNvPr>
          <p:cNvSpPr/>
          <p:nvPr/>
        </p:nvSpPr>
        <p:spPr>
          <a:xfrm rot="8951118">
            <a:off x="1545888" y="4714015"/>
            <a:ext cx="184961" cy="32024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9C4F40-C895-88E5-183E-AEB66CAAF91D}"/>
              </a:ext>
            </a:extLst>
          </p:cNvPr>
          <p:cNvSpPr/>
          <p:nvPr/>
        </p:nvSpPr>
        <p:spPr>
          <a:xfrm>
            <a:off x="2776256" y="4907388"/>
            <a:ext cx="266700" cy="209550"/>
          </a:xfrm>
          <a:custGeom>
            <a:avLst/>
            <a:gdLst>
              <a:gd name="connsiteX0" fmla="*/ 0 w 266700"/>
              <a:gd name="connsiteY0" fmla="*/ 0 h 209550"/>
              <a:gd name="connsiteX1" fmla="*/ 57150 w 266700"/>
              <a:gd name="connsiteY1" fmla="*/ 114300 h 209550"/>
              <a:gd name="connsiteX2" fmla="*/ 200025 w 266700"/>
              <a:gd name="connsiteY2" fmla="*/ 57150 h 209550"/>
              <a:gd name="connsiteX3" fmla="*/ 266700 w 266700"/>
              <a:gd name="connsiteY3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" h="209550">
                <a:moveTo>
                  <a:pt x="0" y="0"/>
                </a:moveTo>
                <a:cubicBezTo>
                  <a:pt x="11906" y="52387"/>
                  <a:pt x="23813" y="104775"/>
                  <a:pt x="57150" y="114300"/>
                </a:cubicBezTo>
                <a:cubicBezTo>
                  <a:pt x="90488" y="123825"/>
                  <a:pt x="165100" y="41275"/>
                  <a:pt x="200025" y="57150"/>
                </a:cubicBezTo>
                <a:cubicBezTo>
                  <a:pt x="234950" y="73025"/>
                  <a:pt x="250825" y="141287"/>
                  <a:pt x="266700" y="209550"/>
                </a:cubicBezTo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B53C8C5-E91A-68A7-2C4D-7BDCE957E493}"/>
              </a:ext>
            </a:extLst>
          </p:cNvPr>
          <p:cNvSpPr/>
          <p:nvPr/>
        </p:nvSpPr>
        <p:spPr>
          <a:xfrm>
            <a:off x="1176056" y="4894557"/>
            <a:ext cx="361950" cy="167347"/>
          </a:xfrm>
          <a:custGeom>
            <a:avLst/>
            <a:gdLst>
              <a:gd name="connsiteX0" fmla="*/ 361950 w 361950"/>
              <a:gd name="connsiteY0" fmla="*/ 12831 h 167347"/>
              <a:gd name="connsiteX1" fmla="*/ 219075 w 361950"/>
              <a:gd name="connsiteY1" fmla="*/ 12831 h 167347"/>
              <a:gd name="connsiteX2" fmla="*/ 228600 w 361950"/>
              <a:gd name="connsiteY2" fmla="*/ 146181 h 167347"/>
              <a:gd name="connsiteX3" fmla="*/ 0 w 361950"/>
              <a:gd name="connsiteY3" fmla="*/ 165231 h 16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167347">
                <a:moveTo>
                  <a:pt x="361950" y="12831"/>
                </a:moveTo>
                <a:cubicBezTo>
                  <a:pt x="301625" y="1718"/>
                  <a:pt x="241300" y="-9394"/>
                  <a:pt x="219075" y="12831"/>
                </a:cubicBezTo>
                <a:cubicBezTo>
                  <a:pt x="196850" y="35056"/>
                  <a:pt x="265112" y="120781"/>
                  <a:pt x="228600" y="146181"/>
                </a:cubicBezTo>
                <a:cubicBezTo>
                  <a:pt x="192088" y="171581"/>
                  <a:pt x="96044" y="168406"/>
                  <a:pt x="0" y="165231"/>
                </a:cubicBezTo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32C2A8-1282-3086-2270-9120D9C0A848}"/>
              </a:ext>
            </a:extLst>
          </p:cNvPr>
          <p:cNvSpPr txBox="1"/>
          <p:nvPr/>
        </p:nvSpPr>
        <p:spPr>
          <a:xfrm>
            <a:off x="2076055" y="3044156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</a:t>
            </a:r>
          </a:p>
          <a:p>
            <a:r>
              <a:rPr lang="en-US" altLang="zh-CN" sz="1400" dirty="0"/>
              <a:t>       R</a:t>
            </a:r>
            <a:endParaRPr 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7CAB95-4502-F253-7045-EAE0C688113A}"/>
              </a:ext>
            </a:extLst>
          </p:cNvPr>
          <p:cNvSpPr txBox="1"/>
          <p:nvPr/>
        </p:nvSpPr>
        <p:spPr>
          <a:xfrm>
            <a:off x="-110282" y="3022909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 </a:t>
            </a:r>
          </a:p>
          <a:p>
            <a:r>
              <a:rPr lang="en-US" altLang="zh-CN" sz="1400" dirty="0"/>
              <a:t>       L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8DC1E02-FB12-4728-2B78-2964950C6C24}"/>
                  </a:ext>
                </a:extLst>
              </p:cNvPr>
              <p:cNvSpPr txBox="1"/>
              <p:nvPr/>
            </p:nvSpPr>
            <p:spPr>
              <a:xfrm>
                <a:off x="2763881" y="2171303"/>
                <a:ext cx="12288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Astronomical </a:t>
                </a:r>
              </a:p>
              <a:p>
                <a:r>
                  <a:rPr lang="en-US" sz="1400" dirty="0"/>
                  <a:t>source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8DC1E02-FB12-4728-2B78-2964950C6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881" y="2171303"/>
                <a:ext cx="1228806" cy="523220"/>
              </a:xfrm>
              <a:prstGeom prst="rect">
                <a:avLst/>
              </a:prstGeom>
              <a:blipFill>
                <a:blip r:embed="rId6"/>
                <a:stretch>
                  <a:fillRect l="-1485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C4617279-9BB9-DA7B-0868-6D455BF95E3A}"/>
              </a:ext>
            </a:extLst>
          </p:cNvPr>
          <p:cNvSpPr txBox="1"/>
          <p:nvPr/>
        </p:nvSpPr>
        <p:spPr>
          <a:xfrm>
            <a:off x="2896173" y="4137575"/>
            <a:ext cx="981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Delay</a:t>
            </a:r>
            <a:endParaRPr 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B352DA-741E-97FC-1B2F-0472C63CA824}"/>
              </a:ext>
            </a:extLst>
          </p:cNvPr>
          <p:cNvSpPr txBox="1"/>
          <p:nvPr/>
        </p:nvSpPr>
        <p:spPr>
          <a:xfrm>
            <a:off x="1048551" y="5059033"/>
            <a:ext cx="49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D1</a:t>
            </a:r>
            <a:endParaRPr lang="en-US" sz="1400" dirty="0"/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B929EA60-8CDD-C525-1BA4-49F465019C51}"/>
              </a:ext>
            </a:extLst>
          </p:cNvPr>
          <p:cNvSpPr txBox="1"/>
          <p:nvPr/>
        </p:nvSpPr>
        <p:spPr>
          <a:xfrm>
            <a:off x="2522795" y="5110359"/>
            <a:ext cx="506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D2</a:t>
            </a:r>
            <a:endParaRPr lang="en-US" sz="1400" dirty="0"/>
          </a:p>
        </p:txBody>
      </p:sp>
      <p:cxnSp>
        <p:nvCxnSpPr>
          <p:cNvPr id="2054" name="Straight Arrow Connector 2053">
            <a:extLst>
              <a:ext uri="{FF2B5EF4-FFF2-40B4-BE49-F238E27FC236}">
                <a16:creationId xmlns:a16="http://schemas.microsoft.com/office/drawing/2014/main" id="{51EF2DB7-9A73-5C24-93A6-4C3E7199041D}"/>
              </a:ext>
            </a:extLst>
          </p:cNvPr>
          <p:cNvCxnSpPr/>
          <p:nvPr/>
        </p:nvCxnSpPr>
        <p:spPr>
          <a:xfrm>
            <a:off x="1352876" y="3526746"/>
            <a:ext cx="15466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7A871B34-41E6-DBF9-40C1-68846A6BF502}"/>
                  </a:ext>
                </a:extLst>
              </p:cNvPr>
              <p:cNvSpPr txBox="1"/>
              <p:nvPr/>
            </p:nvSpPr>
            <p:spPr>
              <a:xfrm>
                <a:off x="1536735" y="3656451"/>
                <a:ext cx="1073525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070C0"/>
                    </a:solidFill>
                  </a:rPr>
                  <a:t>baseline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7A871B34-41E6-DBF9-40C1-68846A6BF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735" y="3656451"/>
                <a:ext cx="1073525" cy="339645"/>
              </a:xfrm>
              <a:prstGeom prst="rect">
                <a:avLst/>
              </a:prstGeom>
              <a:blipFill>
                <a:blip r:embed="rId7"/>
                <a:stretch>
                  <a:fillRect t="-10714" r="-13068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7" name="Straight Arrow Connector 2056">
            <a:extLst>
              <a:ext uri="{FF2B5EF4-FFF2-40B4-BE49-F238E27FC236}">
                <a16:creationId xmlns:a16="http://schemas.microsoft.com/office/drawing/2014/main" id="{2B7233C8-7902-069B-6E54-229DB99C764E}"/>
              </a:ext>
            </a:extLst>
          </p:cNvPr>
          <p:cNvCxnSpPr/>
          <p:nvPr/>
        </p:nvCxnSpPr>
        <p:spPr>
          <a:xfrm>
            <a:off x="2252132" y="1794831"/>
            <a:ext cx="43138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3703BF30-4961-8A7E-9266-6088E4AFED6F}"/>
                  </a:ext>
                </a:extLst>
              </p:cNvPr>
              <p:cNvSpPr txBox="1"/>
              <p:nvPr/>
            </p:nvSpPr>
            <p:spPr>
              <a:xfrm>
                <a:off x="1650411" y="1505020"/>
                <a:ext cx="191969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Source coordinates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3703BF30-4961-8A7E-9266-6088E4AFE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411" y="1505020"/>
                <a:ext cx="1919698" cy="307777"/>
              </a:xfrm>
              <a:prstGeom prst="rect">
                <a:avLst/>
              </a:prstGeom>
              <a:blipFill>
                <a:blip r:embed="rId8"/>
                <a:stretch>
                  <a:fillRect l="-952" t="-12000" r="-63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CB99EF1A-32F7-6F85-BDEC-19C5DB8B2AB7}"/>
              </a:ext>
            </a:extLst>
          </p:cNvPr>
          <p:cNvGrpSpPr/>
          <p:nvPr/>
        </p:nvGrpSpPr>
        <p:grpSpPr>
          <a:xfrm flipH="1">
            <a:off x="2765689" y="2907318"/>
            <a:ext cx="785679" cy="690497"/>
            <a:chOff x="2098274" y="1374606"/>
            <a:chExt cx="1690182" cy="1652414"/>
          </a:xfrm>
        </p:grpSpPr>
        <p:grpSp>
          <p:nvGrpSpPr>
            <p:cNvPr id="2061" name="Group 2060">
              <a:extLst>
                <a:ext uri="{FF2B5EF4-FFF2-40B4-BE49-F238E27FC236}">
                  <a16:creationId xmlns:a16="http://schemas.microsoft.com/office/drawing/2014/main" id="{D0B1002D-6BAB-6A05-8698-449F0E342E40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063" name="Flowchart: Delay 2062">
                <a:extLst>
                  <a:ext uri="{FF2B5EF4-FFF2-40B4-BE49-F238E27FC236}">
                    <a16:creationId xmlns:a16="http://schemas.microsoft.com/office/drawing/2014/main" id="{18BFF37E-1455-2446-F6C3-7866D04B7854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CD97FD7C-8B5D-7A3F-CDE4-5C4587441745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5" name="Rectangle 2064">
                <a:extLst>
                  <a:ext uri="{FF2B5EF4-FFF2-40B4-BE49-F238E27FC236}">
                    <a16:creationId xmlns:a16="http://schemas.microsoft.com/office/drawing/2014/main" id="{E4EEC47E-F2D2-FEB5-ECF5-1DFE226B1FBD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6" name="Arc 2065">
                <a:extLst>
                  <a:ext uri="{FF2B5EF4-FFF2-40B4-BE49-F238E27FC236}">
                    <a16:creationId xmlns:a16="http://schemas.microsoft.com/office/drawing/2014/main" id="{E0332AAE-27F0-A1BC-ABD7-93C42B865F4B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BDBB5D78-5566-A7A2-228F-88F59A4F8A29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3E1E6848-71B3-1155-405A-1F3E43EC13A4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9" name="Rectangle 2068">
                <a:extLst>
                  <a:ext uri="{FF2B5EF4-FFF2-40B4-BE49-F238E27FC236}">
                    <a16:creationId xmlns:a16="http://schemas.microsoft.com/office/drawing/2014/main" id="{91E11D15-91EE-4434-6CCF-FFE86AFE01D2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0" name="Rectangle 2069">
                <a:extLst>
                  <a:ext uri="{FF2B5EF4-FFF2-40B4-BE49-F238E27FC236}">
                    <a16:creationId xmlns:a16="http://schemas.microsoft.com/office/drawing/2014/main" id="{9D100424-9C64-4EBE-EC9D-1B6E0F510B93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9ABAE3E8-F56D-BFDE-0EA4-17D18E458252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71" name="Graphic 2070" descr="Solar system with solid fill">
            <a:extLst>
              <a:ext uri="{FF2B5EF4-FFF2-40B4-BE49-F238E27FC236}">
                <a16:creationId xmlns:a16="http://schemas.microsoft.com/office/drawing/2014/main" id="{DAB9B494-400F-D4B7-D55C-0E0423B4FBB0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49361">
            <a:off x="1793221" y="1645801"/>
            <a:ext cx="917821" cy="91782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2072" name="Straight Arrow Connector 2071">
            <a:extLst>
              <a:ext uri="{FF2B5EF4-FFF2-40B4-BE49-F238E27FC236}">
                <a16:creationId xmlns:a16="http://schemas.microsoft.com/office/drawing/2014/main" id="{CE78A94E-4DB6-003C-D928-069A9BAAA0E4}"/>
              </a:ext>
            </a:extLst>
          </p:cNvPr>
          <p:cNvCxnSpPr>
            <a:cxnSpLocks/>
          </p:cNvCxnSpPr>
          <p:nvPr/>
        </p:nvCxnSpPr>
        <p:spPr>
          <a:xfrm flipH="1">
            <a:off x="1451599" y="2356058"/>
            <a:ext cx="518414" cy="488776"/>
          </a:xfrm>
          <a:prstGeom prst="straightConnector1">
            <a:avLst/>
          </a:prstGeom>
          <a:ln w="19050">
            <a:solidFill>
              <a:schemeClr val="dk1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3" name="Straight Arrow Connector 2072">
            <a:extLst>
              <a:ext uri="{FF2B5EF4-FFF2-40B4-BE49-F238E27FC236}">
                <a16:creationId xmlns:a16="http://schemas.microsoft.com/office/drawing/2014/main" id="{88E9C5B1-D02A-6F19-D22E-5A48F26422C2}"/>
              </a:ext>
            </a:extLst>
          </p:cNvPr>
          <p:cNvCxnSpPr>
            <a:cxnSpLocks/>
          </p:cNvCxnSpPr>
          <p:nvPr/>
        </p:nvCxnSpPr>
        <p:spPr>
          <a:xfrm>
            <a:off x="2371879" y="2388698"/>
            <a:ext cx="441289" cy="486782"/>
          </a:xfrm>
          <a:prstGeom prst="straightConnector1">
            <a:avLst/>
          </a:prstGeom>
          <a:ln w="19050"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BA541422-EC69-8782-C384-F1C23277097B}"/>
              </a:ext>
            </a:extLst>
          </p:cNvPr>
          <p:cNvGrpSpPr/>
          <p:nvPr/>
        </p:nvGrpSpPr>
        <p:grpSpPr>
          <a:xfrm>
            <a:off x="682633" y="2885895"/>
            <a:ext cx="771789" cy="690497"/>
            <a:chOff x="2098274" y="1374606"/>
            <a:chExt cx="1690182" cy="1652414"/>
          </a:xfrm>
        </p:grpSpPr>
        <p:grpSp>
          <p:nvGrpSpPr>
            <p:cNvPr id="2075" name="Group 2074">
              <a:extLst>
                <a:ext uri="{FF2B5EF4-FFF2-40B4-BE49-F238E27FC236}">
                  <a16:creationId xmlns:a16="http://schemas.microsoft.com/office/drawing/2014/main" id="{D3F2C33D-C156-B66E-EC72-1FBBCBB9BBC3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077" name="Flowchart: Delay 2076">
                <a:extLst>
                  <a:ext uri="{FF2B5EF4-FFF2-40B4-BE49-F238E27FC236}">
                    <a16:creationId xmlns:a16="http://schemas.microsoft.com/office/drawing/2014/main" id="{3843FB6F-E9C2-84E8-EC33-D8AA8B715200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5E40BF59-4F31-334B-C4BD-C76DF88E9552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893256DB-456E-03A7-D63C-398E77DF1435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0" name="Arc 2079">
                <a:extLst>
                  <a:ext uri="{FF2B5EF4-FFF2-40B4-BE49-F238E27FC236}">
                    <a16:creationId xmlns:a16="http://schemas.microsoft.com/office/drawing/2014/main" id="{7C2E7649-CD85-0BDB-D953-FAA6673E25EA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A41DAF42-57C9-9D64-23CF-7A44110AD1C0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4A117A5C-85D2-A490-C469-CCC552D795FF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778C156-8E43-F65D-0436-01806B84FD15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B01C161E-D5F0-76C5-149B-EBA7D420DB18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083F4CF9-27DF-2816-B2E3-3A1DC0EDAED7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B4F4A2-1F56-71C1-C2F0-3CFFBC784268}"/>
              </a:ext>
            </a:extLst>
          </p:cNvPr>
          <p:cNvSpPr txBox="1"/>
          <p:nvPr/>
        </p:nvSpPr>
        <p:spPr>
          <a:xfrm>
            <a:off x="10238" y="5653393"/>
            <a:ext cx="4126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Questions:  Is there a way to perform the measurement locally. </a:t>
            </a:r>
          </a:p>
        </p:txBody>
      </p:sp>
    </p:spTree>
    <p:extLst>
      <p:ext uri="{BB962C8B-B14F-4D97-AF65-F5344CB8AC3E}">
        <p14:creationId xmlns:p14="http://schemas.microsoft.com/office/powerpoint/2010/main" val="370393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" grpId="0" animBg="1"/>
      <p:bldP spid="61" grpId="0"/>
      <p:bldP spid="2055" grpId="0"/>
      <p:bldP spid="20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8BBC1EF6-F105-633D-06BC-3289E5A87678}"/>
              </a:ext>
            </a:extLst>
          </p:cNvPr>
          <p:cNvSpPr txBox="1"/>
          <p:nvPr/>
        </p:nvSpPr>
        <p:spPr>
          <a:xfrm>
            <a:off x="4246651" y="1261394"/>
            <a:ext cx="776651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Classical telescope: Heterodyne interferometry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/>
              <a:t>Using heterodyne interferometry with synchronized Local oscillator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7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EE5C1A"/>
                </a:solidFill>
              </a:rPr>
              <a:t>Extra noise will be introduced, which will overwhelm the information about the source, especially when the source is weak.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2085" name="Graphic 2084" descr="Solar system with solid fill">
            <a:extLst>
              <a:ext uri="{FF2B5EF4-FFF2-40B4-BE49-F238E27FC236}">
                <a16:creationId xmlns:a16="http://schemas.microsoft.com/office/drawing/2014/main" id="{0AE1F579-FD96-7997-C8DD-72D2F0E6352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9361">
            <a:off x="1868042" y="1779151"/>
            <a:ext cx="917821" cy="91782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telescope: local measurement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94C638-0FAE-A2BF-0E13-E3F566B54572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3173243" y="3843357"/>
            <a:ext cx="12055" cy="830461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E082CFA-D42F-994C-E61C-CB36838FA907}"/>
              </a:ext>
            </a:extLst>
          </p:cNvPr>
          <p:cNvGrpSpPr/>
          <p:nvPr/>
        </p:nvGrpSpPr>
        <p:grpSpPr>
          <a:xfrm rot="3740995">
            <a:off x="2975549" y="4705875"/>
            <a:ext cx="458369" cy="399856"/>
            <a:chOff x="3690596" y="5264272"/>
            <a:chExt cx="458369" cy="399856"/>
          </a:xfrm>
        </p:grpSpPr>
        <p:sp>
          <p:nvSpPr>
            <p:cNvPr id="4" name="Flowchart: Delay 3">
              <a:extLst>
                <a:ext uri="{FF2B5EF4-FFF2-40B4-BE49-F238E27FC236}">
                  <a16:creationId xmlns:a16="http://schemas.microsoft.com/office/drawing/2014/main" id="{758C0BBD-F9CC-17AB-0D4E-83E12849BF06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30FD95-BA50-F474-5466-8D3DDC6099C6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A116A99-3298-C17C-B753-6E20060F47CE}"/>
              </a:ext>
            </a:extLst>
          </p:cNvPr>
          <p:cNvGrpSpPr/>
          <p:nvPr/>
        </p:nvGrpSpPr>
        <p:grpSpPr>
          <a:xfrm rot="3740995">
            <a:off x="887192" y="4721012"/>
            <a:ext cx="458369" cy="399856"/>
            <a:chOff x="3690596" y="5264272"/>
            <a:chExt cx="458369" cy="399856"/>
          </a:xfrm>
        </p:grpSpPr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A0DE9687-8BF8-F1ED-8DF8-7217B090774C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56EB76-C4AB-F366-CFE0-7298F85CEF6F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5DABFC-881A-A00A-4272-AED91FC42BF1}"/>
              </a:ext>
            </a:extLst>
          </p:cNvPr>
          <p:cNvCxnSpPr>
            <a:cxnSpLocks/>
          </p:cNvCxnSpPr>
          <p:nvPr/>
        </p:nvCxnSpPr>
        <p:spPr>
          <a:xfrm flipH="1">
            <a:off x="1070536" y="3833127"/>
            <a:ext cx="12055" cy="830461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94046D-0BCC-AF25-E9AE-9A6A0710AC0A}"/>
              </a:ext>
            </a:extLst>
          </p:cNvPr>
          <p:cNvCxnSpPr>
            <a:cxnSpLocks/>
          </p:cNvCxnSpPr>
          <p:nvPr/>
        </p:nvCxnSpPr>
        <p:spPr>
          <a:xfrm flipH="1">
            <a:off x="2670316" y="4349173"/>
            <a:ext cx="501927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E4F06C-3630-8105-1766-58EF38EE5D8C}"/>
              </a:ext>
            </a:extLst>
          </p:cNvPr>
          <p:cNvCxnSpPr>
            <a:cxnSpLocks/>
          </p:cNvCxnSpPr>
          <p:nvPr/>
        </p:nvCxnSpPr>
        <p:spPr>
          <a:xfrm flipH="1">
            <a:off x="1070536" y="4368473"/>
            <a:ext cx="501927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B84CA6-628E-F956-8B28-F16ED43CA4A8}"/>
              </a:ext>
            </a:extLst>
          </p:cNvPr>
          <p:cNvCxnSpPr>
            <a:cxnSpLocks/>
          </p:cNvCxnSpPr>
          <p:nvPr/>
        </p:nvCxnSpPr>
        <p:spPr>
          <a:xfrm flipH="1">
            <a:off x="1893743" y="4358948"/>
            <a:ext cx="50192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F65440-8D19-C99C-3F4D-4A942659BE42}"/>
              </a:ext>
            </a:extLst>
          </p:cNvPr>
          <p:cNvSpPr/>
          <p:nvPr/>
        </p:nvSpPr>
        <p:spPr>
          <a:xfrm>
            <a:off x="2466542" y="4176342"/>
            <a:ext cx="405547" cy="3378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B6E422-18A6-7D87-436D-C9A5F467E8B6}"/>
              </a:ext>
            </a:extLst>
          </p:cNvPr>
          <p:cNvSpPr/>
          <p:nvPr/>
        </p:nvSpPr>
        <p:spPr>
          <a:xfrm>
            <a:off x="1418743" y="4176342"/>
            <a:ext cx="405547" cy="3378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DF87D2-0DA9-0DBA-E87B-CC4EC0FD25D9}"/>
              </a:ext>
            </a:extLst>
          </p:cNvPr>
          <p:cNvSpPr txBox="1"/>
          <p:nvPr/>
        </p:nvSpPr>
        <p:spPr>
          <a:xfrm>
            <a:off x="1527787" y="4511308"/>
            <a:ext cx="1167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synchronized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A53121-CCFB-45B8-A92A-A44C32B8B5A2}"/>
                  </a:ext>
                </a:extLst>
              </p:cNvPr>
              <p:cNvSpPr txBox="1"/>
              <p:nvPr/>
            </p:nvSpPr>
            <p:spPr>
              <a:xfrm rot="10800000">
                <a:off x="3051948" y="4183807"/>
                <a:ext cx="335244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 useBgFill="1"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A53121-CCFB-45B8-A92A-A44C32B8B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051948" y="4183807"/>
                <a:ext cx="335244" cy="369332"/>
              </a:xfrm>
              <a:prstGeom prst="rect">
                <a:avLst/>
              </a:prstGeom>
              <a:blipFill>
                <a:blip r:embed="rId6"/>
                <a:stretch>
                  <a:fillRect l="-27273" t="-4918"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5067C4C-28F6-2E96-D41B-A56433AA691A}"/>
                  </a:ext>
                </a:extLst>
              </p:cNvPr>
              <p:cNvSpPr txBox="1"/>
              <p:nvPr/>
            </p:nvSpPr>
            <p:spPr>
              <a:xfrm>
                <a:off x="866434" y="4147664"/>
                <a:ext cx="316733" cy="37616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 useBgFill="1"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5067C4C-28F6-2E96-D41B-A56433AA6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34" y="4147664"/>
                <a:ext cx="316733" cy="376162"/>
              </a:xfrm>
              <a:prstGeom prst="rect">
                <a:avLst/>
              </a:prstGeom>
              <a:blipFill>
                <a:blip r:embed="rId7"/>
                <a:stretch>
                  <a:fillRect l="-1923" r="-34615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0" name="TextBox 2069">
            <a:extLst>
              <a:ext uri="{FF2B5EF4-FFF2-40B4-BE49-F238E27FC236}">
                <a16:creationId xmlns:a16="http://schemas.microsoft.com/office/drawing/2014/main" id="{59A3B520-CA1E-DF2A-26D2-224B28BF7FC4}"/>
              </a:ext>
            </a:extLst>
          </p:cNvPr>
          <p:cNvSpPr txBox="1"/>
          <p:nvPr/>
        </p:nvSpPr>
        <p:spPr>
          <a:xfrm>
            <a:off x="551040" y="4615890"/>
            <a:ext cx="48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D1</a:t>
            </a:r>
            <a:endParaRPr lang="en-US" sz="1400" dirty="0"/>
          </a:p>
        </p:txBody>
      </p:sp>
      <p:sp>
        <p:nvSpPr>
          <p:cNvPr id="2071" name="TextBox 2070">
            <a:extLst>
              <a:ext uri="{FF2B5EF4-FFF2-40B4-BE49-F238E27FC236}">
                <a16:creationId xmlns:a16="http://schemas.microsoft.com/office/drawing/2014/main" id="{675384D5-6E15-3345-EF80-08ACD651E11B}"/>
              </a:ext>
            </a:extLst>
          </p:cNvPr>
          <p:cNvSpPr txBox="1"/>
          <p:nvPr/>
        </p:nvSpPr>
        <p:spPr>
          <a:xfrm>
            <a:off x="3335805" y="4595648"/>
            <a:ext cx="405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D2</a:t>
            </a:r>
            <a:endParaRPr lang="en-US" sz="1400" dirty="0"/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8B262753-19B4-115F-C6B3-B454845040CC}"/>
              </a:ext>
            </a:extLst>
          </p:cNvPr>
          <p:cNvSpPr txBox="1"/>
          <p:nvPr/>
        </p:nvSpPr>
        <p:spPr>
          <a:xfrm>
            <a:off x="2150876" y="3177506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</a:t>
            </a:r>
          </a:p>
          <a:p>
            <a:r>
              <a:rPr lang="en-US" altLang="zh-CN" sz="1400" dirty="0"/>
              <a:t>       R</a:t>
            </a:r>
            <a:endParaRPr lang="en-US" sz="1400" dirty="0"/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6E73500F-2FBB-01C3-1D75-AADA71088EB2}"/>
              </a:ext>
            </a:extLst>
          </p:cNvPr>
          <p:cNvSpPr txBox="1"/>
          <p:nvPr/>
        </p:nvSpPr>
        <p:spPr>
          <a:xfrm>
            <a:off x="-35461" y="3156259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 </a:t>
            </a:r>
          </a:p>
          <a:p>
            <a:r>
              <a:rPr lang="en-US" altLang="zh-CN" sz="1400" dirty="0"/>
              <a:t>       L</a:t>
            </a:r>
            <a:endParaRPr lang="en-US" sz="1400" dirty="0"/>
          </a:p>
        </p:txBody>
      </p:sp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B180955C-88FE-2B2F-C063-8F6297344B5E}"/>
              </a:ext>
            </a:extLst>
          </p:cNvPr>
          <p:cNvGrpSpPr/>
          <p:nvPr/>
        </p:nvGrpSpPr>
        <p:grpSpPr>
          <a:xfrm flipH="1">
            <a:off x="2840510" y="3040668"/>
            <a:ext cx="785679" cy="690497"/>
            <a:chOff x="2098274" y="1374606"/>
            <a:chExt cx="1690182" cy="1652414"/>
          </a:xfrm>
        </p:grpSpPr>
        <p:grpSp>
          <p:nvGrpSpPr>
            <p:cNvPr id="2075" name="Group 2074">
              <a:extLst>
                <a:ext uri="{FF2B5EF4-FFF2-40B4-BE49-F238E27FC236}">
                  <a16:creationId xmlns:a16="http://schemas.microsoft.com/office/drawing/2014/main" id="{8420A350-3E6A-D75B-FC91-C76428EF1864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077" name="Flowchart: Delay 2076">
                <a:extLst>
                  <a:ext uri="{FF2B5EF4-FFF2-40B4-BE49-F238E27FC236}">
                    <a16:creationId xmlns:a16="http://schemas.microsoft.com/office/drawing/2014/main" id="{B17AF87E-892E-43CA-F11C-C0CCE67209EE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8" name="Rectangle 2077">
                <a:extLst>
                  <a:ext uri="{FF2B5EF4-FFF2-40B4-BE49-F238E27FC236}">
                    <a16:creationId xmlns:a16="http://schemas.microsoft.com/office/drawing/2014/main" id="{8152E4E6-EC7E-013A-1EC7-DC9BF1B74FAD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9" name="Rectangle 2078">
                <a:extLst>
                  <a:ext uri="{FF2B5EF4-FFF2-40B4-BE49-F238E27FC236}">
                    <a16:creationId xmlns:a16="http://schemas.microsoft.com/office/drawing/2014/main" id="{BD6B3E19-462D-9C8F-E564-6E3A3EB4A32D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0" name="Arc 2079">
                <a:extLst>
                  <a:ext uri="{FF2B5EF4-FFF2-40B4-BE49-F238E27FC236}">
                    <a16:creationId xmlns:a16="http://schemas.microsoft.com/office/drawing/2014/main" id="{C2B73B05-940E-E7FC-6CD5-CAF0AC69176B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1" name="Rectangle 2080">
                <a:extLst>
                  <a:ext uri="{FF2B5EF4-FFF2-40B4-BE49-F238E27FC236}">
                    <a16:creationId xmlns:a16="http://schemas.microsoft.com/office/drawing/2014/main" id="{E6FE1C24-3BBC-8FB4-8585-097E78511F1A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2" name="Rectangle 2081">
                <a:extLst>
                  <a:ext uri="{FF2B5EF4-FFF2-40B4-BE49-F238E27FC236}">
                    <a16:creationId xmlns:a16="http://schemas.microsoft.com/office/drawing/2014/main" id="{73DE17D7-AF00-0EB9-DBB2-A9E5582AFBBC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3" name="Rectangle 2082">
                <a:extLst>
                  <a:ext uri="{FF2B5EF4-FFF2-40B4-BE49-F238E27FC236}">
                    <a16:creationId xmlns:a16="http://schemas.microsoft.com/office/drawing/2014/main" id="{C262FD90-38F1-8B0A-AA85-5DACDE0D1CF7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4" name="Rectangle 2083">
                <a:extLst>
                  <a:ext uri="{FF2B5EF4-FFF2-40B4-BE49-F238E27FC236}">
                    <a16:creationId xmlns:a16="http://schemas.microsoft.com/office/drawing/2014/main" id="{E08CE6FB-36E0-5AB4-493C-65D347BCBD6C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32DAF0D2-7EDA-BDFB-CAE8-257DDCBAFB78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086" name="Straight Arrow Connector 2085">
            <a:extLst>
              <a:ext uri="{FF2B5EF4-FFF2-40B4-BE49-F238E27FC236}">
                <a16:creationId xmlns:a16="http://schemas.microsoft.com/office/drawing/2014/main" id="{FBEF830D-4B89-BF0D-D3E4-76AD549DDA12}"/>
              </a:ext>
            </a:extLst>
          </p:cNvPr>
          <p:cNvCxnSpPr>
            <a:cxnSpLocks/>
          </p:cNvCxnSpPr>
          <p:nvPr/>
        </p:nvCxnSpPr>
        <p:spPr>
          <a:xfrm flipH="1">
            <a:off x="1526420" y="2489408"/>
            <a:ext cx="518414" cy="488776"/>
          </a:xfrm>
          <a:prstGeom prst="straightConnector1">
            <a:avLst/>
          </a:prstGeom>
          <a:ln w="19050">
            <a:solidFill>
              <a:schemeClr val="dk1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7" name="Straight Arrow Connector 2086">
            <a:extLst>
              <a:ext uri="{FF2B5EF4-FFF2-40B4-BE49-F238E27FC236}">
                <a16:creationId xmlns:a16="http://schemas.microsoft.com/office/drawing/2014/main" id="{232108B8-AD8E-279C-F85C-CB4637E4E194}"/>
              </a:ext>
            </a:extLst>
          </p:cNvPr>
          <p:cNvCxnSpPr>
            <a:cxnSpLocks/>
          </p:cNvCxnSpPr>
          <p:nvPr/>
        </p:nvCxnSpPr>
        <p:spPr>
          <a:xfrm>
            <a:off x="2446700" y="2522048"/>
            <a:ext cx="441289" cy="486782"/>
          </a:xfrm>
          <a:prstGeom prst="straightConnector1">
            <a:avLst/>
          </a:prstGeom>
          <a:ln w="19050"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FA33FCCD-ECB6-CEFB-98AA-668E645B1534}"/>
              </a:ext>
            </a:extLst>
          </p:cNvPr>
          <p:cNvGrpSpPr/>
          <p:nvPr/>
        </p:nvGrpSpPr>
        <p:grpSpPr>
          <a:xfrm>
            <a:off x="757454" y="3019245"/>
            <a:ext cx="771789" cy="690497"/>
            <a:chOff x="2098274" y="1374606"/>
            <a:chExt cx="1690182" cy="1652414"/>
          </a:xfrm>
        </p:grpSpPr>
        <p:grpSp>
          <p:nvGrpSpPr>
            <p:cNvPr id="2089" name="Group 2088">
              <a:extLst>
                <a:ext uri="{FF2B5EF4-FFF2-40B4-BE49-F238E27FC236}">
                  <a16:creationId xmlns:a16="http://schemas.microsoft.com/office/drawing/2014/main" id="{26206579-8A9B-0380-718C-5E31B8DA0465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091" name="Flowchart: Delay 2090">
                <a:extLst>
                  <a:ext uri="{FF2B5EF4-FFF2-40B4-BE49-F238E27FC236}">
                    <a16:creationId xmlns:a16="http://schemas.microsoft.com/office/drawing/2014/main" id="{BF1ACD6C-5872-9496-CACF-F08A29DB21B8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2" name="Rectangle 2091">
                <a:extLst>
                  <a:ext uri="{FF2B5EF4-FFF2-40B4-BE49-F238E27FC236}">
                    <a16:creationId xmlns:a16="http://schemas.microsoft.com/office/drawing/2014/main" id="{EFEFC7F4-E9DD-F409-CD8A-55EB8E218AF9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3" name="Rectangle 2092">
                <a:extLst>
                  <a:ext uri="{FF2B5EF4-FFF2-40B4-BE49-F238E27FC236}">
                    <a16:creationId xmlns:a16="http://schemas.microsoft.com/office/drawing/2014/main" id="{A1B5A363-F926-1FCA-910B-716C36770682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4" name="Arc 2093">
                <a:extLst>
                  <a:ext uri="{FF2B5EF4-FFF2-40B4-BE49-F238E27FC236}">
                    <a16:creationId xmlns:a16="http://schemas.microsoft.com/office/drawing/2014/main" id="{F1B446DC-3FCF-AACA-82C9-CFED475197F3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5" name="Rectangle 2094">
                <a:extLst>
                  <a:ext uri="{FF2B5EF4-FFF2-40B4-BE49-F238E27FC236}">
                    <a16:creationId xmlns:a16="http://schemas.microsoft.com/office/drawing/2014/main" id="{1198B748-A253-75E2-C057-A7EE6144E071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6" name="Rectangle 2095">
                <a:extLst>
                  <a:ext uri="{FF2B5EF4-FFF2-40B4-BE49-F238E27FC236}">
                    <a16:creationId xmlns:a16="http://schemas.microsoft.com/office/drawing/2014/main" id="{AF1D0A2C-592E-AB74-A9C1-FB0638F4A470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7" name="Rectangle 2096">
                <a:extLst>
                  <a:ext uri="{FF2B5EF4-FFF2-40B4-BE49-F238E27FC236}">
                    <a16:creationId xmlns:a16="http://schemas.microsoft.com/office/drawing/2014/main" id="{B44FDB67-0233-6208-6238-6EF56661239B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8" name="Rectangle 2097">
                <a:extLst>
                  <a:ext uri="{FF2B5EF4-FFF2-40B4-BE49-F238E27FC236}">
                    <a16:creationId xmlns:a16="http://schemas.microsoft.com/office/drawing/2014/main" id="{118EF9E1-92D0-0F11-A8ED-595C3CE1EBF1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90" name="Rectangle 2089">
              <a:extLst>
                <a:ext uri="{FF2B5EF4-FFF2-40B4-BE49-F238E27FC236}">
                  <a16:creationId xmlns:a16="http://schemas.microsoft.com/office/drawing/2014/main" id="{87F913F3-853A-12E3-1783-DD4DD9B37FA8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16E58-C14E-90A5-B6FF-CEAB4BF02EDC}"/>
              </a:ext>
            </a:extLst>
          </p:cNvPr>
          <p:cNvSpPr/>
          <p:nvPr/>
        </p:nvSpPr>
        <p:spPr>
          <a:xfrm>
            <a:off x="4277998" y="2390659"/>
            <a:ext cx="7615479" cy="586524"/>
          </a:xfrm>
          <a:prstGeom prst="rect">
            <a:avLst/>
          </a:prstGeom>
          <a:solidFill>
            <a:schemeClr val="lt1">
              <a:alpha val="0"/>
            </a:schemeClr>
          </a:solidFill>
          <a:ln w="47625">
            <a:solidFill>
              <a:srgbClr val="EE5C1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5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BCA7F67-678E-CCFB-ABE3-C1931E28C2A2}"/>
              </a:ext>
            </a:extLst>
          </p:cNvPr>
          <p:cNvSpPr/>
          <p:nvPr/>
        </p:nvSpPr>
        <p:spPr>
          <a:xfrm>
            <a:off x="4262991" y="5141011"/>
            <a:ext cx="7645492" cy="1072746"/>
          </a:xfrm>
          <a:prstGeom prst="rect">
            <a:avLst/>
          </a:prstGeom>
          <a:solidFill>
            <a:schemeClr val="lt1">
              <a:alpha val="0"/>
            </a:schemeClr>
          </a:solidFill>
          <a:ln w="50800">
            <a:solidFill>
              <a:srgbClr val="EE5C1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DDCE85-ECC0-04BC-050D-0C5D2388E9B3}"/>
                  </a:ext>
                </a:extLst>
              </p:cNvPr>
              <p:cNvSpPr txBox="1"/>
              <p:nvPr/>
            </p:nvSpPr>
            <p:spPr>
              <a:xfrm>
                <a:off x="4273581" y="3882878"/>
                <a:ext cx="7766516" cy="2516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Classical telescope: Intensity interferometry</a:t>
                </a:r>
              </a:p>
              <a:p>
                <a:endParaRPr lang="en-US" sz="13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Intensity interferometry use the Hanbury, Brown, Twiss effect to measure the second order correlation of light</a:t>
                </a:r>
              </a:p>
              <a:p>
                <a:endParaRPr lang="en-US" sz="17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>
                    <a:solidFill>
                      <a:srgbClr val="EE5C1A"/>
                    </a:solidFill>
                  </a:rPr>
                  <a:t>Low counts rate when the source is weak.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700" dirty="0">
                  <a:solidFill>
                    <a:srgbClr val="EE5C1A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>
                    <a:solidFill>
                      <a:srgbClr val="EE5C1A"/>
                    </a:solidFill>
                  </a:rPr>
                  <a:t>Phase information of the complexity visibility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00" dirty="0">
                    <a:solidFill>
                      <a:srgbClr val="0070C0"/>
                    </a:solidFill>
                  </a:rPr>
                  <a:t> </a:t>
                </a:r>
                <a:r>
                  <a:rPr lang="en-US" sz="1700" dirty="0">
                    <a:solidFill>
                      <a:srgbClr val="EE5C1A"/>
                    </a:solidFill>
                  </a:rPr>
                  <a:t>can not be directly measured</a:t>
                </a:r>
                <a:endParaRPr lang="en-US" sz="17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DDCE85-ECC0-04BC-050D-0C5D2388E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581" y="3882878"/>
                <a:ext cx="7766516" cy="2516266"/>
              </a:xfrm>
              <a:prstGeom prst="rect">
                <a:avLst/>
              </a:prstGeom>
              <a:blipFill>
                <a:blip r:embed="rId3"/>
                <a:stretch>
                  <a:fillRect l="-785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654B8E9-2432-9B71-FE6D-ABDD059239E8}"/>
              </a:ext>
            </a:extLst>
          </p:cNvPr>
          <p:cNvSpPr txBox="1"/>
          <p:nvPr/>
        </p:nvSpPr>
        <p:spPr>
          <a:xfrm>
            <a:off x="4243817" y="1242498"/>
            <a:ext cx="7766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Classical telescope: Heterodyne interferometry</a:t>
            </a:r>
          </a:p>
          <a:p>
            <a:endParaRPr lang="en-US" sz="200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heterodyne interferometry with synchronized Local oscillator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EE5C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 noise will be introduced, which will overwhelm the information about the source, especially when the source is weak.</a:t>
            </a:r>
          </a:p>
          <a:p>
            <a:endParaRPr lang="en-US" dirty="0"/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94C638-0FAE-A2BF-0E13-E3F566B54572}"/>
              </a:ext>
            </a:extLst>
          </p:cNvPr>
          <p:cNvCxnSpPr>
            <a:cxnSpLocks/>
            <a:endCxn id="4" idx="1"/>
          </p:cNvCxnSpPr>
          <p:nvPr/>
        </p:nvCxnSpPr>
        <p:spPr>
          <a:xfrm flipH="1">
            <a:off x="3138846" y="3672364"/>
            <a:ext cx="12055" cy="830461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E082CFA-D42F-994C-E61C-CB36838FA907}"/>
              </a:ext>
            </a:extLst>
          </p:cNvPr>
          <p:cNvGrpSpPr/>
          <p:nvPr/>
        </p:nvGrpSpPr>
        <p:grpSpPr>
          <a:xfrm rot="3740995">
            <a:off x="2941152" y="4534882"/>
            <a:ext cx="458369" cy="399856"/>
            <a:chOff x="3690596" y="5264272"/>
            <a:chExt cx="458369" cy="399856"/>
          </a:xfrm>
        </p:grpSpPr>
        <p:sp>
          <p:nvSpPr>
            <p:cNvPr id="4" name="Flowchart: Delay 3">
              <a:extLst>
                <a:ext uri="{FF2B5EF4-FFF2-40B4-BE49-F238E27FC236}">
                  <a16:creationId xmlns:a16="http://schemas.microsoft.com/office/drawing/2014/main" id="{758C0BBD-F9CC-17AB-0D4E-83E12849BF06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30FD95-BA50-F474-5466-8D3DDC6099C6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A116A99-3298-C17C-B753-6E20060F47CE}"/>
              </a:ext>
            </a:extLst>
          </p:cNvPr>
          <p:cNvGrpSpPr/>
          <p:nvPr/>
        </p:nvGrpSpPr>
        <p:grpSpPr>
          <a:xfrm rot="3740995">
            <a:off x="852795" y="4550019"/>
            <a:ext cx="458369" cy="399856"/>
            <a:chOff x="3690596" y="5264272"/>
            <a:chExt cx="458369" cy="399856"/>
          </a:xfrm>
        </p:grpSpPr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A0DE9687-8BF8-F1ED-8DF8-7217B090774C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56EB76-C4AB-F366-CFE0-7298F85CEF6F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5DABFC-881A-A00A-4272-AED91FC42BF1}"/>
              </a:ext>
            </a:extLst>
          </p:cNvPr>
          <p:cNvCxnSpPr>
            <a:cxnSpLocks/>
          </p:cNvCxnSpPr>
          <p:nvPr/>
        </p:nvCxnSpPr>
        <p:spPr>
          <a:xfrm flipH="1">
            <a:off x="1036139" y="3662134"/>
            <a:ext cx="12055" cy="830461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mond 1">
            <a:extLst>
              <a:ext uri="{FF2B5EF4-FFF2-40B4-BE49-F238E27FC236}">
                <a16:creationId xmlns:a16="http://schemas.microsoft.com/office/drawing/2014/main" id="{60ED1F7E-66E3-8B0A-6F64-6B627B67DD2D}"/>
              </a:ext>
            </a:extLst>
          </p:cNvPr>
          <p:cNvSpPr/>
          <p:nvPr/>
        </p:nvSpPr>
        <p:spPr>
          <a:xfrm>
            <a:off x="2942263" y="3800577"/>
            <a:ext cx="412006" cy="57034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0A276350-D243-7BBB-F5AB-BA1980034A59}"/>
              </a:ext>
            </a:extLst>
          </p:cNvPr>
          <p:cNvSpPr/>
          <p:nvPr/>
        </p:nvSpPr>
        <p:spPr>
          <a:xfrm>
            <a:off x="838928" y="3799749"/>
            <a:ext cx="412006" cy="57034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14A18C-FBBB-8B84-7711-DB1F9D0146F7}"/>
              </a:ext>
            </a:extLst>
          </p:cNvPr>
          <p:cNvSpPr txBox="1"/>
          <p:nvPr/>
        </p:nvSpPr>
        <p:spPr>
          <a:xfrm>
            <a:off x="505200" y="4434505"/>
            <a:ext cx="50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D1</a:t>
            </a:r>
            <a:endParaRPr 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1695A0-2111-BC6A-9E61-7D5F8AF6866C}"/>
              </a:ext>
            </a:extLst>
          </p:cNvPr>
          <p:cNvSpPr txBox="1"/>
          <p:nvPr/>
        </p:nvSpPr>
        <p:spPr>
          <a:xfrm>
            <a:off x="3291016" y="4414265"/>
            <a:ext cx="48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D2</a:t>
            </a:r>
            <a:endParaRPr lang="en-US" sz="1400" dirty="0"/>
          </a:p>
        </p:txBody>
      </p:sp>
      <p:pic>
        <p:nvPicPr>
          <p:cNvPr id="24" name="Graphic 23" descr="Solar system with solid fill">
            <a:extLst>
              <a:ext uri="{FF2B5EF4-FFF2-40B4-BE49-F238E27FC236}">
                <a16:creationId xmlns:a16="http://schemas.microsoft.com/office/drawing/2014/main" id="{53D93914-8BE7-ED4C-CF4F-AA8B1800F88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9361">
            <a:off x="1879660" y="1537696"/>
            <a:ext cx="917821" cy="91782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B93F8C4-C038-4E59-0664-356086CF698A}"/>
              </a:ext>
            </a:extLst>
          </p:cNvPr>
          <p:cNvSpPr txBox="1"/>
          <p:nvPr/>
        </p:nvSpPr>
        <p:spPr>
          <a:xfrm>
            <a:off x="2162494" y="2936051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</a:t>
            </a:r>
          </a:p>
          <a:p>
            <a:r>
              <a:rPr lang="en-US" altLang="zh-CN" sz="1400" dirty="0"/>
              <a:t>       R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F7D0CF-1727-5AAF-EA68-53DE08122F26}"/>
              </a:ext>
            </a:extLst>
          </p:cNvPr>
          <p:cNvSpPr txBox="1"/>
          <p:nvPr/>
        </p:nvSpPr>
        <p:spPr>
          <a:xfrm>
            <a:off x="-23843" y="2914804"/>
            <a:ext cx="98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Telescope </a:t>
            </a:r>
          </a:p>
          <a:p>
            <a:r>
              <a:rPr lang="en-US" altLang="zh-CN" sz="1400" dirty="0"/>
              <a:t>       L</a:t>
            </a:r>
            <a:endParaRPr lang="en-US" sz="1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DF1733-6759-C1B8-10A5-BF22A963CD1E}"/>
              </a:ext>
            </a:extLst>
          </p:cNvPr>
          <p:cNvGrpSpPr/>
          <p:nvPr/>
        </p:nvGrpSpPr>
        <p:grpSpPr>
          <a:xfrm flipH="1">
            <a:off x="2852128" y="2799213"/>
            <a:ext cx="785679" cy="690497"/>
            <a:chOff x="2098274" y="1374606"/>
            <a:chExt cx="1690182" cy="165241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2C471E2-6555-23D8-B0B7-8F23099AAAA4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33" name="Flowchart: Delay 32">
                <a:extLst>
                  <a:ext uri="{FF2B5EF4-FFF2-40B4-BE49-F238E27FC236}">
                    <a16:creationId xmlns:a16="http://schemas.microsoft.com/office/drawing/2014/main" id="{C0A6B4F7-07B7-DF1C-0427-EA34993F3D39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08A44BF-CF0B-49D9-CE4D-16C2A2ECE908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2E8AD6D-F331-1BD0-786E-F2ABC4A4AA6E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58802F16-4EEA-340F-3EA8-88B930766FB5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185B565-3F6F-B203-3DF5-E42FB7F9BB59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BA1EE6B-E9D7-A613-BABD-4578F75A9548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A1BCC5A-E3B0-C668-A406-542A6BE341CB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3DE9320-51C5-A22A-E3D1-2D9C8F9668BA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24DB3AF-686E-3885-82B6-5CE0AD65720B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831897-76D1-EA57-29DD-6D2481A68E55}"/>
              </a:ext>
            </a:extLst>
          </p:cNvPr>
          <p:cNvCxnSpPr>
            <a:cxnSpLocks/>
          </p:cNvCxnSpPr>
          <p:nvPr/>
        </p:nvCxnSpPr>
        <p:spPr>
          <a:xfrm flipH="1">
            <a:off x="1538038" y="2247953"/>
            <a:ext cx="518414" cy="488776"/>
          </a:xfrm>
          <a:prstGeom prst="straightConnector1">
            <a:avLst/>
          </a:prstGeom>
          <a:ln w="19050">
            <a:solidFill>
              <a:schemeClr val="dk1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E4E907E-02C7-3051-A80E-9C4D98CB3946}"/>
              </a:ext>
            </a:extLst>
          </p:cNvPr>
          <p:cNvCxnSpPr>
            <a:cxnSpLocks/>
          </p:cNvCxnSpPr>
          <p:nvPr/>
        </p:nvCxnSpPr>
        <p:spPr>
          <a:xfrm>
            <a:off x="2458318" y="2280593"/>
            <a:ext cx="441289" cy="486782"/>
          </a:xfrm>
          <a:prstGeom prst="straightConnector1">
            <a:avLst/>
          </a:prstGeom>
          <a:ln w="19050"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FF428D-D26B-5D5C-DC91-26E5552D111E}"/>
              </a:ext>
            </a:extLst>
          </p:cNvPr>
          <p:cNvGrpSpPr/>
          <p:nvPr/>
        </p:nvGrpSpPr>
        <p:grpSpPr>
          <a:xfrm>
            <a:off x="769072" y="2777790"/>
            <a:ext cx="771789" cy="690497"/>
            <a:chOff x="2098274" y="1374606"/>
            <a:chExt cx="1690182" cy="1652414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BB0F32F-1D0F-B110-4E6B-C16743D1ED22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69" name="Flowchart: Delay 68">
                <a:extLst>
                  <a:ext uri="{FF2B5EF4-FFF2-40B4-BE49-F238E27FC236}">
                    <a16:creationId xmlns:a16="http://schemas.microsoft.com/office/drawing/2014/main" id="{36AEA92F-ACDE-FF5D-ED6A-762DA1EC0D5B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64577FD-328E-3448-D099-9A3EF1FCF707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E68D410-DCEA-799B-DDF9-7707838851E8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F796804A-DD2A-EF5F-11F8-AB1750CF5A1E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B6A85505-8343-FE4C-259D-38D7209DCB01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8FC3721-5CED-922E-ED09-7C8D8F5E700E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562A4FE-9C77-E0A7-3CAB-80FCB8EE16E2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2FADD973-A5AB-45AD-45E9-EB148FE35E3D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CEA23C1-BAFB-EE82-7985-3C6F20E99005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40DA875-ABEA-435F-D5B6-1ABFDF2E3815}"/>
              </a:ext>
            </a:extLst>
          </p:cNvPr>
          <p:cNvSpPr/>
          <p:nvPr/>
        </p:nvSpPr>
        <p:spPr>
          <a:xfrm>
            <a:off x="4277998" y="2390659"/>
            <a:ext cx="7615479" cy="586524"/>
          </a:xfrm>
          <a:prstGeom prst="rect">
            <a:avLst/>
          </a:prstGeom>
          <a:solidFill>
            <a:schemeClr val="lt1">
              <a:alpha val="0"/>
            </a:schemeClr>
          </a:solidFill>
          <a:ln w="47625">
            <a:solidFill>
              <a:srgbClr val="EE5C1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A7A23-02A4-7BD7-1947-3887FE17B23E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telescope: local measurement</a:t>
            </a:r>
          </a:p>
        </p:txBody>
      </p:sp>
    </p:spTree>
    <p:extLst>
      <p:ext uri="{BB962C8B-B14F-4D97-AF65-F5344CB8AC3E}">
        <p14:creationId xmlns:p14="http://schemas.microsoft.com/office/powerpoint/2010/main" val="66861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interferometric telescope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1DC74A1-013C-3C3E-6D59-F5C3C0BF98B4}"/>
                  </a:ext>
                </a:extLst>
              </p:cNvPr>
              <p:cNvSpPr txBox="1"/>
              <p:nvPr/>
            </p:nvSpPr>
            <p:spPr>
              <a:xfrm>
                <a:off x="10043" y="3872731"/>
                <a:ext cx="7156351" cy="37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/>
                  <a:t>Fisher information: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7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1700" dirty="0"/>
                  <a:t> with the above measurement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1DC74A1-013C-3C3E-6D59-F5C3C0BF9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" y="3872731"/>
                <a:ext cx="7156351" cy="375296"/>
              </a:xfrm>
              <a:prstGeom prst="rect">
                <a:avLst/>
              </a:prstGeom>
              <a:blipFill>
                <a:blip r:embed="rId4"/>
                <a:stretch>
                  <a:fillRect l="-596"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62608" y="4268594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400" dirty="0" smtClean="0"/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/2∝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62608" y="4268594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347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3" t="-1724" r="-506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05" name="Table 109">
                <a:extLst>
                  <a:ext uri="{FF2B5EF4-FFF2-40B4-BE49-F238E27FC236}">
                    <a16:creationId xmlns:a16="http://schemas.microsoft.com/office/drawing/2014/main" id="{4E5A668C-ECC3-AEA0-F5E1-B4EE59363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56923"/>
                  </p:ext>
                </p:extLst>
              </p:nvPr>
            </p:nvGraphicFramePr>
            <p:xfrm>
              <a:off x="168199" y="4317685"/>
              <a:ext cx="7210392" cy="37680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2969426078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1597598889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222810685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7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r>
                                <a:rPr lang="en-US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US" sz="1700" dirty="0"/>
                            <a:t> (no</a:t>
                          </a:r>
                          <a:r>
                            <a:rPr lang="en-US" sz="1700" baseline="0" dirty="0"/>
                            <a:t> loss</a:t>
                          </a:r>
                          <a:r>
                            <a:rPr lang="en-US" sz="17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7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7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7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7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  <m:sSup>
                                  <m:sSupPr>
                                    <m:ctrlPr>
                                      <a:rPr lang="en-US" sz="1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p>
                                    <m:r>
                                      <a:rPr lang="en-US" sz="17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sSub>
                                <m:sSubPr>
                                  <m:ctrlP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7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sSup>
                                <m:sSupPr>
                                  <m:ctrlP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sz="17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7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7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4859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05" name="Table 109">
                <a:extLst>
                  <a:ext uri="{FF2B5EF4-FFF2-40B4-BE49-F238E27FC236}">
                    <a16:creationId xmlns:a16="http://schemas.microsoft.com/office/drawing/2014/main" id="{4E5A668C-ECC3-AEA0-F5E1-B4EE59363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556923"/>
                  </p:ext>
                </p:extLst>
              </p:nvPr>
            </p:nvGraphicFramePr>
            <p:xfrm>
              <a:off x="168199" y="4317685"/>
              <a:ext cx="7210392" cy="37680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2969426078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1597598889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222810685"/>
                        </a:ext>
                      </a:extLst>
                    </a:gridCol>
                  </a:tblGrid>
                  <a:tr h="3768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53" t="-3175" r="-200253" b="-15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508" t="-3175" r="-100761" b="-15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000" t="-3175" r="-506" b="-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485956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76BCE1C9-D7AA-B19F-DE38-E16B3CA89AA4}"/>
              </a:ext>
            </a:extLst>
          </p:cNvPr>
          <p:cNvCxnSpPr>
            <a:cxnSpLocks/>
          </p:cNvCxnSpPr>
          <p:nvPr/>
        </p:nvCxnSpPr>
        <p:spPr>
          <a:xfrm>
            <a:off x="7991404" y="1154753"/>
            <a:ext cx="110992" cy="56984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E5535D-9660-78BE-EE2E-A7DED0F71EE1}"/>
                  </a:ext>
                </a:extLst>
              </p:cNvPr>
              <p:cNvSpPr/>
              <p:nvPr/>
            </p:nvSpPr>
            <p:spPr>
              <a:xfrm>
                <a:off x="110595" y="5224030"/>
                <a:ext cx="7231111" cy="145593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EE5C1A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b="1" i="1" u="sng" dirty="0">
                    <a:solidFill>
                      <a:schemeClr val="tx1"/>
                    </a:solidFill>
                    <a:effectLst/>
                  </a:rPr>
                  <a:t>Fisher information</a:t>
                </a:r>
                <a:r>
                  <a:rPr lang="en-US" sz="1200" b="1" i="1" u="sng" dirty="0">
                    <a:solidFill>
                      <a:schemeClr val="bg1"/>
                    </a:solidFill>
                    <a:effectLst/>
                  </a:rPr>
                  <a:t>:</a:t>
                </a:r>
                <a:r>
                  <a:rPr lang="en-US" sz="1200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Given source state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positive operator-valued measure (POVM)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20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, the probability of the observation x given parameter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can be calculated as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12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.  The fisher information of estimating the corresponding parameter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can then be calculated as 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sz="12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sz="12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120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sz="120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      and      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den>
                    </m:f>
                  </m:oMath>
                </a14:m>
                <a:endParaRPr lang="en-US" sz="1200" dirty="0">
                  <a:solidFill>
                    <a:schemeClr val="tx1"/>
                  </a:solidFill>
                  <a:effectLst/>
                </a:endParaRPr>
              </a:p>
              <a:p>
                <a:endParaRPr lang="en-US" sz="1200" dirty="0">
                  <a:solidFill>
                    <a:schemeClr val="tx1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is the mean square error of the estimation, and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effectLst/>
                  </a:rPr>
                  <a:t> is the number of trials of the experiment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E5535D-9660-78BE-EE2E-A7DED0F71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95" y="5224030"/>
                <a:ext cx="7231111" cy="14559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EE5C1A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30C0B-584B-46AA-8309-80EAA8E29712}"/>
                  </a:ext>
                </a:extLst>
              </p:cNvPr>
              <p:cNvSpPr txBox="1"/>
              <p:nvPr/>
            </p:nvSpPr>
            <p:spPr>
              <a:xfrm>
                <a:off x="10043" y="4781273"/>
                <a:ext cx="75301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Note: As proved by Tsang</a:t>
                </a:r>
                <a:r>
                  <a:rPr lang="en-US" sz="1400" baseline="30000" dirty="0"/>
                  <a:t>1</a:t>
                </a:r>
                <a:r>
                  <a:rPr lang="en-US" sz="1400" dirty="0"/>
                  <a:t>, information of all ‘local’ measurement schemes are 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630C0B-584B-46AA-8309-80EAA8E29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" y="4781273"/>
                <a:ext cx="7530183" cy="307777"/>
              </a:xfrm>
              <a:prstGeom prst="rect">
                <a:avLst/>
              </a:prstGeom>
              <a:blipFill>
                <a:blip r:embed="rId8"/>
                <a:stretch>
                  <a:fillRect l="-243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C52DAB-A3A3-C4AA-6BC7-823D25BB1381}"/>
              </a:ext>
            </a:extLst>
          </p:cNvPr>
          <p:cNvSpPr txBox="1"/>
          <p:nvPr/>
        </p:nvSpPr>
        <p:spPr>
          <a:xfrm>
            <a:off x="8392677" y="5406272"/>
            <a:ext cx="374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Question: Can this be implemented experimentally already?</a:t>
            </a:r>
          </a:p>
        </p:txBody>
      </p: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CD15737-DE37-6CF9-95B0-61B176928883}"/>
              </a:ext>
            </a:extLst>
          </p:cNvPr>
          <p:cNvGrpSpPr/>
          <p:nvPr/>
        </p:nvGrpSpPr>
        <p:grpSpPr>
          <a:xfrm>
            <a:off x="8937049" y="2492251"/>
            <a:ext cx="2488156" cy="1009666"/>
            <a:chOff x="7851736" y="3218902"/>
            <a:chExt cx="3748644" cy="1426616"/>
          </a:xfrm>
        </p:grpSpPr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62396820-FD7F-009B-8F20-EFFFEA3FB281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B28630A1-12F7-2BD8-E355-27950277FE5C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607" name="Flowchart: Delay 606">
                <a:extLst>
                  <a:ext uri="{FF2B5EF4-FFF2-40B4-BE49-F238E27FC236}">
                    <a16:creationId xmlns:a16="http://schemas.microsoft.com/office/drawing/2014/main" id="{0C6FBDE4-9585-28F0-0557-1642106C25CB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DAE61C89-1DA3-7ADB-4248-C53ED0FC0C20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9" name="Group 588">
              <a:extLst>
                <a:ext uri="{FF2B5EF4-FFF2-40B4-BE49-F238E27FC236}">
                  <a16:creationId xmlns:a16="http://schemas.microsoft.com/office/drawing/2014/main" id="{383D6EF0-6E17-9E2E-FC03-4A22B8CD1535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605" name="Flowchart: Delay 604">
                <a:extLst>
                  <a:ext uri="{FF2B5EF4-FFF2-40B4-BE49-F238E27FC236}">
                    <a16:creationId xmlns:a16="http://schemas.microsoft.com/office/drawing/2014/main" id="{395C8672-CEC6-95C3-7968-BCF2ECB9DC0B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83EE1A64-F37F-D3A4-B248-12435660CA5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14560907-B49C-A3AF-9AFF-B4690FCB5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1A360E7C-4BB0-83B0-3E02-10418D7B63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77DE570A-1478-4F21-C80C-A4F7B219E582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5CF6FF8A-BE2C-1CC7-EAFE-EEAF1BBCC3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E7484104-176F-FAF7-5A04-AC5F821381CF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DDA78698-0B20-8212-17BC-25A57462B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7D36B19F-F6BC-488E-E2FA-2C5D7ACE0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7" name="Group 596">
              <a:extLst>
                <a:ext uri="{FF2B5EF4-FFF2-40B4-BE49-F238E27FC236}">
                  <a16:creationId xmlns:a16="http://schemas.microsoft.com/office/drawing/2014/main" id="{092EE373-7252-C484-FDED-F39243F871B1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603" name="Flowchart: Delay 602">
                <a:extLst>
                  <a:ext uri="{FF2B5EF4-FFF2-40B4-BE49-F238E27FC236}">
                    <a16:creationId xmlns:a16="http://schemas.microsoft.com/office/drawing/2014/main" id="{74D84261-DD00-3CD7-FA6C-F104E51E4F8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92851F6D-B9C0-AF6B-2F96-CEF2F1D314E7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8" name="Group 597">
              <a:extLst>
                <a:ext uri="{FF2B5EF4-FFF2-40B4-BE49-F238E27FC236}">
                  <a16:creationId xmlns:a16="http://schemas.microsoft.com/office/drawing/2014/main" id="{7786117B-2339-4C53-C000-324AEE702A99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601" name="Flowchart: Delay 600">
                <a:extLst>
                  <a:ext uri="{FF2B5EF4-FFF2-40B4-BE49-F238E27FC236}">
                    <a16:creationId xmlns:a16="http://schemas.microsoft.com/office/drawing/2014/main" id="{2D26EA16-C733-9836-D040-472CAC6FA9BF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979F076F-4E21-ED23-0DB6-434F572E6D12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C9290F09-251F-8C11-4CA9-6A543D7D1383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0" name="TextBox 599">
                  <a:extLst>
                    <a:ext uri="{FF2B5EF4-FFF2-40B4-BE49-F238E27FC236}">
                      <a16:creationId xmlns:a16="http://schemas.microsoft.com/office/drawing/2014/main" id="{6F8547E1-0696-3833-2898-7577314AE8FA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0" name="TextBox 599">
                  <a:extLst>
                    <a:ext uri="{FF2B5EF4-FFF2-40B4-BE49-F238E27FC236}">
                      <a16:creationId xmlns:a16="http://schemas.microsoft.com/office/drawing/2014/main" id="{6F8547E1-0696-3833-2898-7577314AE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9" name="TextBox 608">
            <a:extLst>
              <a:ext uri="{FF2B5EF4-FFF2-40B4-BE49-F238E27FC236}">
                <a16:creationId xmlns:a16="http://schemas.microsoft.com/office/drawing/2014/main" id="{9676EDC2-02D4-4968-62A0-4ED23F79D4DD}"/>
              </a:ext>
            </a:extLst>
          </p:cNvPr>
          <p:cNvSpPr txBox="1"/>
          <p:nvPr/>
        </p:nvSpPr>
        <p:spPr>
          <a:xfrm>
            <a:off x="9114823" y="3586493"/>
            <a:ext cx="209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Quantum telescope</a:t>
            </a:r>
          </a:p>
        </p:txBody>
      </p: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7F1F700C-C384-16A1-5BA7-664E94F90FFB}"/>
              </a:ext>
            </a:extLst>
          </p:cNvPr>
          <p:cNvGrpSpPr/>
          <p:nvPr/>
        </p:nvGrpSpPr>
        <p:grpSpPr>
          <a:xfrm>
            <a:off x="5533410" y="2544363"/>
            <a:ext cx="1708470" cy="876891"/>
            <a:chOff x="1068179" y="3264131"/>
            <a:chExt cx="2554370" cy="1316997"/>
          </a:xfrm>
        </p:grpSpPr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4E55E78D-42E5-7BC9-E81C-4F0BDDC0239D}"/>
                </a:ext>
              </a:extLst>
            </p:cNvPr>
            <p:cNvCxnSpPr>
              <a:cxnSpLocks/>
              <a:endCxn id="619" idx="1"/>
            </p:cNvCxnSpPr>
            <p:nvPr/>
          </p:nvCxnSpPr>
          <p:spPr>
            <a:xfrm flipH="1">
              <a:off x="3391130" y="3274361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FA9F9E21-DE51-A65F-3CE1-8C05EDDC6C9A}"/>
                </a:ext>
              </a:extLst>
            </p:cNvPr>
            <p:cNvGrpSpPr/>
            <p:nvPr/>
          </p:nvGrpSpPr>
          <p:grpSpPr>
            <a:xfrm rot="3740995">
              <a:off x="3193436" y="4136879"/>
              <a:ext cx="458369" cy="399856"/>
              <a:chOff x="3690596" y="5264272"/>
              <a:chExt cx="458369" cy="399856"/>
            </a:xfrm>
          </p:grpSpPr>
          <p:sp>
            <p:nvSpPr>
              <p:cNvPr id="619" name="Flowchart: Delay 618">
                <a:extLst>
                  <a:ext uri="{FF2B5EF4-FFF2-40B4-BE49-F238E27FC236}">
                    <a16:creationId xmlns:a16="http://schemas.microsoft.com/office/drawing/2014/main" id="{A4674349-2C0E-27FC-5991-CBA8AEBF1392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DC9BB6A4-16FB-D8F0-CFB1-E3C38B7C5C5B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3" name="Group 612">
              <a:extLst>
                <a:ext uri="{FF2B5EF4-FFF2-40B4-BE49-F238E27FC236}">
                  <a16:creationId xmlns:a16="http://schemas.microsoft.com/office/drawing/2014/main" id="{6D4BB6A3-2C9F-009E-7B96-9F348F0B6CC9}"/>
                </a:ext>
              </a:extLst>
            </p:cNvPr>
            <p:cNvGrpSpPr/>
            <p:nvPr/>
          </p:nvGrpSpPr>
          <p:grpSpPr>
            <a:xfrm rot="3740995">
              <a:off x="1105079" y="4152016"/>
              <a:ext cx="458369" cy="399856"/>
              <a:chOff x="3690596" y="5264272"/>
              <a:chExt cx="458369" cy="399856"/>
            </a:xfrm>
          </p:grpSpPr>
          <p:sp>
            <p:nvSpPr>
              <p:cNvPr id="617" name="Flowchart: Delay 616">
                <a:extLst>
                  <a:ext uri="{FF2B5EF4-FFF2-40B4-BE49-F238E27FC236}">
                    <a16:creationId xmlns:a16="http://schemas.microsoft.com/office/drawing/2014/main" id="{4E45B22D-AB78-2280-A666-BFD1E79CB961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645F985C-9F3E-5A04-BE51-7E4E466CF7EC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042006F9-99AC-ABBC-068E-BAC0728EFE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4183" y="3264131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" name="Diamond 614">
              <a:extLst>
                <a:ext uri="{FF2B5EF4-FFF2-40B4-BE49-F238E27FC236}">
                  <a16:creationId xmlns:a16="http://schemas.microsoft.com/office/drawing/2014/main" id="{5051001D-1791-5097-5918-7285C89A5566}"/>
                </a:ext>
              </a:extLst>
            </p:cNvPr>
            <p:cNvSpPr/>
            <p:nvPr/>
          </p:nvSpPr>
          <p:spPr>
            <a:xfrm>
              <a:off x="3185127" y="3382696"/>
              <a:ext cx="412006" cy="57034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Diamond 615">
              <a:extLst>
                <a:ext uri="{FF2B5EF4-FFF2-40B4-BE49-F238E27FC236}">
                  <a16:creationId xmlns:a16="http://schemas.microsoft.com/office/drawing/2014/main" id="{A4B7D852-6A62-8BB1-DA86-567CD3C05328}"/>
                </a:ext>
              </a:extLst>
            </p:cNvPr>
            <p:cNvSpPr/>
            <p:nvPr/>
          </p:nvSpPr>
          <p:spPr>
            <a:xfrm>
              <a:off x="1068179" y="3401745"/>
              <a:ext cx="412006" cy="57034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941F1781-6241-A0BD-566A-0D89525D64B1}"/>
              </a:ext>
            </a:extLst>
          </p:cNvPr>
          <p:cNvGrpSpPr/>
          <p:nvPr/>
        </p:nvGrpSpPr>
        <p:grpSpPr>
          <a:xfrm>
            <a:off x="3054116" y="2582494"/>
            <a:ext cx="1754720" cy="882962"/>
            <a:chOff x="4101980" y="3248237"/>
            <a:chExt cx="2579620" cy="1316997"/>
          </a:xfrm>
        </p:grpSpPr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0B57B09D-9F4A-BBC8-CFD6-19A9763DD4A1}"/>
                </a:ext>
              </a:extLst>
            </p:cNvPr>
            <p:cNvCxnSpPr>
              <a:cxnSpLocks/>
              <a:endCxn id="635" idx="1"/>
            </p:cNvCxnSpPr>
            <p:nvPr/>
          </p:nvCxnSpPr>
          <p:spPr>
            <a:xfrm flipH="1">
              <a:off x="6438894" y="3258467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1B092418-3B3E-AD41-BB6A-E254E86FE8DD}"/>
                </a:ext>
              </a:extLst>
            </p:cNvPr>
            <p:cNvGrpSpPr/>
            <p:nvPr/>
          </p:nvGrpSpPr>
          <p:grpSpPr>
            <a:xfrm rot="3740995">
              <a:off x="6241200" y="4120985"/>
              <a:ext cx="458369" cy="399856"/>
              <a:chOff x="3690596" y="5264272"/>
              <a:chExt cx="458369" cy="399856"/>
            </a:xfrm>
          </p:grpSpPr>
          <p:sp>
            <p:nvSpPr>
              <p:cNvPr id="635" name="Flowchart: Delay 634">
                <a:extLst>
                  <a:ext uri="{FF2B5EF4-FFF2-40B4-BE49-F238E27FC236}">
                    <a16:creationId xmlns:a16="http://schemas.microsoft.com/office/drawing/2014/main" id="{AA0FB4F2-233F-BAE5-A6C6-CA1DD2B6232E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B4A2EFBB-5EB1-9DD9-CFEE-1FDE5E749A0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629D3AE1-1720-3D54-B903-49C262213E45}"/>
                </a:ext>
              </a:extLst>
            </p:cNvPr>
            <p:cNvGrpSpPr/>
            <p:nvPr/>
          </p:nvGrpSpPr>
          <p:grpSpPr>
            <a:xfrm rot="3740995">
              <a:off x="4152843" y="4136122"/>
              <a:ext cx="458369" cy="399856"/>
              <a:chOff x="3690596" y="5264272"/>
              <a:chExt cx="458369" cy="399856"/>
            </a:xfrm>
          </p:grpSpPr>
          <p:sp>
            <p:nvSpPr>
              <p:cNvPr id="633" name="Flowchart: Delay 632">
                <a:extLst>
                  <a:ext uri="{FF2B5EF4-FFF2-40B4-BE49-F238E27FC236}">
                    <a16:creationId xmlns:a16="http://schemas.microsoft.com/office/drawing/2014/main" id="{CB1EAFA6-FDE2-A8CB-E084-B3F04A235614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6A1167B1-D50A-99B9-ACA6-89DA9671DF7A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BB2BCABC-C7D5-2351-318C-CE4CEE092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187" y="3248237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1CEE7762-B443-EB7B-0CC2-95E6DA6C1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5967" y="3764283"/>
              <a:ext cx="5019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4D072DA8-BF74-5978-22D3-F078BBD0A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187" y="3783583"/>
              <a:ext cx="5019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103B3FDD-D6EC-CC0D-DC23-37F12D719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9394" y="3774058"/>
              <a:ext cx="50192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9" name="Rectangle: Rounded Corners 628">
              <a:extLst>
                <a:ext uri="{FF2B5EF4-FFF2-40B4-BE49-F238E27FC236}">
                  <a16:creationId xmlns:a16="http://schemas.microsoft.com/office/drawing/2014/main" id="{56326BA4-DBAA-E18C-6159-C8CA25DAC371}"/>
                </a:ext>
              </a:extLst>
            </p:cNvPr>
            <p:cNvSpPr/>
            <p:nvPr/>
          </p:nvSpPr>
          <p:spPr>
            <a:xfrm>
              <a:off x="5732193" y="3591452"/>
              <a:ext cx="405547" cy="337849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LO</a:t>
              </a:r>
            </a:p>
          </p:txBody>
        </p:sp>
        <p:sp>
          <p:nvSpPr>
            <p:cNvPr id="630" name="Rectangle: Rounded Corners 629">
              <a:extLst>
                <a:ext uri="{FF2B5EF4-FFF2-40B4-BE49-F238E27FC236}">
                  <a16:creationId xmlns:a16="http://schemas.microsoft.com/office/drawing/2014/main" id="{DAF83F62-8DCF-8311-8C08-6720E0BC421F}"/>
                </a:ext>
              </a:extLst>
            </p:cNvPr>
            <p:cNvSpPr/>
            <p:nvPr/>
          </p:nvSpPr>
          <p:spPr>
            <a:xfrm>
              <a:off x="4684394" y="3591452"/>
              <a:ext cx="405547" cy="337849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 useBgFill="1">
              <p:nvSpPr>
                <p:cNvPr id="631" name="TextBox 630">
                  <a:extLst>
                    <a:ext uri="{FF2B5EF4-FFF2-40B4-BE49-F238E27FC236}">
                      <a16:creationId xmlns:a16="http://schemas.microsoft.com/office/drawing/2014/main" id="{C47E9182-987F-E9E4-BA08-A52FD3640D9F}"/>
                    </a:ext>
                  </a:extLst>
                </p:cNvPr>
                <p:cNvSpPr txBox="1"/>
                <p:nvPr/>
              </p:nvSpPr>
              <p:spPr>
                <a:xfrm rot="10800000">
                  <a:off x="6346356" y="3588479"/>
                  <a:ext cx="335244" cy="39020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 useBgFill="1">
              <p:nvSpPr>
                <p:cNvPr id="631" name="TextBox 630">
                  <a:extLst>
                    <a:ext uri="{FF2B5EF4-FFF2-40B4-BE49-F238E27FC236}">
                      <a16:creationId xmlns:a16="http://schemas.microsoft.com/office/drawing/2014/main" id="{C47E9182-987F-E9E4-BA08-A52FD3640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6346356" y="3588479"/>
                  <a:ext cx="335244" cy="390209"/>
                </a:xfrm>
                <a:prstGeom prst="rect">
                  <a:avLst/>
                </a:prstGeom>
                <a:blipFill>
                  <a:blip r:embed="rId10"/>
                  <a:stretch>
                    <a:fillRect l="-26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 useBgFill="1">
              <p:nvSpPr>
                <p:cNvPr id="632" name="TextBox 631">
                  <a:extLst>
                    <a:ext uri="{FF2B5EF4-FFF2-40B4-BE49-F238E27FC236}">
                      <a16:creationId xmlns:a16="http://schemas.microsoft.com/office/drawing/2014/main" id="{C57ABA9F-54F3-C2CD-3F37-8648E101270F}"/>
                    </a:ext>
                  </a:extLst>
                </p:cNvPr>
                <p:cNvSpPr txBox="1"/>
                <p:nvPr/>
              </p:nvSpPr>
              <p:spPr>
                <a:xfrm>
                  <a:off x="4101980" y="3528300"/>
                  <a:ext cx="316733" cy="413162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 useBgFill="1">
              <p:nvSpPr>
                <p:cNvPr id="632" name="TextBox 631">
                  <a:extLst>
                    <a:ext uri="{FF2B5EF4-FFF2-40B4-BE49-F238E27FC236}">
                      <a16:creationId xmlns:a16="http://schemas.microsoft.com/office/drawing/2014/main" id="{C57ABA9F-54F3-C2CD-3F37-8648E10127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1980" y="3528300"/>
                  <a:ext cx="316733" cy="413162"/>
                </a:xfrm>
                <a:prstGeom prst="rect">
                  <a:avLst/>
                </a:prstGeom>
                <a:blipFill>
                  <a:blip r:embed="rId11"/>
                  <a:stretch>
                    <a:fillRect r="-4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5DB65F09-57A1-D7DF-C2B1-AAC96194B05C}"/>
              </a:ext>
            </a:extLst>
          </p:cNvPr>
          <p:cNvGrpSpPr/>
          <p:nvPr/>
        </p:nvGrpSpPr>
        <p:grpSpPr>
          <a:xfrm>
            <a:off x="660669" y="2497076"/>
            <a:ext cx="1396961" cy="968382"/>
            <a:chOff x="7840919" y="3114083"/>
            <a:chExt cx="2066925" cy="1434892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CFE1095-B12A-E51A-534D-8B00ACEA56D7}"/>
                </a:ext>
              </a:extLst>
            </p:cNvPr>
            <p:cNvCxnSpPr/>
            <p:nvPr/>
          </p:nvCxnSpPr>
          <p:spPr>
            <a:xfrm>
              <a:off x="7840919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627884C-0765-29B3-91B7-3B0F3AD03BC0}"/>
                </a:ext>
              </a:extLst>
            </p:cNvPr>
            <p:cNvCxnSpPr/>
            <p:nvPr/>
          </p:nvCxnSpPr>
          <p:spPr>
            <a:xfrm>
              <a:off x="9907844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52BB00B-9CA1-0D15-5BA7-20C6DA92AE0F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19" y="3371258"/>
              <a:ext cx="1472741" cy="877862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8E196F4-D772-08FA-3CDC-452937581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19" y="3371258"/>
              <a:ext cx="1419225" cy="877862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EAB70A9-40E3-1624-C2EE-5CA46DAD5548}"/>
                </a:ext>
              </a:extLst>
            </p:cNvPr>
            <p:cNvSpPr/>
            <p:nvPr/>
          </p:nvSpPr>
          <p:spPr>
            <a:xfrm>
              <a:off x="9371292" y="3452938"/>
              <a:ext cx="270920" cy="34163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3E43D0B4-91AA-F917-5B2B-6E7003EA02D0}"/>
                    </a:ext>
                  </a:extLst>
                </p:cNvPr>
                <p:cNvSpPr txBox="1"/>
                <p:nvPr/>
              </p:nvSpPr>
              <p:spPr>
                <a:xfrm>
                  <a:off x="9315179" y="3440466"/>
                  <a:ext cx="279359" cy="380176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3E43D0B4-91AA-F917-5B2B-6E7003EA0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179" y="3440466"/>
                  <a:ext cx="279359" cy="38017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F1597E17-C009-ED01-23D8-5C4FE2D4B29B}"/>
                </a:ext>
              </a:extLst>
            </p:cNvPr>
            <p:cNvSpPr/>
            <p:nvPr/>
          </p:nvSpPr>
          <p:spPr>
            <a:xfrm>
              <a:off x="8868954" y="3863031"/>
              <a:ext cx="45719" cy="285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lowchart: Delay 198">
              <a:extLst>
                <a:ext uri="{FF2B5EF4-FFF2-40B4-BE49-F238E27FC236}">
                  <a16:creationId xmlns:a16="http://schemas.microsoft.com/office/drawing/2014/main" id="{F59A3D2C-5B8E-92A2-7C68-B2ACDAC7392B}"/>
                </a:ext>
              </a:extLst>
            </p:cNvPr>
            <p:cNvSpPr/>
            <p:nvPr/>
          </p:nvSpPr>
          <p:spPr>
            <a:xfrm rot="1729933">
              <a:off x="9325650" y="4149119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Flowchart: Delay 199">
              <a:extLst>
                <a:ext uri="{FF2B5EF4-FFF2-40B4-BE49-F238E27FC236}">
                  <a16:creationId xmlns:a16="http://schemas.microsoft.com/office/drawing/2014/main" id="{1BA30C23-5C97-E6C7-1FA3-BBAC39A372EC}"/>
                </a:ext>
              </a:extLst>
            </p:cNvPr>
            <p:cNvSpPr/>
            <p:nvPr/>
          </p:nvSpPr>
          <p:spPr>
            <a:xfrm rot="8951118">
              <a:off x="8286951" y="414605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8D833BE4-7F16-E847-30D7-01C68C5081D8}"/>
                </a:ext>
              </a:extLst>
            </p:cNvPr>
            <p:cNvSpPr/>
            <p:nvPr/>
          </p:nvSpPr>
          <p:spPr>
            <a:xfrm>
              <a:off x="9517319" y="4339425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55F06073-F08B-6767-6719-3A9306EAFCFE}"/>
                </a:ext>
              </a:extLst>
            </p:cNvPr>
            <p:cNvSpPr/>
            <p:nvPr/>
          </p:nvSpPr>
          <p:spPr>
            <a:xfrm>
              <a:off x="7917119" y="4326594"/>
              <a:ext cx="361950" cy="167347"/>
            </a:xfrm>
            <a:custGeom>
              <a:avLst/>
              <a:gdLst>
                <a:gd name="connsiteX0" fmla="*/ 361950 w 361950"/>
                <a:gd name="connsiteY0" fmla="*/ 12831 h 167347"/>
                <a:gd name="connsiteX1" fmla="*/ 219075 w 361950"/>
                <a:gd name="connsiteY1" fmla="*/ 12831 h 167347"/>
                <a:gd name="connsiteX2" fmla="*/ 228600 w 361950"/>
                <a:gd name="connsiteY2" fmla="*/ 146181 h 167347"/>
                <a:gd name="connsiteX3" fmla="*/ 0 w 361950"/>
                <a:gd name="connsiteY3" fmla="*/ 165231 h 16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167347">
                  <a:moveTo>
                    <a:pt x="361950" y="12831"/>
                  </a:moveTo>
                  <a:cubicBezTo>
                    <a:pt x="301625" y="1718"/>
                    <a:pt x="241300" y="-9394"/>
                    <a:pt x="219075" y="12831"/>
                  </a:cubicBezTo>
                  <a:cubicBezTo>
                    <a:pt x="196850" y="35056"/>
                    <a:pt x="265112" y="120781"/>
                    <a:pt x="228600" y="146181"/>
                  </a:cubicBezTo>
                  <a:cubicBezTo>
                    <a:pt x="192088" y="171581"/>
                    <a:pt x="96044" y="168406"/>
                    <a:pt x="0" y="165231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374FCC76-2A46-F904-A457-68B364B20504}"/>
              </a:ext>
            </a:extLst>
          </p:cNvPr>
          <p:cNvSpPr txBox="1"/>
          <p:nvPr/>
        </p:nvSpPr>
        <p:spPr>
          <a:xfrm>
            <a:off x="691569" y="3575627"/>
            <a:ext cx="1452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Direct detection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E47CEF4-1A7B-7616-2BC3-70015542473C}"/>
              </a:ext>
            </a:extLst>
          </p:cNvPr>
          <p:cNvSpPr txBox="1"/>
          <p:nvPr/>
        </p:nvSpPr>
        <p:spPr>
          <a:xfrm>
            <a:off x="2763983" y="3574374"/>
            <a:ext cx="2439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Heterodyne interferometry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BDA7AA3-F387-B2F7-0C4E-67FFDC28E27F}"/>
              </a:ext>
            </a:extLst>
          </p:cNvPr>
          <p:cNvCxnSpPr/>
          <p:nvPr/>
        </p:nvCxnSpPr>
        <p:spPr>
          <a:xfrm>
            <a:off x="7823102" y="3714126"/>
            <a:ext cx="5143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2A4A45C4-DCCD-B846-F20B-80826AA1491D}"/>
              </a:ext>
            </a:extLst>
          </p:cNvPr>
          <p:cNvSpPr txBox="1"/>
          <p:nvPr/>
        </p:nvSpPr>
        <p:spPr>
          <a:xfrm>
            <a:off x="5450157" y="3574374"/>
            <a:ext cx="209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Intensity interferometry</a:t>
            </a: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44E342E-8423-7C79-A2B0-D0840CFD665A}"/>
              </a:ext>
            </a:extLst>
          </p:cNvPr>
          <p:cNvGrpSpPr/>
          <p:nvPr/>
        </p:nvGrpSpPr>
        <p:grpSpPr>
          <a:xfrm>
            <a:off x="373539" y="1092370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4B40DEF-DB9A-8A3A-4D2B-B72E3509A885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586A1232-2F2A-F8E4-1946-6677C8649369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25" name="Flowchart: Delay 224">
                  <a:extLst>
                    <a:ext uri="{FF2B5EF4-FFF2-40B4-BE49-F238E27FC236}">
                      <a16:creationId xmlns:a16="http://schemas.microsoft.com/office/drawing/2014/main" id="{D8CDF7CC-6FE5-5C9E-A79D-5340EA88FBA6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1278719F-235E-9D45-2318-4F551FBC3FAA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80707498-E2C3-3F00-6891-C19D00C25FC2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Arc 227">
                  <a:extLst>
                    <a:ext uri="{FF2B5EF4-FFF2-40B4-BE49-F238E27FC236}">
                      <a16:creationId xmlns:a16="http://schemas.microsoft.com/office/drawing/2014/main" id="{A5D74420-04A9-9F85-AE69-43A1F88906C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C97B7EC3-70E6-065D-F8FC-1FA3C329EE7F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DA43C12D-DB11-1634-82D8-F293CFE8F386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DD527DC8-FA11-8B98-07C1-841355C35BBE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A8A9422D-B5A0-FC96-1409-20A2390800BC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A2987C4A-A83A-1D6F-5D67-DDDE70745F92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09" name="Graphic 208" descr="Solar system with solid fill">
              <a:extLst>
                <a:ext uri="{FF2B5EF4-FFF2-40B4-BE49-F238E27FC236}">
                  <a16:creationId xmlns:a16="http://schemas.microsoft.com/office/drawing/2014/main" id="{3E33EBE7-9965-03A1-1D13-DE2F7BB2C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471950FA-AADB-8343-756F-A725F64F4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A497483F-34E7-C6EA-8524-44AD85F7622A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EB6B0896-1B40-C5C2-A249-551A659DB613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2DA1A39B-1C5D-04CA-334D-BC0AF09CC772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15" name="Flowchart: Delay 214">
                  <a:extLst>
                    <a:ext uri="{FF2B5EF4-FFF2-40B4-BE49-F238E27FC236}">
                      <a16:creationId xmlns:a16="http://schemas.microsoft.com/office/drawing/2014/main" id="{064AD0DD-C661-601A-B37F-ECFBBCDA590C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C8485DF6-2313-CD54-539B-88AEB7E14739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A222F9BE-C117-5E7B-EF24-8841767F8EF8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Arc 217">
                  <a:extLst>
                    <a:ext uri="{FF2B5EF4-FFF2-40B4-BE49-F238E27FC236}">
                      <a16:creationId xmlns:a16="http://schemas.microsoft.com/office/drawing/2014/main" id="{E47257CE-21AD-26E3-85E4-FBEAB5CF5767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BEF0CADA-3D2B-0E7F-0981-0970535DD191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E3FD809E-C860-23B1-F77D-623867ACF866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69541CB6-EB1D-3132-3F2E-8FCC3DCF539A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DA00189D-48D5-0E69-441D-0E220469949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8ACF5FD6-0F77-6EC5-462F-F43043CA6696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34DC7B7-5939-6E85-B72D-EDD7C35CDCF2}"/>
              </a:ext>
            </a:extLst>
          </p:cNvPr>
          <p:cNvGrpSpPr/>
          <p:nvPr/>
        </p:nvGrpSpPr>
        <p:grpSpPr>
          <a:xfrm>
            <a:off x="3021014" y="1120207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7C43A3EA-14C6-48F1-A972-D36807317029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140FE08E-962B-2BF1-D10A-A3B7A199E967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74" name="Flowchart: Delay 273">
                  <a:extLst>
                    <a:ext uri="{FF2B5EF4-FFF2-40B4-BE49-F238E27FC236}">
                      <a16:creationId xmlns:a16="http://schemas.microsoft.com/office/drawing/2014/main" id="{9B00E1B1-7F97-AC95-77FD-B0C898724157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20D851BA-7030-2870-F90A-2639048AFCBE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3550F265-6CDD-9083-427E-592F1CCDDB73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1" name="Arc 280">
                  <a:extLst>
                    <a:ext uri="{FF2B5EF4-FFF2-40B4-BE49-F238E27FC236}">
                      <a16:creationId xmlns:a16="http://schemas.microsoft.com/office/drawing/2014/main" id="{62A9CFBF-48F7-D182-CA4D-F3C444629CDA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78522A0B-0A4C-AA3B-416B-455D0BC48362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4" name="Rectangle 283">
                  <a:extLst>
                    <a:ext uri="{FF2B5EF4-FFF2-40B4-BE49-F238E27FC236}">
                      <a16:creationId xmlns:a16="http://schemas.microsoft.com/office/drawing/2014/main" id="{D173FC73-0B98-0A3F-3FE3-9D0F0EB89211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0F76DC70-49E0-E331-E401-E038AEA25EE4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6" name="Rectangle 285">
                  <a:extLst>
                    <a:ext uri="{FF2B5EF4-FFF2-40B4-BE49-F238E27FC236}">
                      <a16:creationId xmlns:a16="http://schemas.microsoft.com/office/drawing/2014/main" id="{49460814-46CC-9088-0879-018482D2155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F7DB3322-D7C3-7734-7803-2E382E006FA5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35" name="Graphic 234" descr="Solar system with solid fill">
              <a:extLst>
                <a:ext uri="{FF2B5EF4-FFF2-40B4-BE49-F238E27FC236}">
                  <a16:creationId xmlns:a16="http://schemas.microsoft.com/office/drawing/2014/main" id="{92DD3AA0-D2C3-E997-F90F-D351B04A7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4EC73732-46E8-6DC2-7938-CC4B95D655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78FE6D05-2B68-0E15-7E95-3017603DE981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5C29C1B0-E2DC-8FD7-8A81-046757BB8A42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48BCDDB4-ACF2-9D2C-FCA1-98842CDD1C67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51" name="Flowchart: Delay 250">
                  <a:extLst>
                    <a:ext uri="{FF2B5EF4-FFF2-40B4-BE49-F238E27FC236}">
                      <a16:creationId xmlns:a16="http://schemas.microsoft.com/office/drawing/2014/main" id="{9F97D5D3-CB79-DD99-3FA1-78A7945B9BBE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5537640A-B5C8-C5A2-C6CE-A99B0C9F1415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1E379F6F-80B6-33DD-BEA9-B2A4424F6600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5" name="Arc 264">
                  <a:extLst>
                    <a:ext uri="{FF2B5EF4-FFF2-40B4-BE49-F238E27FC236}">
                      <a16:creationId xmlns:a16="http://schemas.microsoft.com/office/drawing/2014/main" id="{616C2292-E9A5-66F5-4256-28446F3A86F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8" name="Rectangle 267">
                  <a:extLst>
                    <a:ext uri="{FF2B5EF4-FFF2-40B4-BE49-F238E27FC236}">
                      <a16:creationId xmlns:a16="http://schemas.microsoft.com/office/drawing/2014/main" id="{F002EFEC-A824-B9EB-0DF0-21EB8FE5C5DF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4EC48AC4-0C5E-3E2D-2068-78A78572DED5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EA19C2DE-47AB-BD00-E1C8-874A24633174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9F02468F-AE44-AE67-F1F9-FF8C0AC7D6E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EE2A1FBA-4F6B-3FBA-3151-680F026140ED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C9D0B00A-60D2-1AD3-2275-2813F1BFB75D}"/>
              </a:ext>
            </a:extLst>
          </p:cNvPr>
          <p:cNvGrpSpPr/>
          <p:nvPr/>
        </p:nvGrpSpPr>
        <p:grpSpPr>
          <a:xfrm>
            <a:off x="5413298" y="1139289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22D11A60-B9ED-D093-279E-47591BB110EE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9AA02C31-3855-DA91-E11F-8894F902971C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06" name="Flowchart: Delay 305">
                  <a:extLst>
                    <a:ext uri="{FF2B5EF4-FFF2-40B4-BE49-F238E27FC236}">
                      <a16:creationId xmlns:a16="http://schemas.microsoft.com/office/drawing/2014/main" id="{20E29C33-A48B-7AEC-3CC4-BB9ADF56AAFA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7" name="Rectangle 306">
                  <a:extLst>
                    <a:ext uri="{FF2B5EF4-FFF2-40B4-BE49-F238E27FC236}">
                      <a16:creationId xmlns:a16="http://schemas.microsoft.com/office/drawing/2014/main" id="{E7A7A67B-0FCD-9597-937A-B6207110CE49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957B09A8-B34D-B32F-F984-482A1CB01F7A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Arc 308">
                  <a:extLst>
                    <a:ext uri="{FF2B5EF4-FFF2-40B4-BE49-F238E27FC236}">
                      <a16:creationId xmlns:a16="http://schemas.microsoft.com/office/drawing/2014/main" id="{F79915E8-D889-6292-2BE5-5376CB8CC49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6116CA15-F292-9410-1028-23CAB3CC16FD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B792AE78-DA9B-03E8-EF31-ECFD02D4F9AE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C961C1FD-F0D5-2A0E-1D37-5133635F55B3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32370197-DA76-9125-6AB3-462F464A87ED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F71E82B3-D8B3-296C-7450-D01A3DF6B518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89" name="Graphic 288" descr="Solar system with solid fill">
              <a:extLst>
                <a:ext uri="{FF2B5EF4-FFF2-40B4-BE49-F238E27FC236}">
                  <a16:creationId xmlns:a16="http://schemas.microsoft.com/office/drawing/2014/main" id="{63094232-FECD-0760-1E20-7851DE067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6349502F-B23D-FF4F-2ED8-43D1BF60F8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693CFCD9-D8C0-C4FD-C662-5392AD2E177D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2DA29D17-3AA0-6264-0102-0BA4B75D4590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DBBE2444-BFB8-9A57-5548-A16CDF1950FE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95" name="Flowchart: Delay 294">
                  <a:extLst>
                    <a:ext uri="{FF2B5EF4-FFF2-40B4-BE49-F238E27FC236}">
                      <a16:creationId xmlns:a16="http://schemas.microsoft.com/office/drawing/2014/main" id="{5898C3F1-B43A-B2BB-E8CB-5D3890E24371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5EC4512A-122E-9274-B71D-CFE46C5C0496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7398C152-B9AD-311F-0BF1-911AA7CC9225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Arc 297">
                  <a:extLst>
                    <a:ext uri="{FF2B5EF4-FFF2-40B4-BE49-F238E27FC236}">
                      <a16:creationId xmlns:a16="http://schemas.microsoft.com/office/drawing/2014/main" id="{917F577F-2AB7-879C-8249-0D20ACFE18E2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70DCECAE-1B4A-221D-F607-010F10661490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55384330-5715-329C-9D7A-0BA7830E7F6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5343A102-796C-03E1-0B44-D644B5FC9190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CDC49656-95F9-45C3-0800-BB07033CACC9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552E44CD-49E4-FBA8-9865-E5E5310BDC8D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116F71EA-4E9B-DFBE-2913-2442F0334A77}"/>
              </a:ext>
            </a:extLst>
          </p:cNvPr>
          <p:cNvGrpSpPr/>
          <p:nvPr/>
        </p:nvGrpSpPr>
        <p:grpSpPr>
          <a:xfrm>
            <a:off x="9181452" y="1168284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0891D00D-DC6E-2E18-52DB-40CD19C7486E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771" name="Group 770">
                <a:extLst>
                  <a:ext uri="{FF2B5EF4-FFF2-40B4-BE49-F238E27FC236}">
                    <a16:creationId xmlns:a16="http://schemas.microsoft.com/office/drawing/2014/main" id="{5B16D7E5-DC1A-15F2-3A59-257713D8E4CD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773" name="Flowchart: Delay 772">
                  <a:extLst>
                    <a:ext uri="{FF2B5EF4-FFF2-40B4-BE49-F238E27FC236}">
                      <a16:creationId xmlns:a16="http://schemas.microsoft.com/office/drawing/2014/main" id="{CF0AB3EA-51D1-FCBB-C1D5-D0CFEBFF8F18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1C9DA6A6-05D1-4F6B-4230-B0781F556DAF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76CCAA27-07A1-D356-08F1-2C5838E8CBC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6" name="Arc 775">
                  <a:extLst>
                    <a:ext uri="{FF2B5EF4-FFF2-40B4-BE49-F238E27FC236}">
                      <a16:creationId xmlns:a16="http://schemas.microsoft.com/office/drawing/2014/main" id="{205A7486-01E1-AB92-2FA3-60BB2101968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0B7CE1D3-24C9-3CD7-484E-55F8B5E2EB9C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2E4BCE64-26BF-C6F7-E053-DF1678298880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B9B8DBCF-818C-E9ED-837F-88D79AF26E9F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CB364020-E1D8-0BE6-F21D-292D26A9E627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C48A50D4-F602-1433-689F-147B3D17D4F9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6" name="Graphic 315" descr="Solar system with solid fill">
              <a:extLst>
                <a:ext uri="{FF2B5EF4-FFF2-40B4-BE49-F238E27FC236}">
                  <a16:creationId xmlns:a16="http://schemas.microsoft.com/office/drawing/2014/main" id="{8B7CECA0-61E9-382A-BE49-CD671A024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03FFAFC9-068C-4122-C8C9-39B1268C1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9996A912-421A-C6D3-0DD8-1D89C4D0D60F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1FD6DBCD-E44D-5B07-AFE5-C291B035463C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761" name="Group 760">
                <a:extLst>
                  <a:ext uri="{FF2B5EF4-FFF2-40B4-BE49-F238E27FC236}">
                    <a16:creationId xmlns:a16="http://schemas.microsoft.com/office/drawing/2014/main" id="{5198AF30-21E0-B95F-7E2F-19C240460B6C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763" name="Flowchart: Delay 762">
                  <a:extLst>
                    <a:ext uri="{FF2B5EF4-FFF2-40B4-BE49-F238E27FC236}">
                      <a16:creationId xmlns:a16="http://schemas.microsoft.com/office/drawing/2014/main" id="{F05FE989-A568-27B1-AA79-17AAB58DBFF9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8A04EF2B-3196-18C4-1E30-25F70CBCEA40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D90735BA-9475-5A5C-3F83-B84EE8C63CEB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6" name="Arc 765">
                  <a:extLst>
                    <a:ext uri="{FF2B5EF4-FFF2-40B4-BE49-F238E27FC236}">
                      <a16:creationId xmlns:a16="http://schemas.microsoft.com/office/drawing/2014/main" id="{237A4355-33F2-C002-7837-7392ACBDC13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B29AC0B5-80D3-E654-AFEF-F361687C9A14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8417E6CA-7924-DBEA-5DA3-03AFAE6CE174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F8087281-13E7-6317-96AB-5E21461F83B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4BBED014-FB56-E777-9319-2A8E0017B2B2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C493A6A7-7335-09AC-ACB0-5E5825AAAFFF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54EAA03E-62D2-E409-84B1-16E8C1DB8FE4}"/>
              </a:ext>
            </a:extLst>
          </p:cNvPr>
          <p:cNvCxnSpPr>
            <a:cxnSpLocks/>
          </p:cNvCxnSpPr>
          <p:nvPr/>
        </p:nvCxnSpPr>
        <p:spPr>
          <a:xfrm>
            <a:off x="8102698" y="6284189"/>
            <a:ext cx="4089302" cy="0"/>
          </a:xfrm>
          <a:prstGeom prst="line">
            <a:avLst/>
          </a:prstGeom>
          <a:ln w="22225">
            <a:solidFill>
              <a:srgbClr val="EE5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53E982C9-E7FC-1E68-12C0-97995D415B22}"/>
              </a:ext>
            </a:extLst>
          </p:cNvPr>
          <p:cNvSpPr txBox="1"/>
          <p:nvPr/>
        </p:nvSpPr>
        <p:spPr>
          <a:xfrm>
            <a:off x="8080277" y="6311197"/>
            <a:ext cx="40073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sz="1000" b="0" i="0" dirty="0" err="1">
                <a:solidFill>
                  <a:srgbClr val="555555"/>
                </a:solidFill>
                <a:effectLst/>
                <a:latin typeface="Proxima Nova"/>
              </a:rPr>
              <a:t>Mankei</a:t>
            </a:r>
            <a:r>
              <a:rPr lang="en-US" sz="1000" b="0" i="0" dirty="0">
                <a:solidFill>
                  <a:srgbClr val="555555"/>
                </a:solidFill>
                <a:effectLst/>
                <a:latin typeface="Proxima Nova"/>
              </a:rPr>
              <a:t> Tsang Phys. Rev. Lett. </a:t>
            </a:r>
            <a:r>
              <a:rPr lang="en-US" sz="1000" b="1" i="0" dirty="0">
                <a:solidFill>
                  <a:srgbClr val="555555"/>
                </a:solidFill>
                <a:effectLst/>
                <a:latin typeface="Proxima Nova"/>
              </a:rPr>
              <a:t>107</a:t>
            </a:r>
            <a:r>
              <a:rPr lang="en-US" sz="1000" b="0" i="0" dirty="0">
                <a:solidFill>
                  <a:srgbClr val="555555"/>
                </a:solidFill>
                <a:effectLst/>
                <a:latin typeface="Proxima Nova"/>
              </a:rPr>
              <a:t>, 270402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555555"/>
                </a:solidFill>
                <a:latin typeface="Proxima Nova"/>
              </a:rPr>
              <a:t>Daniel Gottesman, Thomas </a:t>
            </a:r>
            <a:r>
              <a:rPr lang="en-US" sz="1000" dirty="0" err="1">
                <a:solidFill>
                  <a:srgbClr val="555555"/>
                </a:solidFill>
                <a:latin typeface="Proxima Nova"/>
              </a:rPr>
              <a:t>Jennewein</a:t>
            </a:r>
            <a:r>
              <a:rPr lang="en-US" sz="1000" dirty="0">
                <a:solidFill>
                  <a:srgbClr val="555555"/>
                </a:solidFill>
                <a:latin typeface="Proxima Nova"/>
              </a:rPr>
              <a:t>, and Sarah Croke Phys. Rev. Lett. </a:t>
            </a:r>
            <a:r>
              <a:rPr lang="en-US" sz="1000" b="1" dirty="0">
                <a:solidFill>
                  <a:srgbClr val="555555"/>
                </a:solidFill>
                <a:latin typeface="Proxima Nova"/>
              </a:rPr>
              <a:t>109</a:t>
            </a:r>
            <a:r>
              <a:rPr lang="en-US" sz="1000" dirty="0">
                <a:solidFill>
                  <a:srgbClr val="555555"/>
                </a:solidFill>
                <a:latin typeface="Proxima Nova"/>
              </a:rPr>
              <a:t>, 070503 </a:t>
            </a:r>
            <a:endParaRPr lang="en-US" sz="1000" b="0" i="0" dirty="0">
              <a:solidFill>
                <a:srgbClr val="555555"/>
              </a:solidFill>
              <a:effectLst/>
              <a:latin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E28D07-A70D-0F84-CC09-7A84571AB1AA}"/>
                  </a:ext>
                </a:extLst>
              </p:cNvPr>
              <p:cNvSpPr txBox="1"/>
              <p:nvPr/>
            </p:nvSpPr>
            <p:spPr>
              <a:xfrm>
                <a:off x="3828941" y="804093"/>
                <a:ext cx="42737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0" dirty="0"/>
                  <a:t>Source state with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≪1 </m:t>
                    </m:r>
                  </m:oMath>
                </a14:m>
                <a:r>
                  <a:rPr lang="en-US" sz="1400" b="0" dirty="0"/>
                  <a:t>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E28D07-A70D-0F84-CC09-7A84571AB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941" y="804093"/>
                <a:ext cx="4273757" cy="307777"/>
              </a:xfrm>
              <a:prstGeom prst="rect">
                <a:avLst/>
              </a:prstGeom>
              <a:blipFill>
                <a:blip r:embed="rId15"/>
                <a:stretch>
                  <a:fillRect l="-428"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28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2" grpId="0" animBg="1"/>
      <p:bldP spid="3" grpId="0"/>
      <p:bldP spid="4" grpId="0"/>
      <p:bldP spid="609" grpId="0"/>
      <p:bldP spid="203" grpId="0"/>
      <p:bldP spid="204" grpId="0"/>
      <p:bldP spid="206" grpId="0"/>
      <p:bldP spid="7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CE5618E-B01F-295D-91E8-F16EB5774090}"/>
              </a:ext>
            </a:extLst>
          </p:cNvPr>
          <p:cNvSpPr/>
          <p:nvPr/>
        </p:nvSpPr>
        <p:spPr>
          <a:xfrm>
            <a:off x="244440" y="895350"/>
            <a:ext cx="11703120" cy="1247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telescope: shared path entanglement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56954-4BAE-71D7-9FC5-17BA12CAE1A5}"/>
              </a:ext>
            </a:extLst>
          </p:cNvPr>
          <p:cNvSpPr txBox="1"/>
          <p:nvPr/>
        </p:nvSpPr>
        <p:spPr>
          <a:xfrm>
            <a:off x="349111" y="1127462"/>
            <a:ext cx="114937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need a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high-rate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true single-photon source which puts out exactly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photon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 field mode to produce the entangled states.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                                                                                         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 Gottesman,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Jennewein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Croke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94C638-0FAE-A2BF-0E13-E3F566B54572}"/>
              </a:ext>
            </a:extLst>
          </p:cNvPr>
          <p:cNvCxnSpPr>
            <a:cxnSpLocks/>
          </p:cNvCxnSpPr>
          <p:nvPr/>
        </p:nvCxnSpPr>
        <p:spPr>
          <a:xfrm>
            <a:off x="3403185" y="4393200"/>
            <a:ext cx="0" cy="283717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BBC1EF6-F105-633D-06BC-3289E5A87678}"/>
              </a:ext>
            </a:extLst>
          </p:cNvPr>
          <p:cNvSpPr txBox="1"/>
          <p:nvPr/>
        </p:nvSpPr>
        <p:spPr>
          <a:xfrm>
            <a:off x="4372406" y="2549116"/>
            <a:ext cx="7766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17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/>
              <a:t>To make it actually works, what is required?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7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700" dirty="0"/>
              <a:t> A repeater network (Otherwise, loss will be applied to the ‘lab’ photon)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7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700" dirty="0"/>
              <a:t> A source having </a:t>
            </a:r>
            <a:r>
              <a:rPr lang="en-US" sz="1700" b="1" u="sng" dirty="0"/>
              <a:t>high rate</a:t>
            </a:r>
            <a:r>
              <a:rPr lang="en-US" sz="1700" dirty="0"/>
              <a:t>, and output exactly </a:t>
            </a:r>
            <a:r>
              <a:rPr lang="en-US" sz="1700" b="1" u="sng" dirty="0"/>
              <a:t>one photon</a:t>
            </a:r>
            <a:r>
              <a:rPr lang="en-US" sz="1700" dirty="0"/>
              <a:t> per mode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FF000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32C2A8-1282-3086-2270-9120D9C0A848}"/>
              </a:ext>
            </a:extLst>
          </p:cNvPr>
          <p:cNvSpPr txBox="1"/>
          <p:nvPr/>
        </p:nvSpPr>
        <p:spPr>
          <a:xfrm>
            <a:off x="2324581" y="3770887"/>
            <a:ext cx="981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Telescope</a:t>
            </a:r>
          </a:p>
          <a:p>
            <a:r>
              <a:rPr lang="en-US" altLang="zh-CN" sz="1100" dirty="0"/>
              <a:t>       R</a:t>
            </a:r>
            <a:endParaRPr 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7CAB95-4502-F253-7045-EAE0C688113A}"/>
              </a:ext>
            </a:extLst>
          </p:cNvPr>
          <p:cNvSpPr txBox="1"/>
          <p:nvPr/>
        </p:nvSpPr>
        <p:spPr>
          <a:xfrm>
            <a:off x="238619" y="3770887"/>
            <a:ext cx="981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Telescope </a:t>
            </a:r>
          </a:p>
          <a:p>
            <a:r>
              <a:rPr lang="en-US" altLang="zh-CN" sz="1100" dirty="0"/>
              <a:t>       L</a:t>
            </a:r>
            <a:endParaRPr 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DC1E02-FB12-4728-2B78-2964950C6C24}"/>
              </a:ext>
            </a:extLst>
          </p:cNvPr>
          <p:cNvSpPr txBox="1"/>
          <p:nvPr/>
        </p:nvSpPr>
        <p:spPr>
          <a:xfrm>
            <a:off x="1163696" y="2556511"/>
            <a:ext cx="981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Astronomical </a:t>
            </a:r>
          </a:p>
          <a:p>
            <a:r>
              <a:rPr lang="en-US" sz="1100" dirty="0"/>
              <a:t>source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082CFA-D42F-994C-E61C-CB36838FA907}"/>
              </a:ext>
            </a:extLst>
          </p:cNvPr>
          <p:cNvGrpSpPr/>
          <p:nvPr/>
        </p:nvGrpSpPr>
        <p:grpSpPr>
          <a:xfrm rot="798871">
            <a:off x="3761203" y="4991361"/>
            <a:ext cx="458369" cy="399856"/>
            <a:chOff x="3690596" y="5264272"/>
            <a:chExt cx="458369" cy="399856"/>
          </a:xfrm>
        </p:grpSpPr>
        <p:sp>
          <p:nvSpPr>
            <p:cNvPr id="4" name="Flowchart: Delay 3">
              <a:extLst>
                <a:ext uri="{FF2B5EF4-FFF2-40B4-BE49-F238E27FC236}">
                  <a16:creationId xmlns:a16="http://schemas.microsoft.com/office/drawing/2014/main" id="{758C0BBD-F9CC-17AB-0D4E-83E12849BF06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30FD95-BA50-F474-5466-8D3DDC6099C6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A116A99-3298-C17C-B753-6E20060F47CE}"/>
              </a:ext>
            </a:extLst>
          </p:cNvPr>
          <p:cNvGrpSpPr/>
          <p:nvPr/>
        </p:nvGrpSpPr>
        <p:grpSpPr>
          <a:xfrm rot="6401841">
            <a:off x="503473" y="5088410"/>
            <a:ext cx="458369" cy="399856"/>
            <a:chOff x="3690596" y="5264272"/>
            <a:chExt cx="458369" cy="399856"/>
          </a:xfrm>
        </p:grpSpPr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A0DE9687-8BF8-F1ED-8DF8-7217B090774C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56EB76-C4AB-F366-CFE0-7298F85CEF6F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5DABFC-881A-A00A-4272-AED91FC42BF1}"/>
              </a:ext>
            </a:extLst>
          </p:cNvPr>
          <p:cNvCxnSpPr>
            <a:cxnSpLocks/>
          </p:cNvCxnSpPr>
          <p:nvPr/>
        </p:nvCxnSpPr>
        <p:spPr>
          <a:xfrm flipH="1">
            <a:off x="3403185" y="4761994"/>
            <a:ext cx="391469" cy="44106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E4F06C-3630-8105-1766-58EF38EE5D8C}"/>
              </a:ext>
            </a:extLst>
          </p:cNvPr>
          <p:cNvCxnSpPr>
            <a:cxnSpLocks/>
          </p:cNvCxnSpPr>
          <p:nvPr/>
        </p:nvCxnSpPr>
        <p:spPr>
          <a:xfrm flipH="1" flipV="1">
            <a:off x="3408221" y="4676917"/>
            <a:ext cx="386433" cy="37782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6A6D9FA-08F5-A555-AC92-9BC22A8C0D71}"/>
              </a:ext>
            </a:extLst>
          </p:cNvPr>
          <p:cNvSpPr txBox="1"/>
          <p:nvPr/>
        </p:nvSpPr>
        <p:spPr>
          <a:xfrm>
            <a:off x="1235343" y="5853983"/>
            <a:ext cx="2400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Quantum telescope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1821E4D-2010-773C-48C2-E927F4CC7DCC}"/>
              </a:ext>
            </a:extLst>
          </p:cNvPr>
          <p:cNvCxnSpPr>
            <a:cxnSpLocks/>
          </p:cNvCxnSpPr>
          <p:nvPr/>
        </p:nvCxnSpPr>
        <p:spPr>
          <a:xfrm flipH="1">
            <a:off x="1228563" y="4433752"/>
            <a:ext cx="13561" cy="283717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E0BF2F-3A66-905E-FA9E-15B0A305F9F6}"/>
              </a:ext>
            </a:extLst>
          </p:cNvPr>
          <p:cNvCxnSpPr>
            <a:cxnSpLocks/>
          </p:cNvCxnSpPr>
          <p:nvPr/>
        </p:nvCxnSpPr>
        <p:spPr>
          <a:xfrm flipV="1">
            <a:off x="879777" y="4705496"/>
            <a:ext cx="351645" cy="38734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F662479-4D64-2658-F58F-C9D852B5F3B9}"/>
              </a:ext>
            </a:extLst>
          </p:cNvPr>
          <p:cNvCxnSpPr>
            <a:cxnSpLocks/>
          </p:cNvCxnSpPr>
          <p:nvPr/>
        </p:nvCxnSpPr>
        <p:spPr>
          <a:xfrm>
            <a:off x="3403185" y="5198867"/>
            <a:ext cx="0" cy="283717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BF8F7CA-951A-644B-F6CA-1C9A39232B5C}"/>
              </a:ext>
            </a:extLst>
          </p:cNvPr>
          <p:cNvCxnSpPr>
            <a:cxnSpLocks/>
          </p:cNvCxnSpPr>
          <p:nvPr/>
        </p:nvCxnSpPr>
        <p:spPr>
          <a:xfrm flipH="1" flipV="1">
            <a:off x="860726" y="4827171"/>
            <a:ext cx="358312" cy="364119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1D36BDD-BE2F-4EBE-2961-A6471B4DBE70}"/>
              </a:ext>
            </a:extLst>
          </p:cNvPr>
          <p:cNvCxnSpPr>
            <a:cxnSpLocks/>
          </p:cNvCxnSpPr>
          <p:nvPr/>
        </p:nvCxnSpPr>
        <p:spPr>
          <a:xfrm flipH="1">
            <a:off x="1210169" y="5183131"/>
            <a:ext cx="11728" cy="289928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6" name="Group 2055">
            <a:extLst>
              <a:ext uri="{FF2B5EF4-FFF2-40B4-BE49-F238E27FC236}">
                <a16:creationId xmlns:a16="http://schemas.microsoft.com/office/drawing/2014/main" id="{C5A2E912-8E68-C155-7DF1-1CC0A8B98EFD}"/>
              </a:ext>
            </a:extLst>
          </p:cNvPr>
          <p:cNvGrpSpPr/>
          <p:nvPr/>
        </p:nvGrpSpPr>
        <p:grpSpPr>
          <a:xfrm rot="11651344">
            <a:off x="470928" y="4470298"/>
            <a:ext cx="458369" cy="399856"/>
            <a:chOff x="3690596" y="5264272"/>
            <a:chExt cx="458369" cy="399856"/>
          </a:xfrm>
        </p:grpSpPr>
        <p:sp>
          <p:nvSpPr>
            <p:cNvPr id="2057" name="Flowchart: Delay 2056">
              <a:extLst>
                <a:ext uri="{FF2B5EF4-FFF2-40B4-BE49-F238E27FC236}">
                  <a16:creationId xmlns:a16="http://schemas.microsoft.com/office/drawing/2014/main" id="{E194126D-53DC-7AC3-89F3-57ECABDDC342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F2ABD721-37C9-FD1A-9095-BA0DE5F17060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67FB79A5-26A7-60F4-4AA3-BD4D0AB031AE}"/>
              </a:ext>
            </a:extLst>
          </p:cNvPr>
          <p:cNvGrpSpPr/>
          <p:nvPr/>
        </p:nvGrpSpPr>
        <p:grpSpPr>
          <a:xfrm rot="17167068">
            <a:off x="3695509" y="4369667"/>
            <a:ext cx="458369" cy="399856"/>
            <a:chOff x="3690596" y="5264272"/>
            <a:chExt cx="458369" cy="399856"/>
          </a:xfrm>
        </p:grpSpPr>
        <p:sp>
          <p:nvSpPr>
            <p:cNvPr id="2060" name="Flowchart: Delay 2059">
              <a:extLst>
                <a:ext uri="{FF2B5EF4-FFF2-40B4-BE49-F238E27FC236}">
                  <a16:creationId xmlns:a16="http://schemas.microsoft.com/office/drawing/2014/main" id="{A80EA093-3E05-3769-0EE3-99BF7D705B0B}"/>
                </a:ext>
              </a:extLst>
            </p:cNvPr>
            <p:cNvSpPr/>
            <p:nvPr/>
          </p:nvSpPr>
          <p:spPr>
            <a:xfrm rot="1535992">
              <a:off x="3690596" y="526427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D0CC9FC8-7A1F-C980-5C20-693762E35524}"/>
                </a:ext>
              </a:extLst>
            </p:cNvPr>
            <p:cNvSpPr/>
            <p:nvPr/>
          </p:nvSpPr>
          <p:spPr>
            <a:xfrm rot="21406059">
              <a:off x="3882265" y="5454578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E637A647-1A43-53B5-A4BF-163499B87E63}"/>
              </a:ext>
            </a:extLst>
          </p:cNvPr>
          <p:cNvSpPr/>
          <p:nvPr/>
        </p:nvSpPr>
        <p:spPr>
          <a:xfrm>
            <a:off x="1102255" y="5214516"/>
            <a:ext cx="2444651" cy="5187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5" name="TextBox 2064">
                <a:extLst>
                  <a:ext uri="{FF2B5EF4-FFF2-40B4-BE49-F238E27FC236}">
                    <a16:creationId xmlns:a16="http://schemas.microsoft.com/office/drawing/2014/main" id="{5B181E48-7D27-5950-2D52-87BFA9622AAA}"/>
                  </a:ext>
                </a:extLst>
              </p:cNvPr>
              <p:cNvSpPr txBox="1"/>
              <p:nvPr/>
            </p:nvSpPr>
            <p:spPr>
              <a:xfrm>
                <a:off x="3841613" y="4112507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i="0" dirty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65" name="TextBox 2064">
                <a:extLst>
                  <a:ext uri="{FF2B5EF4-FFF2-40B4-BE49-F238E27FC236}">
                    <a16:creationId xmlns:a16="http://schemas.microsoft.com/office/drawing/2014/main" id="{5B181E48-7D27-5950-2D52-87BFA9622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613" y="4112507"/>
                <a:ext cx="706903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0" name="TextBox 2069">
                <a:extLst>
                  <a:ext uri="{FF2B5EF4-FFF2-40B4-BE49-F238E27FC236}">
                    <a16:creationId xmlns:a16="http://schemas.microsoft.com/office/drawing/2014/main" id="{F7382A76-1B22-586A-4551-EAE0398253DD}"/>
                  </a:ext>
                </a:extLst>
              </p:cNvPr>
              <p:cNvSpPr txBox="1"/>
              <p:nvPr/>
            </p:nvSpPr>
            <p:spPr>
              <a:xfrm>
                <a:off x="1227415" y="5422568"/>
                <a:ext cx="2194329" cy="285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70" name="TextBox 2069">
                <a:extLst>
                  <a:ext uri="{FF2B5EF4-FFF2-40B4-BE49-F238E27FC236}">
                    <a16:creationId xmlns:a16="http://schemas.microsoft.com/office/drawing/2014/main" id="{F7382A76-1B22-586A-4551-EAE039825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15" y="5422568"/>
                <a:ext cx="2194329" cy="2858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1" name="TextBox 2070">
            <a:extLst>
              <a:ext uri="{FF2B5EF4-FFF2-40B4-BE49-F238E27FC236}">
                <a16:creationId xmlns:a16="http://schemas.microsoft.com/office/drawing/2014/main" id="{51E7D963-9395-E243-56A1-82EF251D3C26}"/>
              </a:ext>
            </a:extLst>
          </p:cNvPr>
          <p:cNvSpPr txBox="1"/>
          <p:nvPr/>
        </p:nvSpPr>
        <p:spPr>
          <a:xfrm>
            <a:off x="1460120" y="5196441"/>
            <a:ext cx="184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Shared entanglement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2" name="TextBox 2071">
                <a:extLst>
                  <a:ext uri="{FF2B5EF4-FFF2-40B4-BE49-F238E27FC236}">
                    <a16:creationId xmlns:a16="http://schemas.microsoft.com/office/drawing/2014/main" id="{9667FBD5-C8A3-1520-7A8B-E4B01E0128B7}"/>
                  </a:ext>
                </a:extLst>
              </p:cNvPr>
              <p:cNvSpPr txBox="1"/>
              <p:nvPr/>
            </p:nvSpPr>
            <p:spPr>
              <a:xfrm>
                <a:off x="3823811" y="5398095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i="0" dirty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72" name="TextBox 2071">
                <a:extLst>
                  <a:ext uri="{FF2B5EF4-FFF2-40B4-BE49-F238E27FC236}">
                    <a16:creationId xmlns:a16="http://schemas.microsoft.com/office/drawing/2014/main" id="{9667FBD5-C8A3-1520-7A8B-E4B01E012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11" y="5398095"/>
                <a:ext cx="70690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3" name="TextBox 2072">
                <a:extLst>
                  <a:ext uri="{FF2B5EF4-FFF2-40B4-BE49-F238E27FC236}">
                    <a16:creationId xmlns:a16="http://schemas.microsoft.com/office/drawing/2014/main" id="{38FC2C3D-C85B-F6F7-6A7E-0D02F6755CE6}"/>
                  </a:ext>
                </a:extLst>
              </p:cNvPr>
              <p:cNvSpPr txBox="1"/>
              <p:nvPr/>
            </p:nvSpPr>
            <p:spPr>
              <a:xfrm>
                <a:off x="14009" y="4264003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73" name="TextBox 2072">
                <a:extLst>
                  <a:ext uri="{FF2B5EF4-FFF2-40B4-BE49-F238E27FC236}">
                    <a16:creationId xmlns:a16="http://schemas.microsoft.com/office/drawing/2014/main" id="{38FC2C3D-C85B-F6F7-6A7E-0D02F6755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9" y="4264003"/>
                <a:ext cx="70690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4" name="TextBox 2073">
                <a:extLst>
                  <a:ext uri="{FF2B5EF4-FFF2-40B4-BE49-F238E27FC236}">
                    <a16:creationId xmlns:a16="http://schemas.microsoft.com/office/drawing/2014/main" id="{3427DA9C-A76C-0B24-1646-95F92F0DC2BE}"/>
                  </a:ext>
                </a:extLst>
              </p:cNvPr>
              <p:cNvSpPr txBox="1"/>
              <p:nvPr/>
            </p:nvSpPr>
            <p:spPr>
              <a:xfrm>
                <a:off x="-4657" y="5320080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074" name="TextBox 2073">
                <a:extLst>
                  <a:ext uri="{FF2B5EF4-FFF2-40B4-BE49-F238E27FC236}">
                    <a16:creationId xmlns:a16="http://schemas.microsoft.com/office/drawing/2014/main" id="{3427DA9C-A76C-0B24-1646-95F92F0DC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57" y="5320080"/>
                <a:ext cx="706903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7" name="TextBox 2106">
            <a:extLst>
              <a:ext uri="{FF2B5EF4-FFF2-40B4-BE49-F238E27FC236}">
                <a16:creationId xmlns:a16="http://schemas.microsoft.com/office/drawing/2014/main" id="{A4038EEF-BA3E-1912-9FCC-D6843D35C3DC}"/>
              </a:ext>
            </a:extLst>
          </p:cNvPr>
          <p:cNvSpPr txBox="1"/>
          <p:nvPr/>
        </p:nvSpPr>
        <p:spPr>
          <a:xfrm>
            <a:off x="5273370" y="5575949"/>
            <a:ext cx="1300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photon occupation </a:t>
            </a:r>
          </a:p>
        </p:txBody>
      </p:sp>
      <p:sp>
        <p:nvSpPr>
          <p:cNvPr id="2108" name="Freeform 30">
            <a:extLst>
              <a:ext uri="{FF2B5EF4-FFF2-40B4-BE49-F238E27FC236}">
                <a16:creationId xmlns:a16="http://schemas.microsoft.com/office/drawing/2014/main" id="{76B186B9-5C4F-E364-28D1-8D1D1CE0C1A7}"/>
              </a:ext>
            </a:extLst>
          </p:cNvPr>
          <p:cNvSpPr/>
          <p:nvPr/>
        </p:nvSpPr>
        <p:spPr>
          <a:xfrm>
            <a:off x="6333022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09" name="Freeform 30">
            <a:extLst>
              <a:ext uri="{FF2B5EF4-FFF2-40B4-BE49-F238E27FC236}">
                <a16:creationId xmlns:a16="http://schemas.microsoft.com/office/drawing/2014/main" id="{43F56282-E3E2-98C5-808F-EECD93B22F1E}"/>
              </a:ext>
            </a:extLst>
          </p:cNvPr>
          <p:cNvSpPr/>
          <p:nvPr/>
        </p:nvSpPr>
        <p:spPr>
          <a:xfrm>
            <a:off x="6756577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0" name="Freeform 30">
            <a:extLst>
              <a:ext uri="{FF2B5EF4-FFF2-40B4-BE49-F238E27FC236}">
                <a16:creationId xmlns:a16="http://schemas.microsoft.com/office/drawing/2014/main" id="{AB9335D0-977A-EDCE-8465-2E37F70E2567}"/>
              </a:ext>
            </a:extLst>
          </p:cNvPr>
          <p:cNvSpPr/>
          <p:nvPr/>
        </p:nvSpPr>
        <p:spPr>
          <a:xfrm>
            <a:off x="7187509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1" name="Freeform 30">
            <a:extLst>
              <a:ext uri="{FF2B5EF4-FFF2-40B4-BE49-F238E27FC236}">
                <a16:creationId xmlns:a16="http://schemas.microsoft.com/office/drawing/2014/main" id="{4E884CF3-F1FC-CD3F-4425-FF4A98EAF538}"/>
              </a:ext>
            </a:extLst>
          </p:cNvPr>
          <p:cNvSpPr/>
          <p:nvPr/>
        </p:nvSpPr>
        <p:spPr>
          <a:xfrm>
            <a:off x="7581068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2" name="Freeform 30">
            <a:extLst>
              <a:ext uri="{FF2B5EF4-FFF2-40B4-BE49-F238E27FC236}">
                <a16:creationId xmlns:a16="http://schemas.microsoft.com/office/drawing/2014/main" id="{ECE089E7-5F1D-47EE-A4D4-23E6847995B4}"/>
              </a:ext>
            </a:extLst>
          </p:cNvPr>
          <p:cNvSpPr/>
          <p:nvPr/>
        </p:nvSpPr>
        <p:spPr>
          <a:xfrm>
            <a:off x="7999041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3" name="Freeform 30">
            <a:extLst>
              <a:ext uri="{FF2B5EF4-FFF2-40B4-BE49-F238E27FC236}">
                <a16:creationId xmlns:a16="http://schemas.microsoft.com/office/drawing/2014/main" id="{08322D46-73A2-FA9C-703B-DCD4B4AC7F6D}"/>
              </a:ext>
            </a:extLst>
          </p:cNvPr>
          <p:cNvSpPr/>
          <p:nvPr/>
        </p:nvSpPr>
        <p:spPr>
          <a:xfrm>
            <a:off x="8376308" y="5448656"/>
            <a:ext cx="582612" cy="665162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4" name="Freeform 30">
            <a:extLst>
              <a:ext uri="{FF2B5EF4-FFF2-40B4-BE49-F238E27FC236}">
                <a16:creationId xmlns:a16="http://schemas.microsoft.com/office/drawing/2014/main" id="{1F77CDD2-F7C7-EFEC-86C8-BF8F3E8D99CA}"/>
              </a:ext>
            </a:extLst>
          </p:cNvPr>
          <p:cNvSpPr/>
          <p:nvPr/>
        </p:nvSpPr>
        <p:spPr>
          <a:xfrm>
            <a:off x="9302783" y="5195061"/>
            <a:ext cx="275036" cy="335184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5" name="Freeform 30">
            <a:extLst>
              <a:ext uri="{FF2B5EF4-FFF2-40B4-BE49-F238E27FC236}">
                <a16:creationId xmlns:a16="http://schemas.microsoft.com/office/drawing/2014/main" id="{34B55BC2-ECD6-A32E-CFA2-459A1538BD0F}"/>
              </a:ext>
            </a:extLst>
          </p:cNvPr>
          <p:cNvSpPr/>
          <p:nvPr/>
        </p:nvSpPr>
        <p:spPr>
          <a:xfrm>
            <a:off x="9322453" y="5654439"/>
            <a:ext cx="282040" cy="335185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6" name="Freeform 30">
            <a:extLst>
              <a:ext uri="{FF2B5EF4-FFF2-40B4-BE49-F238E27FC236}">
                <a16:creationId xmlns:a16="http://schemas.microsoft.com/office/drawing/2014/main" id="{113DAE08-9EB7-FD32-04B4-F40EAA2AD9F4}"/>
              </a:ext>
            </a:extLst>
          </p:cNvPr>
          <p:cNvSpPr/>
          <p:nvPr/>
        </p:nvSpPr>
        <p:spPr>
          <a:xfrm>
            <a:off x="9351028" y="6113818"/>
            <a:ext cx="282040" cy="335184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17" name="TextBox 2116">
            <a:extLst>
              <a:ext uri="{FF2B5EF4-FFF2-40B4-BE49-F238E27FC236}">
                <a16:creationId xmlns:a16="http://schemas.microsoft.com/office/drawing/2014/main" id="{EC2AC51D-08B4-AD6E-3B64-620728D40B45}"/>
              </a:ext>
            </a:extLst>
          </p:cNvPr>
          <p:cNvSpPr txBox="1"/>
          <p:nvPr/>
        </p:nvSpPr>
        <p:spPr>
          <a:xfrm>
            <a:off x="9627016" y="5207691"/>
            <a:ext cx="186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 photon</a:t>
            </a:r>
            <a:endParaRPr lang="en-US" sz="1200" dirty="0"/>
          </a:p>
        </p:txBody>
      </p:sp>
      <p:cxnSp>
        <p:nvCxnSpPr>
          <p:cNvPr id="2119" name="Straight Arrow Connector 2118">
            <a:extLst>
              <a:ext uri="{FF2B5EF4-FFF2-40B4-BE49-F238E27FC236}">
                <a16:creationId xmlns:a16="http://schemas.microsoft.com/office/drawing/2014/main" id="{8A90B9E7-C264-3854-B870-D3DD1ADEA86B}"/>
              </a:ext>
            </a:extLst>
          </p:cNvPr>
          <p:cNvCxnSpPr/>
          <p:nvPr/>
        </p:nvCxnSpPr>
        <p:spPr>
          <a:xfrm>
            <a:off x="6380918" y="6281410"/>
            <a:ext cx="24003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0" name="TextBox 2119">
            <a:extLst>
              <a:ext uri="{FF2B5EF4-FFF2-40B4-BE49-F238E27FC236}">
                <a16:creationId xmlns:a16="http://schemas.microsoft.com/office/drawing/2014/main" id="{070682BB-7BD3-13A4-4846-F0B901060226}"/>
              </a:ext>
            </a:extLst>
          </p:cNvPr>
          <p:cNvSpPr txBox="1"/>
          <p:nvPr/>
        </p:nvSpPr>
        <p:spPr>
          <a:xfrm>
            <a:off x="6842538" y="4998536"/>
            <a:ext cx="1825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Different temporal modes</a:t>
            </a: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C185AF24-7345-9DF7-6573-74273CF584C7}"/>
              </a:ext>
            </a:extLst>
          </p:cNvPr>
          <p:cNvSpPr txBox="1"/>
          <p:nvPr/>
        </p:nvSpPr>
        <p:spPr>
          <a:xfrm>
            <a:off x="9651766" y="5717129"/>
            <a:ext cx="186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 photon</a:t>
            </a:r>
            <a:endParaRPr lang="en-US" sz="1200" dirty="0"/>
          </a:p>
        </p:txBody>
      </p:sp>
      <p:sp>
        <p:nvSpPr>
          <p:cNvPr id="2122" name="TextBox 2121">
            <a:extLst>
              <a:ext uri="{FF2B5EF4-FFF2-40B4-BE49-F238E27FC236}">
                <a16:creationId xmlns:a16="http://schemas.microsoft.com/office/drawing/2014/main" id="{F87D2E9B-11B0-A455-0B0B-42C1A587AB16}"/>
              </a:ext>
            </a:extLst>
          </p:cNvPr>
          <p:cNvSpPr txBox="1"/>
          <p:nvPr/>
        </p:nvSpPr>
        <p:spPr>
          <a:xfrm>
            <a:off x="9693031" y="6152435"/>
            <a:ext cx="186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&gt;1 photon</a:t>
            </a:r>
            <a:endParaRPr lang="en-US" sz="1200" dirty="0"/>
          </a:p>
        </p:txBody>
      </p:sp>
      <p:grpSp>
        <p:nvGrpSpPr>
          <p:cNvPr id="2123" name="Group 2122">
            <a:extLst>
              <a:ext uri="{FF2B5EF4-FFF2-40B4-BE49-F238E27FC236}">
                <a16:creationId xmlns:a16="http://schemas.microsoft.com/office/drawing/2014/main" id="{E663CD7D-BAC2-DEA0-44DB-23473A277148}"/>
              </a:ext>
            </a:extLst>
          </p:cNvPr>
          <p:cNvGrpSpPr/>
          <p:nvPr/>
        </p:nvGrpSpPr>
        <p:grpSpPr>
          <a:xfrm flipH="1">
            <a:off x="3073793" y="3657067"/>
            <a:ext cx="785679" cy="690497"/>
            <a:chOff x="2098274" y="1374606"/>
            <a:chExt cx="1690182" cy="1652414"/>
          </a:xfrm>
        </p:grpSpPr>
        <p:grpSp>
          <p:nvGrpSpPr>
            <p:cNvPr id="2124" name="Group 2123">
              <a:extLst>
                <a:ext uri="{FF2B5EF4-FFF2-40B4-BE49-F238E27FC236}">
                  <a16:creationId xmlns:a16="http://schemas.microsoft.com/office/drawing/2014/main" id="{7D3B19B4-FD9A-1EDF-C68C-3AEF4D30D095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126" name="Flowchart: Delay 2125">
                <a:extLst>
                  <a:ext uri="{FF2B5EF4-FFF2-40B4-BE49-F238E27FC236}">
                    <a16:creationId xmlns:a16="http://schemas.microsoft.com/office/drawing/2014/main" id="{207B5AFB-03E3-F0D8-E987-AE989F7BB205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7" name="Rectangle 2126">
                <a:extLst>
                  <a:ext uri="{FF2B5EF4-FFF2-40B4-BE49-F238E27FC236}">
                    <a16:creationId xmlns:a16="http://schemas.microsoft.com/office/drawing/2014/main" id="{F6AF07F8-8589-F605-0A64-B497F3D1A870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8" name="Rectangle 2127">
                <a:extLst>
                  <a:ext uri="{FF2B5EF4-FFF2-40B4-BE49-F238E27FC236}">
                    <a16:creationId xmlns:a16="http://schemas.microsoft.com/office/drawing/2014/main" id="{F7D0863B-A45A-A248-D1B0-A2D2326E0A30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9" name="Arc 2128">
                <a:extLst>
                  <a:ext uri="{FF2B5EF4-FFF2-40B4-BE49-F238E27FC236}">
                    <a16:creationId xmlns:a16="http://schemas.microsoft.com/office/drawing/2014/main" id="{3456EA5D-9D1B-4FEB-A002-5F92610A8CA8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0" name="Rectangle 2129">
                <a:extLst>
                  <a:ext uri="{FF2B5EF4-FFF2-40B4-BE49-F238E27FC236}">
                    <a16:creationId xmlns:a16="http://schemas.microsoft.com/office/drawing/2014/main" id="{0BA1D681-A008-6704-38B3-4492CB5B952B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1" name="Rectangle 2130">
                <a:extLst>
                  <a:ext uri="{FF2B5EF4-FFF2-40B4-BE49-F238E27FC236}">
                    <a16:creationId xmlns:a16="http://schemas.microsoft.com/office/drawing/2014/main" id="{8BEA53AD-182F-A1E5-2265-17B6EA8F8F06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2" name="Rectangle 2131">
                <a:extLst>
                  <a:ext uri="{FF2B5EF4-FFF2-40B4-BE49-F238E27FC236}">
                    <a16:creationId xmlns:a16="http://schemas.microsoft.com/office/drawing/2014/main" id="{8FA1DA23-0F16-D6B5-2C69-E3C8722E88AD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3" name="Rectangle 2132">
                <a:extLst>
                  <a:ext uri="{FF2B5EF4-FFF2-40B4-BE49-F238E27FC236}">
                    <a16:creationId xmlns:a16="http://schemas.microsoft.com/office/drawing/2014/main" id="{A030CB68-F342-A8FB-2F0D-7D613B5CFB93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25" name="Rectangle 2124">
              <a:extLst>
                <a:ext uri="{FF2B5EF4-FFF2-40B4-BE49-F238E27FC236}">
                  <a16:creationId xmlns:a16="http://schemas.microsoft.com/office/drawing/2014/main" id="{859A3F24-F085-94DD-AE4E-0D5705E78E22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34" name="Graphic 2133" descr="Solar system with solid fill">
            <a:extLst>
              <a:ext uri="{FF2B5EF4-FFF2-40B4-BE49-F238E27FC236}">
                <a16:creationId xmlns:a16="http://schemas.microsoft.com/office/drawing/2014/main" id="{01246DF5-8B40-5392-8054-E70D0DDCE21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949361">
            <a:off x="2101325" y="2395550"/>
            <a:ext cx="917821" cy="91782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2135" name="Straight Arrow Connector 2134">
            <a:extLst>
              <a:ext uri="{FF2B5EF4-FFF2-40B4-BE49-F238E27FC236}">
                <a16:creationId xmlns:a16="http://schemas.microsoft.com/office/drawing/2014/main" id="{6009B2C9-E681-C8EA-0C2B-140E419B53B8}"/>
              </a:ext>
            </a:extLst>
          </p:cNvPr>
          <p:cNvCxnSpPr>
            <a:cxnSpLocks/>
          </p:cNvCxnSpPr>
          <p:nvPr/>
        </p:nvCxnSpPr>
        <p:spPr>
          <a:xfrm flipH="1">
            <a:off x="1759703" y="3105807"/>
            <a:ext cx="518414" cy="488776"/>
          </a:xfrm>
          <a:prstGeom prst="straightConnector1">
            <a:avLst/>
          </a:prstGeom>
          <a:ln w="19050">
            <a:solidFill>
              <a:schemeClr val="dk1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6" name="Straight Arrow Connector 2135">
            <a:extLst>
              <a:ext uri="{FF2B5EF4-FFF2-40B4-BE49-F238E27FC236}">
                <a16:creationId xmlns:a16="http://schemas.microsoft.com/office/drawing/2014/main" id="{AA245EFC-9147-E1F5-FB91-EBFEDD35A867}"/>
              </a:ext>
            </a:extLst>
          </p:cNvPr>
          <p:cNvCxnSpPr>
            <a:cxnSpLocks/>
          </p:cNvCxnSpPr>
          <p:nvPr/>
        </p:nvCxnSpPr>
        <p:spPr>
          <a:xfrm>
            <a:off x="2679983" y="3138447"/>
            <a:ext cx="441289" cy="486782"/>
          </a:xfrm>
          <a:prstGeom prst="straightConnector1">
            <a:avLst/>
          </a:prstGeom>
          <a:ln w="19050"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37" name="Group 2136">
            <a:extLst>
              <a:ext uri="{FF2B5EF4-FFF2-40B4-BE49-F238E27FC236}">
                <a16:creationId xmlns:a16="http://schemas.microsoft.com/office/drawing/2014/main" id="{678AD6F6-9393-55F5-0E61-2A5A6D2E0C77}"/>
              </a:ext>
            </a:extLst>
          </p:cNvPr>
          <p:cNvGrpSpPr/>
          <p:nvPr/>
        </p:nvGrpSpPr>
        <p:grpSpPr>
          <a:xfrm>
            <a:off x="990737" y="3635644"/>
            <a:ext cx="771789" cy="690497"/>
            <a:chOff x="2098274" y="1374606"/>
            <a:chExt cx="1690182" cy="1652414"/>
          </a:xfrm>
        </p:grpSpPr>
        <p:grpSp>
          <p:nvGrpSpPr>
            <p:cNvPr id="2138" name="Group 2137">
              <a:extLst>
                <a:ext uri="{FF2B5EF4-FFF2-40B4-BE49-F238E27FC236}">
                  <a16:creationId xmlns:a16="http://schemas.microsoft.com/office/drawing/2014/main" id="{B78CD3B5-BFBD-3198-351B-50097AA35982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2140" name="Flowchart: Delay 2139">
                <a:extLst>
                  <a:ext uri="{FF2B5EF4-FFF2-40B4-BE49-F238E27FC236}">
                    <a16:creationId xmlns:a16="http://schemas.microsoft.com/office/drawing/2014/main" id="{88C14974-13F6-BDE5-14BD-95045208FAE0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1" name="Rectangle 2140">
                <a:extLst>
                  <a:ext uri="{FF2B5EF4-FFF2-40B4-BE49-F238E27FC236}">
                    <a16:creationId xmlns:a16="http://schemas.microsoft.com/office/drawing/2014/main" id="{3C7D581B-ED3D-61EE-2550-5BB93D5DEA54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2" name="Rectangle 2141">
                <a:extLst>
                  <a:ext uri="{FF2B5EF4-FFF2-40B4-BE49-F238E27FC236}">
                    <a16:creationId xmlns:a16="http://schemas.microsoft.com/office/drawing/2014/main" id="{A6818726-7D01-944F-9766-5A8E65906796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3" name="Arc 2142">
                <a:extLst>
                  <a:ext uri="{FF2B5EF4-FFF2-40B4-BE49-F238E27FC236}">
                    <a16:creationId xmlns:a16="http://schemas.microsoft.com/office/drawing/2014/main" id="{1EE27D6B-3055-E417-50C9-9C8F1F411DE2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508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4" name="Rectangle 2143">
                <a:extLst>
                  <a:ext uri="{FF2B5EF4-FFF2-40B4-BE49-F238E27FC236}">
                    <a16:creationId xmlns:a16="http://schemas.microsoft.com/office/drawing/2014/main" id="{FC32C48A-C525-2642-EF7D-AE4F4ABD4F39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5" name="Rectangle 2144">
                <a:extLst>
                  <a:ext uri="{FF2B5EF4-FFF2-40B4-BE49-F238E27FC236}">
                    <a16:creationId xmlns:a16="http://schemas.microsoft.com/office/drawing/2014/main" id="{FC5B6B16-0335-5FF6-0965-A20AE1C27D44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6" name="Rectangle 2145">
                <a:extLst>
                  <a:ext uri="{FF2B5EF4-FFF2-40B4-BE49-F238E27FC236}">
                    <a16:creationId xmlns:a16="http://schemas.microsoft.com/office/drawing/2014/main" id="{71256D54-E54A-4A3C-034E-CF45D576BA1E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7" name="Rectangle 2146">
                <a:extLst>
                  <a:ext uri="{FF2B5EF4-FFF2-40B4-BE49-F238E27FC236}">
                    <a16:creationId xmlns:a16="http://schemas.microsoft.com/office/drawing/2014/main" id="{76FA962B-E334-79CD-8EA4-8E21CB493CE4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39" name="Rectangle 2138">
              <a:extLst>
                <a:ext uri="{FF2B5EF4-FFF2-40B4-BE49-F238E27FC236}">
                  <a16:creationId xmlns:a16="http://schemas.microsoft.com/office/drawing/2014/main" id="{A725C1F7-2ADC-FB17-4257-0362A30A0BEA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34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7" grpId="0"/>
      <p:bldP spid="2108" grpId="0" animBg="1"/>
      <p:bldP spid="2109" grpId="0" animBg="1"/>
      <p:bldP spid="2110" grpId="0" animBg="1"/>
      <p:bldP spid="2111" grpId="0" animBg="1"/>
      <p:bldP spid="2112" grpId="0" animBg="1"/>
      <p:bldP spid="2113" grpId="0" animBg="1"/>
      <p:bldP spid="2114" grpId="0" animBg="1"/>
      <p:bldP spid="2115" grpId="0" animBg="1"/>
      <p:bldP spid="2116" grpId="0" animBg="1"/>
      <p:bldP spid="2117" grpId="0"/>
      <p:bldP spid="2120" grpId="0"/>
      <p:bldP spid="2121" grpId="0"/>
      <p:bldP spid="21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interferometric telescope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BF935A2-ECB0-94B8-E221-51F1B5E8D262}"/>
                  </a:ext>
                </a:extLst>
              </p:cNvPr>
              <p:cNvSpPr txBox="1"/>
              <p:nvPr/>
            </p:nvSpPr>
            <p:spPr>
              <a:xfrm>
                <a:off x="3820762" y="706871"/>
                <a:ext cx="62002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dirty="0"/>
                  <a:t>Source state with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≪1 </m:t>
                    </m:r>
                  </m:oMath>
                </a14:m>
                <a:r>
                  <a:rPr lang="en-US" sz="1200" b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BF935A2-ECB0-94B8-E221-51F1B5E8D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62" y="706871"/>
                <a:ext cx="6200254" cy="276999"/>
              </a:xfrm>
              <a:prstGeom prst="rect">
                <a:avLst/>
              </a:prstGeom>
              <a:blipFill>
                <a:blip r:embed="rId4"/>
                <a:stretch>
                  <a:fillRect l="-9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52897"/>
                  </p:ext>
                </p:extLst>
              </p:nvPr>
            </p:nvGraphicFramePr>
            <p:xfrm>
              <a:off x="9100275" y="6342835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400" dirty="0" smtClean="0"/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/2∝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52897"/>
                  </p:ext>
                </p:extLst>
              </p:nvPr>
            </p:nvGraphicFramePr>
            <p:xfrm>
              <a:off x="9100275" y="6342835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347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3" t="-1724" r="-505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2170E42-82AF-2A90-6A21-82E49487E7EC}"/>
              </a:ext>
            </a:extLst>
          </p:cNvPr>
          <p:cNvGrpSpPr/>
          <p:nvPr/>
        </p:nvGrpSpPr>
        <p:grpSpPr>
          <a:xfrm>
            <a:off x="9049934" y="4038393"/>
            <a:ext cx="3408128" cy="1008973"/>
            <a:chOff x="3561079" y="607494"/>
            <a:chExt cx="3423441" cy="938158"/>
          </a:xfrm>
        </p:grpSpPr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50351A06-3699-2084-0816-12DCAA7922C5}"/>
                </a:ext>
              </a:extLst>
            </p:cNvPr>
            <p:cNvGrpSpPr/>
            <p:nvPr/>
          </p:nvGrpSpPr>
          <p:grpSpPr>
            <a:xfrm>
              <a:off x="3561079" y="607494"/>
              <a:ext cx="1679526" cy="724329"/>
              <a:chOff x="3352653" y="4392899"/>
              <a:chExt cx="2625898" cy="1450047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501CD278-1A33-E6D4-D9CA-973E498DCC0F}"/>
                  </a:ext>
                </a:extLst>
              </p:cNvPr>
              <p:cNvSpPr txBox="1"/>
              <p:nvPr/>
            </p:nvSpPr>
            <p:spPr>
              <a:xfrm>
                <a:off x="4358819" y="4392899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245" name="Freeform 30">
                <a:extLst>
                  <a:ext uri="{FF2B5EF4-FFF2-40B4-BE49-F238E27FC236}">
                    <a16:creationId xmlns:a16="http://schemas.microsoft.com/office/drawing/2014/main" id="{C3FA985C-C5A4-75F8-E794-F5E7D4A4F93A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6" name="Freeform 30">
                <a:extLst>
                  <a:ext uri="{FF2B5EF4-FFF2-40B4-BE49-F238E27FC236}">
                    <a16:creationId xmlns:a16="http://schemas.microsoft.com/office/drawing/2014/main" id="{EAE78A8A-96A8-5F9F-C713-15AF464FBCA7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47" name="Freeform 30">
                <a:extLst>
                  <a:ext uri="{FF2B5EF4-FFF2-40B4-BE49-F238E27FC236}">
                    <a16:creationId xmlns:a16="http://schemas.microsoft.com/office/drawing/2014/main" id="{5CD94C68-34EF-1B67-197D-450FAC123759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8" name="Freeform 30">
                <a:extLst>
                  <a:ext uri="{FF2B5EF4-FFF2-40B4-BE49-F238E27FC236}">
                    <a16:creationId xmlns:a16="http://schemas.microsoft.com/office/drawing/2014/main" id="{9D8DE224-4021-5717-702C-E25C75A96D8A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49" name="Freeform 30">
                <a:extLst>
                  <a:ext uri="{FF2B5EF4-FFF2-40B4-BE49-F238E27FC236}">
                    <a16:creationId xmlns:a16="http://schemas.microsoft.com/office/drawing/2014/main" id="{F1ED2A7C-51DF-5FAE-90CE-C5529DB4E350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50" name="Freeform 30">
                <a:extLst>
                  <a:ext uri="{FF2B5EF4-FFF2-40B4-BE49-F238E27FC236}">
                    <a16:creationId xmlns:a16="http://schemas.microsoft.com/office/drawing/2014/main" id="{49DC7D0E-4ED3-EC07-3E1E-FF5113E17137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3FFE8B92-51A9-AF43-A31B-1F264FF5E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id="{D3817DA9-7FC2-F366-A5E8-9F040F10BE15}"/>
                    </a:ext>
                  </a:extLst>
                </p:cNvPr>
                <p:cNvSpPr txBox="1"/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id="{D3817DA9-7FC2-F366-A5E8-9F040F10B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7" name="Freeform 30">
            <a:extLst>
              <a:ext uri="{FF2B5EF4-FFF2-40B4-BE49-F238E27FC236}">
                <a16:creationId xmlns:a16="http://schemas.microsoft.com/office/drawing/2014/main" id="{C195E4D9-94FA-9235-30A9-A176F3787483}"/>
              </a:ext>
            </a:extLst>
          </p:cNvPr>
          <p:cNvSpPr/>
          <p:nvPr/>
        </p:nvSpPr>
        <p:spPr>
          <a:xfrm>
            <a:off x="10824582" y="4233781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8" name="Freeform 30">
            <a:extLst>
              <a:ext uri="{FF2B5EF4-FFF2-40B4-BE49-F238E27FC236}">
                <a16:creationId xmlns:a16="http://schemas.microsoft.com/office/drawing/2014/main" id="{3EE0FF8A-A5DB-C6EF-741B-E9A835D4BD24}"/>
              </a:ext>
            </a:extLst>
          </p:cNvPr>
          <p:cNvSpPr/>
          <p:nvPr/>
        </p:nvSpPr>
        <p:spPr>
          <a:xfrm>
            <a:off x="10808952" y="4481097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9" name="Freeform 30">
            <a:extLst>
              <a:ext uri="{FF2B5EF4-FFF2-40B4-BE49-F238E27FC236}">
                <a16:creationId xmlns:a16="http://schemas.microsoft.com/office/drawing/2014/main" id="{521E3435-BB85-2479-AEF0-B4A04F80A845}"/>
              </a:ext>
            </a:extLst>
          </p:cNvPr>
          <p:cNvSpPr/>
          <p:nvPr/>
        </p:nvSpPr>
        <p:spPr>
          <a:xfrm>
            <a:off x="10812774" y="4727362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grpSp>
        <p:nvGrpSpPr>
          <p:cNvPr id="638" name="Group 637">
            <a:extLst>
              <a:ext uri="{FF2B5EF4-FFF2-40B4-BE49-F238E27FC236}">
                <a16:creationId xmlns:a16="http://schemas.microsoft.com/office/drawing/2014/main" id="{67974221-B4C5-A281-AC54-CD5343A8B391}"/>
              </a:ext>
            </a:extLst>
          </p:cNvPr>
          <p:cNvGrpSpPr/>
          <p:nvPr/>
        </p:nvGrpSpPr>
        <p:grpSpPr>
          <a:xfrm>
            <a:off x="5583081" y="3947000"/>
            <a:ext cx="3408128" cy="1091694"/>
            <a:chOff x="3561079" y="530579"/>
            <a:chExt cx="3423441" cy="1015073"/>
          </a:xfrm>
        </p:grpSpPr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7337DE4F-4306-C8AE-B38A-5597CB987BAD}"/>
                </a:ext>
              </a:extLst>
            </p:cNvPr>
            <p:cNvGrpSpPr/>
            <p:nvPr/>
          </p:nvGrpSpPr>
          <p:grpSpPr>
            <a:xfrm>
              <a:off x="3561079" y="530579"/>
              <a:ext cx="1679526" cy="801244"/>
              <a:chOff x="3352653" y="4238921"/>
              <a:chExt cx="2625898" cy="1604025"/>
            </a:xfrm>
          </p:grpSpPr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A02EB81F-8F76-9382-A6D3-4EB96BBCB2DF}"/>
                  </a:ext>
                </a:extLst>
              </p:cNvPr>
              <p:cNvSpPr txBox="1"/>
              <p:nvPr/>
            </p:nvSpPr>
            <p:spPr>
              <a:xfrm>
                <a:off x="4209284" y="4238921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642" name="Freeform 30">
                <a:extLst>
                  <a:ext uri="{FF2B5EF4-FFF2-40B4-BE49-F238E27FC236}">
                    <a16:creationId xmlns:a16="http://schemas.microsoft.com/office/drawing/2014/main" id="{79F30F30-D904-2768-61DF-4DF864ED0642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43" name="Freeform 30">
                <a:extLst>
                  <a:ext uri="{FF2B5EF4-FFF2-40B4-BE49-F238E27FC236}">
                    <a16:creationId xmlns:a16="http://schemas.microsoft.com/office/drawing/2014/main" id="{AB67CB29-44C2-AA22-39E4-A836EA91531F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644" name="Freeform 30">
                <a:extLst>
                  <a:ext uri="{FF2B5EF4-FFF2-40B4-BE49-F238E27FC236}">
                    <a16:creationId xmlns:a16="http://schemas.microsoft.com/office/drawing/2014/main" id="{19C724C5-E6CA-C665-F7D4-0DBB3FA6CF90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45" name="Freeform 30">
                <a:extLst>
                  <a:ext uri="{FF2B5EF4-FFF2-40B4-BE49-F238E27FC236}">
                    <a16:creationId xmlns:a16="http://schemas.microsoft.com/office/drawing/2014/main" id="{929C1BF1-210F-2AF4-C44A-4FACA8E7A00D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646" name="Freeform 30">
                <a:extLst>
                  <a:ext uri="{FF2B5EF4-FFF2-40B4-BE49-F238E27FC236}">
                    <a16:creationId xmlns:a16="http://schemas.microsoft.com/office/drawing/2014/main" id="{BA74069F-52CF-2318-CC09-6E8490695BFD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47" name="Freeform 30">
                <a:extLst>
                  <a:ext uri="{FF2B5EF4-FFF2-40B4-BE49-F238E27FC236}">
                    <a16:creationId xmlns:a16="http://schemas.microsoft.com/office/drawing/2014/main" id="{207B079A-4FA6-48E9-F0D7-BE4F63967D39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648" name="Straight Arrow Connector 647">
                <a:extLst>
                  <a:ext uri="{FF2B5EF4-FFF2-40B4-BE49-F238E27FC236}">
                    <a16:creationId xmlns:a16="http://schemas.microsoft.com/office/drawing/2014/main" id="{5A862C66-5F16-9290-8D30-2C7FBA229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TextBox 639">
                  <a:extLst>
                    <a:ext uri="{FF2B5EF4-FFF2-40B4-BE49-F238E27FC236}">
                      <a16:creationId xmlns:a16="http://schemas.microsoft.com/office/drawing/2014/main" id="{2587C54C-5CE4-2F49-36B6-E1B685DD6C41}"/>
                    </a:ext>
                  </a:extLst>
                </p:cNvPr>
                <p:cNvSpPr txBox="1"/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640" name="TextBox 639">
                  <a:extLst>
                    <a:ext uri="{FF2B5EF4-FFF2-40B4-BE49-F238E27FC236}">
                      <a16:creationId xmlns:a16="http://schemas.microsoft.com/office/drawing/2014/main" id="{2587C54C-5CE4-2F49-36B6-E1B685DD6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05" name="Table 109">
                <a:extLst>
                  <a:ext uri="{FF2B5EF4-FFF2-40B4-BE49-F238E27FC236}">
                    <a16:creationId xmlns:a16="http://schemas.microsoft.com/office/drawing/2014/main" id="{4E5A668C-ECC3-AEA0-F5E1-B4EE59363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3226283"/>
                  </p:ext>
                </p:extLst>
              </p:nvPr>
            </p:nvGraphicFramePr>
            <p:xfrm>
              <a:off x="171451" y="6203620"/>
              <a:ext cx="7210392" cy="548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2969426078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1597598889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222810685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(no</a:t>
                          </a:r>
                          <a:r>
                            <a:rPr lang="en-US" sz="1400" baseline="0" dirty="0"/>
                            <a:t> loss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4859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05" name="Table 109">
                <a:extLst>
                  <a:ext uri="{FF2B5EF4-FFF2-40B4-BE49-F238E27FC236}">
                    <a16:creationId xmlns:a16="http://schemas.microsoft.com/office/drawing/2014/main" id="{4E5A668C-ECC3-AEA0-F5E1-B4EE59363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3226283"/>
                  </p:ext>
                </p:extLst>
              </p:nvPr>
            </p:nvGraphicFramePr>
            <p:xfrm>
              <a:off x="171451" y="6203620"/>
              <a:ext cx="7210392" cy="548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2969426078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1597598889"/>
                        </a:ext>
                      </a:extLst>
                    </a:gridCol>
                    <a:gridCol w="2403464">
                      <a:extLst>
                        <a:ext uri="{9D8B030D-6E8A-4147-A177-3AD203B41FA5}">
                          <a16:colId xmlns:a16="http://schemas.microsoft.com/office/drawing/2014/main" val="222810685"/>
                        </a:ext>
                      </a:extLst>
                    </a:gridCol>
                  </a:tblGrid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54" t="-1099" r="-20101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000" t="-1099" r="-100506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200508" t="-1099" r="-761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485956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07" name="Straight Connector 706">
            <a:extLst>
              <a:ext uri="{FF2B5EF4-FFF2-40B4-BE49-F238E27FC236}">
                <a16:creationId xmlns:a16="http://schemas.microsoft.com/office/drawing/2014/main" id="{76BCE1C9-D7AA-B19F-DE38-E16B3CA89AA4}"/>
              </a:ext>
            </a:extLst>
          </p:cNvPr>
          <p:cNvCxnSpPr/>
          <p:nvPr/>
        </p:nvCxnSpPr>
        <p:spPr>
          <a:xfrm>
            <a:off x="7991404" y="1154753"/>
            <a:ext cx="88802" cy="555682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09" name="Group 708">
            <a:extLst>
              <a:ext uri="{FF2B5EF4-FFF2-40B4-BE49-F238E27FC236}">
                <a16:creationId xmlns:a16="http://schemas.microsoft.com/office/drawing/2014/main" id="{B659E7BE-4A31-6E6E-AD86-C2E120C51BEB}"/>
              </a:ext>
            </a:extLst>
          </p:cNvPr>
          <p:cNvGrpSpPr/>
          <p:nvPr/>
        </p:nvGrpSpPr>
        <p:grpSpPr>
          <a:xfrm>
            <a:off x="94422" y="3997058"/>
            <a:ext cx="3439817" cy="1046490"/>
            <a:chOff x="3561079" y="553658"/>
            <a:chExt cx="3455272" cy="973041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id="{D53D4A23-0EA2-7248-CCEA-6353ACF36565}"/>
                </a:ext>
              </a:extLst>
            </p:cNvPr>
            <p:cNvGrpSpPr/>
            <p:nvPr/>
          </p:nvGrpSpPr>
          <p:grpSpPr>
            <a:xfrm>
              <a:off x="3561079" y="553658"/>
              <a:ext cx="1980040" cy="861883"/>
              <a:chOff x="3352653" y="4285120"/>
              <a:chExt cx="3095744" cy="1725418"/>
            </a:xfrm>
          </p:grpSpPr>
          <p:sp>
            <p:nvSpPr>
              <p:cNvPr id="712" name="TextBox 711">
                <a:extLst>
                  <a:ext uri="{FF2B5EF4-FFF2-40B4-BE49-F238E27FC236}">
                    <a16:creationId xmlns:a16="http://schemas.microsoft.com/office/drawing/2014/main" id="{54C1E2C9-7311-0AD9-4BDE-F7AC9032FAFD}"/>
                  </a:ext>
                </a:extLst>
              </p:cNvPr>
              <p:cNvSpPr txBox="1"/>
              <p:nvPr/>
            </p:nvSpPr>
            <p:spPr>
              <a:xfrm>
                <a:off x="4207879" y="4285120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713" name="Freeform 30">
                <a:extLst>
                  <a:ext uri="{FF2B5EF4-FFF2-40B4-BE49-F238E27FC236}">
                    <a16:creationId xmlns:a16="http://schemas.microsoft.com/office/drawing/2014/main" id="{EA434716-C726-D4CE-89A8-F9C506E3ED3B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14" name="Freeform 30">
                <a:extLst>
                  <a:ext uri="{FF2B5EF4-FFF2-40B4-BE49-F238E27FC236}">
                    <a16:creationId xmlns:a16="http://schemas.microsoft.com/office/drawing/2014/main" id="{16F5C337-D25C-7FE1-CF76-374BEB1E2B8C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15" name="Freeform 30">
                <a:extLst>
                  <a:ext uri="{FF2B5EF4-FFF2-40B4-BE49-F238E27FC236}">
                    <a16:creationId xmlns:a16="http://schemas.microsoft.com/office/drawing/2014/main" id="{D662E77B-158F-8245-2902-5D48EB714233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16" name="Freeform 30">
                <a:extLst>
                  <a:ext uri="{FF2B5EF4-FFF2-40B4-BE49-F238E27FC236}">
                    <a16:creationId xmlns:a16="http://schemas.microsoft.com/office/drawing/2014/main" id="{C10A687B-424E-CFA7-D9D8-8D8DB1829379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17" name="Freeform 30">
                <a:extLst>
                  <a:ext uri="{FF2B5EF4-FFF2-40B4-BE49-F238E27FC236}">
                    <a16:creationId xmlns:a16="http://schemas.microsoft.com/office/drawing/2014/main" id="{F75AF39E-5862-10E4-9561-80364D3531B8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18" name="Freeform 30">
                <a:extLst>
                  <a:ext uri="{FF2B5EF4-FFF2-40B4-BE49-F238E27FC236}">
                    <a16:creationId xmlns:a16="http://schemas.microsoft.com/office/drawing/2014/main" id="{7D444275-3932-F0CB-28C7-D898C47B7E01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19" name="Freeform 30">
                <a:extLst>
                  <a:ext uri="{FF2B5EF4-FFF2-40B4-BE49-F238E27FC236}">
                    <a16:creationId xmlns:a16="http://schemas.microsoft.com/office/drawing/2014/main" id="{D73A7037-A1B9-1341-BF17-AA5B8DEADA40}"/>
                  </a:ext>
                </a:extLst>
              </p:cNvPr>
              <p:cNvSpPr/>
              <p:nvPr/>
            </p:nvSpPr>
            <p:spPr>
              <a:xfrm>
                <a:off x="6173362" y="4756597"/>
                <a:ext cx="275035" cy="335184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7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20" name="Freeform 30">
                <a:extLst>
                  <a:ext uri="{FF2B5EF4-FFF2-40B4-BE49-F238E27FC236}">
                    <a16:creationId xmlns:a16="http://schemas.microsoft.com/office/drawing/2014/main" id="{BAA96F5D-8DB8-7CA3-13F4-88FDFBC4CFC2}"/>
                  </a:ext>
                </a:extLst>
              </p:cNvPr>
              <p:cNvSpPr/>
              <p:nvPr/>
            </p:nvSpPr>
            <p:spPr>
              <a:xfrm>
                <a:off x="6148814" y="5216954"/>
                <a:ext cx="282040" cy="335184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21" name="Freeform 30">
                <a:extLst>
                  <a:ext uri="{FF2B5EF4-FFF2-40B4-BE49-F238E27FC236}">
                    <a16:creationId xmlns:a16="http://schemas.microsoft.com/office/drawing/2014/main" id="{80FFE75F-5F12-DE36-29E2-95F9CB2B4860}"/>
                  </a:ext>
                </a:extLst>
              </p:cNvPr>
              <p:cNvSpPr/>
              <p:nvPr/>
            </p:nvSpPr>
            <p:spPr>
              <a:xfrm>
                <a:off x="6154817" y="5675354"/>
                <a:ext cx="282040" cy="335184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800" dirty="0"/>
                  <a:t>2</a:t>
                </a:r>
              </a:p>
            </p:txBody>
          </p:sp>
          <p:cxnSp>
            <p:nvCxnSpPr>
              <p:cNvPr id="722" name="Straight Arrow Connector 721">
                <a:extLst>
                  <a:ext uri="{FF2B5EF4-FFF2-40B4-BE49-F238E27FC236}">
                    <a16:creationId xmlns:a16="http://schemas.microsoft.com/office/drawing/2014/main" id="{2FD31F1E-EBE5-CEDF-0BEE-180D1274A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1" name="TextBox 710">
                  <a:extLst>
                    <a:ext uri="{FF2B5EF4-FFF2-40B4-BE49-F238E27FC236}">
                      <a16:creationId xmlns:a16="http://schemas.microsoft.com/office/drawing/2014/main" id="{B4A7505D-90BA-15A9-4339-1AED8737CC96}"/>
                    </a:ext>
                  </a:extLst>
                </p:cNvPr>
                <p:cNvSpPr txBox="1"/>
                <p:nvPr/>
              </p:nvSpPr>
              <p:spPr>
                <a:xfrm>
                  <a:off x="5559817" y="757258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711" name="TextBox 710">
                  <a:extLst>
                    <a:ext uri="{FF2B5EF4-FFF2-40B4-BE49-F238E27FC236}">
                      <a16:creationId xmlns:a16="http://schemas.microsoft.com/office/drawing/2014/main" id="{B4A7505D-90BA-15A9-4339-1AED8737C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9817" y="757258"/>
                  <a:ext cx="1456534" cy="76944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4" name="Group 723">
            <a:extLst>
              <a:ext uri="{FF2B5EF4-FFF2-40B4-BE49-F238E27FC236}">
                <a16:creationId xmlns:a16="http://schemas.microsoft.com/office/drawing/2014/main" id="{64B49F53-BD5C-956E-6011-A814C27EEC6D}"/>
              </a:ext>
            </a:extLst>
          </p:cNvPr>
          <p:cNvGrpSpPr/>
          <p:nvPr/>
        </p:nvGrpSpPr>
        <p:grpSpPr>
          <a:xfrm>
            <a:off x="2878735" y="5127128"/>
            <a:ext cx="2666531" cy="894331"/>
            <a:chOff x="3561079" y="582319"/>
            <a:chExt cx="2666531" cy="894331"/>
          </a:xfrm>
        </p:grpSpPr>
        <p:grpSp>
          <p:nvGrpSpPr>
            <p:cNvPr id="725" name="Group 724">
              <a:extLst>
                <a:ext uri="{FF2B5EF4-FFF2-40B4-BE49-F238E27FC236}">
                  <a16:creationId xmlns:a16="http://schemas.microsoft.com/office/drawing/2014/main" id="{22E1436D-379C-ED30-BE0C-6D1736C4BD7E}"/>
                </a:ext>
              </a:extLst>
            </p:cNvPr>
            <p:cNvGrpSpPr/>
            <p:nvPr/>
          </p:nvGrpSpPr>
          <p:grpSpPr>
            <a:xfrm>
              <a:off x="3561079" y="582319"/>
              <a:ext cx="1679526" cy="749503"/>
              <a:chOff x="3352653" y="4342502"/>
              <a:chExt cx="2625898" cy="1500444"/>
            </a:xfrm>
          </p:grpSpPr>
          <p:sp>
            <p:nvSpPr>
              <p:cNvPr id="727" name="TextBox 726">
                <a:extLst>
                  <a:ext uri="{FF2B5EF4-FFF2-40B4-BE49-F238E27FC236}">
                    <a16:creationId xmlns:a16="http://schemas.microsoft.com/office/drawing/2014/main" id="{2B8B010C-4A25-6D8C-1878-E82EA1D6DF40}"/>
                  </a:ext>
                </a:extLst>
              </p:cNvPr>
              <p:cNvSpPr txBox="1"/>
              <p:nvPr/>
            </p:nvSpPr>
            <p:spPr>
              <a:xfrm>
                <a:off x="4465532" y="4342502"/>
                <a:ext cx="1300360" cy="508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Lab</a:t>
                </a:r>
              </a:p>
            </p:txBody>
          </p:sp>
          <p:sp>
            <p:nvSpPr>
              <p:cNvPr id="728" name="Freeform 30">
                <a:extLst>
                  <a:ext uri="{FF2B5EF4-FFF2-40B4-BE49-F238E27FC236}">
                    <a16:creationId xmlns:a16="http://schemas.microsoft.com/office/drawing/2014/main" id="{274394B2-3A21-EB51-7A89-19184188F3E2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29" name="Freeform 30">
                <a:extLst>
                  <a:ext uri="{FF2B5EF4-FFF2-40B4-BE49-F238E27FC236}">
                    <a16:creationId xmlns:a16="http://schemas.microsoft.com/office/drawing/2014/main" id="{F875D13A-7D01-7727-2AF6-06FC27FFF591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30" name="Freeform 30">
                <a:extLst>
                  <a:ext uri="{FF2B5EF4-FFF2-40B4-BE49-F238E27FC236}">
                    <a16:creationId xmlns:a16="http://schemas.microsoft.com/office/drawing/2014/main" id="{54A19C70-72D6-6D0D-2EF5-4B30B7069F52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31" name="Freeform 30">
                <a:extLst>
                  <a:ext uri="{FF2B5EF4-FFF2-40B4-BE49-F238E27FC236}">
                    <a16:creationId xmlns:a16="http://schemas.microsoft.com/office/drawing/2014/main" id="{739BCD5A-3CBA-E3CB-4BA8-2D333A0B792C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32" name="Freeform 30">
                <a:extLst>
                  <a:ext uri="{FF2B5EF4-FFF2-40B4-BE49-F238E27FC236}">
                    <a16:creationId xmlns:a16="http://schemas.microsoft.com/office/drawing/2014/main" id="{AEC0ADB3-2DB3-DD98-6EE6-22E4218CCF27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33" name="Freeform 30">
                <a:extLst>
                  <a:ext uri="{FF2B5EF4-FFF2-40B4-BE49-F238E27FC236}">
                    <a16:creationId xmlns:a16="http://schemas.microsoft.com/office/drawing/2014/main" id="{81CB4E52-4843-92D7-0875-18DF6BF8568A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734" name="Straight Arrow Connector 733">
                <a:extLst>
                  <a:ext uri="{FF2B5EF4-FFF2-40B4-BE49-F238E27FC236}">
                    <a16:creationId xmlns:a16="http://schemas.microsoft.com/office/drawing/2014/main" id="{EC72DD0B-8722-A020-949B-0E06FA43A3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6" name="TextBox 725">
                  <a:extLst>
                    <a:ext uri="{FF2B5EF4-FFF2-40B4-BE49-F238E27FC236}">
                      <a16:creationId xmlns:a16="http://schemas.microsoft.com/office/drawing/2014/main" id="{3EA54914-E802-F8CE-C5C1-18D7B37608F5}"/>
                    </a:ext>
                  </a:extLst>
                </p:cNvPr>
                <p:cNvSpPr txBox="1"/>
                <p:nvPr/>
              </p:nvSpPr>
              <p:spPr>
                <a:xfrm>
                  <a:off x="5554155" y="737986"/>
                  <a:ext cx="67345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b="0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b="0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726" name="TextBox 725">
                  <a:extLst>
                    <a:ext uri="{FF2B5EF4-FFF2-40B4-BE49-F238E27FC236}">
                      <a16:creationId xmlns:a16="http://schemas.microsoft.com/office/drawing/2014/main" id="{3EA54914-E802-F8CE-C5C1-18D7B3760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155" y="737986"/>
                  <a:ext cx="673455" cy="73866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5" name="Group 734">
            <a:extLst>
              <a:ext uri="{FF2B5EF4-FFF2-40B4-BE49-F238E27FC236}">
                <a16:creationId xmlns:a16="http://schemas.microsoft.com/office/drawing/2014/main" id="{BB19E323-69A5-FB7A-A34C-8D8138A6E419}"/>
              </a:ext>
            </a:extLst>
          </p:cNvPr>
          <p:cNvGrpSpPr/>
          <p:nvPr/>
        </p:nvGrpSpPr>
        <p:grpSpPr>
          <a:xfrm>
            <a:off x="2870379" y="4038613"/>
            <a:ext cx="3408128" cy="1008973"/>
            <a:chOff x="3561079" y="607494"/>
            <a:chExt cx="3423441" cy="938158"/>
          </a:xfrm>
        </p:grpSpPr>
        <p:grpSp>
          <p:nvGrpSpPr>
            <p:cNvPr id="736" name="Group 735">
              <a:extLst>
                <a:ext uri="{FF2B5EF4-FFF2-40B4-BE49-F238E27FC236}">
                  <a16:creationId xmlns:a16="http://schemas.microsoft.com/office/drawing/2014/main" id="{C322CA1F-2B7D-7CAB-FC88-5542596EF2BE}"/>
                </a:ext>
              </a:extLst>
            </p:cNvPr>
            <p:cNvGrpSpPr/>
            <p:nvPr/>
          </p:nvGrpSpPr>
          <p:grpSpPr>
            <a:xfrm>
              <a:off x="3561079" y="607494"/>
              <a:ext cx="1679526" cy="724329"/>
              <a:chOff x="3352653" y="4392899"/>
              <a:chExt cx="2625898" cy="1450047"/>
            </a:xfrm>
          </p:grpSpPr>
          <p:sp>
            <p:nvSpPr>
              <p:cNvPr id="738" name="TextBox 737">
                <a:extLst>
                  <a:ext uri="{FF2B5EF4-FFF2-40B4-BE49-F238E27FC236}">
                    <a16:creationId xmlns:a16="http://schemas.microsoft.com/office/drawing/2014/main" id="{1EF1C946-F578-B687-00D5-BF17724A450D}"/>
                  </a:ext>
                </a:extLst>
              </p:cNvPr>
              <p:cNvSpPr txBox="1"/>
              <p:nvPr/>
            </p:nvSpPr>
            <p:spPr>
              <a:xfrm>
                <a:off x="4358819" y="4392899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739" name="Freeform 30">
                <a:extLst>
                  <a:ext uri="{FF2B5EF4-FFF2-40B4-BE49-F238E27FC236}">
                    <a16:creationId xmlns:a16="http://schemas.microsoft.com/office/drawing/2014/main" id="{BA8F0059-2335-6F9C-B1B7-CA149B1FC824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40" name="Freeform 30">
                <a:extLst>
                  <a:ext uri="{FF2B5EF4-FFF2-40B4-BE49-F238E27FC236}">
                    <a16:creationId xmlns:a16="http://schemas.microsoft.com/office/drawing/2014/main" id="{D9F01763-5FFC-3EB9-1E34-A480D6FCA8D2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41" name="Freeform 30">
                <a:extLst>
                  <a:ext uri="{FF2B5EF4-FFF2-40B4-BE49-F238E27FC236}">
                    <a16:creationId xmlns:a16="http://schemas.microsoft.com/office/drawing/2014/main" id="{61BC3316-530F-E67D-0E94-E6CF14C0AE81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42" name="Freeform 30">
                <a:extLst>
                  <a:ext uri="{FF2B5EF4-FFF2-40B4-BE49-F238E27FC236}">
                    <a16:creationId xmlns:a16="http://schemas.microsoft.com/office/drawing/2014/main" id="{BD94D111-E57A-3323-F7F9-36FFEA2F2BD6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743" name="Freeform 30">
                <a:extLst>
                  <a:ext uri="{FF2B5EF4-FFF2-40B4-BE49-F238E27FC236}">
                    <a16:creationId xmlns:a16="http://schemas.microsoft.com/office/drawing/2014/main" id="{8B5D0B27-7228-26D4-A5D6-639FBF78DBC9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44" name="Freeform 30">
                <a:extLst>
                  <a:ext uri="{FF2B5EF4-FFF2-40B4-BE49-F238E27FC236}">
                    <a16:creationId xmlns:a16="http://schemas.microsoft.com/office/drawing/2014/main" id="{D67E0F92-4E6C-B24E-DCB5-5C9E012A14BF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745" name="Straight Arrow Connector 744">
                <a:extLst>
                  <a:ext uri="{FF2B5EF4-FFF2-40B4-BE49-F238E27FC236}">
                    <a16:creationId xmlns:a16="http://schemas.microsoft.com/office/drawing/2014/main" id="{9E83474D-688B-2DF2-8235-1A6B119DD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7" name="TextBox 736">
                  <a:extLst>
                    <a:ext uri="{FF2B5EF4-FFF2-40B4-BE49-F238E27FC236}">
                      <a16:creationId xmlns:a16="http://schemas.microsoft.com/office/drawing/2014/main" id="{3D5FC442-E35C-DAC9-EA4F-A9173BC354FE}"/>
                    </a:ext>
                  </a:extLst>
                </p:cNvPr>
                <p:cNvSpPr txBox="1"/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737" name="TextBox 736">
                  <a:extLst>
                    <a:ext uri="{FF2B5EF4-FFF2-40B4-BE49-F238E27FC236}">
                      <a16:creationId xmlns:a16="http://schemas.microsoft.com/office/drawing/2014/main" id="{3D5FC442-E35C-DAC9-EA4F-A9173BC35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6" name="Straight Arrow Connector 745">
            <a:extLst>
              <a:ext uri="{FF2B5EF4-FFF2-40B4-BE49-F238E27FC236}">
                <a16:creationId xmlns:a16="http://schemas.microsoft.com/office/drawing/2014/main" id="{7C13A556-F3B4-2E61-5DB9-3935767C7C75}"/>
              </a:ext>
            </a:extLst>
          </p:cNvPr>
          <p:cNvCxnSpPr>
            <a:cxnSpLocks/>
          </p:cNvCxnSpPr>
          <p:nvPr/>
        </p:nvCxnSpPr>
        <p:spPr>
          <a:xfrm flipV="1">
            <a:off x="549602" y="4953767"/>
            <a:ext cx="0" cy="186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Arrow Connector 746">
            <a:extLst>
              <a:ext uri="{FF2B5EF4-FFF2-40B4-BE49-F238E27FC236}">
                <a16:creationId xmlns:a16="http://schemas.microsoft.com/office/drawing/2014/main" id="{35859DC0-F17F-E4CC-3B34-04E895018987}"/>
              </a:ext>
            </a:extLst>
          </p:cNvPr>
          <p:cNvCxnSpPr>
            <a:cxnSpLocks/>
          </p:cNvCxnSpPr>
          <p:nvPr/>
        </p:nvCxnSpPr>
        <p:spPr>
          <a:xfrm flipV="1">
            <a:off x="1588907" y="4954509"/>
            <a:ext cx="1623" cy="215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Arrow Connector 747">
            <a:extLst>
              <a:ext uri="{FF2B5EF4-FFF2-40B4-BE49-F238E27FC236}">
                <a16:creationId xmlns:a16="http://schemas.microsoft.com/office/drawing/2014/main" id="{994E3588-15DD-A937-CFAB-3A481EEC4A44}"/>
              </a:ext>
            </a:extLst>
          </p:cNvPr>
          <p:cNvCxnSpPr>
            <a:cxnSpLocks/>
          </p:cNvCxnSpPr>
          <p:nvPr/>
        </p:nvCxnSpPr>
        <p:spPr>
          <a:xfrm flipV="1">
            <a:off x="6542528" y="4923999"/>
            <a:ext cx="5793" cy="280104"/>
          </a:xfrm>
          <a:prstGeom prst="straightConnector1">
            <a:avLst/>
          </a:prstGeom>
          <a:ln>
            <a:solidFill>
              <a:srgbClr val="FF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Arrow Connector 748">
            <a:extLst>
              <a:ext uri="{FF2B5EF4-FFF2-40B4-BE49-F238E27FC236}">
                <a16:creationId xmlns:a16="http://schemas.microsoft.com/office/drawing/2014/main" id="{F00A3EDA-6857-FCDD-661E-1F3FC5F0CCED}"/>
              </a:ext>
            </a:extLst>
          </p:cNvPr>
          <p:cNvCxnSpPr>
            <a:cxnSpLocks/>
          </p:cNvCxnSpPr>
          <p:nvPr/>
        </p:nvCxnSpPr>
        <p:spPr>
          <a:xfrm flipV="1">
            <a:off x="3037083" y="4937461"/>
            <a:ext cx="0" cy="219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Freeform 30">
            <a:extLst>
              <a:ext uri="{FF2B5EF4-FFF2-40B4-BE49-F238E27FC236}">
                <a16:creationId xmlns:a16="http://schemas.microsoft.com/office/drawing/2014/main" id="{D73F2AF1-AF31-DED7-D98D-55888279E1B9}"/>
              </a:ext>
            </a:extLst>
          </p:cNvPr>
          <p:cNvSpPr/>
          <p:nvPr/>
        </p:nvSpPr>
        <p:spPr>
          <a:xfrm>
            <a:off x="4703872" y="4244749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3" name="Freeform 30">
            <a:extLst>
              <a:ext uri="{FF2B5EF4-FFF2-40B4-BE49-F238E27FC236}">
                <a16:creationId xmlns:a16="http://schemas.microsoft.com/office/drawing/2014/main" id="{72E2ED4E-D41F-EA62-AF4A-10770B96FFBD}"/>
              </a:ext>
            </a:extLst>
          </p:cNvPr>
          <p:cNvSpPr/>
          <p:nvPr/>
        </p:nvSpPr>
        <p:spPr>
          <a:xfrm>
            <a:off x="4688242" y="4492065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4" name="Freeform 30">
            <a:extLst>
              <a:ext uri="{FF2B5EF4-FFF2-40B4-BE49-F238E27FC236}">
                <a16:creationId xmlns:a16="http://schemas.microsoft.com/office/drawing/2014/main" id="{1FC63707-13E7-AB38-5088-3DEB1B7248C2}"/>
              </a:ext>
            </a:extLst>
          </p:cNvPr>
          <p:cNvSpPr/>
          <p:nvPr/>
        </p:nvSpPr>
        <p:spPr>
          <a:xfrm>
            <a:off x="4692064" y="4738330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sp>
        <p:nvSpPr>
          <p:cNvPr id="755" name="Freeform 30">
            <a:extLst>
              <a:ext uri="{FF2B5EF4-FFF2-40B4-BE49-F238E27FC236}">
                <a16:creationId xmlns:a16="http://schemas.microsoft.com/office/drawing/2014/main" id="{C2EDCD97-0054-69B7-99F2-8F9BA3D37B50}"/>
              </a:ext>
            </a:extLst>
          </p:cNvPr>
          <p:cNvSpPr/>
          <p:nvPr/>
        </p:nvSpPr>
        <p:spPr>
          <a:xfrm>
            <a:off x="4703872" y="5282435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6" name="Freeform 30">
            <a:extLst>
              <a:ext uri="{FF2B5EF4-FFF2-40B4-BE49-F238E27FC236}">
                <a16:creationId xmlns:a16="http://schemas.microsoft.com/office/drawing/2014/main" id="{7156135C-D419-05A4-A7ED-5A85196FE989}"/>
              </a:ext>
            </a:extLst>
          </p:cNvPr>
          <p:cNvSpPr/>
          <p:nvPr/>
        </p:nvSpPr>
        <p:spPr>
          <a:xfrm>
            <a:off x="4688242" y="5529751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7" name="Freeform 30">
            <a:extLst>
              <a:ext uri="{FF2B5EF4-FFF2-40B4-BE49-F238E27FC236}">
                <a16:creationId xmlns:a16="http://schemas.microsoft.com/office/drawing/2014/main" id="{CE51BD17-E3DF-B224-E1CF-BA4EB9BAB9D1}"/>
              </a:ext>
            </a:extLst>
          </p:cNvPr>
          <p:cNvSpPr/>
          <p:nvPr/>
        </p:nvSpPr>
        <p:spPr>
          <a:xfrm>
            <a:off x="4692064" y="5776016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sp>
        <p:nvSpPr>
          <p:cNvPr id="758" name="Freeform 30">
            <a:extLst>
              <a:ext uri="{FF2B5EF4-FFF2-40B4-BE49-F238E27FC236}">
                <a16:creationId xmlns:a16="http://schemas.microsoft.com/office/drawing/2014/main" id="{9332D4DE-52E5-063A-E3F6-659D1FEFBE72}"/>
              </a:ext>
            </a:extLst>
          </p:cNvPr>
          <p:cNvSpPr/>
          <p:nvPr/>
        </p:nvSpPr>
        <p:spPr>
          <a:xfrm>
            <a:off x="7361359" y="4234648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59" name="Freeform 30">
            <a:extLst>
              <a:ext uri="{FF2B5EF4-FFF2-40B4-BE49-F238E27FC236}">
                <a16:creationId xmlns:a16="http://schemas.microsoft.com/office/drawing/2014/main" id="{05714B69-7AC9-CA6B-6E31-0744780E908B}"/>
              </a:ext>
            </a:extLst>
          </p:cNvPr>
          <p:cNvSpPr/>
          <p:nvPr/>
        </p:nvSpPr>
        <p:spPr>
          <a:xfrm>
            <a:off x="7345729" y="4481964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60" name="Freeform 30">
            <a:extLst>
              <a:ext uri="{FF2B5EF4-FFF2-40B4-BE49-F238E27FC236}">
                <a16:creationId xmlns:a16="http://schemas.microsoft.com/office/drawing/2014/main" id="{942975E4-6587-EE55-BE5C-83F5DFCD1911}"/>
              </a:ext>
            </a:extLst>
          </p:cNvPr>
          <p:cNvSpPr/>
          <p:nvPr/>
        </p:nvSpPr>
        <p:spPr>
          <a:xfrm>
            <a:off x="7349551" y="4728229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53A2CC89-735B-A966-F5B8-481D0F96773A}"/>
              </a:ext>
            </a:extLst>
          </p:cNvPr>
          <p:cNvGrpSpPr/>
          <p:nvPr/>
        </p:nvGrpSpPr>
        <p:grpSpPr>
          <a:xfrm>
            <a:off x="8937049" y="2492251"/>
            <a:ext cx="2488156" cy="1009666"/>
            <a:chOff x="7851736" y="3218902"/>
            <a:chExt cx="3748644" cy="1426616"/>
          </a:xfrm>
        </p:grpSpPr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D2B43A8E-D901-FF74-EFD8-27C46E58C90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3" name="Group 762">
              <a:extLst>
                <a:ext uri="{FF2B5EF4-FFF2-40B4-BE49-F238E27FC236}">
                  <a16:creationId xmlns:a16="http://schemas.microsoft.com/office/drawing/2014/main" id="{030ECFC6-8AE8-BBDD-30A5-5B6D3889E532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782" name="Flowchart: Delay 781">
                <a:extLst>
                  <a:ext uri="{FF2B5EF4-FFF2-40B4-BE49-F238E27FC236}">
                    <a16:creationId xmlns:a16="http://schemas.microsoft.com/office/drawing/2014/main" id="{8524D347-A7F6-52E0-C94D-65942D27470C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0FF81459-689B-C1F5-90AF-EA85D0A90589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4" name="Group 763">
              <a:extLst>
                <a:ext uri="{FF2B5EF4-FFF2-40B4-BE49-F238E27FC236}">
                  <a16:creationId xmlns:a16="http://schemas.microsoft.com/office/drawing/2014/main" id="{E33A9324-C262-18A3-0C8F-89886A8488B4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780" name="Flowchart: Delay 779">
                <a:extLst>
                  <a:ext uri="{FF2B5EF4-FFF2-40B4-BE49-F238E27FC236}">
                    <a16:creationId xmlns:a16="http://schemas.microsoft.com/office/drawing/2014/main" id="{B349A53C-35FB-1CF9-8ECE-15B5ADD89627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596AEEE1-9865-C100-24C8-8A5A9134E007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C6A999BF-0C5A-81FD-CB3C-09F24370F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765">
              <a:extLst>
                <a:ext uri="{FF2B5EF4-FFF2-40B4-BE49-F238E27FC236}">
                  <a16:creationId xmlns:a16="http://schemas.microsoft.com/office/drawing/2014/main" id="{4BAE54B9-3194-A92F-0871-50ABFAE4D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FBE695B2-509C-4558-C205-42D6F9FF3860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8143EA1A-01F8-26B2-A505-FA456E37D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768">
              <a:extLst>
                <a:ext uri="{FF2B5EF4-FFF2-40B4-BE49-F238E27FC236}">
                  <a16:creationId xmlns:a16="http://schemas.microsoft.com/office/drawing/2014/main" id="{09B74CB5-A52F-12DB-D74B-1EAB1A91FDAD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>
              <a:extLst>
                <a:ext uri="{FF2B5EF4-FFF2-40B4-BE49-F238E27FC236}">
                  <a16:creationId xmlns:a16="http://schemas.microsoft.com/office/drawing/2014/main" id="{2D9CD7DF-1A11-AE52-FCCD-35C1C1428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770">
              <a:extLst>
                <a:ext uri="{FF2B5EF4-FFF2-40B4-BE49-F238E27FC236}">
                  <a16:creationId xmlns:a16="http://schemas.microsoft.com/office/drawing/2014/main" id="{47B47596-38D8-82F5-21D7-36144FD01C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2" name="Group 771">
              <a:extLst>
                <a:ext uri="{FF2B5EF4-FFF2-40B4-BE49-F238E27FC236}">
                  <a16:creationId xmlns:a16="http://schemas.microsoft.com/office/drawing/2014/main" id="{759A9B9C-7FAB-B511-55DA-9236ED86C50A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778" name="Flowchart: Delay 777">
                <a:extLst>
                  <a:ext uri="{FF2B5EF4-FFF2-40B4-BE49-F238E27FC236}">
                    <a16:creationId xmlns:a16="http://schemas.microsoft.com/office/drawing/2014/main" id="{02113DAC-B74E-C749-2DA8-4E1EEA4E839B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B028D73B-D1E3-19DF-8CA3-1C552354C2E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3" name="Group 772">
              <a:extLst>
                <a:ext uri="{FF2B5EF4-FFF2-40B4-BE49-F238E27FC236}">
                  <a16:creationId xmlns:a16="http://schemas.microsoft.com/office/drawing/2014/main" id="{A694418F-DFA5-CD30-A94B-5898F47460D8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776" name="Flowchart: Delay 775">
                <a:extLst>
                  <a:ext uri="{FF2B5EF4-FFF2-40B4-BE49-F238E27FC236}">
                    <a16:creationId xmlns:a16="http://schemas.microsoft.com/office/drawing/2014/main" id="{9308BA85-88B1-8A04-0651-E5810E98FE2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6EAE9D4A-CE5E-829E-CAD7-CF1244BD333D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A0FA0D05-A4FB-4018-B4EC-A6E4C5070B41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5" name="TextBox 774">
                  <a:extLst>
                    <a:ext uri="{FF2B5EF4-FFF2-40B4-BE49-F238E27FC236}">
                      <a16:creationId xmlns:a16="http://schemas.microsoft.com/office/drawing/2014/main" id="{B56B774B-F5B3-F1CD-110B-F7BD4BD48D68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5" name="TextBox 774">
                  <a:extLst>
                    <a:ext uri="{FF2B5EF4-FFF2-40B4-BE49-F238E27FC236}">
                      <a16:creationId xmlns:a16="http://schemas.microsoft.com/office/drawing/2014/main" id="{B56B774B-F5B3-F1CD-110B-F7BD4BD48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27ABAFA2-A11A-0D30-184E-4C8E3E66A768}"/>
              </a:ext>
            </a:extLst>
          </p:cNvPr>
          <p:cNvGrpSpPr/>
          <p:nvPr/>
        </p:nvGrpSpPr>
        <p:grpSpPr>
          <a:xfrm>
            <a:off x="5533410" y="2544363"/>
            <a:ext cx="1708470" cy="876891"/>
            <a:chOff x="1068179" y="3264131"/>
            <a:chExt cx="2554370" cy="1316997"/>
          </a:xfrm>
        </p:grpSpPr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0102886A-00E6-6042-0548-A74526C6C9A6}"/>
                </a:ext>
              </a:extLst>
            </p:cNvPr>
            <p:cNvCxnSpPr>
              <a:cxnSpLocks/>
              <a:endCxn id="794" idx="1"/>
            </p:cNvCxnSpPr>
            <p:nvPr/>
          </p:nvCxnSpPr>
          <p:spPr>
            <a:xfrm flipH="1">
              <a:off x="3391130" y="3274361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5DC32E05-292C-255A-0717-5308E3D90A21}"/>
                </a:ext>
              </a:extLst>
            </p:cNvPr>
            <p:cNvGrpSpPr/>
            <p:nvPr/>
          </p:nvGrpSpPr>
          <p:grpSpPr>
            <a:xfrm rot="3740995">
              <a:off x="3193436" y="4136879"/>
              <a:ext cx="458369" cy="399856"/>
              <a:chOff x="3690596" y="5264272"/>
              <a:chExt cx="458369" cy="399856"/>
            </a:xfrm>
          </p:grpSpPr>
          <p:sp>
            <p:nvSpPr>
              <p:cNvPr id="794" name="Flowchart: Delay 793">
                <a:extLst>
                  <a:ext uri="{FF2B5EF4-FFF2-40B4-BE49-F238E27FC236}">
                    <a16:creationId xmlns:a16="http://schemas.microsoft.com/office/drawing/2014/main" id="{1003D9CB-C9B3-C0E6-175E-E4FA643B31C6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3ECDFEA-1807-554B-9EE4-729121CAEDFE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8" name="Group 787">
              <a:extLst>
                <a:ext uri="{FF2B5EF4-FFF2-40B4-BE49-F238E27FC236}">
                  <a16:creationId xmlns:a16="http://schemas.microsoft.com/office/drawing/2014/main" id="{F9243388-5323-341E-4A22-468CBBF8241B}"/>
                </a:ext>
              </a:extLst>
            </p:cNvPr>
            <p:cNvGrpSpPr/>
            <p:nvPr/>
          </p:nvGrpSpPr>
          <p:grpSpPr>
            <a:xfrm rot="3740995">
              <a:off x="1105079" y="4152016"/>
              <a:ext cx="458369" cy="399856"/>
              <a:chOff x="3690596" y="5264272"/>
              <a:chExt cx="458369" cy="399856"/>
            </a:xfrm>
          </p:grpSpPr>
          <p:sp>
            <p:nvSpPr>
              <p:cNvPr id="792" name="Flowchart: Delay 791">
                <a:extLst>
                  <a:ext uri="{FF2B5EF4-FFF2-40B4-BE49-F238E27FC236}">
                    <a16:creationId xmlns:a16="http://schemas.microsoft.com/office/drawing/2014/main" id="{D70C20D2-3DAB-168C-9C73-F440044F0C96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607B6EF9-1A26-EB09-0443-2C69CCF364C5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206A82D1-888D-2B9E-E653-BBB659304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4183" y="3264131"/>
              <a:ext cx="12055" cy="83046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0" name="Diamond 789">
              <a:extLst>
                <a:ext uri="{FF2B5EF4-FFF2-40B4-BE49-F238E27FC236}">
                  <a16:creationId xmlns:a16="http://schemas.microsoft.com/office/drawing/2014/main" id="{0731F663-5AE0-3881-0F47-BC9AFC1BD530}"/>
                </a:ext>
              </a:extLst>
            </p:cNvPr>
            <p:cNvSpPr/>
            <p:nvPr/>
          </p:nvSpPr>
          <p:spPr>
            <a:xfrm>
              <a:off x="3185127" y="3382696"/>
              <a:ext cx="412006" cy="57034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Diamond 790">
              <a:extLst>
                <a:ext uri="{FF2B5EF4-FFF2-40B4-BE49-F238E27FC236}">
                  <a16:creationId xmlns:a16="http://schemas.microsoft.com/office/drawing/2014/main" id="{2DB99CA0-D669-3D58-0CC1-14D050A35584}"/>
                </a:ext>
              </a:extLst>
            </p:cNvPr>
            <p:cNvSpPr/>
            <p:nvPr/>
          </p:nvSpPr>
          <p:spPr>
            <a:xfrm>
              <a:off x="1068179" y="3401745"/>
              <a:ext cx="412006" cy="570342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4A86CD67-6A24-8B6B-CF44-2C46D83B748D}"/>
              </a:ext>
            </a:extLst>
          </p:cNvPr>
          <p:cNvCxnSpPr/>
          <p:nvPr/>
        </p:nvCxnSpPr>
        <p:spPr>
          <a:xfrm>
            <a:off x="660669" y="2497076"/>
            <a:ext cx="0" cy="173563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4DE49112-6230-2C08-56FE-6214FE4B4EB7}"/>
              </a:ext>
            </a:extLst>
          </p:cNvPr>
          <p:cNvCxnSpPr/>
          <p:nvPr/>
        </p:nvCxnSpPr>
        <p:spPr>
          <a:xfrm>
            <a:off x="2057630" y="2497076"/>
            <a:ext cx="0" cy="173563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8CF73C89-38AA-52EF-3E46-5ED27CB68244}"/>
              </a:ext>
            </a:extLst>
          </p:cNvPr>
          <p:cNvCxnSpPr>
            <a:cxnSpLocks/>
          </p:cNvCxnSpPr>
          <p:nvPr/>
        </p:nvCxnSpPr>
        <p:spPr>
          <a:xfrm>
            <a:off x="660669" y="2670639"/>
            <a:ext cx="995373" cy="59245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07EC7023-7631-5000-BF72-52C3D75FC253}"/>
              </a:ext>
            </a:extLst>
          </p:cNvPr>
          <p:cNvCxnSpPr>
            <a:cxnSpLocks/>
          </p:cNvCxnSpPr>
          <p:nvPr/>
        </p:nvCxnSpPr>
        <p:spPr>
          <a:xfrm flipV="1">
            <a:off x="1098426" y="2670639"/>
            <a:ext cx="959204" cy="592453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13EC902-7111-B37A-862D-857A6C5993A8}"/>
              </a:ext>
            </a:extLst>
          </p:cNvPr>
          <p:cNvSpPr/>
          <p:nvPr/>
        </p:nvSpPr>
        <p:spPr>
          <a:xfrm>
            <a:off x="1694994" y="2725763"/>
            <a:ext cx="183105" cy="230564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8" name="TextBox 817">
                <a:extLst>
                  <a:ext uri="{FF2B5EF4-FFF2-40B4-BE49-F238E27FC236}">
                    <a16:creationId xmlns:a16="http://schemas.microsoft.com/office/drawing/2014/main" id="{FC3E52D2-3B46-D829-B12C-52DF9ED06B64}"/>
                  </a:ext>
                </a:extLst>
              </p:cNvPr>
              <p:cNvSpPr txBox="1"/>
              <p:nvPr/>
            </p:nvSpPr>
            <p:spPr>
              <a:xfrm>
                <a:off x="1657069" y="2717346"/>
                <a:ext cx="188809" cy="256574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18" name="TextBox 817">
                <a:extLst>
                  <a:ext uri="{FF2B5EF4-FFF2-40B4-BE49-F238E27FC236}">
                    <a16:creationId xmlns:a16="http://schemas.microsoft.com/office/drawing/2014/main" id="{FC3E52D2-3B46-D829-B12C-52DF9ED06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069" y="2717346"/>
                <a:ext cx="188809" cy="25657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" name="Rectangle 818">
            <a:extLst>
              <a:ext uri="{FF2B5EF4-FFF2-40B4-BE49-F238E27FC236}">
                <a16:creationId xmlns:a16="http://schemas.microsoft.com/office/drawing/2014/main" id="{485EF026-E288-A064-80D5-A12D991EA6E1}"/>
              </a:ext>
            </a:extLst>
          </p:cNvPr>
          <p:cNvSpPr/>
          <p:nvPr/>
        </p:nvSpPr>
        <p:spPr>
          <a:xfrm>
            <a:off x="1355481" y="3002527"/>
            <a:ext cx="30900" cy="1928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" name="Flowchart: Delay 819">
            <a:extLst>
              <a:ext uri="{FF2B5EF4-FFF2-40B4-BE49-F238E27FC236}">
                <a16:creationId xmlns:a16="http://schemas.microsoft.com/office/drawing/2014/main" id="{AB3CCC60-60A4-32E4-97C3-9F1895C9C84B}"/>
              </a:ext>
            </a:extLst>
          </p:cNvPr>
          <p:cNvSpPr/>
          <p:nvPr/>
        </p:nvSpPr>
        <p:spPr>
          <a:xfrm rot="1729933">
            <a:off x="1664146" y="3195603"/>
            <a:ext cx="125009" cy="216129"/>
          </a:xfrm>
          <a:prstGeom prst="flowChartDelay">
            <a:avLst/>
          </a:prstGeom>
          <a:solidFill>
            <a:schemeClr val="bg1">
              <a:lumMod val="95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" name="Flowchart: Delay 820">
            <a:extLst>
              <a:ext uri="{FF2B5EF4-FFF2-40B4-BE49-F238E27FC236}">
                <a16:creationId xmlns:a16="http://schemas.microsoft.com/office/drawing/2014/main" id="{867199E2-D073-A5F5-C69D-87AE7D6CFB9E}"/>
              </a:ext>
            </a:extLst>
          </p:cNvPr>
          <p:cNvSpPr/>
          <p:nvPr/>
        </p:nvSpPr>
        <p:spPr>
          <a:xfrm rot="8951118">
            <a:off x="962126" y="3193533"/>
            <a:ext cx="125009" cy="216129"/>
          </a:xfrm>
          <a:prstGeom prst="flowChartDelay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Freeform: Shape 821">
            <a:extLst>
              <a:ext uri="{FF2B5EF4-FFF2-40B4-BE49-F238E27FC236}">
                <a16:creationId xmlns:a16="http://schemas.microsoft.com/office/drawing/2014/main" id="{DEBEFF59-152E-E9F5-B999-500A0B885875}"/>
              </a:ext>
            </a:extLst>
          </p:cNvPr>
          <p:cNvSpPr/>
          <p:nvPr/>
        </p:nvSpPr>
        <p:spPr>
          <a:xfrm>
            <a:off x="1793688" y="3324037"/>
            <a:ext cx="180253" cy="141421"/>
          </a:xfrm>
          <a:custGeom>
            <a:avLst/>
            <a:gdLst>
              <a:gd name="connsiteX0" fmla="*/ 0 w 266700"/>
              <a:gd name="connsiteY0" fmla="*/ 0 h 209550"/>
              <a:gd name="connsiteX1" fmla="*/ 57150 w 266700"/>
              <a:gd name="connsiteY1" fmla="*/ 114300 h 209550"/>
              <a:gd name="connsiteX2" fmla="*/ 200025 w 266700"/>
              <a:gd name="connsiteY2" fmla="*/ 57150 h 209550"/>
              <a:gd name="connsiteX3" fmla="*/ 266700 w 266700"/>
              <a:gd name="connsiteY3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0" h="209550">
                <a:moveTo>
                  <a:pt x="0" y="0"/>
                </a:moveTo>
                <a:cubicBezTo>
                  <a:pt x="11906" y="52387"/>
                  <a:pt x="23813" y="104775"/>
                  <a:pt x="57150" y="114300"/>
                </a:cubicBezTo>
                <a:cubicBezTo>
                  <a:pt x="90488" y="123825"/>
                  <a:pt x="165100" y="41275"/>
                  <a:pt x="200025" y="57150"/>
                </a:cubicBezTo>
                <a:cubicBezTo>
                  <a:pt x="234950" y="73025"/>
                  <a:pt x="250825" y="141287"/>
                  <a:pt x="266700" y="209550"/>
                </a:cubicBezTo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3" name="Freeform: Shape 822">
            <a:extLst>
              <a:ext uri="{FF2B5EF4-FFF2-40B4-BE49-F238E27FC236}">
                <a16:creationId xmlns:a16="http://schemas.microsoft.com/office/drawing/2014/main" id="{1CEFD14E-CE44-46B0-009B-C62F538AA062}"/>
              </a:ext>
            </a:extLst>
          </p:cNvPr>
          <p:cNvSpPr/>
          <p:nvPr/>
        </p:nvSpPr>
        <p:spPr>
          <a:xfrm>
            <a:off x="712170" y="3315377"/>
            <a:ext cx="244629" cy="112939"/>
          </a:xfrm>
          <a:custGeom>
            <a:avLst/>
            <a:gdLst>
              <a:gd name="connsiteX0" fmla="*/ 361950 w 361950"/>
              <a:gd name="connsiteY0" fmla="*/ 12831 h 167347"/>
              <a:gd name="connsiteX1" fmla="*/ 219075 w 361950"/>
              <a:gd name="connsiteY1" fmla="*/ 12831 h 167347"/>
              <a:gd name="connsiteX2" fmla="*/ 228600 w 361950"/>
              <a:gd name="connsiteY2" fmla="*/ 146181 h 167347"/>
              <a:gd name="connsiteX3" fmla="*/ 0 w 361950"/>
              <a:gd name="connsiteY3" fmla="*/ 165231 h 16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167347">
                <a:moveTo>
                  <a:pt x="361950" y="12831"/>
                </a:moveTo>
                <a:cubicBezTo>
                  <a:pt x="301625" y="1718"/>
                  <a:pt x="241300" y="-9394"/>
                  <a:pt x="219075" y="12831"/>
                </a:cubicBezTo>
                <a:cubicBezTo>
                  <a:pt x="196850" y="35056"/>
                  <a:pt x="265112" y="120781"/>
                  <a:pt x="228600" y="146181"/>
                </a:cubicBezTo>
                <a:cubicBezTo>
                  <a:pt x="192088" y="171581"/>
                  <a:pt x="96044" y="168406"/>
                  <a:pt x="0" y="165231"/>
                </a:cubicBezTo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6" name="Straight Arrow Connector 825">
            <a:extLst>
              <a:ext uri="{FF2B5EF4-FFF2-40B4-BE49-F238E27FC236}">
                <a16:creationId xmlns:a16="http://schemas.microsoft.com/office/drawing/2014/main" id="{21FA3D98-2D46-1068-D125-899CF5386047}"/>
              </a:ext>
            </a:extLst>
          </p:cNvPr>
          <p:cNvCxnSpPr/>
          <p:nvPr/>
        </p:nvCxnSpPr>
        <p:spPr>
          <a:xfrm>
            <a:off x="7823102" y="3714126"/>
            <a:ext cx="5143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9" name="Group 828">
            <a:extLst>
              <a:ext uri="{FF2B5EF4-FFF2-40B4-BE49-F238E27FC236}">
                <a16:creationId xmlns:a16="http://schemas.microsoft.com/office/drawing/2014/main" id="{68169F79-137A-B719-CB9D-794598289886}"/>
              </a:ext>
            </a:extLst>
          </p:cNvPr>
          <p:cNvGrpSpPr/>
          <p:nvPr/>
        </p:nvGrpSpPr>
        <p:grpSpPr>
          <a:xfrm flipH="1">
            <a:off x="1772424" y="1966228"/>
            <a:ext cx="527626" cy="478310"/>
            <a:chOff x="2098274" y="1374606"/>
            <a:chExt cx="1690182" cy="1652414"/>
          </a:xfrm>
        </p:grpSpPr>
        <p:grpSp>
          <p:nvGrpSpPr>
            <p:cNvPr id="844" name="Group 843">
              <a:extLst>
                <a:ext uri="{FF2B5EF4-FFF2-40B4-BE49-F238E27FC236}">
                  <a16:creationId xmlns:a16="http://schemas.microsoft.com/office/drawing/2014/main" id="{9C97A21F-A8CD-E86A-3E1D-3449E414DDBD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846" name="Flowchart: Delay 845">
                <a:extLst>
                  <a:ext uri="{FF2B5EF4-FFF2-40B4-BE49-F238E27FC236}">
                    <a16:creationId xmlns:a16="http://schemas.microsoft.com/office/drawing/2014/main" id="{FA683BFB-E80D-06ED-76A8-BCF415889E84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7" name="Rectangle 846">
                <a:extLst>
                  <a:ext uri="{FF2B5EF4-FFF2-40B4-BE49-F238E27FC236}">
                    <a16:creationId xmlns:a16="http://schemas.microsoft.com/office/drawing/2014/main" id="{69367AB6-F2D4-6BBF-843B-C2847835EFC2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A73C06F0-3F35-D1B1-9888-86FDB5279290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9" name="Arc 848">
                <a:extLst>
                  <a:ext uri="{FF2B5EF4-FFF2-40B4-BE49-F238E27FC236}">
                    <a16:creationId xmlns:a16="http://schemas.microsoft.com/office/drawing/2014/main" id="{EF30BDB6-3549-4FEF-2F44-0AA7DA3AC29D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BA96F5B9-0CBC-67D4-D005-0CAE4D53B4FE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1" name="Rectangle 850">
                <a:extLst>
                  <a:ext uri="{FF2B5EF4-FFF2-40B4-BE49-F238E27FC236}">
                    <a16:creationId xmlns:a16="http://schemas.microsoft.com/office/drawing/2014/main" id="{7F161A5D-6992-F802-596D-A5180E97A241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B5556881-82D4-8B91-3D8F-72DB8791F830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B9E70C5A-0C91-DE5F-69A9-4D7571A9BDCE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98C526C7-C2E5-F5FB-A1F8-81554FE6ADFA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30" name="Graphic 829" descr="Solar system with solid fill">
            <a:extLst>
              <a:ext uri="{FF2B5EF4-FFF2-40B4-BE49-F238E27FC236}">
                <a16:creationId xmlns:a16="http://schemas.microsoft.com/office/drawing/2014/main" id="{F48522B2-47CF-989C-9DDD-9241230F19E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949361">
            <a:off x="1119359" y="1092370"/>
            <a:ext cx="616367" cy="63577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831" name="Straight Arrow Connector 830">
            <a:extLst>
              <a:ext uri="{FF2B5EF4-FFF2-40B4-BE49-F238E27FC236}">
                <a16:creationId xmlns:a16="http://schemas.microsoft.com/office/drawing/2014/main" id="{10EA0CAD-C1D9-8F75-5907-224B5911D7D6}"/>
              </a:ext>
            </a:extLst>
          </p:cNvPr>
          <p:cNvCxnSpPr>
            <a:cxnSpLocks/>
          </p:cNvCxnSpPr>
          <p:nvPr/>
        </p:nvCxnSpPr>
        <p:spPr>
          <a:xfrm flipH="1">
            <a:off x="889941" y="1584368"/>
            <a:ext cx="348143" cy="338577"/>
          </a:xfrm>
          <a:prstGeom prst="straightConnector1">
            <a:avLst/>
          </a:prstGeom>
          <a:ln w="19050">
            <a:solidFill>
              <a:schemeClr val="dk1"/>
            </a:solidFill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2" name="Straight Arrow Connector 831">
            <a:extLst>
              <a:ext uri="{FF2B5EF4-FFF2-40B4-BE49-F238E27FC236}">
                <a16:creationId xmlns:a16="http://schemas.microsoft.com/office/drawing/2014/main" id="{0C871C2D-0D5D-68DB-9010-9B01AE18DE09}"/>
              </a:ext>
            </a:extLst>
          </p:cNvPr>
          <p:cNvCxnSpPr>
            <a:cxnSpLocks/>
          </p:cNvCxnSpPr>
          <p:nvPr/>
        </p:nvCxnSpPr>
        <p:spPr>
          <a:xfrm>
            <a:off x="1507959" y="1606978"/>
            <a:ext cx="296349" cy="337196"/>
          </a:xfrm>
          <a:prstGeom prst="straightConnector1">
            <a:avLst/>
          </a:prstGeom>
          <a:ln w="19050">
            <a:prstDash val="sys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3" name="Group 832">
            <a:extLst>
              <a:ext uri="{FF2B5EF4-FFF2-40B4-BE49-F238E27FC236}">
                <a16:creationId xmlns:a16="http://schemas.microsoft.com/office/drawing/2014/main" id="{A0CAFC83-A1D3-731E-F8CB-C91C750F255C}"/>
              </a:ext>
            </a:extLst>
          </p:cNvPr>
          <p:cNvGrpSpPr/>
          <p:nvPr/>
        </p:nvGrpSpPr>
        <p:grpSpPr>
          <a:xfrm>
            <a:off x="373539" y="1951388"/>
            <a:ext cx="518298" cy="478310"/>
            <a:chOff x="2098274" y="1374606"/>
            <a:chExt cx="1690182" cy="1652414"/>
          </a:xfrm>
        </p:grpSpPr>
        <p:grpSp>
          <p:nvGrpSpPr>
            <p:cNvPr id="834" name="Group 833">
              <a:extLst>
                <a:ext uri="{FF2B5EF4-FFF2-40B4-BE49-F238E27FC236}">
                  <a16:creationId xmlns:a16="http://schemas.microsoft.com/office/drawing/2014/main" id="{5052EAAC-192C-5F37-4DCF-AD557B1A4839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836" name="Flowchart: Delay 835">
                <a:extLst>
                  <a:ext uri="{FF2B5EF4-FFF2-40B4-BE49-F238E27FC236}">
                    <a16:creationId xmlns:a16="http://schemas.microsoft.com/office/drawing/2014/main" id="{75440022-4D7E-C44D-9532-5097B21C3F9B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92D6CD41-07ED-D8AA-DF28-EF3E29CEE9DA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099443EA-9F9B-7B2F-4938-0F236237F4B5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9" name="Arc 838">
                <a:extLst>
                  <a:ext uri="{FF2B5EF4-FFF2-40B4-BE49-F238E27FC236}">
                    <a16:creationId xmlns:a16="http://schemas.microsoft.com/office/drawing/2014/main" id="{79DD1E76-E1CF-B8F6-4535-42349A90671A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135A9598-B568-8E8F-02F2-45AAC4AFCCDE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1" name="Rectangle 840">
                <a:extLst>
                  <a:ext uri="{FF2B5EF4-FFF2-40B4-BE49-F238E27FC236}">
                    <a16:creationId xmlns:a16="http://schemas.microsoft.com/office/drawing/2014/main" id="{24B4BD35-7ED2-EE54-D242-491544B665CC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EF87BAC5-D3E4-882A-B6A7-6C59BC4E6C8B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1A486135-8F16-E2CE-7A6B-C8C4F85C34C1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DE0A628A-08BC-4985-D14A-7AB580137325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80" name="Group 879">
            <a:extLst>
              <a:ext uri="{FF2B5EF4-FFF2-40B4-BE49-F238E27FC236}">
                <a16:creationId xmlns:a16="http://schemas.microsoft.com/office/drawing/2014/main" id="{A81F8630-827B-B6FA-9B26-A512A2D92A49}"/>
              </a:ext>
            </a:extLst>
          </p:cNvPr>
          <p:cNvGrpSpPr/>
          <p:nvPr/>
        </p:nvGrpSpPr>
        <p:grpSpPr>
          <a:xfrm>
            <a:off x="5413298" y="1139289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881" name="Group 880">
              <a:extLst>
                <a:ext uri="{FF2B5EF4-FFF2-40B4-BE49-F238E27FC236}">
                  <a16:creationId xmlns:a16="http://schemas.microsoft.com/office/drawing/2014/main" id="{C37C1D0D-92ED-B721-5C57-0043053238B4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896" name="Group 895">
                <a:extLst>
                  <a:ext uri="{FF2B5EF4-FFF2-40B4-BE49-F238E27FC236}">
                    <a16:creationId xmlns:a16="http://schemas.microsoft.com/office/drawing/2014/main" id="{3F676EB5-9DDF-E69F-89A3-8030744B388C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898" name="Flowchart: Delay 897">
                  <a:extLst>
                    <a:ext uri="{FF2B5EF4-FFF2-40B4-BE49-F238E27FC236}">
                      <a16:creationId xmlns:a16="http://schemas.microsoft.com/office/drawing/2014/main" id="{FD4693BD-9CB9-DE5F-3F0A-CD5574FD217D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9" name="Rectangle 898">
                  <a:extLst>
                    <a:ext uri="{FF2B5EF4-FFF2-40B4-BE49-F238E27FC236}">
                      <a16:creationId xmlns:a16="http://schemas.microsoft.com/office/drawing/2014/main" id="{A48E7369-1749-31FA-FB0B-A9E05C74B0D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0" name="Rectangle 899">
                  <a:extLst>
                    <a:ext uri="{FF2B5EF4-FFF2-40B4-BE49-F238E27FC236}">
                      <a16:creationId xmlns:a16="http://schemas.microsoft.com/office/drawing/2014/main" id="{9533802E-1080-A2E6-5FA4-FBBB5E7ECC28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1" name="Arc 900">
                  <a:extLst>
                    <a:ext uri="{FF2B5EF4-FFF2-40B4-BE49-F238E27FC236}">
                      <a16:creationId xmlns:a16="http://schemas.microsoft.com/office/drawing/2014/main" id="{EBCE2D37-E3DC-1818-1A3E-F5F4F9CAAA7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2" name="Rectangle 901">
                  <a:extLst>
                    <a:ext uri="{FF2B5EF4-FFF2-40B4-BE49-F238E27FC236}">
                      <a16:creationId xmlns:a16="http://schemas.microsoft.com/office/drawing/2014/main" id="{2C83FF94-7211-95CD-3CC9-266992A9CC31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Rectangle 902">
                  <a:extLst>
                    <a:ext uri="{FF2B5EF4-FFF2-40B4-BE49-F238E27FC236}">
                      <a16:creationId xmlns:a16="http://schemas.microsoft.com/office/drawing/2014/main" id="{CE6BC331-8FD7-07E5-5BC6-3652F7CBD36F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4" name="Rectangle 903">
                  <a:extLst>
                    <a:ext uri="{FF2B5EF4-FFF2-40B4-BE49-F238E27FC236}">
                      <a16:creationId xmlns:a16="http://schemas.microsoft.com/office/drawing/2014/main" id="{275EF2A6-C84B-B230-96A6-1C08629C3B18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5" name="Rectangle 904">
                  <a:extLst>
                    <a:ext uri="{FF2B5EF4-FFF2-40B4-BE49-F238E27FC236}">
                      <a16:creationId xmlns:a16="http://schemas.microsoft.com/office/drawing/2014/main" id="{BBBACD97-104B-A564-A5A6-09E166B5B022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97" name="Rectangle 896">
                <a:extLst>
                  <a:ext uri="{FF2B5EF4-FFF2-40B4-BE49-F238E27FC236}">
                    <a16:creationId xmlns:a16="http://schemas.microsoft.com/office/drawing/2014/main" id="{62EA1404-A131-721A-F1AD-B961AA3A5C0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82" name="Graphic 881" descr="Solar system with solid fill">
              <a:extLst>
                <a:ext uri="{FF2B5EF4-FFF2-40B4-BE49-F238E27FC236}">
                  <a16:creationId xmlns:a16="http://schemas.microsoft.com/office/drawing/2014/main" id="{21445D4E-2EFC-8E42-5144-04C4BBE3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883" name="Straight Arrow Connector 882">
              <a:extLst>
                <a:ext uri="{FF2B5EF4-FFF2-40B4-BE49-F238E27FC236}">
                  <a16:creationId xmlns:a16="http://schemas.microsoft.com/office/drawing/2014/main" id="{F7E2BBD5-EFBA-B22F-714C-10AD169BD4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4" name="Straight Arrow Connector 883">
              <a:extLst>
                <a:ext uri="{FF2B5EF4-FFF2-40B4-BE49-F238E27FC236}">
                  <a16:creationId xmlns:a16="http://schemas.microsoft.com/office/drawing/2014/main" id="{8A0DADA5-1A8E-2FF8-BA36-7E52A786DB06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85" name="Group 884">
              <a:extLst>
                <a:ext uri="{FF2B5EF4-FFF2-40B4-BE49-F238E27FC236}">
                  <a16:creationId xmlns:a16="http://schemas.microsoft.com/office/drawing/2014/main" id="{3E417988-0226-D7A2-E429-7658B0BFE6C7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886" name="Group 885">
                <a:extLst>
                  <a:ext uri="{FF2B5EF4-FFF2-40B4-BE49-F238E27FC236}">
                    <a16:creationId xmlns:a16="http://schemas.microsoft.com/office/drawing/2014/main" id="{C316362D-E672-09B8-6BDD-57FD3EC2D0AF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888" name="Flowchart: Delay 887">
                  <a:extLst>
                    <a:ext uri="{FF2B5EF4-FFF2-40B4-BE49-F238E27FC236}">
                      <a16:creationId xmlns:a16="http://schemas.microsoft.com/office/drawing/2014/main" id="{D8A46686-AE57-0940-A6AB-6913956990E2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9" name="Rectangle 888">
                  <a:extLst>
                    <a:ext uri="{FF2B5EF4-FFF2-40B4-BE49-F238E27FC236}">
                      <a16:creationId xmlns:a16="http://schemas.microsoft.com/office/drawing/2014/main" id="{0DAA0194-E116-E74C-08F0-097D0A18008B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79F90058-8281-DB29-0CE4-3260279961DF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1" name="Arc 890">
                  <a:extLst>
                    <a:ext uri="{FF2B5EF4-FFF2-40B4-BE49-F238E27FC236}">
                      <a16:creationId xmlns:a16="http://schemas.microsoft.com/office/drawing/2014/main" id="{10C65F7B-265C-4FA3-3FE0-3428A3C3365D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9D1D14B3-FB6B-93E6-5EFE-EB21237F4092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3" name="Rectangle 892">
                  <a:extLst>
                    <a:ext uri="{FF2B5EF4-FFF2-40B4-BE49-F238E27FC236}">
                      <a16:creationId xmlns:a16="http://schemas.microsoft.com/office/drawing/2014/main" id="{4019BFBD-8196-6B6D-00E7-C0E451D14F84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2E37078E-6AEE-5E5F-EFF4-F1FA50FAF9F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5" name="Rectangle 894">
                  <a:extLst>
                    <a:ext uri="{FF2B5EF4-FFF2-40B4-BE49-F238E27FC236}">
                      <a16:creationId xmlns:a16="http://schemas.microsoft.com/office/drawing/2014/main" id="{A38C55ED-9315-A980-888F-F5C5D2C799EB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87" name="Rectangle 886">
                <a:extLst>
                  <a:ext uri="{FF2B5EF4-FFF2-40B4-BE49-F238E27FC236}">
                    <a16:creationId xmlns:a16="http://schemas.microsoft.com/office/drawing/2014/main" id="{D1536643-E874-BCA8-ED3A-FF67222E842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06" name="Group 905">
            <a:extLst>
              <a:ext uri="{FF2B5EF4-FFF2-40B4-BE49-F238E27FC236}">
                <a16:creationId xmlns:a16="http://schemas.microsoft.com/office/drawing/2014/main" id="{EA978A29-D4BE-7536-5AD8-28E05464AB24}"/>
              </a:ext>
            </a:extLst>
          </p:cNvPr>
          <p:cNvGrpSpPr/>
          <p:nvPr/>
        </p:nvGrpSpPr>
        <p:grpSpPr>
          <a:xfrm>
            <a:off x="9181452" y="1168284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F26676E-3969-C275-01AA-00E95797E302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922" name="Group 921">
                <a:extLst>
                  <a:ext uri="{FF2B5EF4-FFF2-40B4-BE49-F238E27FC236}">
                    <a16:creationId xmlns:a16="http://schemas.microsoft.com/office/drawing/2014/main" id="{6480998D-0322-E8FE-3DA3-1429FB8604D0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924" name="Flowchart: Delay 923">
                  <a:extLst>
                    <a:ext uri="{FF2B5EF4-FFF2-40B4-BE49-F238E27FC236}">
                      <a16:creationId xmlns:a16="http://schemas.microsoft.com/office/drawing/2014/main" id="{C7B3EAB8-1346-86FA-BF86-2C303276544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5" name="Rectangle 924">
                  <a:extLst>
                    <a:ext uri="{FF2B5EF4-FFF2-40B4-BE49-F238E27FC236}">
                      <a16:creationId xmlns:a16="http://schemas.microsoft.com/office/drawing/2014/main" id="{C3230AC7-9DEC-F81A-C490-D5F6E1E71DF3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6" name="Rectangle 925">
                  <a:extLst>
                    <a:ext uri="{FF2B5EF4-FFF2-40B4-BE49-F238E27FC236}">
                      <a16:creationId xmlns:a16="http://schemas.microsoft.com/office/drawing/2014/main" id="{FFBB1AB0-2E0C-B58C-7AAF-E2813DBE1C1C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7" name="Arc 926">
                  <a:extLst>
                    <a:ext uri="{FF2B5EF4-FFF2-40B4-BE49-F238E27FC236}">
                      <a16:creationId xmlns:a16="http://schemas.microsoft.com/office/drawing/2014/main" id="{5571A260-9C61-6F8C-AEA2-809D84233EB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8" name="Rectangle 927">
                  <a:extLst>
                    <a:ext uri="{FF2B5EF4-FFF2-40B4-BE49-F238E27FC236}">
                      <a16:creationId xmlns:a16="http://schemas.microsoft.com/office/drawing/2014/main" id="{BD0BA442-3F28-A211-5C8B-C16516469C0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9" name="Rectangle 928">
                  <a:extLst>
                    <a:ext uri="{FF2B5EF4-FFF2-40B4-BE49-F238E27FC236}">
                      <a16:creationId xmlns:a16="http://schemas.microsoft.com/office/drawing/2014/main" id="{9B19B580-B313-9DDC-13E1-841627DF3EC0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0" name="Rectangle 929">
                  <a:extLst>
                    <a:ext uri="{FF2B5EF4-FFF2-40B4-BE49-F238E27FC236}">
                      <a16:creationId xmlns:a16="http://schemas.microsoft.com/office/drawing/2014/main" id="{99FA5A26-2DBE-5A3D-2B20-628B8B992BD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31" name="Rectangle 930">
                  <a:extLst>
                    <a:ext uri="{FF2B5EF4-FFF2-40B4-BE49-F238E27FC236}">
                      <a16:creationId xmlns:a16="http://schemas.microsoft.com/office/drawing/2014/main" id="{E83568C6-ABF5-1485-9BA5-63DCD48074E6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23" name="Rectangle 922">
                <a:extLst>
                  <a:ext uri="{FF2B5EF4-FFF2-40B4-BE49-F238E27FC236}">
                    <a16:creationId xmlns:a16="http://schemas.microsoft.com/office/drawing/2014/main" id="{763CB672-4133-8DDE-C26B-811E53D84FE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08" name="Graphic 907" descr="Solar system with solid fill">
              <a:extLst>
                <a:ext uri="{FF2B5EF4-FFF2-40B4-BE49-F238E27FC236}">
                  <a16:creationId xmlns:a16="http://schemas.microsoft.com/office/drawing/2014/main" id="{CBE732C0-EF3D-2D5B-F8EB-6FF103E01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09" name="Straight Arrow Connector 908">
              <a:extLst>
                <a:ext uri="{FF2B5EF4-FFF2-40B4-BE49-F238E27FC236}">
                  <a16:creationId xmlns:a16="http://schemas.microsoft.com/office/drawing/2014/main" id="{F7F6B700-0A43-C41D-6D63-E617E09688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0" name="Straight Arrow Connector 909">
              <a:extLst>
                <a:ext uri="{FF2B5EF4-FFF2-40B4-BE49-F238E27FC236}">
                  <a16:creationId xmlns:a16="http://schemas.microsoft.com/office/drawing/2014/main" id="{A2E111CA-169F-1E47-A4F0-ADE83CA423C3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11" name="Group 910">
              <a:extLst>
                <a:ext uri="{FF2B5EF4-FFF2-40B4-BE49-F238E27FC236}">
                  <a16:creationId xmlns:a16="http://schemas.microsoft.com/office/drawing/2014/main" id="{B63AD3EC-BADD-D9F9-2437-9712A0874E5B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912" name="Group 911">
                <a:extLst>
                  <a:ext uri="{FF2B5EF4-FFF2-40B4-BE49-F238E27FC236}">
                    <a16:creationId xmlns:a16="http://schemas.microsoft.com/office/drawing/2014/main" id="{346A9EB8-BF5A-8D21-1B0E-164FFCA2E979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914" name="Flowchart: Delay 913">
                  <a:extLst>
                    <a:ext uri="{FF2B5EF4-FFF2-40B4-BE49-F238E27FC236}">
                      <a16:creationId xmlns:a16="http://schemas.microsoft.com/office/drawing/2014/main" id="{D37BD6AA-53D8-79E5-F7CC-46C54152E177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5" name="Rectangle 914">
                  <a:extLst>
                    <a:ext uri="{FF2B5EF4-FFF2-40B4-BE49-F238E27FC236}">
                      <a16:creationId xmlns:a16="http://schemas.microsoft.com/office/drawing/2014/main" id="{B58F8CD1-D62B-F6B9-9692-81CE77FF7481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6" name="Rectangle 915">
                  <a:extLst>
                    <a:ext uri="{FF2B5EF4-FFF2-40B4-BE49-F238E27FC236}">
                      <a16:creationId xmlns:a16="http://schemas.microsoft.com/office/drawing/2014/main" id="{1735E7FA-144C-0AF9-6F2D-88608ABCD691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7" name="Arc 916">
                  <a:extLst>
                    <a:ext uri="{FF2B5EF4-FFF2-40B4-BE49-F238E27FC236}">
                      <a16:creationId xmlns:a16="http://schemas.microsoft.com/office/drawing/2014/main" id="{8DF571DB-2585-251B-4DC7-367CCC4391FD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B179C59A-43F2-4879-8325-4B5E0C1364C3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9" name="Rectangle 918">
                  <a:extLst>
                    <a:ext uri="{FF2B5EF4-FFF2-40B4-BE49-F238E27FC236}">
                      <a16:creationId xmlns:a16="http://schemas.microsoft.com/office/drawing/2014/main" id="{03A008B6-5A76-D6D9-5A4D-ED1654DFB678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0" name="Rectangle 919">
                  <a:extLst>
                    <a:ext uri="{FF2B5EF4-FFF2-40B4-BE49-F238E27FC236}">
                      <a16:creationId xmlns:a16="http://schemas.microsoft.com/office/drawing/2014/main" id="{C71A73ED-9F37-FF87-C913-1ABFB44E6EAF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21" name="Rectangle 920">
                  <a:extLst>
                    <a:ext uri="{FF2B5EF4-FFF2-40B4-BE49-F238E27FC236}">
                      <a16:creationId xmlns:a16="http://schemas.microsoft.com/office/drawing/2014/main" id="{967CAC00-8C58-0FB1-D946-27FA8573512C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13" name="Rectangle 912">
                <a:extLst>
                  <a:ext uri="{FF2B5EF4-FFF2-40B4-BE49-F238E27FC236}">
                    <a16:creationId xmlns:a16="http://schemas.microsoft.com/office/drawing/2014/main" id="{92448FA3-8370-687B-87FD-D80A7FF9B887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934" name="Straight Arrow Connector 933">
            <a:extLst>
              <a:ext uri="{FF2B5EF4-FFF2-40B4-BE49-F238E27FC236}">
                <a16:creationId xmlns:a16="http://schemas.microsoft.com/office/drawing/2014/main" id="{A579ED97-751A-5647-2387-C0DF7F93E06F}"/>
              </a:ext>
            </a:extLst>
          </p:cNvPr>
          <p:cNvCxnSpPr>
            <a:cxnSpLocks/>
          </p:cNvCxnSpPr>
          <p:nvPr/>
        </p:nvCxnSpPr>
        <p:spPr>
          <a:xfrm flipV="1">
            <a:off x="3850546" y="4921155"/>
            <a:ext cx="0" cy="2190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Arrow Connector 934">
            <a:extLst>
              <a:ext uri="{FF2B5EF4-FFF2-40B4-BE49-F238E27FC236}">
                <a16:creationId xmlns:a16="http://schemas.microsoft.com/office/drawing/2014/main" id="{5E8417F1-486A-8F86-521E-6B08C9043CC5}"/>
              </a:ext>
            </a:extLst>
          </p:cNvPr>
          <p:cNvCxnSpPr>
            <a:cxnSpLocks/>
          </p:cNvCxnSpPr>
          <p:nvPr/>
        </p:nvCxnSpPr>
        <p:spPr>
          <a:xfrm flipH="1" flipV="1">
            <a:off x="4388879" y="4903333"/>
            <a:ext cx="6188" cy="2633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Arrow Connector 942">
            <a:extLst>
              <a:ext uri="{FF2B5EF4-FFF2-40B4-BE49-F238E27FC236}">
                <a16:creationId xmlns:a16="http://schemas.microsoft.com/office/drawing/2014/main" id="{850E2D07-2830-9B8B-7B46-28D666F32DF9}"/>
              </a:ext>
            </a:extLst>
          </p:cNvPr>
          <p:cNvCxnSpPr>
            <a:cxnSpLocks/>
          </p:cNvCxnSpPr>
          <p:nvPr/>
        </p:nvCxnSpPr>
        <p:spPr>
          <a:xfrm flipV="1">
            <a:off x="9548582" y="4908306"/>
            <a:ext cx="0" cy="186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Arrow Connector 943">
            <a:extLst>
              <a:ext uri="{FF2B5EF4-FFF2-40B4-BE49-F238E27FC236}">
                <a16:creationId xmlns:a16="http://schemas.microsoft.com/office/drawing/2014/main" id="{D7704B17-EFA5-3313-0943-3EBAACE8E798}"/>
              </a:ext>
            </a:extLst>
          </p:cNvPr>
          <p:cNvCxnSpPr>
            <a:cxnSpLocks/>
          </p:cNvCxnSpPr>
          <p:nvPr/>
        </p:nvCxnSpPr>
        <p:spPr>
          <a:xfrm flipV="1">
            <a:off x="10587887" y="4909048"/>
            <a:ext cx="1623" cy="215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C82521-AA97-4EAF-1365-0444F07D402E}"/>
              </a:ext>
            </a:extLst>
          </p:cNvPr>
          <p:cNvGrpSpPr/>
          <p:nvPr/>
        </p:nvGrpSpPr>
        <p:grpSpPr>
          <a:xfrm>
            <a:off x="3021014" y="1120207"/>
            <a:ext cx="1926511" cy="2345249"/>
            <a:chOff x="3021014" y="1120207"/>
            <a:chExt cx="1926511" cy="2345249"/>
          </a:xfrm>
        </p:grpSpPr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FD2F1E5C-374F-6F9C-8E4C-DB76DA352038}"/>
                </a:ext>
              </a:extLst>
            </p:cNvPr>
            <p:cNvGrpSpPr/>
            <p:nvPr/>
          </p:nvGrpSpPr>
          <p:grpSpPr>
            <a:xfrm>
              <a:off x="3054116" y="2582494"/>
              <a:ext cx="1754720" cy="882962"/>
              <a:chOff x="4101980" y="3248237"/>
              <a:chExt cx="2579620" cy="1316997"/>
            </a:xfrm>
          </p:grpSpPr>
          <p:cxnSp>
            <p:nvCxnSpPr>
              <p:cNvPr id="797" name="Straight Connector 796">
                <a:extLst>
                  <a:ext uri="{FF2B5EF4-FFF2-40B4-BE49-F238E27FC236}">
                    <a16:creationId xmlns:a16="http://schemas.microsoft.com/office/drawing/2014/main" id="{67972199-B20B-BAEE-8C4A-DFA43B67EA05}"/>
                  </a:ext>
                </a:extLst>
              </p:cNvPr>
              <p:cNvCxnSpPr>
                <a:cxnSpLocks/>
                <a:endCxn id="810" idx="1"/>
              </p:cNvCxnSpPr>
              <p:nvPr/>
            </p:nvCxnSpPr>
            <p:spPr>
              <a:xfrm flipH="1">
                <a:off x="6438894" y="3258467"/>
                <a:ext cx="12055" cy="83046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98" name="Group 797">
                <a:extLst>
                  <a:ext uri="{FF2B5EF4-FFF2-40B4-BE49-F238E27FC236}">
                    <a16:creationId xmlns:a16="http://schemas.microsoft.com/office/drawing/2014/main" id="{D438E52B-7E5B-D4AE-3ECB-C328C51F22C3}"/>
                  </a:ext>
                </a:extLst>
              </p:cNvPr>
              <p:cNvGrpSpPr/>
              <p:nvPr/>
            </p:nvGrpSpPr>
            <p:grpSpPr>
              <a:xfrm rot="3740995">
                <a:off x="6241200" y="4120985"/>
                <a:ext cx="458369" cy="399856"/>
                <a:chOff x="3690596" y="5264272"/>
                <a:chExt cx="458369" cy="399856"/>
              </a:xfrm>
            </p:grpSpPr>
            <p:sp>
              <p:nvSpPr>
                <p:cNvPr id="810" name="Flowchart: Delay 809">
                  <a:extLst>
                    <a:ext uri="{FF2B5EF4-FFF2-40B4-BE49-F238E27FC236}">
                      <a16:creationId xmlns:a16="http://schemas.microsoft.com/office/drawing/2014/main" id="{B3529412-ACBE-20F9-DA6F-78E1B770FEF6}"/>
                    </a:ext>
                  </a:extLst>
                </p:cNvPr>
                <p:cNvSpPr/>
                <p:nvPr/>
              </p:nvSpPr>
              <p:spPr>
                <a:xfrm rot="1535992">
                  <a:off x="3690596" y="5264272"/>
                  <a:ext cx="184961" cy="320248"/>
                </a:xfrm>
                <a:prstGeom prst="flowChartDelay">
                  <a:avLst/>
                </a:prstGeom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608EF33B-5069-B4CF-E6AF-5C17BF719939}"/>
                    </a:ext>
                  </a:extLst>
                </p:cNvPr>
                <p:cNvSpPr/>
                <p:nvPr/>
              </p:nvSpPr>
              <p:spPr>
                <a:xfrm rot="21406059">
                  <a:off x="3882265" y="5454578"/>
                  <a:ext cx="266700" cy="209550"/>
                </a:xfrm>
                <a:custGeom>
                  <a:avLst/>
                  <a:gdLst>
                    <a:gd name="connsiteX0" fmla="*/ 0 w 266700"/>
                    <a:gd name="connsiteY0" fmla="*/ 0 h 209550"/>
                    <a:gd name="connsiteX1" fmla="*/ 57150 w 266700"/>
                    <a:gd name="connsiteY1" fmla="*/ 114300 h 209550"/>
                    <a:gd name="connsiteX2" fmla="*/ 200025 w 266700"/>
                    <a:gd name="connsiteY2" fmla="*/ 57150 h 209550"/>
                    <a:gd name="connsiteX3" fmla="*/ 266700 w 266700"/>
                    <a:gd name="connsiteY3" fmla="*/ 209550 h 20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209550">
                      <a:moveTo>
                        <a:pt x="0" y="0"/>
                      </a:moveTo>
                      <a:cubicBezTo>
                        <a:pt x="11906" y="52387"/>
                        <a:pt x="23813" y="104775"/>
                        <a:pt x="57150" y="114300"/>
                      </a:cubicBezTo>
                      <a:cubicBezTo>
                        <a:pt x="90488" y="123825"/>
                        <a:pt x="165100" y="41275"/>
                        <a:pt x="200025" y="57150"/>
                      </a:cubicBezTo>
                      <a:cubicBezTo>
                        <a:pt x="234950" y="73025"/>
                        <a:pt x="250825" y="141287"/>
                        <a:pt x="266700" y="209550"/>
                      </a:cubicBezTo>
                    </a:path>
                  </a:pathLst>
                </a:cu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9" name="Group 798">
                <a:extLst>
                  <a:ext uri="{FF2B5EF4-FFF2-40B4-BE49-F238E27FC236}">
                    <a16:creationId xmlns:a16="http://schemas.microsoft.com/office/drawing/2014/main" id="{2F2A570F-A9FF-F1C7-236C-5644CF012693}"/>
                  </a:ext>
                </a:extLst>
              </p:cNvPr>
              <p:cNvGrpSpPr/>
              <p:nvPr/>
            </p:nvGrpSpPr>
            <p:grpSpPr>
              <a:xfrm rot="3740995">
                <a:off x="4152843" y="4136122"/>
                <a:ext cx="458369" cy="399856"/>
                <a:chOff x="3690596" y="5264272"/>
                <a:chExt cx="458369" cy="399856"/>
              </a:xfrm>
            </p:grpSpPr>
            <p:sp>
              <p:nvSpPr>
                <p:cNvPr id="808" name="Flowchart: Delay 807">
                  <a:extLst>
                    <a:ext uri="{FF2B5EF4-FFF2-40B4-BE49-F238E27FC236}">
                      <a16:creationId xmlns:a16="http://schemas.microsoft.com/office/drawing/2014/main" id="{7EA4D5C9-54D8-D6E2-B27B-86C4DF6EDEDF}"/>
                    </a:ext>
                  </a:extLst>
                </p:cNvPr>
                <p:cNvSpPr/>
                <p:nvPr/>
              </p:nvSpPr>
              <p:spPr>
                <a:xfrm rot="1535992">
                  <a:off x="3690596" y="5264272"/>
                  <a:ext cx="184961" cy="320248"/>
                </a:xfrm>
                <a:prstGeom prst="flowChartDelay">
                  <a:avLst/>
                </a:prstGeom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25E6B1B2-4F1F-172B-A916-EF6147DDE152}"/>
                    </a:ext>
                  </a:extLst>
                </p:cNvPr>
                <p:cNvSpPr/>
                <p:nvPr/>
              </p:nvSpPr>
              <p:spPr>
                <a:xfrm rot="21406059">
                  <a:off x="3882265" y="5454578"/>
                  <a:ext cx="266700" cy="209550"/>
                </a:xfrm>
                <a:custGeom>
                  <a:avLst/>
                  <a:gdLst>
                    <a:gd name="connsiteX0" fmla="*/ 0 w 266700"/>
                    <a:gd name="connsiteY0" fmla="*/ 0 h 209550"/>
                    <a:gd name="connsiteX1" fmla="*/ 57150 w 266700"/>
                    <a:gd name="connsiteY1" fmla="*/ 114300 h 209550"/>
                    <a:gd name="connsiteX2" fmla="*/ 200025 w 266700"/>
                    <a:gd name="connsiteY2" fmla="*/ 57150 h 209550"/>
                    <a:gd name="connsiteX3" fmla="*/ 266700 w 266700"/>
                    <a:gd name="connsiteY3" fmla="*/ 209550 h 20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209550">
                      <a:moveTo>
                        <a:pt x="0" y="0"/>
                      </a:moveTo>
                      <a:cubicBezTo>
                        <a:pt x="11906" y="52387"/>
                        <a:pt x="23813" y="104775"/>
                        <a:pt x="57150" y="114300"/>
                      </a:cubicBezTo>
                      <a:cubicBezTo>
                        <a:pt x="90488" y="123825"/>
                        <a:pt x="165100" y="41275"/>
                        <a:pt x="200025" y="57150"/>
                      </a:cubicBezTo>
                      <a:cubicBezTo>
                        <a:pt x="234950" y="73025"/>
                        <a:pt x="250825" y="141287"/>
                        <a:pt x="266700" y="209550"/>
                      </a:cubicBezTo>
                    </a:path>
                  </a:pathLst>
                </a:cu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00" name="Straight Connector 799">
                <a:extLst>
                  <a:ext uri="{FF2B5EF4-FFF2-40B4-BE49-F238E27FC236}">
                    <a16:creationId xmlns:a16="http://schemas.microsoft.com/office/drawing/2014/main" id="{A194440F-A48A-7D60-5900-D367768DF9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6187" y="3248237"/>
                <a:ext cx="12055" cy="83046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1" name="Straight Connector 800">
                <a:extLst>
                  <a:ext uri="{FF2B5EF4-FFF2-40B4-BE49-F238E27FC236}">
                    <a16:creationId xmlns:a16="http://schemas.microsoft.com/office/drawing/2014/main" id="{1161E873-AE1C-7CD5-F100-2BE89EA184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35967" y="3764283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2" name="Straight Connector 801">
                <a:extLst>
                  <a:ext uri="{FF2B5EF4-FFF2-40B4-BE49-F238E27FC236}">
                    <a16:creationId xmlns:a16="http://schemas.microsoft.com/office/drawing/2014/main" id="{E3E56FFC-51D5-6591-79DC-A7BF7C32D9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6187" y="3783583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3" name="Straight Connector 802">
                <a:extLst>
                  <a:ext uri="{FF2B5EF4-FFF2-40B4-BE49-F238E27FC236}">
                    <a16:creationId xmlns:a16="http://schemas.microsoft.com/office/drawing/2014/main" id="{CCBAD5CF-1490-B37F-3140-C66389A10D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9394" y="3774058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4" name="Rectangle: Rounded Corners 803">
                <a:extLst>
                  <a:ext uri="{FF2B5EF4-FFF2-40B4-BE49-F238E27FC236}">
                    <a16:creationId xmlns:a16="http://schemas.microsoft.com/office/drawing/2014/main" id="{FD96AB41-D90C-62E8-3623-F47C81E71027}"/>
                  </a:ext>
                </a:extLst>
              </p:cNvPr>
              <p:cNvSpPr/>
              <p:nvPr/>
            </p:nvSpPr>
            <p:spPr>
              <a:xfrm>
                <a:off x="5732193" y="3591452"/>
                <a:ext cx="405547" cy="337849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5" name="Rectangle: Rounded Corners 804">
                    <a:extLst>
                      <a:ext uri="{FF2B5EF4-FFF2-40B4-BE49-F238E27FC236}">
                        <a16:creationId xmlns:a16="http://schemas.microsoft.com/office/drawing/2014/main" id="{8BA78B08-1D55-C768-A9AB-48CB1077B59C}"/>
                      </a:ext>
                    </a:extLst>
                  </p:cNvPr>
                  <p:cNvSpPr/>
                  <p:nvPr/>
                </p:nvSpPr>
                <p:spPr>
                  <a:xfrm>
                    <a:off x="4726725" y="3591453"/>
                    <a:ext cx="405547" cy="337849"/>
                  </a:xfrm>
                  <a:prstGeom prst="round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805" name="Rectangle: Rounded Corners 804">
                    <a:extLst>
                      <a:ext uri="{FF2B5EF4-FFF2-40B4-BE49-F238E27FC236}">
                        <a16:creationId xmlns:a16="http://schemas.microsoft.com/office/drawing/2014/main" id="{8BA78B08-1D55-C768-A9AB-48CB1077B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725" y="3591453"/>
                    <a:ext cx="405547" cy="337849"/>
                  </a:xfrm>
                  <a:prstGeom prst="roundRect">
                    <a:avLst/>
                  </a:prstGeom>
                  <a:blipFill>
                    <a:blip r:embed="rId18"/>
                    <a:stretch>
                      <a:fillRect l="-17021" r="-4255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 useBgFill="1">
                <p:nvSpPr>
                  <p:cNvPr id="806" name="TextBox 805">
                    <a:extLst>
                      <a:ext uri="{FF2B5EF4-FFF2-40B4-BE49-F238E27FC236}">
                        <a16:creationId xmlns:a16="http://schemas.microsoft.com/office/drawing/2014/main" id="{6A48C860-6B88-4333-179D-5026557CB76E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6346356" y="3588479"/>
                    <a:ext cx="335244" cy="390209"/>
                  </a:xfrm>
                  <a:prstGeom prst="rect">
                    <a:avLst/>
                  </a:prstGeom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 useBgFill="1">
                <p:nvSpPr>
                  <p:cNvPr id="806" name="TextBox 805">
                    <a:extLst>
                      <a:ext uri="{FF2B5EF4-FFF2-40B4-BE49-F238E27FC236}">
                        <a16:creationId xmlns:a16="http://schemas.microsoft.com/office/drawing/2014/main" id="{6A48C860-6B88-4333-179D-5026557CB7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6346356" y="3588479"/>
                    <a:ext cx="335244" cy="39020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 useBgFill="1">
                <p:nvSpPr>
                  <p:cNvPr id="807" name="TextBox 806">
                    <a:extLst>
                      <a:ext uri="{FF2B5EF4-FFF2-40B4-BE49-F238E27FC236}">
                        <a16:creationId xmlns:a16="http://schemas.microsoft.com/office/drawing/2014/main" id="{616855BC-FAA1-10A2-7EBA-FF37D816F37B}"/>
                      </a:ext>
                    </a:extLst>
                  </p:cNvPr>
                  <p:cNvSpPr txBox="1"/>
                  <p:nvPr/>
                </p:nvSpPr>
                <p:spPr>
                  <a:xfrm>
                    <a:off x="4101980" y="3528300"/>
                    <a:ext cx="316733" cy="413162"/>
                  </a:xfrm>
                  <a:prstGeom prst="rect">
                    <a:avLst/>
                  </a:prstGeom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 useBgFill="1">
                <p:nvSpPr>
                  <p:cNvPr id="807" name="TextBox 806">
                    <a:extLst>
                      <a:ext uri="{FF2B5EF4-FFF2-40B4-BE49-F238E27FC236}">
                        <a16:creationId xmlns:a16="http://schemas.microsoft.com/office/drawing/2014/main" id="{616855BC-FAA1-10A2-7EBA-FF37D816F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1980" y="3528300"/>
                    <a:ext cx="316733" cy="41316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4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4" name="Group 853">
              <a:extLst>
                <a:ext uri="{FF2B5EF4-FFF2-40B4-BE49-F238E27FC236}">
                  <a16:creationId xmlns:a16="http://schemas.microsoft.com/office/drawing/2014/main" id="{7235B1DB-9DDE-F4FC-C23E-489D18A1A749}"/>
                </a:ext>
              </a:extLst>
            </p:cNvPr>
            <p:cNvGrpSpPr/>
            <p:nvPr/>
          </p:nvGrpSpPr>
          <p:grpSpPr>
            <a:xfrm>
              <a:off x="3021014" y="1120207"/>
              <a:ext cx="1926511" cy="1352168"/>
              <a:chOff x="5160089" y="2076832"/>
              <a:chExt cx="2868735" cy="195201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855" name="Group 854">
                <a:extLst>
                  <a:ext uri="{FF2B5EF4-FFF2-40B4-BE49-F238E27FC236}">
                    <a16:creationId xmlns:a16="http://schemas.microsoft.com/office/drawing/2014/main" id="{FD32481E-53D7-4D29-6EB8-D4400E7D29BA}"/>
                  </a:ext>
                </a:extLst>
              </p:cNvPr>
              <p:cNvGrpSpPr/>
              <p:nvPr/>
            </p:nvGrpSpPr>
            <p:grpSpPr>
              <a:xfrm flipH="1">
                <a:off x="7243145" y="3338349"/>
                <a:ext cx="785679" cy="690497"/>
                <a:chOff x="2098274" y="1374606"/>
                <a:chExt cx="1690182" cy="1652414"/>
              </a:xfrm>
            </p:grpSpPr>
            <p:grpSp>
              <p:nvGrpSpPr>
                <p:cNvPr id="870" name="Group 869">
                  <a:extLst>
                    <a:ext uri="{FF2B5EF4-FFF2-40B4-BE49-F238E27FC236}">
                      <a16:creationId xmlns:a16="http://schemas.microsoft.com/office/drawing/2014/main" id="{640ECE8B-2479-72B0-A7E6-7E2560F6180F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872" name="Flowchart: Delay 871">
                    <a:extLst>
                      <a:ext uri="{FF2B5EF4-FFF2-40B4-BE49-F238E27FC236}">
                        <a16:creationId xmlns:a16="http://schemas.microsoft.com/office/drawing/2014/main" id="{6154B2B4-6B59-2E0B-7810-048566B11C5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73" name="Rectangle 872">
                    <a:extLst>
                      <a:ext uri="{FF2B5EF4-FFF2-40B4-BE49-F238E27FC236}">
                        <a16:creationId xmlns:a16="http://schemas.microsoft.com/office/drawing/2014/main" id="{EF45ACE9-2B78-E01B-F1F8-5C4931962B34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74" name="Rectangle 873">
                    <a:extLst>
                      <a:ext uri="{FF2B5EF4-FFF2-40B4-BE49-F238E27FC236}">
                        <a16:creationId xmlns:a16="http://schemas.microsoft.com/office/drawing/2014/main" id="{4AA8353D-C9AC-38FF-BF7A-51B2E9300A44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5" name="Arc 874">
                    <a:extLst>
                      <a:ext uri="{FF2B5EF4-FFF2-40B4-BE49-F238E27FC236}">
                        <a16:creationId xmlns:a16="http://schemas.microsoft.com/office/drawing/2014/main" id="{D3B50C1A-D028-1D62-A416-2EEB4339453A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175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76" name="Rectangle 875">
                    <a:extLst>
                      <a:ext uri="{FF2B5EF4-FFF2-40B4-BE49-F238E27FC236}">
                        <a16:creationId xmlns:a16="http://schemas.microsoft.com/office/drawing/2014/main" id="{38C92F3D-686C-56D1-66BC-97CE33AB7979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7" name="Rectangle 876">
                    <a:extLst>
                      <a:ext uri="{FF2B5EF4-FFF2-40B4-BE49-F238E27FC236}">
                        <a16:creationId xmlns:a16="http://schemas.microsoft.com/office/drawing/2014/main" id="{C84D0A02-4AFA-CD6F-5158-3BB1F50F6C87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78" name="Rectangle 877">
                    <a:extLst>
                      <a:ext uri="{FF2B5EF4-FFF2-40B4-BE49-F238E27FC236}">
                        <a16:creationId xmlns:a16="http://schemas.microsoft.com/office/drawing/2014/main" id="{8EBC7351-8250-8093-619D-826A259492E0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79" name="Rectangle 878">
                    <a:extLst>
                      <a:ext uri="{FF2B5EF4-FFF2-40B4-BE49-F238E27FC236}">
                        <a16:creationId xmlns:a16="http://schemas.microsoft.com/office/drawing/2014/main" id="{35D6F8D7-B399-D169-211F-6981AA25F41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71" name="Rectangle 870">
                  <a:extLst>
                    <a:ext uri="{FF2B5EF4-FFF2-40B4-BE49-F238E27FC236}">
                      <a16:creationId xmlns:a16="http://schemas.microsoft.com/office/drawing/2014/main" id="{6F3866E7-FA93-9574-2DD7-2C9047BF99D2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856" name="Graphic 855" descr="Solar system with solid fill">
                <a:extLst>
                  <a:ext uri="{FF2B5EF4-FFF2-40B4-BE49-F238E27FC236}">
                    <a16:creationId xmlns:a16="http://schemas.microsoft.com/office/drawing/2014/main" id="{701743BB-AE90-95A3-D135-954010A86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949361">
                <a:off x="6270677" y="2076832"/>
                <a:ext cx="917821" cy="917821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857" name="Straight Arrow Connector 856">
                <a:extLst>
                  <a:ext uri="{FF2B5EF4-FFF2-40B4-BE49-F238E27FC236}">
                    <a16:creationId xmlns:a16="http://schemas.microsoft.com/office/drawing/2014/main" id="{7D63AD74-0B9C-F9B7-93DE-ACC61B9BB8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29055" y="2787089"/>
                <a:ext cx="518414" cy="488776"/>
              </a:xfrm>
              <a:prstGeom prst="straightConnector1">
                <a:avLst/>
              </a:prstGeom>
              <a:ln w="19050">
                <a:solidFill>
                  <a:schemeClr val="dk1"/>
                </a:solidFill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8" name="Straight Arrow Connector 857">
                <a:extLst>
                  <a:ext uri="{FF2B5EF4-FFF2-40B4-BE49-F238E27FC236}">
                    <a16:creationId xmlns:a16="http://schemas.microsoft.com/office/drawing/2014/main" id="{9896EF94-4590-86ED-F200-B7D467CA1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49335" y="2819729"/>
                <a:ext cx="441289" cy="486782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EE3E22EB-2F40-4C8F-A00D-F053ACFC7AB8}"/>
                  </a:ext>
                </a:extLst>
              </p:cNvPr>
              <p:cNvGrpSpPr/>
              <p:nvPr/>
            </p:nvGrpSpPr>
            <p:grpSpPr>
              <a:xfrm>
                <a:off x="5160089" y="3316926"/>
                <a:ext cx="771789" cy="690497"/>
                <a:chOff x="2098274" y="1374606"/>
                <a:chExt cx="1690182" cy="1652414"/>
              </a:xfrm>
            </p:grpSpPr>
            <p:grpSp>
              <p:nvGrpSpPr>
                <p:cNvPr id="860" name="Group 859">
                  <a:extLst>
                    <a:ext uri="{FF2B5EF4-FFF2-40B4-BE49-F238E27FC236}">
                      <a16:creationId xmlns:a16="http://schemas.microsoft.com/office/drawing/2014/main" id="{733C7937-0AD0-EA0E-463D-C9D17A3FD1BD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862" name="Flowchart: Delay 861">
                    <a:extLst>
                      <a:ext uri="{FF2B5EF4-FFF2-40B4-BE49-F238E27FC236}">
                        <a16:creationId xmlns:a16="http://schemas.microsoft.com/office/drawing/2014/main" id="{74E36AA6-1094-92FF-DBCA-15C71F33A9F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3" name="Rectangle 862">
                    <a:extLst>
                      <a:ext uri="{FF2B5EF4-FFF2-40B4-BE49-F238E27FC236}">
                        <a16:creationId xmlns:a16="http://schemas.microsoft.com/office/drawing/2014/main" id="{D6E0188E-BAE6-7561-A48D-B2FD7611CED1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4" name="Rectangle 863">
                    <a:extLst>
                      <a:ext uri="{FF2B5EF4-FFF2-40B4-BE49-F238E27FC236}">
                        <a16:creationId xmlns:a16="http://schemas.microsoft.com/office/drawing/2014/main" id="{7BA56D9F-54A2-AEE4-FFC3-D6B659175197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5" name="Arc 864">
                    <a:extLst>
                      <a:ext uri="{FF2B5EF4-FFF2-40B4-BE49-F238E27FC236}">
                        <a16:creationId xmlns:a16="http://schemas.microsoft.com/office/drawing/2014/main" id="{0A895727-278C-0066-4DDC-0871EDBBAC1B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175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A4A9DB28-7706-CC63-C27E-40AB20A9F6BA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7" name="Rectangle 866">
                    <a:extLst>
                      <a:ext uri="{FF2B5EF4-FFF2-40B4-BE49-F238E27FC236}">
                        <a16:creationId xmlns:a16="http://schemas.microsoft.com/office/drawing/2014/main" id="{D38871D8-DB79-308C-A119-AF8DC4575482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8" name="Rectangle 867">
                    <a:extLst>
                      <a:ext uri="{FF2B5EF4-FFF2-40B4-BE49-F238E27FC236}">
                        <a16:creationId xmlns:a16="http://schemas.microsoft.com/office/drawing/2014/main" id="{EF9CE9FD-CA2C-4D08-B682-0181EDDD5835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9" name="Rectangle 868">
                    <a:extLst>
                      <a:ext uri="{FF2B5EF4-FFF2-40B4-BE49-F238E27FC236}">
                        <a16:creationId xmlns:a16="http://schemas.microsoft.com/office/drawing/2014/main" id="{9A30D11D-EBE0-D549-5127-2884CA6FB0D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61" name="Rectangle 860">
                  <a:extLst>
                    <a:ext uri="{FF2B5EF4-FFF2-40B4-BE49-F238E27FC236}">
                      <a16:creationId xmlns:a16="http://schemas.microsoft.com/office/drawing/2014/main" id="{E572C1EA-7972-7543-5C7F-204DCC051948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cxnSp>
          <p:nvCxnSpPr>
            <p:cNvPr id="946" name="Straight Arrow Connector 945">
              <a:extLst>
                <a:ext uri="{FF2B5EF4-FFF2-40B4-BE49-F238E27FC236}">
                  <a16:creationId xmlns:a16="http://schemas.microsoft.com/office/drawing/2014/main" id="{D84E1A6E-E3FF-3373-5DD1-471C58BA1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2" y="2555167"/>
              <a:ext cx="104445" cy="203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7" name="TextBox 946">
              <a:extLst>
                <a:ext uri="{FF2B5EF4-FFF2-40B4-BE49-F238E27FC236}">
                  <a16:creationId xmlns:a16="http://schemas.microsoft.com/office/drawing/2014/main" id="{3EB0CA4C-08C4-713A-2B5A-783545C93704}"/>
                </a:ext>
              </a:extLst>
            </p:cNvPr>
            <p:cNvSpPr txBox="1"/>
            <p:nvPr/>
          </p:nvSpPr>
          <p:spPr>
            <a:xfrm>
              <a:off x="3465901" y="2153993"/>
              <a:ext cx="1098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Weak coherent state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E0AE83B-44ED-5318-1FC2-36C6EA2E720B}"/>
                    </a:ext>
                  </a:extLst>
                </p:cNvPr>
                <p:cNvSpPr txBox="1"/>
                <p:nvPr/>
              </p:nvSpPr>
              <p:spPr>
                <a:xfrm>
                  <a:off x="4020868" y="2787022"/>
                  <a:ext cx="59778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𝛼</m:t>
                        </m:r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⟩</m:t>
                        </m:r>
                      </m:oMath>
                    </m:oMathPara>
                  </a14:m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E0AE83B-44ED-5318-1FC2-36C6EA2E7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868" y="2787022"/>
                  <a:ext cx="59778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7BDFFB0-1D57-74C7-C29E-BB4D13E50B52}"/>
              </a:ext>
            </a:extLst>
          </p:cNvPr>
          <p:cNvSpPr txBox="1"/>
          <p:nvPr/>
        </p:nvSpPr>
        <p:spPr>
          <a:xfrm>
            <a:off x="9114823" y="3586493"/>
            <a:ext cx="209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Quantum telescope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2D4A9-FDBA-6919-011B-0DE1EBDFBED5}"/>
              </a:ext>
            </a:extLst>
          </p:cNvPr>
          <p:cNvSpPr txBox="1"/>
          <p:nvPr/>
        </p:nvSpPr>
        <p:spPr>
          <a:xfrm>
            <a:off x="691569" y="3575627"/>
            <a:ext cx="1452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Direct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13862-F032-B693-692A-7A2890553DCF}"/>
              </a:ext>
            </a:extLst>
          </p:cNvPr>
          <p:cNvSpPr txBox="1"/>
          <p:nvPr/>
        </p:nvSpPr>
        <p:spPr>
          <a:xfrm>
            <a:off x="2801303" y="3573896"/>
            <a:ext cx="2439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‘</a:t>
            </a:r>
            <a:r>
              <a:rPr lang="en-US" sz="1400" dirty="0" err="1"/>
              <a:t>homedyne</a:t>
            </a:r>
            <a:r>
              <a:rPr lang="en-US" sz="1400" dirty="0"/>
              <a:t>’ interferometry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543B67-ECC0-F4B8-B307-58EE99EDF097}"/>
              </a:ext>
            </a:extLst>
          </p:cNvPr>
          <p:cNvCxnSpPr/>
          <p:nvPr/>
        </p:nvCxnSpPr>
        <p:spPr>
          <a:xfrm>
            <a:off x="7823102" y="3714126"/>
            <a:ext cx="5143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1D8E59-DF24-3C1C-251C-0D2FF9FC43BB}"/>
              </a:ext>
            </a:extLst>
          </p:cNvPr>
          <p:cNvSpPr txBox="1"/>
          <p:nvPr/>
        </p:nvSpPr>
        <p:spPr>
          <a:xfrm>
            <a:off x="5450157" y="3574374"/>
            <a:ext cx="209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Intensity interferometry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12A529-801C-A140-F8FC-F7E8E8DDA4EF}"/>
              </a:ext>
            </a:extLst>
          </p:cNvPr>
          <p:cNvGrpSpPr/>
          <p:nvPr/>
        </p:nvGrpSpPr>
        <p:grpSpPr>
          <a:xfrm>
            <a:off x="9072659" y="5124164"/>
            <a:ext cx="2207415" cy="676900"/>
            <a:chOff x="3561078" y="654921"/>
            <a:chExt cx="2207415" cy="6769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03DA2C-7CF4-1391-498F-1D00EA7C9A05}"/>
                </a:ext>
              </a:extLst>
            </p:cNvPr>
            <p:cNvGrpSpPr/>
            <p:nvPr/>
          </p:nvGrpSpPr>
          <p:grpSpPr>
            <a:xfrm>
              <a:off x="3561078" y="654921"/>
              <a:ext cx="1679526" cy="676900"/>
              <a:chOff x="3352653" y="4487847"/>
              <a:chExt cx="2625898" cy="135509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FB19A3-A623-F72E-02F0-4616EA40C9C9}"/>
                  </a:ext>
                </a:extLst>
              </p:cNvPr>
              <p:cNvSpPr txBox="1"/>
              <p:nvPr/>
            </p:nvSpPr>
            <p:spPr>
              <a:xfrm>
                <a:off x="4370972" y="4487847"/>
                <a:ext cx="1300362" cy="508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Lab</a:t>
                </a:r>
              </a:p>
            </p:txBody>
          </p:sp>
          <p:sp>
            <p:nvSpPr>
              <p:cNvPr id="19" name="Freeform 30">
                <a:extLst>
                  <a:ext uri="{FF2B5EF4-FFF2-40B4-BE49-F238E27FC236}">
                    <a16:creationId xmlns:a16="http://schemas.microsoft.com/office/drawing/2014/main" id="{BEFBB138-2EF1-A44B-B593-D52CB016DDCF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" name="Freeform 30">
                <a:extLst>
                  <a:ext uri="{FF2B5EF4-FFF2-40B4-BE49-F238E27FC236}">
                    <a16:creationId xmlns:a16="http://schemas.microsoft.com/office/drawing/2014/main" id="{755D8A73-A61F-5D55-EEED-88ADE70B2C0B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Freeform 30">
                <a:extLst>
                  <a:ext uri="{FF2B5EF4-FFF2-40B4-BE49-F238E27FC236}">
                    <a16:creationId xmlns:a16="http://schemas.microsoft.com/office/drawing/2014/main" id="{8BCC48FD-0EE2-82EE-00AD-E1A81EE9049D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" name="Freeform 30">
                <a:extLst>
                  <a:ext uri="{FF2B5EF4-FFF2-40B4-BE49-F238E27FC236}">
                    <a16:creationId xmlns:a16="http://schemas.microsoft.com/office/drawing/2014/main" id="{003D5AC0-5F97-3AA8-6A22-27CEDCF55B91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3" name="Freeform 30">
                <a:extLst>
                  <a:ext uri="{FF2B5EF4-FFF2-40B4-BE49-F238E27FC236}">
                    <a16:creationId xmlns:a16="http://schemas.microsoft.com/office/drawing/2014/main" id="{38549D98-54DE-6AC5-88F0-450D2E635195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" name="Freeform 30">
                <a:extLst>
                  <a:ext uri="{FF2B5EF4-FFF2-40B4-BE49-F238E27FC236}">
                    <a16:creationId xmlns:a16="http://schemas.microsoft.com/office/drawing/2014/main" id="{BB2F65DF-2529-C65A-11FC-0296C34D403B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992C451-69FD-2E5D-E3FD-24178F934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721E0B8-7513-F2EE-2EDB-2167E538E0B7}"/>
                    </a:ext>
                  </a:extLst>
                </p:cNvPr>
                <p:cNvSpPr txBox="1"/>
                <p:nvPr/>
              </p:nvSpPr>
              <p:spPr>
                <a:xfrm>
                  <a:off x="5568161" y="738464"/>
                  <a:ext cx="20033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1000" b="0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7E1B5BBB-774B-6894-3B37-5CDD63854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8161" y="738464"/>
                  <a:ext cx="200332" cy="492443"/>
                </a:xfrm>
                <a:prstGeom prst="rect">
                  <a:avLst/>
                </a:prstGeom>
                <a:blipFill>
                  <a:blip r:embed="rId20"/>
                  <a:stretch>
                    <a:fillRect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Freeform 30">
            <a:extLst>
              <a:ext uri="{FF2B5EF4-FFF2-40B4-BE49-F238E27FC236}">
                <a16:creationId xmlns:a16="http://schemas.microsoft.com/office/drawing/2014/main" id="{424FC518-88FE-140D-2A2F-AC7B6DC04FAE}"/>
              </a:ext>
            </a:extLst>
          </p:cNvPr>
          <p:cNvSpPr/>
          <p:nvPr/>
        </p:nvSpPr>
        <p:spPr>
          <a:xfrm>
            <a:off x="10869720" y="5481504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126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animBg="1"/>
      <p:bldP spid="278" grpId="0" animBg="1"/>
      <p:bldP spid="279" grpId="0" animBg="1"/>
      <p:bldP spid="752" grpId="0" animBg="1"/>
      <p:bldP spid="753" grpId="0" animBg="1"/>
      <p:bldP spid="754" grpId="0" animBg="1"/>
      <p:bldP spid="755" grpId="0" animBg="1"/>
      <p:bldP spid="756" grpId="0" animBg="1"/>
      <p:bldP spid="757" grpId="0" animBg="1"/>
      <p:bldP spid="758" grpId="0" animBg="1"/>
      <p:bldP spid="759" grpId="0" animBg="1"/>
      <p:bldP spid="7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67E346E-AEFA-9B3E-A8EC-DB96838025B7}"/>
              </a:ext>
            </a:extLst>
          </p:cNvPr>
          <p:cNvSpPr/>
          <p:nvPr/>
        </p:nvSpPr>
        <p:spPr>
          <a:xfrm>
            <a:off x="50669" y="800813"/>
            <a:ext cx="3625981" cy="5905751"/>
          </a:xfrm>
          <a:prstGeom prst="rect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Classical interferometric telescope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BF935A2-ECB0-94B8-E221-51F1B5E8D262}"/>
                  </a:ext>
                </a:extLst>
              </p:cNvPr>
              <p:cNvSpPr txBox="1"/>
              <p:nvPr/>
            </p:nvSpPr>
            <p:spPr>
              <a:xfrm>
                <a:off x="3820762" y="706871"/>
                <a:ext cx="62002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dirty="0"/>
                  <a:t>Source state with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≪1 </m:t>
                    </m:r>
                  </m:oMath>
                </a14:m>
                <a:r>
                  <a:rPr lang="en-US" sz="1200" b="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BF935A2-ECB0-94B8-E221-51F1B5E8D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62" y="706871"/>
                <a:ext cx="6200254" cy="276999"/>
              </a:xfrm>
              <a:prstGeom prst="rect">
                <a:avLst/>
              </a:prstGeom>
              <a:blipFill>
                <a:blip r:embed="rId4"/>
                <a:stretch>
                  <a:fillRect l="-9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08100" y="6151129"/>
              <a:ext cx="2403464" cy="5554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08100" y="6151129"/>
              <a:ext cx="2403464" cy="5554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5554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3" t="-1087" r="-506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2170E42-82AF-2A90-6A21-82E49487E7EC}"/>
              </a:ext>
            </a:extLst>
          </p:cNvPr>
          <p:cNvGrpSpPr/>
          <p:nvPr/>
        </p:nvGrpSpPr>
        <p:grpSpPr>
          <a:xfrm>
            <a:off x="4463525" y="3994317"/>
            <a:ext cx="3408128" cy="1008973"/>
            <a:chOff x="3561079" y="607494"/>
            <a:chExt cx="3423441" cy="938158"/>
          </a:xfrm>
        </p:grpSpPr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50351A06-3699-2084-0816-12DCAA7922C5}"/>
                </a:ext>
              </a:extLst>
            </p:cNvPr>
            <p:cNvGrpSpPr/>
            <p:nvPr/>
          </p:nvGrpSpPr>
          <p:grpSpPr>
            <a:xfrm>
              <a:off x="3561079" y="607494"/>
              <a:ext cx="1679526" cy="724329"/>
              <a:chOff x="3352653" y="4392899"/>
              <a:chExt cx="2625898" cy="1450047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501CD278-1A33-E6D4-D9CA-973E498DCC0F}"/>
                  </a:ext>
                </a:extLst>
              </p:cNvPr>
              <p:cNvSpPr txBox="1"/>
              <p:nvPr/>
            </p:nvSpPr>
            <p:spPr>
              <a:xfrm>
                <a:off x="4358819" y="4392899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245" name="Freeform 30">
                <a:extLst>
                  <a:ext uri="{FF2B5EF4-FFF2-40B4-BE49-F238E27FC236}">
                    <a16:creationId xmlns:a16="http://schemas.microsoft.com/office/drawing/2014/main" id="{C3FA985C-C5A4-75F8-E794-F5E7D4A4F93A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6" name="Freeform 30">
                <a:extLst>
                  <a:ext uri="{FF2B5EF4-FFF2-40B4-BE49-F238E27FC236}">
                    <a16:creationId xmlns:a16="http://schemas.microsoft.com/office/drawing/2014/main" id="{EAE78A8A-96A8-5F9F-C713-15AF464FBCA7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7" name="Freeform 30">
                <a:extLst>
                  <a:ext uri="{FF2B5EF4-FFF2-40B4-BE49-F238E27FC236}">
                    <a16:creationId xmlns:a16="http://schemas.microsoft.com/office/drawing/2014/main" id="{5CD94C68-34EF-1B67-197D-450FAC123759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8" name="Freeform 30">
                <a:extLst>
                  <a:ext uri="{FF2B5EF4-FFF2-40B4-BE49-F238E27FC236}">
                    <a16:creationId xmlns:a16="http://schemas.microsoft.com/office/drawing/2014/main" id="{9D8DE224-4021-5717-702C-E25C75A96D8A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49" name="Freeform 30">
                <a:extLst>
                  <a:ext uri="{FF2B5EF4-FFF2-40B4-BE49-F238E27FC236}">
                    <a16:creationId xmlns:a16="http://schemas.microsoft.com/office/drawing/2014/main" id="{F1ED2A7C-51DF-5FAE-90CE-C5529DB4E350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50" name="Freeform 30">
                <a:extLst>
                  <a:ext uri="{FF2B5EF4-FFF2-40B4-BE49-F238E27FC236}">
                    <a16:creationId xmlns:a16="http://schemas.microsoft.com/office/drawing/2014/main" id="{49DC7D0E-4ED3-EC07-3E1E-FF5113E17137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3FFE8B92-51A9-AF43-A31B-1F264FF5E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id="{D3817DA9-7FC2-F366-A5E8-9F040F10BE15}"/>
                    </a:ext>
                  </a:extLst>
                </p:cNvPr>
                <p:cNvSpPr txBox="1"/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id="{D3817DA9-7FC2-F366-A5E8-9F040F10B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EC43AF8-BBC8-63E3-A479-CFAC78B4ECFD}"/>
              </a:ext>
            </a:extLst>
          </p:cNvPr>
          <p:cNvGrpSpPr/>
          <p:nvPr/>
        </p:nvGrpSpPr>
        <p:grpSpPr>
          <a:xfrm>
            <a:off x="4488514" y="5009782"/>
            <a:ext cx="2207706" cy="924386"/>
            <a:chOff x="3561078" y="654921"/>
            <a:chExt cx="2207706" cy="924386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AE28210-0092-D90E-FFAE-179757E563ED}"/>
                </a:ext>
              </a:extLst>
            </p:cNvPr>
            <p:cNvGrpSpPr/>
            <p:nvPr/>
          </p:nvGrpSpPr>
          <p:grpSpPr>
            <a:xfrm>
              <a:off x="3561078" y="654921"/>
              <a:ext cx="1679526" cy="924386"/>
              <a:chOff x="3352653" y="4487847"/>
              <a:chExt cx="2625898" cy="1850546"/>
            </a:xfrm>
          </p:grpSpPr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98672196-8183-A796-2019-A468A4C9CB7A}"/>
                  </a:ext>
                </a:extLst>
              </p:cNvPr>
              <p:cNvSpPr txBox="1"/>
              <p:nvPr/>
            </p:nvSpPr>
            <p:spPr>
              <a:xfrm>
                <a:off x="4370972" y="4487847"/>
                <a:ext cx="1300362" cy="508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Lab</a:t>
                </a:r>
              </a:p>
            </p:txBody>
          </p:sp>
          <p:sp>
            <p:nvSpPr>
              <p:cNvPr id="259" name="Freeform 30">
                <a:extLst>
                  <a:ext uri="{FF2B5EF4-FFF2-40B4-BE49-F238E27FC236}">
                    <a16:creationId xmlns:a16="http://schemas.microsoft.com/office/drawing/2014/main" id="{846EE160-5303-D2A0-0583-CDB94B0FA27E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0" name="Freeform 30">
                <a:extLst>
                  <a:ext uri="{FF2B5EF4-FFF2-40B4-BE49-F238E27FC236}">
                    <a16:creationId xmlns:a16="http://schemas.microsoft.com/office/drawing/2014/main" id="{2D826515-F510-6CF5-57D8-26296A06F25E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1" name="Freeform 30">
                <a:extLst>
                  <a:ext uri="{FF2B5EF4-FFF2-40B4-BE49-F238E27FC236}">
                    <a16:creationId xmlns:a16="http://schemas.microsoft.com/office/drawing/2014/main" id="{B7E2DF69-F903-07C3-725D-A388EF05F0CA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2" name="Freeform 30">
                <a:extLst>
                  <a:ext uri="{FF2B5EF4-FFF2-40B4-BE49-F238E27FC236}">
                    <a16:creationId xmlns:a16="http://schemas.microsoft.com/office/drawing/2014/main" id="{396CD6BD-0A5A-6CF7-C94E-5BD54B64F42B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63" name="Freeform 30">
                <a:extLst>
                  <a:ext uri="{FF2B5EF4-FFF2-40B4-BE49-F238E27FC236}">
                    <a16:creationId xmlns:a16="http://schemas.microsoft.com/office/drawing/2014/main" id="{D0E20F5C-B5F5-9DEC-B482-4CBBDAEB03A6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4" name="Freeform 30">
                <a:extLst>
                  <a:ext uri="{FF2B5EF4-FFF2-40B4-BE49-F238E27FC236}">
                    <a16:creationId xmlns:a16="http://schemas.microsoft.com/office/drawing/2014/main" id="{6FDD732E-9482-9A5F-DE37-BA4A86ED4D68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9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266" name="Straight Arrow Connector 265">
                <a:extLst>
                  <a:ext uri="{FF2B5EF4-FFF2-40B4-BE49-F238E27FC236}">
                    <a16:creationId xmlns:a16="http://schemas.microsoft.com/office/drawing/2014/main" id="{1E6349A1-0891-5DAA-AA2E-2B8BA7DD7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CB898632-1281-DD2B-BDCF-7B4739B6C80E}"/>
                  </a:ext>
                </a:extLst>
              </p:cNvPr>
              <p:cNvSpPr txBox="1"/>
              <p:nvPr/>
            </p:nvSpPr>
            <p:spPr>
              <a:xfrm>
                <a:off x="3877214" y="5876286"/>
                <a:ext cx="1825077" cy="46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Temporal mode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805CB606-9776-80D4-987F-2F4F45371482}"/>
                    </a:ext>
                  </a:extLst>
                </p:cNvPr>
                <p:cNvSpPr txBox="1"/>
                <p:nvPr/>
              </p:nvSpPr>
              <p:spPr>
                <a:xfrm>
                  <a:off x="5585072" y="908837"/>
                  <a:ext cx="18371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1000" b="0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805CB606-9776-80D4-987F-2F4F45371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5072" y="908837"/>
                  <a:ext cx="183712" cy="492443"/>
                </a:xfrm>
                <a:prstGeom prst="rect">
                  <a:avLst/>
                </a:prstGeom>
                <a:blipFill>
                  <a:blip r:embed="rId7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7" name="Freeform 30">
            <a:extLst>
              <a:ext uri="{FF2B5EF4-FFF2-40B4-BE49-F238E27FC236}">
                <a16:creationId xmlns:a16="http://schemas.microsoft.com/office/drawing/2014/main" id="{C195E4D9-94FA-9235-30A9-A176F3787483}"/>
              </a:ext>
            </a:extLst>
          </p:cNvPr>
          <p:cNvSpPr/>
          <p:nvPr/>
        </p:nvSpPr>
        <p:spPr>
          <a:xfrm>
            <a:off x="6238173" y="4189705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8" name="Freeform 30">
            <a:extLst>
              <a:ext uri="{FF2B5EF4-FFF2-40B4-BE49-F238E27FC236}">
                <a16:creationId xmlns:a16="http://schemas.microsoft.com/office/drawing/2014/main" id="{3EE0FF8A-A5DB-C6EF-741B-E9A835D4BD24}"/>
              </a:ext>
            </a:extLst>
          </p:cNvPr>
          <p:cNvSpPr/>
          <p:nvPr/>
        </p:nvSpPr>
        <p:spPr>
          <a:xfrm>
            <a:off x="6222543" y="4437021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9" name="Freeform 30">
            <a:extLst>
              <a:ext uri="{FF2B5EF4-FFF2-40B4-BE49-F238E27FC236}">
                <a16:creationId xmlns:a16="http://schemas.microsoft.com/office/drawing/2014/main" id="{521E3435-BB85-2479-AEF0-B4A04F80A845}"/>
              </a:ext>
            </a:extLst>
          </p:cNvPr>
          <p:cNvSpPr/>
          <p:nvPr/>
        </p:nvSpPr>
        <p:spPr>
          <a:xfrm>
            <a:off x="6226365" y="4683286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sp>
        <p:nvSpPr>
          <p:cNvPr id="280" name="Freeform 30">
            <a:extLst>
              <a:ext uri="{FF2B5EF4-FFF2-40B4-BE49-F238E27FC236}">
                <a16:creationId xmlns:a16="http://schemas.microsoft.com/office/drawing/2014/main" id="{3E9767EA-7B75-820E-32EB-BAAD4327D782}"/>
              </a:ext>
            </a:extLst>
          </p:cNvPr>
          <p:cNvSpPr/>
          <p:nvPr/>
        </p:nvSpPr>
        <p:spPr>
          <a:xfrm>
            <a:off x="6271208" y="5536211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Freeform 30">
            <a:extLst>
              <a:ext uri="{FF2B5EF4-FFF2-40B4-BE49-F238E27FC236}">
                <a16:creationId xmlns:a16="http://schemas.microsoft.com/office/drawing/2014/main" id="{AE42A200-4EE3-8FCD-9CF5-7E1AB6733BBF}"/>
              </a:ext>
            </a:extLst>
          </p:cNvPr>
          <p:cNvSpPr/>
          <p:nvPr/>
        </p:nvSpPr>
        <p:spPr>
          <a:xfrm>
            <a:off x="6256613" y="5258129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AA2327-A139-153A-E24C-E729CE5A8065}"/>
                  </a:ext>
                </a:extLst>
              </p:cNvPr>
              <p:cNvSpPr txBox="1"/>
              <p:nvPr/>
            </p:nvSpPr>
            <p:spPr>
              <a:xfrm>
                <a:off x="6195784" y="5235764"/>
                <a:ext cx="11187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AA2327-A139-153A-E24C-E729CE5A8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784" y="5235764"/>
                <a:ext cx="1118733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1A95B4DE-EEC4-0539-7F3D-DC15BE098666}"/>
              </a:ext>
            </a:extLst>
          </p:cNvPr>
          <p:cNvCxnSpPr/>
          <p:nvPr/>
        </p:nvCxnSpPr>
        <p:spPr>
          <a:xfrm>
            <a:off x="8067381" y="1167532"/>
            <a:ext cx="88802" cy="555682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E7D60C6-1BA9-195E-B05F-9A70A64EA58E}"/>
              </a:ext>
            </a:extLst>
          </p:cNvPr>
          <p:cNvCxnSpPr>
            <a:cxnSpLocks/>
          </p:cNvCxnSpPr>
          <p:nvPr/>
        </p:nvCxnSpPr>
        <p:spPr>
          <a:xfrm flipV="1">
            <a:off x="5443692" y="4863356"/>
            <a:ext cx="0" cy="19504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C66998C-D24A-1C82-80A2-8C2B382B0BB6}"/>
              </a:ext>
            </a:extLst>
          </p:cNvPr>
          <p:cNvCxnSpPr>
            <a:cxnSpLocks/>
          </p:cNvCxnSpPr>
          <p:nvPr/>
        </p:nvCxnSpPr>
        <p:spPr>
          <a:xfrm flipH="1" flipV="1">
            <a:off x="5989421" y="4851294"/>
            <a:ext cx="6188" cy="212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726740-F52B-C599-7B17-A486FE9C8189}"/>
              </a:ext>
            </a:extLst>
          </p:cNvPr>
          <p:cNvSpPr txBox="1"/>
          <p:nvPr/>
        </p:nvSpPr>
        <p:spPr>
          <a:xfrm>
            <a:off x="4243825" y="3581343"/>
            <a:ext cx="2876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 with non-unit rate per mode </a:t>
            </a:r>
            <a:endParaRPr lang="en-US" sz="12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BA9963-4F81-E1E6-34A6-1095BEE27473}"/>
              </a:ext>
            </a:extLst>
          </p:cNvPr>
          <p:cNvGrpSpPr/>
          <p:nvPr/>
        </p:nvGrpSpPr>
        <p:grpSpPr>
          <a:xfrm>
            <a:off x="4350640" y="2448175"/>
            <a:ext cx="2488156" cy="1009666"/>
            <a:chOff x="7851736" y="3218902"/>
            <a:chExt cx="3748644" cy="142661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E99D15E-647F-82A5-D0BD-6FCF4D3CE74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CEC0DD-157B-9B0E-1933-329F74A51CD8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30" name="Flowchart: Delay 29">
                <a:extLst>
                  <a:ext uri="{FF2B5EF4-FFF2-40B4-BE49-F238E27FC236}">
                    <a16:creationId xmlns:a16="http://schemas.microsoft.com/office/drawing/2014/main" id="{D9366A98-2981-1148-10B6-6A806E0B974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EDC405A-318A-84BA-1028-383D4E377EAE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EF9EEB8-707F-DC3A-DF9D-2FB624A8EA3B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28" name="Flowchart: Delay 27">
                <a:extLst>
                  <a:ext uri="{FF2B5EF4-FFF2-40B4-BE49-F238E27FC236}">
                    <a16:creationId xmlns:a16="http://schemas.microsoft.com/office/drawing/2014/main" id="{67787A49-B45C-FFB0-D3E3-5B4F4CED2613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AD09934-C332-399B-9E54-CFD054206F0E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CDEC0D-FB42-CEFB-C2FC-24010FEB8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1E4CF85-D9DA-CB55-BCC3-2EE5F985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512077-6307-5912-3142-5C0A2A9F85CF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4787FB-C248-BBA8-0B34-688275D75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2C0A1C-62EB-2BF2-DE52-425361D15E3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7A87226-B90D-5E73-55BE-31E2DE5156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9B22F3-F862-5947-91F0-849EEE3A4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FE589D6-6C2C-5B88-D275-B7E4B5E460F7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26" name="Flowchart: Delay 25">
                <a:extLst>
                  <a:ext uri="{FF2B5EF4-FFF2-40B4-BE49-F238E27FC236}">
                    <a16:creationId xmlns:a16="http://schemas.microsoft.com/office/drawing/2014/main" id="{2B51EA65-34AB-7B5A-1D04-1B6C48B962AA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72F5701-713C-ED73-391B-91A868937935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F06670-1B05-B460-0F6F-9908730BBA25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24" name="Flowchart: Delay 23">
                <a:extLst>
                  <a:ext uri="{FF2B5EF4-FFF2-40B4-BE49-F238E27FC236}">
                    <a16:creationId xmlns:a16="http://schemas.microsoft.com/office/drawing/2014/main" id="{234D2E16-01AC-12FA-0F4E-EFBE051C4B54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4CF3FE6-C84F-4A1C-7364-250E6B19E145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55E479B-F1E9-1E16-22F8-441C9BF8A037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D079A54-18DF-6BA0-3F53-950E2A20368D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D079A54-18DF-6BA0-3F53-950E2A203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CE4C4B5-44F8-CA86-44A8-E6B15FDFBC1F}"/>
              </a:ext>
            </a:extLst>
          </p:cNvPr>
          <p:cNvCxnSpPr>
            <a:cxnSpLocks/>
          </p:cNvCxnSpPr>
          <p:nvPr/>
        </p:nvCxnSpPr>
        <p:spPr>
          <a:xfrm flipH="1">
            <a:off x="7458419" y="3703109"/>
            <a:ext cx="8934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4EAD6C1-BADD-DB91-C67B-256522FC4E8C}"/>
              </a:ext>
            </a:extLst>
          </p:cNvPr>
          <p:cNvGrpSpPr/>
          <p:nvPr/>
        </p:nvGrpSpPr>
        <p:grpSpPr>
          <a:xfrm>
            <a:off x="4595043" y="1124208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3FBD1B96-4ED8-A078-38D3-F03CCE129D02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79522FCF-CA1F-6618-930D-5AE3680277A6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04" name="Flowchart: Delay 203">
                  <a:extLst>
                    <a:ext uri="{FF2B5EF4-FFF2-40B4-BE49-F238E27FC236}">
                      <a16:creationId xmlns:a16="http://schemas.microsoft.com/office/drawing/2014/main" id="{EDB8039A-E9B3-3769-46DC-DB9C0B3DBBB1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E97808AC-0782-C749-CDFF-A0801D285D9B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C98BCBA7-144C-31CA-3726-4E172B63B5DE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Arc 206">
                  <a:extLst>
                    <a:ext uri="{FF2B5EF4-FFF2-40B4-BE49-F238E27FC236}">
                      <a16:creationId xmlns:a16="http://schemas.microsoft.com/office/drawing/2014/main" id="{C47AE274-20BE-61EC-8888-3D7A9E33673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6B7CFDC0-2656-AF33-3FE2-D0F17F55F58B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FFB7A786-5642-FA33-2004-E3CCA301009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ADA703FE-DE77-DD9F-0EBD-57405AF1CE9E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8FCF3BBE-AA23-DA63-7592-E4F0B8F3FC10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C6946BBF-EBA0-B960-FB49-87BD2FCA20A7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88" name="Graphic 187" descr="Solar system with solid fill">
              <a:extLst>
                <a:ext uri="{FF2B5EF4-FFF2-40B4-BE49-F238E27FC236}">
                  <a16:creationId xmlns:a16="http://schemas.microsoft.com/office/drawing/2014/main" id="{B98DC213-EE99-5C1B-27BD-31DF30802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F1DF1ADD-64C3-B0BD-44E1-FCD4D140F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F9DB0DFA-FA04-6992-F042-4C7E1FEB78FC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E8A3C1E9-7C7A-FC70-33D4-0BE09C04246D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B82F87DE-302D-32BB-D5A1-3C5C99C4339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94" name="Flowchart: Delay 193">
                  <a:extLst>
                    <a:ext uri="{FF2B5EF4-FFF2-40B4-BE49-F238E27FC236}">
                      <a16:creationId xmlns:a16="http://schemas.microsoft.com/office/drawing/2014/main" id="{43D57C3F-513B-C33F-7260-6CCB4B217EF2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52CF93B4-1E84-E540-DC64-77019985E755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29F2DF67-A329-FF74-C104-3330D99B717E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" name="Arc 196">
                  <a:extLst>
                    <a:ext uri="{FF2B5EF4-FFF2-40B4-BE49-F238E27FC236}">
                      <a16:creationId xmlns:a16="http://schemas.microsoft.com/office/drawing/2014/main" id="{128FEC48-F44C-A02C-A33C-F6912B1EF3B6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07EAEFBE-BFBC-A177-F37C-49DF8D22711C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1811E18E-4C42-8ACA-E6D7-31742A3EE134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B5767DE8-CA4E-9739-6396-43C3F295DBE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0EDCEBF2-93C4-F33D-4C42-8D2BBF36C90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8CFC856-8C1C-B35D-FB3F-912B22D1F698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313D480B-773F-0826-6D46-4867249290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00275" y="6342835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400" dirty="0" smtClean="0"/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/2∝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313D480B-773F-0826-6D46-4867249290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00275" y="6342835"/>
              <a:ext cx="2403464" cy="347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3470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53" t="-1724" r="-505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232453E-5BD9-2133-55C2-1B3D4118BB25}"/>
              </a:ext>
            </a:extLst>
          </p:cNvPr>
          <p:cNvGrpSpPr/>
          <p:nvPr/>
        </p:nvGrpSpPr>
        <p:grpSpPr>
          <a:xfrm>
            <a:off x="9072659" y="5124164"/>
            <a:ext cx="2207415" cy="676900"/>
            <a:chOff x="3561078" y="654921"/>
            <a:chExt cx="2207415" cy="676900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8A04CC87-E4EA-1FCB-1389-AFB669752DC5}"/>
                </a:ext>
              </a:extLst>
            </p:cNvPr>
            <p:cNvGrpSpPr/>
            <p:nvPr/>
          </p:nvGrpSpPr>
          <p:grpSpPr>
            <a:xfrm>
              <a:off x="3561078" y="654921"/>
              <a:ext cx="1679526" cy="676900"/>
              <a:chOff x="3352653" y="4487847"/>
              <a:chExt cx="2625898" cy="1355099"/>
            </a:xfrm>
          </p:grpSpPr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0797EA6-B768-CA57-4C74-F34C3019B320}"/>
                  </a:ext>
                </a:extLst>
              </p:cNvPr>
              <p:cNvSpPr txBox="1"/>
              <p:nvPr/>
            </p:nvSpPr>
            <p:spPr>
              <a:xfrm>
                <a:off x="4370972" y="4487847"/>
                <a:ext cx="1300362" cy="508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Lab</a:t>
                </a:r>
              </a:p>
            </p:txBody>
          </p:sp>
          <p:sp>
            <p:nvSpPr>
              <p:cNvPr id="218" name="Freeform 30">
                <a:extLst>
                  <a:ext uri="{FF2B5EF4-FFF2-40B4-BE49-F238E27FC236}">
                    <a16:creationId xmlns:a16="http://schemas.microsoft.com/office/drawing/2014/main" id="{4EBF67F4-DC40-666E-DC53-E81E8AF9DFE6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9" name="Freeform 30">
                <a:extLst>
                  <a:ext uri="{FF2B5EF4-FFF2-40B4-BE49-F238E27FC236}">
                    <a16:creationId xmlns:a16="http://schemas.microsoft.com/office/drawing/2014/main" id="{C72EBE65-D835-B8B7-6AAE-3A27BA3469AC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0" name="Freeform 30">
                <a:extLst>
                  <a:ext uri="{FF2B5EF4-FFF2-40B4-BE49-F238E27FC236}">
                    <a16:creationId xmlns:a16="http://schemas.microsoft.com/office/drawing/2014/main" id="{55D42047-5A87-C184-9E2D-B38DEC94B49D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6F00EDE6-825A-4F80-A013-D2C5495CAA45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22" name="Freeform 30">
                <a:extLst>
                  <a:ext uri="{FF2B5EF4-FFF2-40B4-BE49-F238E27FC236}">
                    <a16:creationId xmlns:a16="http://schemas.microsoft.com/office/drawing/2014/main" id="{F44576EB-EC32-67AB-63C9-09511FBFDFB5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3" name="Freeform 30">
                <a:extLst>
                  <a:ext uri="{FF2B5EF4-FFF2-40B4-BE49-F238E27FC236}">
                    <a16:creationId xmlns:a16="http://schemas.microsoft.com/office/drawing/2014/main" id="{FFA5319E-4E1B-640A-C22C-8F4CE3482710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1DBC8817-0694-66FC-8C75-E0BBE7B78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7E1B5BBB-774B-6894-3B37-5CDD638543B0}"/>
                    </a:ext>
                  </a:extLst>
                </p:cNvPr>
                <p:cNvSpPr txBox="1"/>
                <p:nvPr/>
              </p:nvSpPr>
              <p:spPr>
                <a:xfrm>
                  <a:off x="5568161" y="738464"/>
                  <a:ext cx="20033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1000" b="0" dirty="0"/>
                </a:p>
                <a:p>
                  <a:endParaRPr lang="en-US" sz="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7E1B5BBB-774B-6894-3B37-5CDD63854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8161" y="738464"/>
                  <a:ext cx="200332" cy="492443"/>
                </a:xfrm>
                <a:prstGeom prst="rect">
                  <a:avLst/>
                </a:prstGeom>
                <a:blipFill>
                  <a:blip r:embed="rId13"/>
                  <a:stretch>
                    <a:fillRect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8" name="Freeform 30">
            <a:extLst>
              <a:ext uri="{FF2B5EF4-FFF2-40B4-BE49-F238E27FC236}">
                <a16:creationId xmlns:a16="http://schemas.microsoft.com/office/drawing/2014/main" id="{344E077E-DEDA-3139-C2D6-3C617433C9D4}"/>
              </a:ext>
            </a:extLst>
          </p:cNvPr>
          <p:cNvSpPr/>
          <p:nvPr/>
        </p:nvSpPr>
        <p:spPr>
          <a:xfrm>
            <a:off x="10869720" y="5481504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48F84C3-37BC-A852-983C-4F519908F7A8}"/>
              </a:ext>
            </a:extLst>
          </p:cNvPr>
          <p:cNvGrpSpPr/>
          <p:nvPr/>
        </p:nvGrpSpPr>
        <p:grpSpPr>
          <a:xfrm>
            <a:off x="8937049" y="2492251"/>
            <a:ext cx="2488156" cy="1009666"/>
            <a:chOff x="7851736" y="3218902"/>
            <a:chExt cx="3748644" cy="1426616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E173B0B9-2E60-F30C-A601-6CAB62AB4F3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26AE432D-32AB-0861-3A15-81811627319C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273" name="Flowchart: Delay 272">
                <a:extLst>
                  <a:ext uri="{FF2B5EF4-FFF2-40B4-BE49-F238E27FC236}">
                    <a16:creationId xmlns:a16="http://schemas.microsoft.com/office/drawing/2014/main" id="{98D828F2-EC87-1F2D-0417-40B6675E31F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B329E32E-2566-4F05-DF3E-4676631D86C6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188B3717-A6DB-6C4B-0D4D-E8F0A528739F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271" name="Flowchart: Delay 270">
                <a:extLst>
                  <a:ext uri="{FF2B5EF4-FFF2-40B4-BE49-F238E27FC236}">
                    <a16:creationId xmlns:a16="http://schemas.microsoft.com/office/drawing/2014/main" id="{E9CD46A8-B4AD-1C9F-935D-58F96FEF5981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CBB2CC3-CCB7-778F-58F1-10CA4FD56268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7F46004-B016-FC0A-8E38-919717872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0634F6C0-5C91-593F-FEFB-98E98711D8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691F0D4D-73B6-7792-82C2-3ED03B992165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A8C8857-103C-60FC-5E6B-C4F7431FB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FC329A3C-F7D2-C08E-3C0E-E5382A2D377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F5DE5184-4BE5-620A-930C-4720A88268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B7C17A93-E3A4-5659-5F83-830B633622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3F2FA6C9-8AD5-75DB-3D72-8EC07B573101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269" name="Flowchart: Delay 268">
                <a:extLst>
                  <a:ext uri="{FF2B5EF4-FFF2-40B4-BE49-F238E27FC236}">
                    <a16:creationId xmlns:a16="http://schemas.microsoft.com/office/drawing/2014/main" id="{871C3F7B-538F-1E59-7D85-30FE3A8A30E7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3FE78E3B-73E6-E63A-995D-923214317C4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1709AEE6-475A-0E54-159F-3853014CD559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265" name="Flowchart: Delay 264">
                <a:extLst>
                  <a:ext uri="{FF2B5EF4-FFF2-40B4-BE49-F238E27FC236}">
                    <a16:creationId xmlns:a16="http://schemas.microsoft.com/office/drawing/2014/main" id="{47F1F33E-FDE7-F0FB-A31E-826656980399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1AC8860C-6D97-90B1-58E6-F92344DDCB87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0BF63FD-B373-76A7-F0BE-F7DA4A5C0E70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7B1E263F-7D5E-A0D1-47E1-76F9348987A8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7B1E263F-7D5E-A0D1-47E1-76F934898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5" name="TextBox 274">
            <a:extLst>
              <a:ext uri="{FF2B5EF4-FFF2-40B4-BE49-F238E27FC236}">
                <a16:creationId xmlns:a16="http://schemas.microsoft.com/office/drawing/2014/main" id="{E393841D-89C7-F12B-F7D7-280F4A61D953}"/>
              </a:ext>
            </a:extLst>
          </p:cNvPr>
          <p:cNvSpPr txBox="1"/>
          <p:nvPr/>
        </p:nvSpPr>
        <p:spPr>
          <a:xfrm>
            <a:off x="9324837" y="3591091"/>
            <a:ext cx="2090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Quantum telescope</a:t>
            </a:r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FA2BC26-3E34-AFA7-E712-8799EC01B3D0}"/>
              </a:ext>
            </a:extLst>
          </p:cNvPr>
          <p:cNvGrpSpPr/>
          <p:nvPr/>
        </p:nvGrpSpPr>
        <p:grpSpPr>
          <a:xfrm>
            <a:off x="9181452" y="1168284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D9BA49D6-9E0A-509A-200D-86EC8B212C98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ADC747BA-A65D-CA4F-2331-97791A1004B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98" name="Flowchart: Delay 297">
                  <a:extLst>
                    <a:ext uri="{FF2B5EF4-FFF2-40B4-BE49-F238E27FC236}">
                      <a16:creationId xmlns:a16="http://schemas.microsoft.com/office/drawing/2014/main" id="{A7B3E785-8932-C676-0709-C70EE9BB4FEE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C5AA9ACB-8603-C8F4-8DEA-E846AB011FD9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BF172BA4-C975-D3F8-52C3-073E739000D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Arc 300">
                  <a:extLst>
                    <a:ext uri="{FF2B5EF4-FFF2-40B4-BE49-F238E27FC236}">
                      <a16:creationId xmlns:a16="http://schemas.microsoft.com/office/drawing/2014/main" id="{48B1A666-9D0F-76C5-A9DA-0EA72E39CCBA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A0E4E954-8CA6-EE24-E224-45CEC4F811E4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E9564FA7-4739-4279-D29B-A3907FC12478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7" name="Rectangle 426">
                  <a:extLst>
                    <a:ext uri="{FF2B5EF4-FFF2-40B4-BE49-F238E27FC236}">
                      <a16:creationId xmlns:a16="http://schemas.microsoft.com/office/drawing/2014/main" id="{CBD6809B-ED58-741F-95BF-9940675CF2C3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8" name="Rectangle 427">
                  <a:extLst>
                    <a:ext uri="{FF2B5EF4-FFF2-40B4-BE49-F238E27FC236}">
                      <a16:creationId xmlns:a16="http://schemas.microsoft.com/office/drawing/2014/main" id="{A9E75FAB-1D6D-381F-B69F-B2E9939AB65E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B79AEC7E-472E-9394-EDEA-D69BD7EF4E85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82" name="Graphic 281" descr="Solar system with solid fill">
              <a:extLst>
                <a:ext uri="{FF2B5EF4-FFF2-40B4-BE49-F238E27FC236}">
                  <a16:creationId xmlns:a16="http://schemas.microsoft.com/office/drawing/2014/main" id="{A245C6FA-D87E-7B4B-5C0C-D5B1073DC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1226AA5B-D2C2-5C31-522D-CE04AC1B2D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B54EA7BA-8DF6-D853-C059-C7820FD798D5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DDB3970-D850-5DE7-1B4C-80D224EA27C3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290541EE-45C5-5BCA-1CCB-3A8701158CDF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88" name="Flowchart: Delay 287">
                  <a:extLst>
                    <a:ext uri="{FF2B5EF4-FFF2-40B4-BE49-F238E27FC236}">
                      <a16:creationId xmlns:a16="http://schemas.microsoft.com/office/drawing/2014/main" id="{B75EBAA2-14F5-4DD7-7451-D1904F0531E4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BF9EA10F-0D33-0A60-5AA6-4B522B282CBC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0" name="Rectangle 289">
                  <a:extLst>
                    <a:ext uri="{FF2B5EF4-FFF2-40B4-BE49-F238E27FC236}">
                      <a16:creationId xmlns:a16="http://schemas.microsoft.com/office/drawing/2014/main" id="{4778346D-7482-E18F-7ECF-58B570007AE1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Arc 290">
                  <a:extLst>
                    <a:ext uri="{FF2B5EF4-FFF2-40B4-BE49-F238E27FC236}">
                      <a16:creationId xmlns:a16="http://schemas.microsoft.com/office/drawing/2014/main" id="{B8E8A56A-EAEA-44FE-5BB8-A1014C7617B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457527FA-29E1-1BF5-17E2-1BD20BFD5607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 292">
                  <a:extLst>
                    <a:ext uri="{FF2B5EF4-FFF2-40B4-BE49-F238E27FC236}">
                      <a16:creationId xmlns:a16="http://schemas.microsoft.com/office/drawing/2014/main" id="{E7AE0A6E-4A78-77DC-8475-8DFD29EC8455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4" name="Rectangle 293">
                  <a:extLst>
                    <a:ext uri="{FF2B5EF4-FFF2-40B4-BE49-F238E27FC236}">
                      <a16:creationId xmlns:a16="http://schemas.microsoft.com/office/drawing/2014/main" id="{C334412F-A626-8F37-8026-DAB72619BA76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8DDCBFF5-9D8A-69FA-B420-574B3BEB35BA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C4449B0-16BE-328F-1506-6C0D41F4D42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6B234481-8CE2-7D0C-344A-2BB1CA8FECE3}"/>
              </a:ext>
            </a:extLst>
          </p:cNvPr>
          <p:cNvSpPr txBox="1"/>
          <p:nvPr/>
        </p:nvSpPr>
        <p:spPr>
          <a:xfrm>
            <a:off x="610063" y="3559736"/>
            <a:ext cx="2673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Conceptual quantum telescope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2" name="Table 431">
                <a:extLst>
                  <a:ext uri="{FF2B5EF4-FFF2-40B4-BE49-F238E27FC236}">
                    <a16:creationId xmlns:a16="http://schemas.microsoft.com/office/drawing/2014/main" id="{0BA1A6D8-13AF-C462-ED49-27FCE634E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794580"/>
                  </p:ext>
                </p:extLst>
              </p:nvPr>
            </p:nvGraphicFramePr>
            <p:xfrm>
              <a:off x="757630" y="6139329"/>
              <a:ext cx="2403464" cy="322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2" name="Table 431">
                <a:extLst>
                  <a:ext uri="{FF2B5EF4-FFF2-40B4-BE49-F238E27FC236}">
                    <a16:creationId xmlns:a16="http://schemas.microsoft.com/office/drawing/2014/main" id="{0BA1A6D8-13AF-C462-ED49-27FCE634E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794580"/>
                  </p:ext>
                </p:extLst>
              </p:nvPr>
            </p:nvGraphicFramePr>
            <p:xfrm>
              <a:off x="757630" y="6139329"/>
              <a:ext cx="2403464" cy="322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322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253" t="-1887" r="-506" b="-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53CCE256-170A-1C23-2CB7-6E93745A57AF}"/>
              </a:ext>
            </a:extLst>
          </p:cNvPr>
          <p:cNvGrpSpPr/>
          <p:nvPr/>
        </p:nvGrpSpPr>
        <p:grpSpPr>
          <a:xfrm>
            <a:off x="713055" y="3982517"/>
            <a:ext cx="3408128" cy="1008973"/>
            <a:chOff x="9049934" y="4038393"/>
            <a:chExt cx="3408128" cy="1008973"/>
          </a:xfrm>
        </p:grpSpPr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F52B6AA4-932E-62E0-84F7-DAF081C645E7}"/>
                </a:ext>
              </a:extLst>
            </p:cNvPr>
            <p:cNvGrpSpPr/>
            <p:nvPr/>
          </p:nvGrpSpPr>
          <p:grpSpPr>
            <a:xfrm>
              <a:off x="9049934" y="4038393"/>
              <a:ext cx="3408128" cy="1008973"/>
              <a:chOff x="3561079" y="607494"/>
              <a:chExt cx="3423441" cy="938158"/>
            </a:xfrm>
          </p:grpSpPr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427C155D-8350-8A1A-25A5-6537C8EB70BE}"/>
                  </a:ext>
                </a:extLst>
              </p:cNvPr>
              <p:cNvGrpSpPr/>
              <p:nvPr/>
            </p:nvGrpSpPr>
            <p:grpSpPr>
              <a:xfrm>
                <a:off x="3561079" y="607494"/>
                <a:ext cx="1679526" cy="724329"/>
                <a:chOff x="3352653" y="4392899"/>
                <a:chExt cx="2625898" cy="1450047"/>
              </a:xfrm>
            </p:grpSpPr>
            <p:sp>
              <p:nvSpPr>
                <p:cNvPr id="440" name="TextBox 439">
                  <a:extLst>
                    <a:ext uri="{FF2B5EF4-FFF2-40B4-BE49-F238E27FC236}">
                      <a16:creationId xmlns:a16="http://schemas.microsoft.com/office/drawing/2014/main" id="{8BBA41D1-2200-8565-76DB-F8F732EA48F2}"/>
                    </a:ext>
                  </a:extLst>
                </p:cNvPr>
                <p:cNvSpPr txBox="1"/>
                <p:nvPr/>
              </p:nvSpPr>
              <p:spPr>
                <a:xfrm>
                  <a:off x="4358819" y="4392899"/>
                  <a:ext cx="1300362" cy="4726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Source</a:t>
                  </a:r>
                </a:p>
              </p:txBody>
            </p:sp>
            <p:sp>
              <p:nvSpPr>
                <p:cNvPr id="441" name="Freeform 30">
                  <a:extLst>
                    <a:ext uri="{FF2B5EF4-FFF2-40B4-BE49-F238E27FC236}">
                      <a16:creationId xmlns:a16="http://schemas.microsoft.com/office/drawing/2014/main" id="{EFAE3013-4CB2-CBBC-3D64-E44904CB0F6E}"/>
                    </a:ext>
                  </a:extLst>
                </p:cNvPr>
                <p:cNvSpPr/>
                <p:nvPr/>
              </p:nvSpPr>
              <p:spPr>
                <a:xfrm>
                  <a:off x="3352653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2" name="Freeform 30">
                  <a:extLst>
                    <a:ext uri="{FF2B5EF4-FFF2-40B4-BE49-F238E27FC236}">
                      <a16:creationId xmlns:a16="http://schemas.microsoft.com/office/drawing/2014/main" id="{DE1F2D42-FCEF-A8F0-6861-3BC90881D48E}"/>
                    </a:ext>
                  </a:extLst>
                </p:cNvPr>
                <p:cNvSpPr/>
                <p:nvPr/>
              </p:nvSpPr>
              <p:spPr>
                <a:xfrm>
                  <a:off x="3776208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3" name="Freeform 30">
                  <a:extLst>
                    <a:ext uri="{FF2B5EF4-FFF2-40B4-BE49-F238E27FC236}">
                      <a16:creationId xmlns:a16="http://schemas.microsoft.com/office/drawing/2014/main" id="{FE75E0A1-960B-F561-61F2-09C48CA13EA1}"/>
                    </a:ext>
                  </a:extLst>
                </p:cNvPr>
                <p:cNvSpPr/>
                <p:nvPr/>
              </p:nvSpPr>
              <p:spPr>
                <a:xfrm>
                  <a:off x="4207140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4" name="Freeform 30">
                  <a:extLst>
                    <a:ext uri="{FF2B5EF4-FFF2-40B4-BE49-F238E27FC236}">
                      <a16:creationId xmlns:a16="http://schemas.microsoft.com/office/drawing/2014/main" id="{8016E5BD-2132-F8EE-7353-2238577A66F2}"/>
                    </a:ext>
                  </a:extLst>
                </p:cNvPr>
                <p:cNvSpPr/>
                <p:nvPr/>
              </p:nvSpPr>
              <p:spPr>
                <a:xfrm>
                  <a:off x="4600699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445" name="Freeform 30">
                  <a:extLst>
                    <a:ext uri="{FF2B5EF4-FFF2-40B4-BE49-F238E27FC236}">
                      <a16:creationId xmlns:a16="http://schemas.microsoft.com/office/drawing/2014/main" id="{61CB9561-FE88-5386-1D8D-77F8614FF2A0}"/>
                    </a:ext>
                  </a:extLst>
                </p:cNvPr>
                <p:cNvSpPr/>
                <p:nvPr/>
              </p:nvSpPr>
              <p:spPr>
                <a:xfrm>
                  <a:off x="5018672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6" name="Freeform 30">
                  <a:extLst>
                    <a:ext uri="{FF2B5EF4-FFF2-40B4-BE49-F238E27FC236}">
                      <a16:creationId xmlns:a16="http://schemas.microsoft.com/office/drawing/2014/main" id="{197C3A8D-C932-AFD8-37FB-12E77786D2FF}"/>
                    </a:ext>
                  </a:extLst>
                </p:cNvPr>
                <p:cNvSpPr/>
                <p:nvPr/>
              </p:nvSpPr>
              <p:spPr>
                <a:xfrm>
                  <a:off x="5395939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cxnSp>
              <p:nvCxnSpPr>
                <p:cNvPr id="447" name="Straight Arrow Connector 446">
                  <a:extLst>
                    <a:ext uri="{FF2B5EF4-FFF2-40B4-BE49-F238E27FC236}">
                      <a16:creationId xmlns:a16="http://schemas.microsoft.com/office/drawing/2014/main" id="{7C6C907F-4D11-EC83-D1D2-B2C6DCDEF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00549" y="5842946"/>
                  <a:ext cx="24003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9" name="TextBox 438">
                    <a:extLst>
                      <a:ext uri="{FF2B5EF4-FFF2-40B4-BE49-F238E27FC236}">
                        <a16:creationId xmlns:a16="http://schemas.microsoft.com/office/drawing/2014/main" id="{D5381253-F2AD-490F-7D4E-BD662345D3FD}"/>
                      </a:ext>
                    </a:extLst>
                  </p:cNvPr>
                  <p:cNvSpPr txBox="1"/>
                  <p:nvPr/>
                </p:nvSpPr>
                <p:spPr>
                  <a:xfrm>
                    <a:off x="5527986" y="776211"/>
                    <a:ext cx="1456534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a14:m>
                    <a:endParaRPr lang="en-US" sz="1000" dirty="0"/>
                  </a:p>
                  <a:p>
                    <a:endParaRPr lang="en-US" sz="600" dirty="0"/>
                  </a:p>
                  <a:p>
                    <a:r>
                      <a:rPr lang="en-US" sz="10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oMath>
                    </a14:m>
                    <a:endParaRPr lang="en-US" sz="1000" b="0" i="1" dirty="0">
                      <a:latin typeface="Cambria Math" panose="02040503050406030204" pitchFamily="18" charset="0"/>
                    </a:endParaRPr>
                  </a:p>
                  <a:p>
                    <a:endParaRPr lang="en-US" sz="7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439" name="TextBox 438">
                    <a:extLst>
                      <a:ext uri="{FF2B5EF4-FFF2-40B4-BE49-F238E27FC236}">
                        <a16:creationId xmlns:a16="http://schemas.microsoft.com/office/drawing/2014/main" id="{D5381253-F2AD-490F-7D4E-BD662345D3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7986" y="776211"/>
                    <a:ext cx="1456534" cy="7694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5" name="Freeform 30">
              <a:extLst>
                <a:ext uri="{FF2B5EF4-FFF2-40B4-BE49-F238E27FC236}">
                  <a16:creationId xmlns:a16="http://schemas.microsoft.com/office/drawing/2014/main" id="{69BD3CBF-4314-9D93-6421-1F92FF9ACE3A}"/>
                </a:ext>
              </a:extLst>
            </p:cNvPr>
            <p:cNvSpPr/>
            <p:nvPr/>
          </p:nvSpPr>
          <p:spPr>
            <a:xfrm>
              <a:off x="10824582" y="4233781"/>
              <a:ext cx="17512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7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36" name="Freeform 30">
              <a:extLst>
                <a:ext uri="{FF2B5EF4-FFF2-40B4-BE49-F238E27FC236}">
                  <a16:creationId xmlns:a16="http://schemas.microsoft.com/office/drawing/2014/main" id="{1358AB46-22CA-A30E-3F5E-A7E05BFC4E55}"/>
                </a:ext>
              </a:extLst>
            </p:cNvPr>
            <p:cNvSpPr/>
            <p:nvPr/>
          </p:nvSpPr>
          <p:spPr>
            <a:xfrm>
              <a:off x="10808952" y="4481097"/>
              <a:ext cx="17958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bg1">
                <a:lumMod val="85000"/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37" name="Freeform 30">
              <a:extLst>
                <a:ext uri="{FF2B5EF4-FFF2-40B4-BE49-F238E27FC236}">
                  <a16:creationId xmlns:a16="http://schemas.microsoft.com/office/drawing/2014/main" id="{E2D2EF5B-EF18-C796-7870-AC1CC443CE1B}"/>
                </a:ext>
              </a:extLst>
            </p:cNvPr>
            <p:cNvSpPr/>
            <p:nvPr/>
          </p:nvSpPr>
          <p:spPr>
            <a:xfrm>
              <a:off x="10812774" y="4727362"/>
              <a:ext cx="17958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800" dirty="0"/>
                <a:t>2</a:t>
              </a:r>
            </a:p>
          </p:txBody>
        </p:sp>
      </p:grp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A3026D4E-DE35-FDB2-A8CF-662D5CD4D76C}"/>
              </a:ext>
            </a:extLst>
          </p:cNvPr>
          <p:cNvCxnSpPr>
            <a:cxnSpLocks/>
          </p:cNvCxnSpPr>
          <p:nvPr/>
        </p:nvCxnSpPr>
        <p:spPr>
          <a:xfrm flipH="1" flipV="1">
            <a:off x="2227104" y="4832230"/>
            <a:ext cx="6188" cy="212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Rectangle 448">
            <a:extLst>
              <a:ext uri="{FF2B5EF4-FFF2-40B4-BE49-F238E27FC236}">
                <a16:creationId xmlns:a16="http://schemas.microsoft.com/office/drawing/2014/main" id="{0CF921E4-85D9-9CDC-5F8C-3B6568FC58E3}"/>
              </a:ext>
            </a:extLst>
          </p:cNvPr>
          <p:cNvSpPr/>
          <p:nvPr/>
        </p:nvSpPr>
        <p:spPr>
          <a:xfrm rot="1976840">
            <a:off x="887145" y="1052135"/>
            <a:ext cx="45719" cy="25118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545D8818-E2D4-AB0D-9C87-CEC1705F4781}"/>
              </a:ext>
            </a:extLst>
          </p:cNvPr>
          <p:cNvCxnSpPr>
            <a:cxnSpLocks/>
          </p:cNvCxnSpPr>
          <p:nvPr/>
        </p:nvCxnSpPr>
        <p:spPr>
          <a:xfrm rot="19845687">
            <a:off x="588926" y="828074"/>
            <a:ext cx="216133" cy="40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8D79F594-10E7-6199-04D2-615A2163E496}"/>
              </a:ext>
            </a:extLst>
          </p:cNvPr>
          <p:cNvCxnSpPr>
            <a:cxnSpLocks/>
          </p:cNvCxnSpPr>
          <p:nvPr/>
        </p:nvCxnSpPr>
        <p:spPr>
          <a:xfrm>
            <a:off x="929188" y="1190161"/>
            <a:ext cx="909652" cy="19000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2207BB3B-23DF-56A6-66C5-8BCCBAEE94EF}"/>
              </a:ext>
            </a:extLst>
          </p:cNvPr>
          <p:cNvCxnSpPr>
            <a:cxnSpLocks/>
          </p:cNvCxnSpPr>
          <p:nvPr/>
        </p:nvCxnSpPr>
        <p:spPr>
          <a:xfrm>
            <a:off x="922532" y="1170316"/>
            <a:ext cx="770690" cy="146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Box 452">
            <a:extLst>
              <a:ext uri="{FF2B5EF4-FFF2-40B4-BE49-F238E27FC236}">
                <a16:creationId xmlns:a16="http://schemas.microsoft.com/office/drawing/2014/main" id="{F9BF2F62-E918-B7A2-B0DA-470B8838109E}"/>
              </a:ext>
            </a:extLst>
          </p:cNvPr>
          <p:cNvSpPr txBox="1"/>
          <p:nvPr/>
        </p:nvSpPr>
        <p:spPr>
          <a:xfrm>
            <a:off x="817603" y="784146"/>
            <a:ext cx="62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SPDC</a:t>
            </a:r>
          </a:p>
        </p:txBody>
      </p: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93F620F1-1556-AA02-884E-4454E31D56EC}"/>
              </a:ext>
            </a:extLst>
          </p:cNvPr>
          <p:cNvGrpSpPr/>
          <p:nvPr/>
        </p:nvGrpSpPr>
        <p:grpSpPr>
          <a:xfrm>
            <a:off x="760959" y="4963704"/>
            <a:ext cx="3408128" cy="1008973"/>
            <a:chOff x="9049934" y="4038393"/>
            <a:chExt cx="3408128" cy="1008973"/>
          </a:xfrm>
        </p:grpSpPr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A16FC6A8-F023-991B-F2FC-AC32419141EF}"/>
                </a:ext>
              </a:extLst>
            </p:cNvPr>
            <p:cNvGrpSpPr/>
            <p:nvPr/>
          </p:nvGrpSpPr>
          <p:grpSpPr>
            <a:xfrm>
              <a:off x="9049934" y="4038393"/>
              <a:ext cx="3408128" cy="1008973"/>
              <a:chOff x="3561079" y="607494"/>
              <a:chExt cx="3423441" cy="938158"/>
            </a:xfrm>
          </p:grpSpPr>
          <p:grpSp>
            <p:nvGrpSpPr>
              <p:cNvPr id="459" name="Group 458">
                <a:extLst>
                  <a:ext uri="{FF2B5EF4-FFF2-40B4-BE49-F238E27FC236}">
                    <a16:creationId xmlns:a16="http://schemas.microsoft.com/office/drawing/2014/main" id="{0B060DEF-2C9A-D016-FD25-CCD85B987A8F}"/>
                  </a:ext>
                </a:extLst>
              </p:cNvPr>
              <p:cNvGrpSpPr/>
              <p:nvPr/>
            </p:nvGrpSpPr>
            <p:grpSpPr>
              <a:xfrm>
                <a:off x="3561079" y="607494"/>
                <a:ext cx="1679526" cy="724329"/>
                <a:chOff x="3352653" y="4392899"/>
                <a:chExt cx="2625898" cy="1450047"/>
              </a:xfrm>
            </p:grpSpPr>
            <p:sp>
              <p:nvSpPr>
                <p:cNvPr id="461" name="TextBox 460">
                  <a:extLst>
                    <a:ext uri="{FF2B5EF4-FFF2-40B4-BE49-F238E27FC236}">
                      <a16:creationId xmlns:a16="http://schemas.microsoft.com/office/drawing/2014/main" id="{AF622D8A-B11E-9688-0108-B8A56CE27520}"/>
                    </a:ext>
                  </a:extLst>
                </p:cNvPr>
                <p:cNvSpPr txBox="1"/>
                <p:nvPr/>
              </p:nvSpPr>
              <p:spPr>
                <a:xfrm>
                  <a:off x="4358819" y="4392899"/>
                  <a:ext cx="1300362" cy="4726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Lab</a:t>
                  </a:r>
                </a:p>
              </p:txBody>
            </p:sp>
            <p:sp>
              <p:nvSpPr>
                <p:cNvPr id="462" name="Freeform 30">
                  <a:extLst>
                    <a:ext uri="{FF2B5EF4-FFF2-40B4-BE49-F238E27FC236}">
                      <a16:creationId xmlns:a16="http://schemas.microsoft.com/office/drawing/2014/main" id="{DF957C4A-5D2F-CA2C-1051-ED6B9BDC48E3}"/>
                    </a:ext>
                  </a:extLst>
                </p:cNvPr>
                <p:cNvSpPr/>
                <p:nvPr/>
              </p:nvSpPr>
              <p:spPr>
                <a:xfrm>
                  <a:off x="3352653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3" name="Freeform 30">
                  <a:extLst>
                    <a:ext uri="{FF2B5EF4-FFF2-40B4-BE49-F238E27FC236}">
                      <a16:creationId xmlns:a16="http://schemas.microsoft.com/office/drawing/2014/main" id="{6E04D053-F059-03B9-EC14-789E22188762}"/>
                    </a:ext>
                  </a:extLst>
                </p:cNvPr>
                <p:cNvSpPr/>
                <p:nvPr/>
              </p:nvSpPr>
              <p:spPr>
                <a:xfrm>
                  <a:off x="3776208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4" name="Freeform 30">
                  <a:extLst>
                    <a:ext uri="{FF2B5EF4-FFF2-40B4-BE49-F238E27FC236}">
                      <a16:creationId xmlns:a16="http://schemas.microsoft.com/office/drawing/2014/main" id="{CC21E4D0-D955-DA32-5ED7-3B89C3F4A2F0}"/>
                    </a:ext>
                  </a:extLst>
                </p:cNvPr>
                <p:cNvSpPr/>
                <p:nvPr/>
              </p:nvSpPr>
              <p:spPr>
                <a:xfrm>
                  <a:off x="4207140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5" name="Freeform 30">
                  <a:extLst>
                    <a:ext uri="{FF2B5EF4-FFF2-40B4-BE49-F238E27FC236}">
                      <a16:creationId xmlns:a16="http://schemas.microsoft.com/office/drawing/2014/main" id="{0BC80E40-BB3A-8E10-4CC6-63D2071106C1}"/>
                    </a:ext>
                  </a:extLst>
                </p:cNvPr>
                <p:cNvSpPr/>
                <p:nvPr/>
              </p:nvSpPr>
              <p:spPr>
                <a:xfrm>
                  <a:off x="4600699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466" name="Freeform 30">
                  <a:extLst>
                    <a:ext uri="{FF2B5EF4-FFF2-40B4-BE49-F238E27FC236}">
                      <a16:creationId xmlns:a16="http://schemas.microsoft.com/office/drawing/2014/main" id="{683D351F-2DAF-6569-7069-D906D1495AA0}"/>
                    </a:ext>
                  </a:extLst>
                </p:cNvPr>
                <p:cNvSpPr/>
                <p:nvPr/>
              </p:nvSpPr>
              <p:spPr>
                <a:xfrm>
                  <a:off x="5018672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7" name="Freeform 30">
                  <a:extLst>
                    <a:ext uri="{FF2B5EF4-FFF2-40B4-BE49-F238E27FC236}">
                      <a16:creationId xmlns:a16="http://schemas.microsoft.com/office/drawing/2014/main" id="{F2441C27-DF11-6DE9-B6EF-2D79DFF3CCEB}"/>
                    </a:ext>
                  </a:extLst>
                </p:cNvPr>
                <p:cNvSpPr/>
                <p:nvPr/>
              </p:nvSpPr>
              <p:spPr>
                <a:xfrm>
                  <a:off x="5395939" y="5010192"/>
                  <a:ext cx="582612" cy="665162"/>
                </a:xfrm>
                <a:custGeom>
                  <a:avLst/>
                  <a:gdLst>
                    <a:gd name="connsiteX0" fmla="*/ 0 w 3657600"/>
                    <a:gd name="connsiteY0" fmla="*/ 665039 h 755065"/>
                    <a:gd name="connsiteX1" fmla="*/ 356260 w 3657600"/>
                    <a:gd name="connsiteY1" fmla="*/ 665039 h 755065"/>
                    <a:gd name="connsiteX2" fmla="*/ 1401289 w 3657600"/>
                    <a:gd name="connsiteY2" fmla="*/ 20 h 755065"/>
                    <a:gd name="connsiteX3" fmla="*/ 2945081 w 3657600"/>
                    <a:gd name="connsiteY3" fmla="*/ 688789 h 755065"/>
                    <a:gd name="connsiteX4" fmla="*/ 3657600 w 3657600"/>
                    <a:gd name="connsiteY4" fmla="*/ 688789 h 755065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945081"/>
                    <a:gd name="connsiteY0" fmla="*/ 665039 h 729030"/>
                    <a:gd name="connsiteX1" fmla="*/ 356260 w 2945081"/>
                    <a:gd name="connsiteY1" fmla="*/ 665039 h 729030"/>
                    <a:gd name="connsiteX2" fmla="*/ 1401289 w 2945081"/>
                    <a:gd name="connsiteY2" fmla="*/ 20 h 729030"/>
                    <a:gd name="connsiteX3" fmla="*/ 2945081 w 2945081"/>
                    <a:gd name="connsiteY3" fmla="*/ 688789 h 729030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2280063"/>
                    <a:gd name="connsiteY0" fmla="*/ 665065 h 729056"/>
                    <a:gd name="connsiteX1" fmla="*/ 356260 w 2280063"/>
                    <a:gd name="connsiteY1" fmla="*/ 665065 h 729056"/>
                    <a:gd name="connsiteX2" fmla="*/ 1401289 w 2280063"/>
                    <a:gd name="connsiteY2" fmla="*/ 46 h 729056"/>
                    <a:gd name="connsiteX3" fmla="*/ 2280063 w 2280063"/>
                    <a:gd name="connsiteY3" fmla="*/ 700690 h 729056"/>
                    <a:gd name="connsiteX0" fmla="*/ 0 w 1923803"/>
                    <a:gd name="connsiteY0" fmla="*/ 665065 h 700690"/>
                    <a:gd name="connsiteX1" fmla="*/ 1045029 w 1923803"/>
                    <a:gd name="connsiteY1" fmla="*/ 46 h 700690"/>
                    <a:gd name="connsiteX2" fmla="*/ 1923803 w 1923803"/>
                    <a:gd name="connsiteY2" fmla="*/ 700690 h 700690"/>
                    <a:gd name="connsiteX0" fmla="*/ 0 w 1923803"/>
                    <a:gd name="connsiteY0" fmla="*/ 665059 h 700684"/>
                    <a:gd name="connsiteX1" fmla="*/ 1045029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923803"/>
                    <a:gd name="connsiteY0" fmla="*/ 665059 h 700684"/>
                    <a:gd name="connsiteX1" fmla="*/ 843148 w 1923803"/>
                    <a:gd name="connsiteY1" fmla="*/ 40 h 700684"/>
                    <a:gd name="connsiteX2" fmla="*/ 1923803 w 1923803"/>
                    <a:gd name="connsiteY2" fmla="*/ 700684 h 700684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0" fmla="*/ 0 w 1674421"/>
                    <a:gd name="connsiteY0" fmla="*/ 665019 h 665019"/>
                    <a:gd name="connsiteX1" fmla="*/ 843148 w 1674421"/>
                    <a:gd name="connsiteY1" fmla="*/ 0 h 665019"/>
                    <a:gd name="connsiteX2" fmla="*/ 1674421 w 1674421"/>
                    <a:gd name="connsiteY2" fmla="*/ 665018 h 665019"/>
                    <a:gd name="connsiteX3" fmla="*/ 0 w 1674421"/>
                    <a:gd name="connsiteY3" fmla="*/ 665019 h 6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74421" h="665019">
                      <a:moveTo>
                        <a:pt x="0" y="665019"/>
                      </a:moveTo>
                      <a:cubicBezTo>
                        <a:pt x="376052" y="661061"/>
                        <a:pt x="564078" y="0"/>
                        <a:pt x="843148" y="0"/>
                      </a:cubicBezTo>
                      <a:cubicBezTo>
                        <a:pt x="1122218" y="0"/>
                        <a:pt x="1345871" y="657101"/>
                        <a:pt x="1674421" y="665018"/>
                      </a:cubicBezTo>
                      <a:lnTo>
                        <a:pt x="0" y="6650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  <a:alpha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cxnSp>
              <p:nvCxnSpPr>
                <p:cNvPr id="468" name="Straight Arrow Connector 467">
                  <a:extLst>
                    <a:ext uri="{FF2B5EF4-FFF2-40B4-BE49-F238E27FC236}">
                      <a16:creationId xmlns:a16="http://schemas.microsoft.com/office/drawing/2014/main" id="{DF777330-59D2-D49D-A515-56C42C737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00549" y="5842946"/>
                  <a:ext cx="24003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0" name="TextBox 459">
                    <a:extLst>
                      <a:ext uri="{FF2B5EF4-FFF2-40B4-BE49-F238E27FC236}">
                        <a16:creationId xmlns:a16="http://schemas.microsoft.com/office/drawing/2014/main" id="{6FD2428A-C71E-A02B-CD37-877ACEB24876}"/>
                      </a:ext>
                    </a:extLst>
                  </p:cNvPr>
                  <p:cNvSpPr txBox="1"/>
                  <p:nvPr/>
                </p:nvSpPr>
                <p:spPr>
                  <a:xfrm>
                    <a:off x="5527986" y="776211"/>
                    <a:ext cx="1456534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a14:m>
                    <a:endParaRPr lang="en-US" sz="1000" dirty="0"/>
                  </a:p>
                  <a:p>
                    <a:endParaRPr lang="en-US" sz="600" dirty="0"/>
                  </a:p>
                  <a:p>
                    <a:r>
                      <a:rPr lang="en-US" sz="10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oMath>
                    </a14:m>
                    <a:endParaRPr lang="en-US" sz="1000" b="0" i="1" dirty="0">
                      <a:latin typeface="Cambria Math" panose="02040503050406030204" pitchFamily="18" charset="0"/>
                    </a:endParaRPr>
                  </a:p>
                  <a:p>
                    <a:endParaRPr lang="en-US" sz="7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460" name="TextBox 459">
                    <a:extLst>
                      <a:ext uri="{FF2B5EF4-FFF2-40B4-BE49-F238E27FC236}">
                        <a16:creationId xmlns:a16="http://schemas.microsoft.com/office/drawing/2014/main" id="{6FD2428A-C71E-A02B-CD37-877ACEB248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7986" y="776211"/>
                    <a:ext cx="1456534" cy="7694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6" name="Freeform 30">
              <a:extLst>
                <a:ext uri="{FF2B5EF4-FFF2-40B4-BE49-F238E27FC236}">
                  <a16:creationId xmlns:a16="http://schemas.microsoft.com/office/drawing/2014/main" id="{E0D491BE-B01C-1B41-1268-F7BA05E29531}"/>
                </a:ext>
              </a:extLst>
            </p:cNvPr>
            <p:cNvSpPr/>
            <p:nvPr/>
          </p:nvSpPr>
          <p:spPr>
            <a:xfrm>
              <a:off x="10824582" y="4233781"/>
              <a:ext cx="17512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7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57" name="Freeform 30">
              <a:extLst>
                <a:ext uri="{FF2B5EF4-FFF2-40B4-BE49-F238E27FC236}">
                  <a16:creationId xmlns:a16="http://schemas.microsoft.com/office/drawing/2014/main" id="{DD82D058-9682-3CF8-F944-3F35264C5B08}"/>
                </a:ext>
              </a:extLst>
            </p:cNvPr>
            <p:cNvSpPr/>
            <p:nvPr/>
          </p:nvSpPr>
          <p:spPr>
            <a:xfrm>
              <a:off x="10808952" y="4481097"/>
              <a:ext cx="17958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bg1">
                <a:lumMod val="85000"/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58" name="Freeform 30">
              <a:extLst>
                <a:ext uri="{FF2B5EF4-FFF2-40B4-BE49-F238E27FC236}">
                  <a16:creationId xmlns:a16="http://schemas.microsoft.com/office/drawing/2014/main" id="{29E0ED91-12F6-9FE5-3B8B-1EA2A06F630F}"/>
                </a:ext>
              </a:extLst>
            </p:cNvPr>
            <p:cNvSpPr/>
            <p:nvPr/>
          </p:nvSpPr>
          <p:spPr>
            <a:xfrm>
              <a:off x="10812774" y="4727362"/>
              <a:ext cx="179586" cy="180070"/>
            </a:xfrm>
            <a:custGeom>
              <a:avLst/>
              <a:gdLst>
                <a:gd name="connsiteX0" fmla="*/ 0 w 3657600"/>
                <a:gd name="connsiteY0" fmla="*/ 665039 h 755065"/>
                <a:gd name="connsiteX1" fmla="*/ 356260 w 3657600"/>
                <a:gd name="connsiteY1" fmla="*/ 665039 h 755065"/>
                <a:gd name="connsiteX2" fmla="*/ 1401289 w 3657600"/>
                <a:gd name="connsiteY2" fmla="*/ 20 h 755065"/>
                <a:gd name="connsiteX3" fmla="*/ 2945081 w 3657600"/>
                <a:gd name="connsiteY3" fmla="*/ 688789 h 755065"/>
                <a:gd name="connsiteX4" fmla="*/ 3657600 w 3657600"/>
                <a:gd name="connsiteY4" fmla="*/ 688789 h 755065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945081"/>
                <a:gd name="connsiteY0" fmla="*/ 665039 h 729030"/>
                <a:gd name="connsiteX1" fmla="*/ 356260 w 2945081"/>
                <a:gd name="connsiteY1" fmla="*/ 665039 h 729030"/>
                <a:gd name="connsiteX2" fmla="*/ 1401289 w 2945081"/>
                <a:gd name="connsiteY2" fmla="*/ 20 h 729030"/>
                <a:gd name="connsiteX3" fmla="*/ 2945081 w 2945081"/>
                <a:gd name="connsiteY3" fmla="*/ 688789 h 729030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2280063"/>
                <a:gd name="connsiteY0" fmla="*/ 665065 h 729056"/>
                <a:gd name="connsiteX1" fmla="*/ 356260 w 2280063"/>
                <a:gd name="connsiteY1" fmla="*/ 665065 h 729056"/>
                <a:gd name="connsiteX2" fmla="*/ 1401289 w 2280063"/>
                <a:gd name="connsiteY2" fmla="*/ 46 h 729056"/>
                <a:gd name="connsiteX3" fmla="*/ 2280063 w 2280063"/>
                <a:gd name="connsiteY3" fmla="*/ 700690 h 729056"/>
                <a:gd name="connsiteX0" fmla="*/ 0 w 1923803"/>
                <a:gd name="connsiteY0" fmla="*/ 665065 h 700690"/>
                <a:gd name="connsiteX1" fmla="*/ 1045029 w 1923803"/>
                <a:gd name="connsiteY1" fmla="*/ 46 h 700690"/>
                <a:gd name="connsiteX2" fmla="*/ 1923803 w 1923803"/>
                <a:gd name="connsiteY2" fmla="*/ 700690 h 700690"/>
                <a:gd name="connsiteX0" fmla="*/ 0 w 1923803"/>
                <a:gd name="connsiteY0" fmla="*/ 665059 h 700684"/>
                <a:gd name="connsiteX1" fmla="*/ 1045029 w 1923803"/>
                <a:gd name="connsiteY1" fmla="*/ 40 h 700684"/>
                <a:gd name="connsiteX2" fmla="*/ 1923803 w 1923803"/>
                <a:gd name="connsiteY2" fmla="*/ 700684 h 700684"/>
                <a:gd name="connsiteX0" fmla="*/ 0 w 1923803"/>
                <a:gd name="connsiteY0" fmla="*/ 665059 h 700684"/>
                <a:gd name="connsiteX1" fmla="*/ 843148 w 1923803"/>
                <a:gd name="connsiteY1" fmla="*/ 40 h 700684"/>
                <a:gd name="connsiteX2" fmla="*/ 1923803 w 1923803"/>
                <a:gd name="connsiteY2" fmla="*/ 700684 h 700684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0" fmla="*/ 0 w 1674421"/>
                <a:gd name="connsiteY0" fmla="*/ 665019 h 665019"/>
                <a:gd name="connsiteX1" fmla="*/ 843148 w 1674421"/>
                <a:gd name="connsiteY1" fmla="*/ 0 h 665019"/>
                <a:gd name="connsiteX2" fmla="*/ 1674421 w 1674421"/>
                <a:gd name="connsiteY2" fmla="*/ 665018 h 665019"/>
                <a:gd name="connsiteX3" fmla="*/ 0 w 1674421"/>
                <a:gd name="connsiteY3" fmla="*/ 665019 h 66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4421" h="665019">
                  <a:moveTo>
                    <a:pt x="0" y="665019"/>
                  </a:moveTo>
                  <a:cubicBezTo>
                    <a:pt x="376052" y="661061"/>
                    <a:pt x="564078" y="0"/>
                    <a:pt x="843148" y="0"/>
                  </a:cubicBezTo>
                  <a:cubicBezTo>
                    <a:pt x="1122218" y="0"/>
                    <a:pt x="1345871" y="657101"/>
                    <a:pt x="1674421" y="665018"/>
                  </a:cubicBezTo>
                  <a:lnTo>
                    <a:pt x="0" y="66501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  <a:alpha val="7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800" dirty="0"/>
                <a:t>2</a:t>
              </a:r>
            </a:p>
          </p:txBody>
        </p:sp>
      </p:grp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8B9C9B6C-ADCA-D38E-7B8F-2E98DB20905F}"/>
              </a:ext>
            </a:extLst>
          </p:cNvPr>
          <p:cNvCxnSpPr>
            <a:cxnSpLocks/>
          </p:cNvCxnSpPr>
          <p:nvPr/>
        </p:nvCxnSpPr>
        <p:spPr>
          <a:xfrm flipH="1" flipV="1">
            <a:off x="1185519" y="4855702"/>
            <a:ext cx="6188" cy="212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E250B225-3B82-2A7C-B4A4-20B789200BD8}"/>
              </a:ext>
            </a:extLst>
          </p:cNvPr>
          <p:cNvGrpSpPr/>
          <p:nvPr/>
        </p:nvGrpSpPr>
        <p:grpSpPr>
          <a:xfrm>
            <a:off x="600170" y="2436375"/>
            <a:ext cx="2488156" cy="1009666"/>
            <a:chOff x="7851736" y="3218902"/>
            <a:chExt cx="3748644" cy="1426616"/>
          </a:xfrm>
        </p:grpSpPr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F631CA43-77B6-8A0C-FB77-9F78E185B7A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82E18951-9361-5C80-93E2-4511671EC36C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491" name="Flowchart: Delay 490">
                <a:extLst>
                  <a:ext uri="{FF2B5EF4-FFF2-40B4-BE49-F238E27FC236}">
                    <a16:creationId xmlns:a16="http://schemas.microsoft.com/office/drawing/2014/main" id="{F4AA8EF4-4D34-177C-5101-25E89A0EF2D0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A35A37E8-D028-B047-B6C8-EF25C3D51D5D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B29A1A9D-D4C4-F2BF-0FFE-6C3BD63464A2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489" name="Flowchart: Delay 488">
                <a:extLst>
                  <a:ext uri="{FF2B5EF4-FFF2-40B4-BE49-F238E27FC236}">
                    <a16:creationId xmlns:a16="http://schemas.microsoft.com/office/drawing/2014/main" id="{02A35C92-9DB7-289D-358D-279889C8CBBA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7DCCFB7C-B585-3FEF-287C-491E6BBD187E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3575186-627B-2D75-90A9-6E7EE021B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90DAB74B-5725-6342-2728-A2BB7CC85F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B0C46A73-08C8-22DD-0B0E-6B7CE6999578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4FD04647-6672-2D85-4E29-0494FD8770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99260494-C030-6CD2-A8B3-EF5418103FD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D045C1E-B93D-9D42-C6E0-44DCDA60BA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D5C3F060-D30B-82AE-49D0-82F801AE64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DFA760AD-AD6E-9975-EC9C-9100133960C0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487" name="Flowchart: Delay 486">
                <a:extLst>
                  <a:ext uri="{FF2B5EF4-FFF2-40B4-BE49-F238E27FC236}">
                    <a16:creationId xmlns:a16="http://schemas.microsoft.com/office/drawing/2014/main" id="{85C45271-90C4-D8E2-FDB3-0624E1BE7DBA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D0A23052-CC0F-26AA-F7D1-0FE220F074FC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012AD53-88E6-375F-4BAA-A2682610F716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485" name="Flowchart: Delay 484">
                <a:extLst>
                  <a:ext uri="{FF2B5EF4-FFF2-40B4-BE49-F238E27FC236}">
                    <a16:creationId xmlns:a16="http://schemas.microsoft.com/office/drawing/2014/main" id="{02848580-20B8-4DF8-8C0E-FF8C95D92DA6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35E38509-54E3-32A1-902E-34C9B02F5907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875767CA-84B9-C7E1-1B8E-62A5C67523A7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BAC4CE0-5890-63F6-D9B7-FF54B59BE277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BAC4CE0-5890-63F6-D9B7-FF54B59BE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D68B3E4B-BAE3-9A8C-D973-567C386D42D0}"/>
              </a:ext>
            </a:extLst>
          </p:cNvPr>
          <p:cNvGrpSpPr/>
          <p:nvPr/>
        </p:nvGrpSpPr>
        <p:grpSpPr>
          <a:xfrm>
            <a:off x="844573" y="1112408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214EFC6F-9B4D-018F-24B8-87FEEE533748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631CA2CC-61F2-0DEE-7D96-6B82F5D71F47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511" name="Flowchart: Delay 510">
                  <a:extLst>
                    <a:ext uri="{FF2B5EF4-FFF2-40B4-BE49-F238E27FC236}">
                      <a16:creationId xmlns:a16="http://schemas.microsoft.com/office/drawing/2014/main" id="{CC03246E-19CF-9E24-CA91-D0FDBBBC035B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2" name="Rectangle 511">
                  <a:extLst>
                    <a:ext uri="{FF2B5EF4-FFF2-40B4-BE49-F238E27FC236}">
                      <a16:creationId xmlns:a16="http://schemas.microsoft.com/office/drawing/2014/main" id="{BADB0B29-7357-884A-225C-CDDB3C03B44B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3" name="Rectangle 512">
                  <a:extLst>
                    <a:ext uri="{FF2B5EF4-FFF2-40B4-BE49-F238E27FC236}">
                      <a16:creationId xmlns:a16="http://schemas.microsoft.com/office/drawing/2014/main" id="{D9AA8798-420B-562D-5441-C2864AD51803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4" name="Arc 513">
                  <a:extLst>
                    <a:ext uri="{FF2B5EF4-FFF2-40B4-BE49-F238E27FC236}">
                      <a16:creationId xmlns:a16="http://schemas.microsoft.com/office/drawing/2014/main" id="{81AD7321-D8D0-6E67-C3AA-24E7798D1B1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5" name="Rectangle 514">
                  <a:extLst>
                    <a:ext uri="{FF2B5EF4-FFF2-40B4-BE49-F238E27FC236}">
                      <a16:creationId xmlns:a16="http://schemas.microsoft.com/office/drawing/2014/main" id="{B62E1D87-A6AE-8EFA-491C-DADF76504EA7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6" name="Rectangle 515">
                  <a:extLst>
                    <a:ext uri="{FF2B5EF4-FFF2-40B4-BE49-F238E27FC236}">
                      <a16:creationId xmlns:a16="http://schemas.microsoft.com/office/drawing/2014/main" id="{23A5BAB6-3B35-5170-9353-C452ED0C8421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7" name="Rectangle 516">
                  <a:extLst>
                    <a:ext uri="{FF2B5EF4-FFF2-40B4-BE49-F238E27FC236}">
                      <a16:creationId xmlns:a16="http://schemas.microsoft.com/office/drawing/2014/main" id="{D848F729-87C7-0B6B-4AB3-8AB1ECF92C9E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8" name="Rectangle 517">
                  <a:extLst>
                    <a:ext uri="{FF2B5EF4-FFF2-40B4-BE49-F238E27FC236}">
                      <a16:creationId xmlns:a16="http://schemas.microsoft.com/office/drawing/2014/main" id="{256BB5A5-9425-7C97-4C38-AD8BC8A65B7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FE048976-C987-81B9-71AE-173EA1848329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95" name="Graphic 494" descr="Solar system with solid fill">
              <a:extLst>
                <a:ext uri="{FF2B5EF4-FFF2-40B4-BE49-F238E27FC236}">
                  <a16:creationId xmlns:a16="http://schemas.microsoft.com/office/drawing/2014/main" id="{07EDE93A-8CE0-F256-7B4B-E64B0867C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96" name="Straight Arrow Connector 495">
              <a:extLst>
                <a:ext uri="{FF2B5EF4-FFF2-40B4-BE49-F238E27FC236}">
                  <a16:creationId xmlns:a16="http://schemas.microsoft.com/office/drawing/2014/main" id="{25BA78CF-A32B-0ACA-1C3A-7058D24DE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7" name="Straight Arrow Connector 496">
              <a:extLst>
                <a:ext uri="{FF2B5EF4-FFF2-40B4-BE49-F238E27FC236}">
                  <a16:creationId xmlns:a16="http://schemas.microsoft.com/office/drawing/2014/main" id="{5070F6DD-DEFA-0945-1D1E-3EA904B300ED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9F3E4723-4401-DBC7-EB1A-FA7AAD083754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B52F02AE-6B27-FD86-3BE4-964979395B65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501" name="Flowchart: Delay 500">
                  <a:extLst>
                    <a:ext uri="{FF2B5EF4-FFF2-40B4-BE49-F238E27FC236}">
                      <a16:creationId xmlns:a16="http://schemas.microsoft.com/office/drawing/2014/main" id="{3004E548-A633-FC77-F9F6-31C11BB0CD7B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2" name="Rectangle 501">
                  <a:extLst>
                    <a:ext uri="{FF2B5EF4-FFF2-40B4-BE49-F238E27FC236}">
                      <a16:creationId xmlns:a16="http://schemas.microsoft.com/office/drawing/2014/main" id="{D43EE0E2-CABC-F002-8AD7-B45E1C77616C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3" name="Rectangle 502">
                  <a:extLst>
                    <a:ext uri="{FF2B5EF4-FFF2-40B4-BE49-F238E27FC236}">
                      <a16:creationId xmlns:a16="http://schemas.microsoft.com/office/drawing/2014/main" id="{9A813D90-7F42-F255-0F8C-F60BAB03C33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4" name="Arc 503">
                  <a:extLst>
                    <a:ext uri="{FF2B5EF4-FFF2-40B4-BE49-F238E27FC236}">
                      <a16:creationId xmlns:a16="http://schemas.microsoft.com/office/drawing/2014/main" id="{BB3E5164-C2B4-F7F7-E2FC-B6CFFE5DD63D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5" name="Rectangle 504">
                  <a:extLst>
                    <a:ext uri="{FF2B5EF4-FFF2-40B4-BE49-F238E27FC236}">
                      <a16:creationId xmlns:a16="http://schemas.microsoft.com/office/drawing/2014/main" id="{D28CE678-EC87-54A4-093B-5FEA7E4F03F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6" name="Rectangle 505">
                  <a:extLst>
                    <a:ext uri="{FF2B5EF4-FFF2-40B4-BE49-F238E27FC236}">
                      <a16:creationId xmlns:a16="http://schemas.microsoft.com/office/drawing/2014/main" id="{4435CA31-31D6-86FC-0DCA-2E1350433590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7" name="Rectangle 506">
                  <a:extLst>
                    <a:ext uri="{FF2B5EF4-FFF2-40B4-BE49-F238E27FC236}">
                      <a16:creationId xmlns:a16="http://schemas.microsoft.com/office/drawing/2014/main" id="{FA340FE8-DC17-C42A-FD56-35C6A3681F69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8" name="Rectangle 507">
                  <a:extLst>
                    <a:ext uri="{FF2B5EF4-FFF2-40B4-BE49-F238E27FC236}">
                      <a16:creationId xmlns:a16="http://schemas.microsoft.com/office/drawing/2014/main" id="{24B5C4E8-82BE-2905-473D-AF91B7C0E5F7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B1B97612-EADE-8E98-AB7A-23D5413E19F7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A5A1D69E-44B4-FE40-5019-EB6A33BDE584}"/>
              </a:ext>
            </a:extLst>
          </p:cNvPr>
          <p:cNvGrpSpPr/>
          <p:nvPr/>
        </p:nvGrpSpPr>
        <p:grpSpPr>
          <a:xfrm>
            <a:off x="9049934" y="4038393"/>
            <a:ext cx="3408128" cy="1008973"/>
            <a:chOff x="3561079" y="607494"/>
            <a:chExt cx="3423441" cy="938158"/>
          </a:xfrm>
        </p:grpSpPr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9D50F95E-F429-1195-0063-11DB57227DE5}"/>
                </a:ext>
              </a:extLst>
            </p:cNvPr>
            <p:cNvGrpSpPr/>
            <p:nvPr/>
          </p:nvGrpSpPr>
          <p:grpSpPr>
            <a:xfrm>
              <a:off x="3561079" y="607494"/>
              <a:ext cx="1679526" cy="724329"/>
              <a:chOff x="3352653" y="4392899"/>
              <a:chExt cx="2625898" cy="1450047"/>
            </a:xfrm>
          </p:grpSpPr>
          <p:sp>
            <p:nvSpPr>
              <p:cNvPr id="522" name="TextBox 521">
                <a:extLst>
                  <a:ext uri="{FF2B5EF4-FFF2-40B4-BE49-F238E27FC236}">
                    <a16:creationId xmlns:a16="http://schemas.microsoft.com/office/drawing/2014/main" id="{F28BF06A-3BA0-3C25-D030-11C1D15A7B94}"/>
                  </a:ext>
                </a:extLst>
              </p:cNvPr>
              <p:cNvSpPr txBox="1"/>
              <p:nvPr/>
            </p:nvSpPr>
            <p:spPr>
              <a:xfrm>
                <a:off x="4358819" y="4392899"/>
                <a:ext cx="1300362" cy="47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Source</a:t>
                </a:r>
              </a:p>
            </p:txBody>
          </p:sp>
          <p:sp>
            <p:nvSpPr>
              <p:cNvPr id="523" name="Freeform 30">
                <a:extLst>
                  <a:ext uri="{FF2B5EF4-FFF2-40B4-BE49-F238E27FC236}">
                    <a16:creationId xmlns:a16="http://schemas.microsoft.com/office/drawing/2014/main" id="{C9D9066C-6553-C37F-8F7F-0C0C656F2F4F}"/>
                  </a:ext>
                </a:extLst>
              </p:cNvPr>
              <p:cNvSpPr/>
              <p:nvPr/>
            </p:nvSpPr>
            <p:spPr>
              <a:xfrm>
                <a:off x="3352653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24" name="Freeform 30">
                <a:extLst>
                  <a:ext uri="{FF2B5EF4-FFF2-40B4-BE49-F238E27FC236}">
                    <a16:creationId xmlns:a16="http://schemas.microsoft.com/office/drawing/2014/main" id="{1D1B3042-B9DB-997D-7BA7-D5766F860113}"/>
                  </a:ext>
                </a:extLst>
              </p:cNvPr>
              <p:cNvSpPr/>
              <p:nvPr/>
            </p:nvSpPr>
            <p:spPr>
              <a:xfrm>
                <a:off x="3776208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25" name="Freeform 30">
                <a:extLst>
                  <a:ext uri="{FF2B5EF4-FFF2-40B4-BE49-F238E27FC236}">
                    <a16:creationId xmlns:a16="http://schemas.microsoft.com/office/drawing/2014/main" id="{4110A7A7-DEA7-5C1C-5FAE-4099B4A43522}"/>
                  </a:ext>
                </a:extLst>
              </p:cNvPr>
              <p:cNvSpPr/>
              <p:nvPr/>
            </p:nvSpPr>
            <p:spPr>
              <a:xfrm>
                <a:off x="4207140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26" name="Freeform 30">
                <a:extLst>
                  <a:ext uri="{FF2B5EF4-FFF2-40B4-BE49-F238E27FC236}">
                    <a16:creationId xmlns:a16="http://schemas.microsoft.com/office/drawing/2014/main" id="{7339013D-7C74-6E90-3462-05992A6776E9}"/>
                  </a:ext>
                </a:extLst>
              </p:cNvPr>
              <p:cNvSpPr/>
              <p:nvPr/>
            </p:nvSpPr>
            <p:spPr>
              <a:xfrm>
                <a:off x="460069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527" name="Freeform 30">
                <a:extLst>
                  <a:ext uri="{FF2B5EF4-FFF2-40B4-BE49-F238E27FC236}">
                    <a16:creationId xmlns:a16="http://schemas.microsoft.com/office/drawing/2014/main" id="{72055D1D-27C6-3F68-4547-A05D7515BE65}"/>
                  </a:ext>
                </a:extLst>
              </p:cNvPr>
              <p:cNvSpPr/>
              <p:nvPr/>
            </p:nvSpPr>
            <p:spPr>
              <a:xfrm>
                <a:off x="5018672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28" name="Freeform 30">
                <a:extLst>
                  <a:ext uri="{FF2B5EF4-FFF2-40B4-BE49-F238E27FC236}">
                    <a16:creationId xmlns:a16="http://schemas.microsoft.com/office/drawing/2014/main" id="{2B396CC4-EF0E-C91C-884A-8CB66E04673C}"/>
                  </a:ext>
                </a:extLst>
              </p:cNvPr>
              <p:cNvSpPr/>
              <p:nvPr/>
            </p:nvSpPr>
            <p:spPr>
              <a:xfrm>
                <a:off x="5395939" y="5010192"/>
                <a:ext cx="582612" cy="665162"/>
              </a:xfrm>
              <a:custGeom>
                <a:avLst/>
                <a:gdLst>
                  <a:gd name="connsiteX0" fmla="*/ 0 w 3657600"/>
                  <a:gd name="connsiteY0" fmla="*/ 665039 h 755065"/>
                  <a:gd name="connsiteX1" fmla="*/ 356260 w 3657600"/>
                  <a:gd name="connsiteY1" fmla="*/ 665039 h 755065"/>
                  <a:gd name="connsiteX2" fmla="*/ 1401289 w 3657600"/>
                  <a:gd name="connsiteY2" fmla="*/ 20 h 755065"/>
                  <a:gd name="connsiteX3" fmla="*/ 2945081 w 3657600"/>
                  <a:gd name="connsiteY3" fmla="*/ 688789 h 755065"/>
                  <a:gd name="connsiteX4" fmla="*/ 3657600 w 3657600"/>
                  <a:gd name="connsiteY4" fmla="*/ 688789 h 755065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945081"/>
                  <a:gd name="connsiteY0" fmla="*/ 665039 h 729030"/>
                  <a:gd name="connsiteX1" fmla="*/ 356260 w 2945081"/>
                  <a:gd name="connsiteY1" fmla="*/ 665039 h 729030"/>
                  <a:gd name="connsiteX2" fmla="*/ 1401289 w 2945081"/>
                  <a:gd name="connsiteY2" fmla="*/ 20 h 729030"/>
                  <a:gd name="connsiteX3" fmla="*/ 2945081 w 2945081"/>
                  <a:gd name="connsiteY3" fmla="*/ 688789 h 729030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2280063"/>
                  <a:gd name="connsiteY0" fmla="*/ 665065 h 729056"/>
                  <a:gd name="connsiteX1" fmla="*/ 356260 w 2280063"/>
                  <a:gd name="connsiteY1" fmla="*/ 665065 h 729056"/>
                  <a:gd name="connsiteX2" fmla="*/ 1401289 w 2280063"/>
                  <a:gd name="connsiteY2" fmla="*/ 46 h 729056"/>
                  <a:gd name="connsiteX3" fmla="*/ 2280063 w 2280063"/>
                  <a:gd name="connsiteY3" fmla="*/ 700690 h 729056"/>
                  <a:gd name="connsiteX0" fmla="*/ 0 w 1923803"/>
                  <a:gd name="connsiteY0" fmla="*/ 665065 h 700690"/>
                  <a:gd name="connsiteX1" fmla="*/ 1045029 w 1923803"/>
                  <a:gd name="connsiteY1" fmla="*/ 46 h 700690"/>
                  <a:gd name="connsiteX2" fmla="*/ 1923803 w 1923803"/>
                  <a:gd name="connsiteY2" fmla="*/ 700690 h 700690"/>
                  <a:gd name="connsiteX0" fmla="*/ 0 w 1923803"/>
                  <a:gd name="connsiteY0" fmla="*/ 665059 h 700684"/>
                  <a:gd name="connsiteX1" fmla="*/ 1045029 w 1923803"/>
                  <a:gd name="connsiteY1" fmla="*/ 40 h 700684"/>
                  <a:gd name="connsiteX2" fmla="*/ 1923803 w 1923803"/>
                  <a:gd name="connsiteY2" fmla="*/ 700684 h 700684"/>
                  <a:gd name="connsiteX0" fmla="*/ 0 w 1923803"/>
                  <a:gd name="connsiteY0" fmla="*/ 665059 h 700684"/>
                  <a:gd name="connsiteX1" fmla="*/ 843148 w 1923803"/>
                  <a:gd name="connsiteY1" fmla="*/ 40 h 700684"/>
                  <a:gd name="connsiteX2" fmla="*/ 1923803 w 1923803"/>
                  <a:gd name="connsiteY2" fmla="*/ 700684 h 700684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0" fmla="*/ 0 w 1674421"/>
                  <a:gd name="connsiteY0" fmla="*/ 665019 h 665019"/>
                  <a:gd name="connsiteX1" fmla="*/ 843148 w 1674421"/>
                  <a:gd name="connsiteY1" fmla="*/ 0 h 665019"/>
                  <a:gd name="connsiteX2" fmla="*/ 1674421 w 1674421"/>
                  <a:gd name="connsiteY2" fmla="*/ 665018 h 665019"/>
                  <a:gd name="connsiteX3" fmla="*/ 0 w 1674421"/>
                  <a:gd name="connsiteY3" fmla="*/ 665019 h 6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4421" h="665019">
                    <a:moveTo>
                      <a:pt x="0" y="665019"/>
                    </a:moveTo>
                    <a:cubicBezTo>
                      <a:pt x="376052" y="661061"/>
                      <a:pt x="564078" y="0"/>
                      <a:pt x="843148" y="0"/>
                    </a:cubicBezTo>
                    <a:cubicBezTo>
                      <a:pt x="1122218" y="0"/>
                      <a:pt x="1345871" y="657101"/>
                      <a:pt x="1674421" y="665018"/>
                    </a:cubicBezTo>
                    <a:lnTo>
                      <a:pt x="0" y="665019"/>
                    </a:lnTo>
                    <a:close/>
                  </a:path>
                </a:pathLst>
              </a:custGeom>
              <a:solidFill>
                <a:schemeClr val="bg1">
                  <a:lumMod val="50000"/>
                  <a:alpha val="75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529" name="Straight Arrow Connector 528">
                <a:extLst>
                  <a:ext uri="{FF2B5EF4-FFF2-40B4-BE49-F238E27FC236}">
                    <a16:creationId xmlns:a16="http://schemas.microsoft.com/office/drawing/2014/main" id="{E90F5314-E2F1-A2E7-0044-69844A7AC2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0549" y="5842946"/>
                <a:ext cx="24003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44CAE43-D032-684F-4AC5-D85A7765E1DE}"/>
                    </a:ext>
                  </a:extLst>
                </p:cNvPr>
                <p:cNvSpPr txBox="1"/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endParaRPr lang="en-US" sz="1000" dirty="0"/>
                </a:p>
                <a:p>
                  <a:endParaRPr lang="en-US" sz="600" dirty="0"/>
                </a:p>
                <a:p>
                  <a:r>
                    <a:rPr lang="en-US" sz="100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a14:m>
                  <a:endParaRPr lang="en-US" sz="1000" b="0" i="1" dirty="0">
                    <a:latin typeface="Cambria Math" panose="02040503050406030204" pitchFamily="18" charset="0"/>
                  </a:endParaRPr>
                </a:p>
                <a:p>
                  <a:endParaRPr lang="en-US" sz="7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44CAE43-D032-684F-4AC5-D85A7765E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86" y="776211"/>
                  <a:ext cx="1456534" cy="76944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0" name="Freeform 30">
            <a:extLst>
              <a:ext uri="{FF2B5EF4-FFF2-40B4-BE49-F238E27FC236}">
                <a16:creationId xmlns:a16="http://schemas.microsoft.com/office/drawing/2014/main" id="{0E8EA482-15F2-298B-2B51-188FFB72DB2C}"/>
              </a:ext>
            </a:extLst>
          </p:cNvPr>
          <p:cNvSpPr/>
          <p:nvPr/>
        </p:nvSpPr>
        <p:spPr>
          <a:xfrm>
            <a:off x="10824582" y="4233781"/>
            <a:ext cx="17512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Freeform 30">
            <a:extLst>
              <a:ext uri="{FF2B5EF4-FFF2-40B4-BE49-F238E27FC236}">
                <a16:creationId xmlns:a16="http://schemas.microsoft.com/office/drawing/2014/main" id="{4E0E649F-6969-0BB5-2E23-B5716AFE00DE}"/>
              </a:ext>
            </a:extLst>
          </p:cNvPr>
          <p:cNvSpPr/>
          <p:nvPr/>
        </p:nvSpPr>
        <p:spPr>
          <a:xfrm>
            <a:off x="10808952" y="4481097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bg1">
              <a:lumMod val="50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32" name="Freeform 30">
            <a:extLst>
              <a:ext uri="{FF2B5EF4-FFF2-40B4-BE49-F238E27FC236}">
                <a16:creationId xmlns:a16="http://schemas.microsoft.com/office/drawing/2014/main" id="{11481D27-4BBB-A0FB-01A2-A895361E328D}"/>
              </a:ext>
            </a:extLst>
          </p:cNvPr>
          <p:cNvSpPr/>
          <p:nvPr/>
        </p:nvSpPr>
        <p:spPr>
          <a:xfrm>
            <a:off x="10812774" y="4727362"/>
            <a:ext cx="179586" cy="180070"/>
          </a:xfrm>
          <a:custGeom>
            <a:avLst/>
            <a:gdLst>
              <a:gd name="connsiteX0" fmla="*/ 0 w 3657600"/>
              <a:gd name="connsiteY0" fmla="*/ 665039 h 755065"/>
              <a:gd name="connsiteX1" fmla="*/ 356260 w 3657600"/>
              <a:gd name="connsiteY1" fmla="*/ 665039 h 755065"/>
              <a:gd name="connsiteX2" fmla="*/ 1401289 w 3657600"/>
              <a:gd name="connsiteY2" fmla="*/ 20 h 755065"/>
              <a:gd name="connsiteX3" fmla="*/ 2945081 w 3657600"/>
              <a:gd name="connsiteY3" fmla="*/ 688789 h 755065"/>
              <a:gd name="connsiteX4" fmla="*/ 3657600 w 3657600"/>
              <a:gd name="connsiteY4" fmla="*/ 688789 h 755065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945081"/>
              <a:gd name="connsiteY0" fmla="*/ 665039 h 729030"/>
              <a:gd name="connsiteX1" fmla="*/ 356260 w 2945081"/>
              <a:gd name="connsiteY1" fmla="*/ 665039 h 729030"/>
              <a:gd name="connsiteX2" fmla="*/ 1401289 w 2945081"/>
              <a:gd name="connsiteY2" fmla="*/ 20 h 729030"/>
              <a:gd name="connsiteX3" fmla="*/ 2945081 w 2945081"/>
              <a:gd name="connsiteY3" fmla="*/ 688789 h 729030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2280063"/>
              <a:gd name="connsiteY0" fmla="*/ 665065 h 729056"/>
              <a:gd name="connsiteX1" fmla="*/ 356260 w 2280063"/>
              <a:gd name="connsiteY1" fmla="*/ 665065 h 729056"/>
              <a:gd name="connsiteX2" fmla="*/ 1401289 w 2280063"/>
              <a:gd name="connsiteY2" fmla="*/ 46 h 729056"/>
              <a:gd name="connsiteX3" fmla="*/ 2280063 w 2280063"/>
              <a:gd name="connsiteY3" fmla="*/ 700690 h 729056"/>
              <a:gd name="connsiteX0" fmla="*/ 0 w 1923803"/>
              <a:gd name="connsiteY0" fmla="*/ 665065 h 700690"/>
              <a:gd name="connsiteX1" fmla="*/ 1045029 w 1923803"/>
              <a:gd name="connsiteY1" fmla="*/ 46 h 700690"/>
              <a:gd name="connsiteX2" fmla="*/ 1923803 w 1923803"/>
              <a:gd name="connsiteY2" fmla="*/ 700690 h 700690"/>
              <a:gd name="connsiteX0" fmla="*/ 0 w 1923803"/>
              <a:gd name="connsiteY0" fmla="*/ 665059 h 700684"/>
              <a:gd name="connsiteX1" fmla="*/ 1045029 w 1923803"/>
              <a:gd name="connsiteY1" fmla="*/ 40 h 700684"/>
              <a:gd name="connsiteX2" fmla="*/ 1923803 w 1923803"/>
              <a:gd name="connsiteY2" fmla="*/ 700684 h 700684"/>
              <a:gd name="connsiteX0" fmla="*/ 0 w 1923803"/>
              <a:gd name="connsiteY0" fmla="*/ 665059 h 700684"/>
              <a:gd name="connsiteX1" fmla="*/ 843148 w 1923803"/>
              <a:gd name="connsiteY1" fmla="*/ 40 h 700684"/>
              <a:gd name="connsiteX2" fmla="*/ 1923803 w 1923803"/>
              <a:gd name="connsiteY2" fmla="*/ 700684 h 700684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0" fmla="*/ 0 w 1674421"/>
              <a:gd name="connsiteY0" fmla="*/ 665019 h 665019"/>
              <a:gd name="connsiteX1" fmla="*/ 843148 w 1674421"/>
              <a:gd name="connsiteY1" fmla="*/ 0 h 665019"/>
              <a:gd name="connsiteX2" fmla="*/ 1674421 w 1674421"/>
              <a:gd name="connsiteY2" fmla="*/ 665018 h 665019"/>
              <a:gd name="connsiteX3" fmla="*/ 0 w 1674421"/>
              <a:gd name="connsiteY3" fmla="*/ 665019 h 66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4421" h="665019">
                <a:moveTo>
                  <a:pt x="0" y="665019"/>
                </a:moveTo>
                <a:cubicBezTo>
                  <a:pt x="376052" y="661061"/>
                  <a:pt x="564078" y="0"/>
                  <a:pt x="843148" y="0"/>
                </a:cubicBezTo>
                <a:cubicBezTo>
                  <a:pt x="1122218" y="0"/>
                  <a:pt x="1345871" y="657101"/>
                  <a:pt x="1674421" y="665018"/>
                </a:cubicBezTo>
                <a:lnTo>
                  <a:pt x="0" y="665019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00" dirty="0"/>
              <a:t>2</a:t>
            </a:r>
          </a:p>
        </p:txBody>
      </p:sp>
      <p:cxnSp>
        <p:nvCxnSpPr>
          <p:cNvPr id="533" name="Straight Arrow Connector 532">
            <a:extLst>
              <a:ext uri="{FF2B5EF4-FFF2-40B4-BE49-F238E27FC236}">
                <a16:creationId xmlns:a16="http://schemas.microsoft.com/office/drawing/2014/main" id="{C88C6584-B87C-70A1-274B-C47F71EC6F21}"/>
              </a:ext>
            </a:extLst>
          </p:cNvPr>
          <p:cNvCxnSpPr>
            <a:cxnSpLocks/>
          </p:cNvCxnSpPr>
          <p:nvPr/>
        </p:nvCxnSpPr>
        <p:spPr>
          <a:xfrm flipV="1">
            <a:off x="9548582" y="4908306"/>
            <a:ext cx="0" cy="186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Arrow Connector 533">
            <a:extLst>
              <a:ext uri="{FF2B5EF4-FFF2-40B4-BE49-F238E27FC236}">
                <a16:creationId xmlns:a16="http://schemas.microsoft.com/office/drawing/2014/main" id="{C59E37AB-6AB7-5AEB-35B5-75439E99509C}"/>
              </a:ext>
            </a:extLst>
          </p:cNvPr>
          <p:cNvCxnSpPr>
            <a:cxnSpLocks/>
          </p:cNvCxnSpPr>
          <p:nvPr/>
        </p:nvCxnSpPr>
        <p:spPr>
          <a:xfrm flipV="1">
            <a:off x="10587887" y="4909048"/>
            <a:ext cx="1623" cy="215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5A4898-A717-02CB-25B0-E49B1F3CF770}"/>
              </a:ext>
            </a:extLst>
          </p:cNvPr>
          <p:cNvCxnSpPr>
            <a:cxnSpLocks/>
          </p:cNvCxnSpPr>
          <p:nvPr/>
        </p:nvCxnSpPr>
        <p:spPr>
          <a:xfrm>
            <a:off x="414984" y="4516370"/>
            <a:ext cx="18931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F0FBE0-C1D1-38D7-37C6-A8F988034235}"/>
              </a:ext>
            </a:extLst>
          </p:cNvPr>
          <p:cNvCxnSpPr>
            <a:cxnSpLocks/>
          </p:cNvCxnSpPr>
          <p:nvPr/>
        </p:nvCxnSpPr>
        <p:spPr>
          <a:xfrm>
            <a:off x="567384" y="4668770"/>
            <a:ext cx="1893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ECD233-1CA8-60B0-3944-719DF3964561}"/>
              </a:ext>
            </a:extLst>
          </p:cNvPr>
          <p:cNvCxnSpPr>
            <a:cxnSpLocks/>
          </p:cNvCxnSpPr>
          <p:nvPr/>
        </p:nvCxnSpPr>
        <p:spPr>
          <a:xfrm>
            <a:off x="414984" y="5563131"/>
            <a:ext cx="18931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3DE131-10CA-8402-C616-9A9B4032B6A3}"/>
              </a:ext>
            </a:extLst>
          </p:cNvPr>
          <p:cNvCxnSpPr>
            <a:cxnSpLocks/>
          </p:cNvCxnSpPr>
          <p:nvPr/>
        </p:nvCxnSpPr>
        <p:spPr>
          <a:xfrm flipV="1">
            <a:off x="426864" y="4503737"/>
            <a:ext cx="0" cy="30485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94F7F79-1BE4-4F78-F20E-F2BF8A5A2D94}"/>
              </a:ext>
            </a:extLst>
          </p:cNvPr>
          <p:cNvSpPr txBox="1"/>
          <p:nvPr/>
        </p:nvSpPr>
        <p:spPr>
          <a:xfrm>
            <a:off x="-428" y="4739846"/>
            <a:ext cx="1372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Strongly correlated </a:t>
            </a:r>
            <a:endParaRPr lang="en-US" sz="14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2E7D658-A5CE-1EB0-7D23-1F1A2372AD8D}"/>
              </a:ext>
            </a:extLst>
          </p:cNvPr>
          <p:cNvCxnSpPr>
            <a:cxnSpLocks/>
          </p:cNvCxnSpPr>
          <p:nvPr/>
        </p:nvCxnSpPr>
        <p:spPr>
          <a:xfrm flipV="1">
            <a:off x="421334" y="5272040"/>
            <a:ext cx="0" cy="30485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5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animBg="1"/>
      <p:bldP spid="278" grpId="0" animBg="1"/>
      <p:bldP spid="279" grpId="0" animBg="1"/>
      <p:bldP spid="280" grpId="0" animBg="1"/>
      <p:bldP spid="13" grpId="0" animBg="1"/>
      <p:bldP spid="16" grpId="0"/>
      <p:bldP spid="4" grpId="0"/>
      <p:bldP spid="431" grpId="0"/>
      <p:bldP spid="449" grpId="0" animBg="1"/>
      <p:bldP spid="453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interferometric telescope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050503"/>
                  </p:ext>
                </p:extLst>
              </p:nvPr>
            </p:nvGraphicFramePr>
            <p:xfrm>
              <a:off x="9004144" y="2490382"/>
              <a:ext cx="2403464" cy="322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290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8B482D21-3649-2D0B-254D-C314D9DF6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050503"/>
                  </p:ext>
                </p:extLst>
              </p:nvPr>
            </p:nvGraphicFramePr>
            <p:xfrm>
              <a:off x="9004144" y="2490382"/>
              <a:ext cx="2403464" cy="322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03464">
                      <a:extLst>
                        <a:ext uri="{9D8B030D-6E8A-4147-A177-3AD203B41FA5}">
                          <a16:colId xmlns:a16="http://schemas.microsoft.com/office/drawing/2014/main" val="1467532126"/>
                        </a:ext>
                      </a:extLst>
                    </a:gridCol>
                  </a:tblGrid>
                  <a:tr h="322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3" t="-1852" r="-506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5840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68E47D1-82F5-6A61-CE28-FFC1D0DD8A5B}"/>
              </a:ext>
            </a:extLst>
          </p:cNvPr>
          <p:cNvSpPr txBox="1"/>
          <p:nvPr/>
        </p:nvSpPr>
        <p:spPr>
          <a:xfrm>
            <a:off x="9633972" y="3604525"/>
            <a:ext cx="208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Quantum telescope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8A20DB-1EBB-A0F5-E858-B45308C518C7}"/>
              </a:ext>
            </a:extLst>
          </p:cNvPr>
          <p:cNvGrpSpPr/>
          <p:nvPr/>
        </p:nvGrpSpPr>
        <p:grpSpPr>
          <a:xfrm>
            <a:off x="6525303" y="3884555"/>
            <a:ext cx="4300979" cy="2833039"/>
            <a:chOff x="6500140" y="1667696"/>
            <a:chExt cx="5707063" cy="428965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EE88A2-232A-304B-AD90-B96349BB7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0140" y="1799434"/>
              <a:ext cx="5707063" cy="4157915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4B8445-F3DA-0ED6-7632-2767126FFE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7831" y="1667696"/>
              <a:ext cx="302648" cy="45951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4EC593-C38B-870B-CB94-F3BA6C435DB6}"/>
                </a:ext>
              </a:extLst>
            </p:cNvPr>
            <p:cNvSpPr txBox="1"/>
            <p:nvPr/>
          </p:nvSpPr>
          <p:spPr>
            <a:xfrm>
              <a:off x="9363487" y="4222479"/>
              <a:ext cx="2087218" cy="419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Coherent state LO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2DD04C-763C-2A24-8617-169B9398F20F}"/>
                </a:ext>
              </a:extLst>
            </p:cNvPr>
            <p:cNvCxnSpPr>
              <a:cxnSpLocks/>
            </p:cNvCxnSpPr>
            <p:nvPr/>
          </p:nvCxnSpPr>
          <p:spPr>
            <a:xfrm>
              <a:off x="7223188" y="3585132"/>
              <a:ext cx="4608008" cy="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46222C-ACF3-A40C-1365-9A1F2C341927}"/>
                </a:ext>
              </a:extLst>
            </p:cNvPr>
            <p:cNvSpPr txBox="1"/>
            <p:nvPr/>
          </p:nvSpPr>
          <p:spPr>
            <a:xfrm>
              <a:off x="7337125" y="3201978"/>
              <a:ext cx="2501204" cy="419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Heterodyne Interferometry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0" name="Graphic 39" descr="Star with solid fill">
            <a:extLst>
              <a:ext uri="{FF2B5EF4-FFF2-40B4-BE49-F238E27FC236}">
                <a16:creationId xmlns:a16="http://schemas.microsoft.com/office/drawing/2014/main" id="{8A3082B7-E8C5-137D-6FA7-77CB413F83E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8959" y="4116908"/>
            <a:ext cx="261437" cy="261437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666A3F04-3F59-58AA-70A7-2CBA7BC55795}"/>
              </a:ext>
            </a:extLst>
          </p:cNvPr>
          <p:cNvSpPr txBox="1"/>
          <p:nvPr/>
        </p:nvSpPr>
        <p:spPr>
          <a:xfrm>
            <a:off x="6578774" y="3373051"/>
            <a:ext cx="2673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Conceptual quantum telescope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4F111C-4B1F-CF58-841B-29C752B84321}"/>
              </a:ext>
            </a:extLst>
          </p:cNvPr>
          <p:cNvSpPr/>
          <p:nvPr/>
        </p:nvSpPr>
        <p:spPr>
          <a:xfrm rot="1976840">
            <a:off x="6720833" y="923269"/>
            <a:ext cx="45719" cy="25118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6AD5AC1-A8C6-053E-C09C-A221FABC45C1}"/>
              </a:ext>
            </a:extLst>
          </p:cNvPr>
          <p:cNvCxnSpPr>
            <a:cxnSpLocks/>
          </p:cNvCxnSpPr>
          <p:nvPr/>
        </p:nvCxnSpPr>
        <p:spPr>
          <a:xfrm rot="19845687">
            <a:off x="6422614" y="699208"/>
            <a:ext cx="216133" cy="400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601CC79-57CB-E72E-8EF4-1853E6BD1EBF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6762876" y="1061295"/>
            <a:ext cx="909652" cy="19000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746197C-D4E3-4CD9-2F01-C412BE827C5D}"/>
              </a:ext>
            </a:extLst>
          </p:cNvPr>
          <p:cNvCxnSpPr>
            <a:cxnSpLocks/>
          </p:cNvCxnSpPr>
          <p:nvPr/>
        </p:nvCxnSpPr>
        <p:spPr>
          <a:xfrm>
            <a:off x="6756220" y="1041450"/>
            <a:ext cx="770690" cy="146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DFC961F-1E85-1760-1C48-556957C901DD}"/>
              </a:ext>
            </a:extLst>
          </p:cNvPr>
          <p:cNvSpPr txBox="1"/>
          <p:nvPr/>
        </p:nvSpPr>
        <p:spPr>
          <a:xfrm>
            <a:off x="6651291" y="655280"/>
            <a:ext cx="625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SPDC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8A6760E-8BB8-8364-7232-A590B2B77486}"/>
              </a:ext>
            </a:extLst>
          </p:cNvPr>
          <p:cNvGrpSpPr/>
          <p:nvPr/>
        </p:nvGrpSpPr>
        <p:grpSpPr>
          <a:xfrm>
            <a:off x="6433858" y="2307509"/>
            <a:ext cx="2488156" cy="1009666"/>
            <a:chOff x="7851736" y="3218902"/>
            <a:chExt cx="3748644" cy="1426616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7AEF59B-19F7-3A61-6A4B-AEDA1A3C46E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3271692"/>
              <a:ext cx="0" cy="28371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41CC712-DB5A-6D2F-C9F7-4EA008182475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148" name="Flowchart: Delay 147">
                <a:extLst>
                  <a:ext uri="{FF2B5EF4-FFF2-40B4-BE49-F238E27FC236}">
                    <a16:creationId xmlns:a16="http://schemas.microsoft.com/office/drawing/2014/main" id="{050482E1-B408-CF1A-9C3A-DEC60EF3091F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1C8CB4D-BE16-EEF2-B5DA-9D5EF37A1371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44EA918-15D4-82B1-BA6F-3A49F31D6E92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144" name="Flowchart: Delay 143">
                <a:extLst>
                  <a:ext uri="{FF2B5EF4-FFF2-40B4-BE49-F238E27FC236}">
                    <a16:creationId xmlns:a16="http://schemas.microsoft.com/office/drawing/2014/main" id="{EB8B7F59-D5E0-C8C1-89EB-C8240E48C866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83F37E5C-440D-76AF-59D3-DB55AC66626B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CD3AAA2-082F-308D-B4EB-16DAC21A74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7ED0BBF-7270-4032-5378-9683ACDB0C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321D430-9055-4D97-19AE-8DC9A7697854}"/>
                </a:ext>
              </a:extLst>
            </p:cNvPr>
            <p:cNvCxnSpPr>
              <a:cxnSpLocks/>
            </p:cNvCxnSpPr>
            <p:nvPr/>
          </p:nvCxnSpPr>
          <p:spPr>
            <a:xfrm>
              <a:off x="8607967" y="3267506"/>
              <a:ext cx="1404" cy="32845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2D39F03-6DBF-CC8B-4259-FF9225DAD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AFB5833-89AD-18AA-121B-2EFF0091CCD7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4077359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B3CC191-70B8-3E3B-4893-7506B0055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BA0425A-6AED-5C15-EC72-8FC6371F54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0977" y="4061623"/>
              <a:ext cx="11728" cy="28992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6A9BA5D-9B5B-AF18-B141-0992F43D07DC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142" name="Flowchart: Delay 141">
                <a:extLst>
                  <a:ext uri="{FF2B5EF4-FFF2-40B4-BE49-F238E27FC236}">
                    <a16:creationId xmlns:a16="http://schemas.microsoft.com/office/drawing/2014/main" id="{7DB5EDF6-6ABA-93B4-B055-B653A682F0FB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9F38B1F-406F-581A-8B38-93EC280A279D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B000847-9E33-7C55-3852-CB633B9C8448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120" name="Flowchart: Delay 119">
                <a:extLst>
                  <a:ext uri="{FF2B5EF4-FFF2-40B4-BE49-F238E27FC236}">
                    <a16:creationId xmlns:a16="http://schemas.microsoft.com/office/drawing/2014/main" id="{F4E03620-E481-5F76-4DCF-C158A6E92B3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0C70411-4215-4AAF-FA50-847A1250D17B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8D24A71-A5A3-0829-CBA5-A2E40C7E53B3}"/>
                </a:ext>
              </a:extLst>
            </p:cNvPr>
            <p:cNvSpPr/>
            <p:nvPr/>
          </p:nvSpPr>
          <p:spPr>
            <a:xfrm>
              <a:off x="8483063" y="4236330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9565F42-B34F-703C-1524-0104CE7757D4}"/>
                    </a:ext>
                  </a:extLst>
                </p:cNvPr>
                <p:cNvSpPr txBox="1"/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9565F42-B34F-703C-1524-0104CE775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23" y="4271849"/>
                  <a:ext cx="2194329" cy="37366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5502814-57BC-F5C2-FFB5-57E8A2C9BE71}"/>
              </a:ext>
            </a:extLst>
          </p:cNvPr>
          <p:cNvGrpSpPr/>
          <p:nvPr/>
        </p:nvGrpSpPr>
        <p:grpSpPr>
          <a:xfrm>
            <a:off x="6678261" y="983542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38DAD3E4-59E1-3C87-D79F-6875270A9A38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29C597AE-A73B-8D5C-61A0-006232333A5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70" name="Flowchart: Delay 169">
                  <a:extLst>
                    <a:ext uri="{FF2B5EF4-FFF2-40B4-BE49-F238E27FC236}">
                      <a16:creationId xmlns:a16="http://schemas.microsoft.com/office/drawing/2014/main" id="{7E088D07-89E7-772D-673F-BF59FC9B62FF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2CEA369B-4EAC-082F-F8C3-2FFA820ADFD3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C1C1F412-3197-E520-018D-788ECF122DF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Arc 172">
                  <a:extLst>
                    <a:ext uri="{FF2B5EF4-FFF2-40B4-BE49-F238E27FC236}">
                      <a16:creationId xmlns:a16="http://schemas.microsoft.com/office/drawing/2014/main" id="{7C39DD11-28ED-9E76-96E8-C6FD35EC86E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CA23D5F9-6982-1D1D-73C8-E400914A44F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4F9BFEA5-E6C5-4876-A84E-809DE8ECB384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996698EF-7D72-97B8-90D9-DA8FE6D7BE7F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103FCDF4-A667-E344-E029-524588A9545C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DB011BF-46C5-F4EB-2C95-9019B2A68EE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54" name="Graphic 153" descr="Solar system with solid fill">
              <a:extLst>
                <a:ext uri="{FF2B5EF4-FFF2-40B4-BE49-F238E27FC236}">
                  <a16:creationId xmlns:a16="http://schemas.microsoft.com/office/drawing/2014/main" id="{1BFD2D6B-1FAB-60CF-DDEE-34BD02294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8E856779-F39B-E686-5E78-4B3D05AA76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7D9BE9C9-CC1F-AD38-44AB-0AF4A45C17B3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DFF2F16-B1ED-FD96-1CC5-BE09814C091D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CA6096D6-D460-D8B5-1773-93C40B195FC2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60" name="Flowchart: Delay 159">
                  <a:extLst>
                    <a:ext uri="{FF2B5EF4-FFF2-40B4-BE49-F238E27FC236}">
                      <a16:creationId xmlns:a16="http://schemas.microsoft.com/office/drawing/2014/main" id="{463FCE2E-CF6F-3E5B-F171-FFB59DEAD1B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7A6B8C93-7EA7-9D8E-CB7D-3D1F0569EACB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8F501892-520E-9E59-FC49-4E6AF21B7FB7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Arc 162">
                  <a:extLst>
                    <a:ext uri="{FF2B5EF4-FFF2-40B4-BE49-F238E27FC236}">
                      <a16:creationId xmlns:a16="http://schemas.microsoft.com/office/drawing/2014/main" id="{14360669-0478-241F-1730-D866F9233E67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822EFFEE-0CAE-32C8-E158-0E640C4B9547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0235F2F5-2A30-3804-7A49-6A0E077C54BA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6CDEA93B-0027-E7B5-A7E8-236E58A7708C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02DBC05F-153F-1CD8-C376-2372EB135432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A83CE7F-9CA7-F5ED-4ACA-E1F142F68C10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24124F4-5637-B2BA-D237-42204FB6791B}"/>
              </a:ext>
            </a:extLst>
          </p:cNvPr>
          <p:cNvSpPr/>
          <p:nvPr/>
        </p:nvSpPr>
        <p:spPr>
          <a:xfrm>
            <a:off x="8474748" y="6598471"/>
            <a:ext cx="432634" cy="233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BB574821-72A0-704C-5AB2-E6A3986C3200}"/>
                  </a:ext>
                </a:extLst>
              </p:cNvPr>
              <p:cNvSpPr txBox="1"/>
              <p:nvPr/>
            </p:nvSpPr>
            <p:spPr>
              <a:xfrm>
                <a:off x="7697076" y="6570735"/>
                <a:ext cx="300457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0" dirty="0">
                    <a:solidFill>
                      <a:schemeClr val="tx1"/>
                    </a:solidFill>
                  </a:rPr>
                  <a:t>Intensity of Local oscillator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BB574821-72A0-704C-5AB2-E6A3986C3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076" y="6570735"/>
                <a:ext cx="3004573" cy="307777"/>
              </a:xfrm>
              <a:prstGeom prst="rect">
                <a:avLst/>
              </a:prstGeom>
              <a:blipFill>
                <a:blip r:embed="rId16"/>
                <a:stretch>
                  <a:fillRect l="-609"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E6C27E9-3A6A-AAC7-62DA-D0CECB1ED1D2}"/>
              </a:ext>
            </a:extLst>
          </p:cNvPr>
          <p:cNvGrpSpPr/>
          <p:nvPr/>
        </p:nvGrpSpPr>
        <p:grpSpPr>
          <a:xfrm>
            <a:off x="1029558" y="794787"/>
            <a:ext cx="1926511" cy="2345249"/>
            <a:chOff x="3021014" y="1120207"/>
            <a:chExt cx="1926511" cy="2345249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5FE0CDB-DAB9-7A05-6B1A-1C8617FCB91C}"/>
                </a:ext>
              </a:extLst>
            </p:cNvPr>
            <p:cNvGrpSpPr/>
            <p:nvPr/>
          </p:nvGrpSpPr>
          <p:grpSpPr>
            <a:xfrm>
              <a:off x="3054116" y="2582494"/>
              <a:ext cx="1754720" cy="882962"/>
              <a:chOff x="4101980" y="3248237"/>
              <a:chExt cx="2579620" cy="1316997"/>
            </a:xfrm>
          </p:grpSpPr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9FBC4BA8-B358-565D-8B6C-5FE412C2635C}"/>
                  </a:ext>
                </a:extLst>
              </p:cNvPr>
              <p:cNvCxnSpPr>
                <a:cxnSpLocks/>
                <a:endCxn id="329" idx="1"/>
              </p:cNvCxnSpPr>
              <p:nvPr/>
            </p:nvCxnSpPr>
            <p:spPr>
              <a:xfrm flipH="1">
                <a:off x="6438894" y="3258467"/>
                <a:ext cx="12055" cy="83046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E97BEAB9-0605-D633-40E8-582F9059A537}"/>
                  </a:ext>
                </a:extLst>
              </p:cNvPr>
              <p:cNvGrpSpPr/>
              <p:nvPr/>
            </p:nvGrpSpPr>
            <p:grpSpPr>
              <a:xfrm rot="3740995">
                <a:off x="6241200" y="4120985"/>
                <a:ext cx="458369" cy="399856"/>
                <a:chOff x="3690596" y="5264272"/>
                <a:chExt cx="458369" cy="399856"/>
              </a:xfrm>
            </p:grpSpPr>
            <p:sp>
              <p:nvSpPr>
                <p:cNvPr id="329" name="Flowchart: Delay 328">
                  <a:extLst>
                    <a:ext uri="{FF2B5EF4-FFF2-40B4-BE49-F238E27FC236}">
                      <a16:creationId xmlns:a16="http://schemas.microsoft.com/office/drawing/2014/main" id="{638E3F31-C037-8B2C-EBD4-486780E86082}"/>
                    </a:ext>
                  </a:extLst>
                </p:cNvPr>
                <p:cNvSpPr/>
                <p:nvPr/>
              </p:nvSpPr>
              <p:spPr>
                <a:xfrm rot="1535992">
                  <a:off x="3690596" y="5264272"/>
                  <a:ext cx="184961" cy="320248"/>
                </a:xfrm>
                <a:prstGeom prst="flowChartDelay">
                  <a:avLst/>
                </a:prstGeom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4267AFA2-85E8-5D42-6BBF-FE4CC5D2C049}"/>
                    </a:ext>
                  </a:extLst>
                </p:cNvPr>
                <p:cNvSpPr/>
                <p:nvPr/>
              </p:nvSpPr>
              <p:spPr>
                <a:xfrm rot="21406059">
                  <a:off x="3882265" y="5454578"/>
                  <a:ext cx="266700" cy="209550"/>
                </a:xfrm>
                <a:custGeom>
                  <a:avLst/>
                  <a:gdLst>
                    <a:gd name="connsiteX0" fmla="*/ 0 w 266700"/>
                    <a:gd name="connsiteY0" fmla="*/ 0 h 209550"/>
                    <a:gd name="connsiteX1" fmla="*/ 57150 w 266700"/>
                    <a:gd name="connsiteY1" fmla="*/ 114300 h 209550"/>
                    <a:gd name="connsiteX2" fmla="*/ 200025 w 266700"/>
                    <a:gd name="connsiteY2" fmla="*/ 57150 h 209550"/>
                    <a:gd name="connsiteX3" fmla="*/ 266700 w 266700"/>
                    <a:gd name="connsiteY3" fmla="*/ 209550 h 20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209550">
                      <a:moveTo>
                        <a:pt x="0" y="0"/>
                      </a:moveTo>
                      <a:cubicBezTo>
                        <a:pt x="11906" y="52387"/>
                        <a:pt x="23813" y="104775"/>
                        <a:pt x="57150" y="114300"/>
                      </a:cubicBezTo>
                      <a:cubicBezTo>
                        <a:pt x="90488" y="123825"/>
                        <a:pt x="165100" y="41275"/>
                        <a:pt x="200025" y="57150"/>
                      </a:cubicBezTo>
                      <a:cubicBezTo>
                        <a:pt x="234950" y="73025"/>
                        <a:pt x="250825" y="141287"/>
                        <a:pt x="266700" y="209550"/>
                      </a:cubicBezTo>
                    </a:path>
                  </a:pathLst>
                </a:cu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FA9978DD-5A3C-6D8B-1BF8-2B3800B4FE7A}"/>
                  </a:ext>
                </a:extLst>
              </p:cNvPr>
              <p:cNvGrpSpPr/>
              <p:nvPr/>
            </p:nvGrpSpPr>
            <p:grpSpPr>
              <a:xfrm rot="3740995">
                <a:off x="4152843" y="4136122"/>
                <a:ext cx="458369" cy="399856"/>
                <a:chOff x="3690596" y="5264272"/>
                <a:chExt cx="458369" cy="399856"/>
              </a:xfrm>
            </p:grpSpPr>
            <p:sp>
              <p:nvSpPr>
                <p:cNvPr id="327" name="Flowchart: Delay 326">
                  <a:extLst>
                    <a:ext uri="{FF2B5EF4-FFF2-40B4-BE49-F238E27FC236}">
                      <a16:creationId xmlns:a16="http://schemas.microsoft.com/office/drawing/2014/main" id="{891D49DD-0E5B-BB90-6C59-CA70A864DF48}"/>
                    </a:ext>
                  </a:extLst>
                </p:cNvPr>
                <p:cNvSpPr/>
                <p:nvPr/>
              </p:nvSpPr>
              <p:spPr>
                <a:xfrm rot="1535992">
                  <a:off x="3690596" y="5264272"/>
                  <a:ext cx="184961" cy="320248"/>
                </a:xfrm>
                <a:prstGeom prst="flowChartDelay">
                  <a:avLst/>
                </a:prstGeom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46A08B4C-0D83-E2C5-F2D4-3208160956DB}"/>
                    </a:ext>
                  </a:extLst>
                </p:cNvPr>
                <p:cNvSpPr/>
                <p:nvPr/>
              </p:nvSpPr>
              <p:spPr>
                <a:xfrm rot="21406059">
                  <a:off x="3882265" y="5454578"/>
                  <a:ext cx="266700" cy="209550"/>
                </a:xfrm>
                <a:custGeom>
                  <a:avLst/>
                  <a:gdLst>
                    <a:gd name="connsiteX0" fmla="*/ 0 w 266700"/>
                    <a:gd name="connsiteY0" fmla="*/ 0 h 209550"/>
                    <a:gd name="connsiteX1" fmla="*/ 57150 w 266700"/>
                    <a:gd name="connsiteY1" fmla="*/ 114300 h 209550"/>
                    <a:gd name="connsiteX2" fmla="*/ 200025 w 266700"/>
                    <a:gd name="connsiteY2" fmla="*/ 57150 h 209550"/>
                    <a:gd name="connsiteX3" fmla="*/ 266700 w 266700"/>
                    <a:gd name="connsiteY3" fmla="*/ 209550 h 209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209550">
                      <a:moveTo>
                        <a:pt x="0" y="0"/>
                      </a:moveTo>
                      <a:cubicBezTo>
                        <a:pt x="11906" y="52387"/>
                        <a:pt x="23813" y="104775"/>
                        <a:pt x="57150" y="114300"/>
                      </a:cubicBezTo>
                      <a:cubicBezTo>
                        <a:pt x="90488" y="123825"/>
                        <a:pt x="165100" y="41275"/>
                        <a:pt x="200025" y="57150"/>
                      </a:cubicBezTo>
                      <a:cubicBezTo>
                        <a:pt x="234950" y="73025"/>
                        <a:pt x="250825" y="141287"/>
                        <a:pt x="266700" y="209550"/>
                      </a:cubicBezTo>
                    </a:path>
                  </a:pathLst>
                </a:cu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4E0D128D-8587-68F6-E5F5-266DB99508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6187" y="3248237"/>
                <a:ext cx="12055" cy="83046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8F67B5EB-DCA0-3A09-E72D-8E86D02786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35967" y="3764283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D776981E-83B7-B9DE-203F-B4FE32DC0A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6187" y="3783583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06DB8B46-E872-20D7-0664-9D88E715E3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9394" y="3774058"/>
                <a:ext cx="501927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3" name="Rectangle: Rounded Corners 322">
                <a:extLst>
                  <a:ext uri="{FF2B5EF4-FFF2-40B4-BE49-F238E27FC236}">
                    <a16:creationId xmlns:a16="http://schemas.microsoft.com/office/drawing/2014/main" id="{CA2CBF13-5D1F-B697-4182-F2027C10628B}"/>
                  </a:ext>
                </a:extLst>
              </p:cNvPr>
              <p:cNvSpPr/>
              <p:nvPr/>
            </p:nvSpPr>
            <p:spPr>
              <a:xfrm>
                <a:off x="5732193" y="3591452"/>
                <a:ext cx="405547" cy="337849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4" name="Rectangle: Rounded Corners 323">
                    <a:extLst>
                      <a:ext uri="{FF2B5EF4-FFF2-40B4-BE49-F238E27FC236}">
                        <a16:creationId xmlns:a16="http://schemas.microsoft.com/office/drawing/2014/main" id="{57D53E9E-9E6F-8A31-11EC-A6729C3093ED}"/>
                      </a:ext>
                    </a:extLst>
                  </p:cNvPr>
                  <p:cNvSpPr/>
                  <p:nvPr/>
                </p:nvSpPr>
                <p:spPr>
                  <a:xfrm>
                    <a:off x="4726725" y="3591453"/>
                    <a:ext cx="405547" cy="337849"/>
                  </a:xfrm>
                  <a:prstGeom prst="round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324" name="Rectangle: Rounded Corners 323">
                    <a:extLst>
                      <a:ext uri="{FF2B5EF4-FFF2-40B4-BE49-F238E27FC236}">
                        <a16:creationId xmlns:a16="http://schemas.microsoft.com/office/drawing/2014/main" id="{57D53E9E-9E6F-8A31-11EC-A6729C3093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725" y="3591453"/>
                    <a:ext cx="405547" cy="337849"/>
                  </a:xfrm>
                  <a:prstGeom prst="roundRect">
                    <a:avLst/>
                  </a:prstGeom>
                  <a:blipFill>
                    <a:blip r:embed="rId17"/>
                    <a:stretch>
                      <a:fillRect l="-17021" r="-4255" b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 useBgFill="1">
                <p:nvSpPr>
                  <p:cNvPr id="325" name="TextBox 324">
                    <a:extLst>
                      <a:ext uri="{FF2B5EF4-FFF2-40B4-BE49-F238E27FC236}">
                        <a16:creationId xmlns:a16="http://schemas.microsoft.com/office/drawing/2014/main" id="{38B49AA9-7A66-F8EA-4BCB-0C84D7624C8B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6346356" y="3588479"/>
                    <a:ext cx="335244" cy="390209"/>
                  </a:xfrm>
                  <a:prstGeom prst="rect">
                    <a:avLst/>
                  </a:prstGeom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 useBgFill="1">
                <p:nvSpPr>
                  <p:cNvPr id="806" name="TextBox 805">
                    <a:extLst>
                      <a:ext uri="{FF2B5EF4-FFF2-40B4-BE49-F238E27FC236}">
                        <a16:creationId xmlns:a16="http://schemas.microsoft.com/office/drawing/2014/main" id="{6A48C860-6B88-4333-179D-5026557CB7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6346356" y="3588479"/>
                    <a:ext cx="335244" cy="39020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6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 useBgFill="1">
                <p:nvSpPr>
                  <p:cNvPr id="326" name="TextBox 325">
                    <a:extLst>
                      <a:ext uri="{FF2B5EF4-FFF2-40B4-BE49-F238E27FC236}">
                        <a16:creationId xmlns:a16="http://schemas.microsoft.com/office/drawing/2014/main" id="{7526F14C-DE10-1753-C93C-54C625389F7A}"/>
                      </a:ext>
                    </a:extLst>
                  </p:cNvPr>
                  <p:cNvSpPr txBox="1"/>
                  <p:nvPr/>
                </p:nvSpPr>
                <p:spPr>
                  <a:xfrm>
                    <a:off x="4101980" y="3528300"/>
                    <a:ext cx="316733" cy="413162"/>
                  </a:xfrm>
                  <a:prstGeom prst="rect">
                    <a:avLst/>
                  </a:prstGeom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 useBgFill="1">
                <p:nvSpPr>
                  <p:cNvPr id="807" name="TextBox 806">
                    <a:extLst>
                      <a:ext uri="{FF2B5EF4-FFF2-40B4-BE49-F238E27FC236}">
                        <a16:creationId xmlns:a16="http://schemas.microsoft.com/office/drawing/2014/main" id="{616855BC-FAA1-10A2-7EBA-FF37D816F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1980" y="3528300"/>
                    <a:ext cx="316733" cy="41316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4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A9A84FE-B328-FB7A-C77A-60992786D03C}"/>
                </a:ext>
              </a:extLst>
            </p:cNvPr>
            <p:cNvGrpSpPr/>
            <p:nvPr/>
          </p:nvGrpSpPr>
          <p:grpSpPr>
            <a:xfrm>
              <a:off x="3021014" y="1120207"/>
              <a:ext cx="1926511" cy="1352168"/>
              <a:chOff x="5160089" y="2076832"/>
              <a:chExt cx="2868735" cy="195201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68465051-842E-70E9-813F-7E858CBEBD93}"/>
                  </a:ext>
                </a:extLst>
              </p:cNvPr>
              <p:cNvGrpSpPr/>
              <p:nvPr/>
            </p:nvGrpSpPr>
            <p:grpSpPr>
              <a:xfrm flipH="1">
                <a:off x="7243145" y="3338349"/>
                <a:ext cx="785679" cy="690497"/>
                <a:chOff x="2098274" y="1374606"/>
                <a:chExt cx="1690182" cy="1652414"/>
              </a:xfrm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422AA4B2-DAEF-32CF-E5CC-50EABE743041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151" name="Flowchart: Delay 150">
                    <a:extLst>
                      <a:ext uri="{FF2B5EF4-FFF2-40B4-BE49-F238E27FC236}">
                        <a16:creationId xmlns:a16="http://schemas.microsoft.com/office/drawing/2014/main" id="{3CE21459-8586-F459-1306-3C83088A54D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B9BC6CF-129E-5071-72CA-1ABE4FFD0634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9" name="Rectangle 178">
                    <a:extLst>
                      <a:ext uri="{FF2B5EF4-FFF2-40B4-BE49-F238E27FC236}">
                        <a16:creationId xmlns:a16="http://schemas.microsoft.com/office/drawing/2014/main" id="{23227BF6-915E-0E48-864A-DED3D5EAFFC2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" name="Arc 179">
                    <a:extLst>
                      <a:ext uri="{FF2B5EF4-FFF2-40B4-BE49-F238E27FC236}">
                        <a16:creationId xmlns:a16="http://schemas.microsoft.com/office/drawing/2014/main" id="{19AA63D1-D96C-FBE7-52B9-6AFD7F32B33D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175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C8D633A7-4441-F916-679D-72D6869BF575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F938E42C-9787-9348-CD8F-FEC70365C4D4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E9659637-60E9-3954-EBD4-8202073E5C4E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C8369A35-EF0C-7F11-C7DF-B7E897DAE8E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BBE954DE-C23F-9E5A-DA2A-73947D591CBE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28" name="Graphic 127" descr="Solar system with solid fill">
                <a:extLst>
                  <a:ext uri="{FF2B5EF4-FFF2-40B4-BE49-F238E27FC236}">
                    <a16:creationId xmlns:a16="http://schemas.microsoft.com/office/drawing/2014/main" id="{C5E5BBD5-04C4-FA48-84BA-687CA76755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1949361">
                <a:off x="6270677" y="2076832"/>
                <a:ext cx="917821" cy="917821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46E2AFB6-ECA1-3278-0639-E18A08CB74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29055" y="2787089"/>
                <a:ext cx="518414" cy="488776"/>
              </a:xfrm>
              <a:prstGeom prst="straightConnector1">
                <a:avLst/>
              </a:prstGeom>
              <a:ln w="19050">
                <a:solidFill>
                  <a:schemeClr val="dk1"/>
                </a:solidFill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0AF93011-1A00-35DF-86A8-D46E57D27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49335" y="2819729"/>
                <a:ext cx="441289" cy="486782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6BBFEDC2-90FE-D326-C5D5-472B81C11B88}"/>
                  </a:ext>
                </a:extLst>
              </p:cNvPr>
              <p:cNvGrpSpPr/>
              <p:nvPr/>
            </p:nvGrpSpPr>
            <p:grpSpPr>
              <a:xfrm>
                <a:off x="5160089" y="3316926"/>
                <a:ext cx="771789" cy="690497"/>
                <a:chOff x="2098274" y="1374606"/>
                <a:chExt cx="1690182" cy="1652414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6611AA2E-1DDD-A87A-3546-DF8FB95178A5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134" name="Flowchart: Delay 133">
                    <a:extLst>
                      <a:ext uri="{FF2B5EF4-FFF2-40B4-BE49-F238E27FC236}">
                        <a16:creationId xmlns:a16="http://schemas.microsoft.com/office/drawing/2014/main" id="{75EB1171-2800-91FB-7D89-9605B452980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5" name="Rectangle 134">
                    <a:extLst>
                      <a:ext uri="{FF2B5EF4-FFF2-40B4-BE49-F238E27FC236}">
                        <a16:creationId xmlns:a16="http://schemas.microsoft.com/office/drawing/2014/main" id="{88E8AB1B-0FFA-466A-9403-FC2AD2E45779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6" name="Rectangle 135">
                    <a:extLst>
                      <a:ext uri="{FF2B5EF4-FFF2-40B4-BE49-F238E27FC236}">
                        <a16:creationId xmlns:a16="http://schemas.microsoft.com/office/drawing/2014/main" id="{E8848CF3-82C5-988E-8611-59DEAF2A28EF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Arc 136">
                    <a:extLst>
                      <a:ext uri="{FF2B5EF4-FFF2-40B4-BE49-F238E27FC236}">
                        <a16:creationId xmlns:a16="http://schemas.microsoft.com/office/drawing/2014/main" id="{7AEB2D4F-0C7F-BF01-FFE7-C3DD177FC574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175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06EFA521-88FD-F1A5-B776-37597577BED8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86BF1820-17C6-34E2-8A11-13AE7569B894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448E513C-A137-53E8-4DEA-D1EF79B5BBBF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AFC1F4D6-972C-38E5-BDD7-8048C91245E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17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9218A40-CAD3-B810-F5D7-B39CFB66AB3C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7BE8A00C-6D01-7FDF-F4E4-90DBD4851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032" y="2555167"/>
              <a:ext cx="104445" cy="203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B2549A2-BD9A-F920-6062-20FFEFAD231E}"/>
                </a:ext>
              </a:extLst>
            </p:cNvPr>
            <p:cNvSpPr txBox="1"/>
            <p:nvPr/>
          </p:nvSpPr>
          <p:spPr>
            <a:xfrm>
              <a:off x="3465901" y="2153993"/>
              <a:ext cx="1098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Weak coherent state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B303E58-A2FF-A50D-CBB4-773174647CA9}"/>
                    </a:ext>
                  </a:extLst>
                </p:cNvPr>
                <p:cNvSpPr txBox="1"/>
                <p:nvPr/>
              </p:nvSpPr>
              <p:spPr>
                <a:xfrm>
                  <a:off x="4020868" y="2787022"/>
                  <a:ext cx="59778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𝛼</m:t>
                        </m:r>
                        <m: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⟩</m:t>
                        </m:r>
                      </m:oMath>
                    </m:oMathPara>
                  </a14:m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B303E58-A2FF-A50D-CBB4-773174647C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868" y="2787022"/>
                  <a:ext cx="59778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1" name="TextBox 330">
            <a:extLst>
              <a:ext uri="{FF2B5EF4-FFF2-40B4-BE49-F238E27FC236}">
                <a16:creationId xmlns:a16="http://schemas.microsoft.com/office/drawing/2014/main" id="{169DE39C-6DBC-2410-0207-240682DCC589}"/>
              </a:ext>
            </a:extLst>
          </p:cNvPr>
          <p:cNvSpPr txBox="1"/>
          <p:nvPr/>
        </p:nvSpPr>
        <p:spPr>
          <a:xfrm>
            <a:off x="772527" y="3248954"/>
            <a:ext cx="2439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Weak Coherent state 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085515FA-ECE7-3C05-EA30-59B5C6D2C6C4}"/>
                  </a:ext>
                </a:extLst>
              </p:cNvPr>
              <p:cNvSpPr/>
              <p:nvPr/>
            </p:nvSpPr>
            <p:spPr>
              <a:xfrm>
                <a:off x="3211657" y="2130852"/>
                <a:ext cx="2517216" cy="590986"/>
              </a:xfrm>
              <a:prstGeom prst="rect">
                <a:avLst/>
              </a:prstGeom>
              <a:solidFill>
                <a:schemeClr val="bg1"/>
              </a:solidFill>
              <a:ln w="19050"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085515FA-ECE7-3C05-EA30-59B5C6D2C6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657" y="2130852"/>
                <a:ext cx="2517216" cy="59098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AutoShape 2">
            <a:extLst>
              <a:ext uri="{FF2B5EF4-FFF2-40B4-BE49-F238E27FC236}">
                <a16:creationId xmlns:a16="http://schemas.microsoft.com/office/drawing/2014/main" id="{1486CD53-494C-2633-E76E-09A3EAB296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5" name="Picture 334" descr="A picture containing text, diagram, electronic engineering, circuit&#10;&#10;Description automatically generated">
            <a:extLst>
              <a:ext uri="{FF2B5EF4-FFF2-40B4-BE49-F238E27FC236}">
                <a16:creationId xmlns:a16="http://schemas.microsoft.com/office/drawing/2014/main" id="{A342FA83-F459-4F4D-4890-5B59D9A0F99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96" y="3703611"/>
            <a:ext cx="5568337" cy="31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3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4" grpId="0" animBg="1"/>
      <p:bldP spid="1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Source simulation and closure phase reconstruction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B5E9BAA-F684-6537-D6A2-E166BFA497F2}"/>
              </a:ext>
            </a:extLst>
          </p:cNvPr>
          <p:cNvGrpSpPr/>
          <p:nvPr/>
        </p:nvGrpSpPr>
        <p:grpSpPr>
          <a:xfrm>
            <a:off x="8418085" y="964021"/>
            <a:ext cx="2207772" cy="2104597"/>
            <a:chOff x="8890008" y="1003055"/>
            <a:chExt cx="2887476" cy="2370720"/>
          </a:xfrm>
        </p:grpSpPr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94FC38E7-A8C9-D159-DF40-F658FEF82149}"/>
                </a:ext>
              </a:extLst>
            </p:cNvPr>
            <p:cNvCxnSpPr/>
            <p:nvPr/>
          </p:nvCxnSpPr>
          <p:spPr>
            <a:xfrm>
              <a:off x="9560251" y="3024781"/>
              <a:ext cx="15466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2D51E818-4FDC-7277-C098-1BEC41F94DEB}"/>
                </a:ext>
              </a:extLst>
            </p:cNvPr>
            <p:cNvCxnSpPr/>
            <p:nvPr/>
          </p:nvCxnSpPr>
          <p:spPr>
            <a:xfrm>
              <a:off x="10459507" y="1292866"/>
              <a:ext cx="43138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469AED31-C666-DDA3-6C61-616940484866}"/>
                    </a:ext>
                  </a:extLst>
                </p:cNvPr>
                <p:cNvSpPr txBox="1"/>
                <p:nvPr/>
              </p:nvSpPr>
              <p:spPr>
                <a:xfrm>
                  <a:off x="9897128" y="1003055"/>
                  <a:ext cx="1880356" cy="2946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100" dirty="0">
                      <a:solidFill>
                        <a:srgbClr val="FF0000"/>
                      </a:solidFill>
                    </a:rPr>
                    <a:t>Source coordinates 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1100" dirty="0">
                      <a:solidFill>
                        <a:srgbClr val="FF00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469AED31-C666-DDA3-6C61-616940484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7128" y="1003055"/>
                  <a:ext cx="1880356" cy="294690"/>
                </a:xfrm>
                <a:prstGeom prst="rect">
                  <a:avLst/>
                </a:prstGeom>
                <a:blipFill>
                  <a:blip r:embed="rId5"/>
                  <a:stretch>
                    <a:fillRect t="-2326" r="-7627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82B4133D-5D62-5B12-AA6C-505DABDA9758}"/>
                </a:ext>
              </a:extLst>
            </p:cNvPr>
            <p:cNvGrpSpPr/>
            <p:nvPr/>
          </p:nvGrpSpPr>
          <p:grpSpPr>
            <a:xfrm flipH="1">
              <a:off x="10973064" y="2405353"/>
              <a:ext cx="785679" cy="690497"/>
              <a:chOff x="2098274" y="1374606"/>
              <a:chExt cx="1690182" cy="1652414"/>
            </a:xfrm>
          </p:grpSpPr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104483E9-3C12-08B4-2A99-AF41439B6169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45" name="Flowchart: Delay 344">
                  <a:extLst>
                    <a:ext uri="{FF2B5EF4-FFF2-40B4-BE49-F238E27FC236}">
                      <a16:creationId xmlns:a16="http://schemas.microsoft.com/office/drawing/2014/main" id="{E4D462DE-566E-12E5-627C-9674D7119477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3BD141AF-BD45-635C-CC5F-D6D6C849A7DA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EE3EE0EC-1648-36D3-9837-7B2395F36A80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8" name="Arc 347">
                  <a:extLst>
                    <a:ext uri="{FF2B5EF4-FFF2-40B4-BE49-F238E27FC236}">
                      <a16:creationId xmlns:a16="http://schemas.microsoft.com/office/drawing/2014/main" id="{CB1F33EC-1C06-264E-69E0-69777F225A9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508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9" name="Rectangle 348">
                  <a:extLst>
                    <a:ext uri="{FF2B5EF4-FFF2-40B4-BE49-F238E27FC236}">
                      <a16:creationId xmlns:a16="http://schemas.microsoft.com/office/drawing/2014/main" id="{D78662C0-3D6C-D125-500B-4DE733C0B511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0" name="Rectangle 349">
                  <a:extLst>
                    <a:ext uri="{FF2B5EF4-FFF2-40B4-BE49-F238E27FC236}">
                      <a16:creationId xmlns:a16="http://schemas.microsoft.com/office/drawing/2014/main" id="{7A1AC123-5B33-4F6D-B3CE-EC97DD20D06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45D92D5E-79B0-82CC-E6F2-05C268F1C95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2" name="Rectangle 351">
                  <a:extLst>
                    <a:ext uri="{FF2B5EF4-FFF2-40B4-BE49-F238E27FC236}">
                      <a16:creationId xmlns:a16="http://schemas.microsoft.com/office/drawing/2014/main" id="{70518A14-98F3-71CE-3047-33919ACC5052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6B5EF21C-7BC2-82A7-556D-612AA48C9773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53" name="Graphic 352" descr="Solar system with solid fill">
              <a:extLst>
                <a:ext uri="{FF2B5EF4-FFF2-40B4-BE49-F238E27FC236}">
                  <a16:creationId xmlns:a16="http://schemas.microsoft.com/office/drawing/2014/main" id="{AD561179-F49B-0A70-2910-4237A5AE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49361">
              <a:off x="10000596" y="1143836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ED244DF7-DC29-BCFA-3FF6-8FBCD14F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8974" y="1854093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E098D598-5F5F-CC6A-D4D3-D0F8F41991D6}"/>
                </a:ext>
              </a:extLst>
            </p:cNvPr>
            <p:cNvCxnSpPr>
              <a:cxnSpLocks/>
            </p:cNvCxnSpPr>
            <p:nvPr/>
          </p:nvCxnSpPr>
          <p:spPr>
            <a:xfrm>
              <a:off x="10579254" y="1886733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A151553B-481F-9383-6BAC-9803D91A7AFF}"/>
                </a:ext>
              </a:extLst>
            </p:cNvPr>
            <p:cNvGrpSpPr/>
            <p:nvPr/>
          </p:nvGrpSpPr>
          <p:grpSpPr>
            <a:xfrm>
              <a:off x="8890008" y="2383930"/>
              <a:ext cx="771789" cy="690497"/>
              <a:chOff x="2098274" y="1374606"/>
              <a:chExt cx="1690182" cy="1652414"/>
            </a:xfrm>
          </p:grpSpPr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3B6F1C2F-CEE1-1A71-E0D2-E75405D2F5E5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59" name="Flowchart: Delay 358">
                  <a:extLst>
                    <a:ext uri="{FF2B5EF4-FFF2-40B4-BE49-F238E27FC236}">
                      <a16:creationId xmlns:a16="http://schemas.microsoft.com/office/drawing/2014/main" id="{BEE2B4C6-9C49-ED1F-D90E-B68C73291518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AB68EB04-4799-0ABF-A87F-8D483B97A7BF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E94CBE39-DB31-6F44-4B59-8CF057FC831F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2" name="Arc 361">
                  <a:extLst>
                    <a:ext uri="{FF2B5EF4-FFF2-40B4-BE49-F238E27FC236}">
                      <a16:creationId xmlns:a16="http://schemas.microsoft.com/office/drawing/2014/main" id="{ED871D97-4ABB-1E8B-EB3F-0D067DC1EA6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508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E6E49512-5BA3-DDBA-55CD-BFE3A38BB72C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535B0C29-10B9-CDF9-9C8C-16BD3268DAD0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B68A8D1A-837E-9164-D769-134D3A94A50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96512F41-7F7B-1411-932F-749F44ADE65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508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43C2CDC2-015E-CF56-69CD-BD1753CC89E0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926AB2BE-FBDF-3B21-1394-6518E04CF8C7}"/>
                    </a:ext>
                  </a:extLst>
                </p:cNvPr>
                <p:cNvSpPr txBox="1"/>
                <p:nvPr/>
              </p:nvSpPr>
              <p:spPr>
                <a:xfrm>
                  <a:off x="9897128" y="3074183"/>
                  <a:ext cx="1270942" cy="2995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100" dirty="0">
                      <a:solidFill>
                        <a:srgbClr val="0070C0"/>
                      </a:solidFill>
                    </a:rPr>
                    <a:t>baseline</a:t>
                  </a:r>
                  <a:r>
                    <a:rPr lang="en-US" sz="1100" dirty="0"/>
                    <a:t> 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926AB2BE-FBDF-3B21-1394-6518E04CF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7128" y="3074183"/>
                  <a:ext cx="1270942" cy="299592"/>
                </a:xfrm>
                <a:prstGeom prst="rect">
                  <a:avLst/>
                </a:prstGeom>
                <a:blipFill>
                  <a:blip r:embed="rId8"/>
                  <a:stretch>
                    <a:fillRect t="-4651" b="-25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E51A698-2302-ACB3-A857-4596061679B3}"/>
              </a:ext>
            </a:extLst>
          </p:cNvPr>
          <p:cNvSpPr/>
          <p:nvPr/>
        </p:nvSpPr>
        <p:spPr>
          <a:xfrm>
            <a:off x="9146143" y="1778579"/>
            <a:ext cx="179546" cy="232369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71C79E9C-5CFF-946C-8CA7-221EBF49FBB9}"/>
                  </a:ext>
                </a:extLst>
              </p:cNvPr>
              <p:cNvSpPr txBox="1"/>
              <p:nvPr/>
            </p:nvSpPr>
            <p:spPr>
              <a:xfrm>
                <a:off x="9081956" y="1744715"/>
                <a:ext cx="220811" cy="304799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71C79E9C-5CFF-946C-8CA7-221EBF49F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956" y="1744715"/>
                <a:ext cx="220811" cy="3047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Rectangle 372">
            <a:extLst>
              <a:ext uri="{FF2B5EF4-FFF2-40B4-BE49-F238E27FC236}">
                <a16:creationId xmlns:a16="http://schemas.microsoft.com/office/drawing/2014/main" id="{66B42D52-41B2-0CFD-D294-42AE609E31FD}"/>
              </a:ext>
            </a:extLst>
          </p:cNvPr>
          <p:cNvSpPr/>
          <p:nvPr/>
        </p:nvSpPr>
        <p:spPr>
          <a:xfrm>
            <a:off x="9765165" y="1778037"/>
            <a:ext cx="179546" cy="232369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0F663E6A-1597-5487-8A61-C7BB6AEC714D}"/>
                  </a:ext>
                </a:extLst>
              </p:cNvPr>
              <p:cNvSpPr txBox="1"/>
              <p:nvPr/>
            </p:nvSpPr>
            <p:spPr>
              <a:xfrm>
                <a:off x="9700978" y="1744173"/>
                <a:ext cx="220811" cy="261610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0F663E6A-1597-5487-8A61-C7BB6AEC7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978" y="1744173"/>
                <a:ext cx="220811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7BFA1CC3-DAAF-B35C-54B1-AEC2C4F0B28A}"/>
              </a:ext>
            </a:extLst>
          </p:cNvPr>
          <p:cNvGrpSpPr/>
          <p:nvPr/>
        </p:nvGrpSpPr>
        <p:grpSpPr>
          <a:xfrm>
            <a:off x="8370583" y="3699791"/>
            <a:ext cx="2353410" cy="2637473"/>
            <a:chOff x="9481036" y="1064089"/>
            <a:chExt cx="2012332" cy="2263754"/>
          </a:xfrm>
        </p:grpSpPr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F36E2487-01EA-FD6E-824F-512AD31225BC}"/>
                </a:ext>
              </a:extLst>
            </p:cNvPr>
            <p:cNvGrpSpPr/>
            <p:nvPr/>
          </p:nvGrpSpPr>
          <p:grpSpPr>
            <a:xfrm flipH="1">
              <a:off x="10965742" y="1921297"/>
              <a:ext cx="527626" cy="478310"/>
              <a:chOff x="2098274" y="1374606"/>
              <a:chExt cx="1690182" cy="1652414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8EF3AC5F-4D43-D612-D639-87F134B0060E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418" name="Flowchart: Delay 417">
                  <a:extLst>
                    <a:ext uri="{FF2B5EF4-FFF2-40B4-BE49-F238E27FC236}">
                      <a16:creationId xmlns:a16="http://schemas.microsoft.com/office/drawing/2014/main" id="{5A039DF2-4863-7FFE-7DE6-BF11873CBB25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9" name="Rectangle 418">
                  <a:extLst>
                    <a:ext uri="{FF2B5EF4-FFF2-40B4-BE49-F238E27FC236}">
                      <a16:creationId xmlns:a16="http://schemas.microsoft.com/office/drawing/2014/main" id="{FE12848A-E18C-2AEE-6DA6-41871231C3F8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Rectangle 419">
                  <a:extLst>
                    <a:ext uri="{FF2B5EF4-FFF2-40B4-BE49-F238E27FC236}">
                      <a16:creationId xmlns:a16="http://schemas.microsoft.com/office/drawing/2014/main" id="{62A72F4E-3D43-92B4-F7E2-C3D38B346465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1" name="Arc 420">
                  <a:extLst>
                    <a:ext uri="{FF2B5EF4-FFF2-40B4-BE49-F238E27FC236}">
                      <a16:creationId xmlns:a16="http://schemas.microsoft.com/office/drawing/2014/main" id="{FD64B80A-B2CB-F2A4-051D-170CEA9AD71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Rectangle 421">
                  <a:extLst>
                    <a:ext uri="{FF2B5EF4-FFF2-40B4-BE49-F238E27FC236}">
                      <a16:creationId xmlns:a16="http://schemas.microsoft.com/office/drawing/2014/main" id="{A8CB1EEB-8B3A-86B4-20F4-AE3D8DE4981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3" name="Rectangle 422">
                  <a:extLst>
                    <a:ext uri="{FF2B5EF4-FFF2-40B4-BE49-F238E27FC236}">
                      <a16:creationId xmlns:a16="http://schemas.microsoft.com/office/drawing/2014/main" id="{30F9528E-D25C-82B1-4A8F-C724FAD90A1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4" name="Rectangle 423">
                  <a:extLst>
                    <a:ext uri="{FF2B5EF4-FFF2-40B4-BE49-F238E27FC236}">
                      <a16:creationId xmlns:a16="http://schemas.microsoft.com/office/drawing/2014/main" id="{C74A2C97-0923-2DD5-E7EA-D03C3A81FFFC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D67B0E9F-CADF-A1FA-B0BF-8594F8B7CF5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E68DCEF3-BCBC-576B-94AA-33FB8EB28868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78" name="Graphic 377" descr="Solar system with solid fill">
              <a:extLst>
                <a:ext uri="{FF2B5EF4-FFF2-40B4-BE49-F238E27FC236}">
                  <a16:creationId xmlns:a16="http://schemas.microsoft.com/office/drawing/2014/main" id="{5F575B97-24CB-323E-ED1F-B01DED9DA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49361">
              <a:off x="10199783" y="1064089"/>
              <a:ext cx="616367" cy="63577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C10D0205-C566-BAC1-0EB6-9DF3FA381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438" y="1555133"/>
              <a:ext cx="348143" cy="338577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4214D9ED-C525-92D2-1297-3DCA5763B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615456" y="1577743"/>
              <a:ext cx="296349" cy="337196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4BC4B4D4-9A7A-5A69-4083-3524BE43376A}"/>
                </a:ext>
              </a:extLst>
            </p:cNvPr>
            <p:cNvGrpSpPr/>
            <p:nvPr/>
          </p:nvGrpSpPr>
          <p:grpSpPr>
            <a:xfrm>
              <a:off x="9481036" y="1922153"/>
              <a:ext cx="518298" cy="478310"/>
              <a:chOff x="2098274" y="1374606"/>
              <a:chExt cx="1690182" cy="1652414"/>
            </a:xfrm>
          </p:grpSpPr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52F334D5-498F-131A-2BDA-7EF6B7554306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408" name="Flowchart: Delay 407">
                  <a:extLst>
                    <a:ext uri="{FF2B5EF4-FFF2-40B4-BE49-F238E27FC236}">
                      <a16:creationId xmlns:a16="http://schemas.microsoft.com/office/drawing/2014/main" id="{B856C5B9-E73A-307A-B521-B85D7E57DF46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9" name="Rectangle 408">
                  <a:extLst>
                    <a:ext uri="{FF2B5EF4-FFF2-40B4-BE49-F238E27FC236}">
                      <a16:creationId xmlns:a16="http://schemas.microsoft.com/office/drawing/2014/main" id="{3BA6575C-F3E6-AE39-8A96-3050F1F2CC4E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0" name="Rectangle 409">
                  <a:extLst>
                    <a:ext uri="{FF2B5EF4-FFF2-40B4-BE49-F238E27FC236}">
                      <a16:creationId xmlns:a16="http://schemas.microsoft.com/office/drawing/2014/main" id="{923745AB-25CA-7D60-0F85-957F31BC0BE6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1" name="Arc 410">
                  <a:extLst>
                    <a:ext uri="{FF2B5EF4-FFF2-40B4-BE49-F238E27FC236}">
                      <a16:creationId xmlns:a16="http://schemas.microsoft.com/office/drawing/2014/main" id="{0932376B-7C53-4DB4-D070-4506DCA4BDED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59BAAAFF-EF6F-BF78-42C7-ABE98F7979D2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3" name="Rectangle 412">
                  <a:extLst>
                    <a:ext uri="{FF2B5EF4-FFF2-40B4-BE49-F238E27FC236}">
                      <a16:creationId xmlns:a16="http://schemas.microsoft.com/office/drawing/2014/main" id="{AC404673-52A3-B52A-057E-8CBD9CFD76E2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Rectangle 413">
                  <a:extLst>
                    <a:ext uri="{FF2B5EF4-FFF2-40B4-BE49-F238E27FC236}">
                      <a16:creationId xmlns:a16="http://schemas.microsoft.com/office/drawing/2014/main" id="{1328EF3D-16DF-50AE-8E4F-D560A7D31B6B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5" name="Rectangle 414">
                  <a:extLst>
                    <a:ext uri="{FF2B5EF4-FFF2-40B4-BE49-F238E27FC236}">
                      <a16:creationId xmlns:a16="http://schemas.microsoft.com/office/drawing/2014/main" id="{205A7804-EA75-1468-CB07-B3B0D3551C91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7200C7A2-21C1-9398-ED56-E777647EFB15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72411602-F7AF-D618-F870-384A741A5FAF}"/>
                </a:ext>
              </a:extLst>
            </p:cNvPr>
            <p:cNvGrpSpPr/>
            <p:nvPr/>
          </p:nvGrpSpPr>
          <p:grpSpPr>
            <a:xfrm>
              <a:off x="10286016" y="2849533"/>
              <a:ext cx="518298" cy="478310"/>
              <a:chOff x="2098274" y="1374606"/>
              <a:chExt cx="1690182" cy="1652414"/>
            </a:xfrm>
          </p:grpSpPr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7E2B97BB-B982-F8D4-269E-9167C41F41A7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98" name="Flowchart: Delay 397">
                  <a:extLst>
                    <a:ext uri="{FF2B5EF4-FFF2-40B4-BE49-F238E27FC236}">
                      <a16:creationId xmlns:a16="http://schemas.microsoft.com/office/drawing/2014/main" id="{788C4ADE-C95B-02EB-2F8B-711C44816CD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C76A5E7F-8E1A-CCD9-FBAD-CD7E73470486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F0672286-5C71-3C9E-B347-3F52636D6FB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1" name="Arc 400">
                  <a:extLst>
                    <a:ext uri="{FF2B5EF4-FFF2-40B4-BE49-F238E27FC236}">
                      <a16:creationId xmlns:a16="http://schemas.microsoft.com/office/drawing/2014/main" id="{81389629-E13B-C3CE-FA45-911AEB49063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AD2FA806-EDB8-D029-52DA-E6911064F7D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75438688-EAA9-0334-2201-BE051965F645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4" name="Rectangle 403">
                  <a:extLst>
                    <a:ext uri="{FF2B5EF4-FFF2-40B4-BE49-F238E27FC236}">
                      <a16:creationId xmlns:a16="http://schemas.microsoft.com/office/drawing/2014/main" id="{BB0662C8-A5FC-A287-2660-50F2AC10AC81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E5214CBB-918C-3169-852B-35461AF22F6B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976F5F67-67B1-DC84-D665-83F098B1FB35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F1B1EBF4-9792-B3BF-520C-9847DA7EAE59}"/>
                </a:ext>
              </a:extLst>
            </p:cNvPr>
            <p:cNvCxnSpPr>
              <a:cxnSpLocks/>
            </p:cNvCxnSpPr>
            <p:nvPr/>
          </p:nvCxnSpPr>
          <p:spPr>
            <a:xfrm>
              <a:off x="10467281" y="1686300"/>
              <a:ext cx="15181" cy="957737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992584E2-EA0A-2143-32C8-9CEE42F30F91}"/>
                </a:ext>
              </a:extLst>
            </p:cNvPr>
            <p:cNvCxnSpPr>
              <a:cxnSpLocks/>
            </p:cNvCxnSpPr>
            <p:nvPr/>
          </p:nvCxnSpPr>
          <p:spPr>
            <a:xfrm>
              <a:off x="9874496" y="2318336"/>
              <a:ext cx="1182116" cy="1064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5" name="TextBox 384">
                  <a:extLst>
                    <a:ext uri="{FF2B5EF4-FFF2-40B4-BE49-F238E27FC236}">
                      <a16:creationId xmlns:a16="http://schemas.microsoft.com/office/drawing/2014/main" id="{E950F172-00FC-C39E-EC95-C5D3CEF73961}"/>
                    </a:ext>
                  </a:extLst>
                </p:cNvPr>
                <p:cNvSpPr txBox="1"/>
                <p:nvPr/>
              </p:nvSpPr>
              <p:spPr>
                <a:xfrm>
                  <a:off x="10041679" y="2301754"/>
                  <a:ext cx="1136905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100" b="0" dirty="0">
                      <a:solidFill>
                        <a:srgbClr val="0070C0"/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385" name="TextBox 384">
                  <a:extLst>
                    <a:ext uri="{FF2B5EF4-FFF2-40B4-BE49-F238E27FC236}">
                      <a16:creationId xmlns:a16="http://schemas.microsoft.com/office/drawing/2014/main" id="{E950F172-00FC-C39E-EC95-C5D3CEF73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1679" y="2301754"/>
                  <a:ext cx="1136905" cy="286682"/>
                </a:xfrm>
                <a:prstGeom prst="rect">
                  <a:avLst/>
                </a:prstGeom>
                <a:blipFill>
                  <a:blip r:embed="rId11"/>
                  <a:stretch>
                    <a:fillRect t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TextBox 385">
                  <a:extLst>
                    <a:ext uri="{FF2B5EF4-FFF2-40B4-BE49-F238E27FC236}">
                      <a16:creationId xmlns:a16="http://schemas.microsoft.com/office/drawing/2014/main" id="{1C960DA9-A53B-DCB1-1F86-30D3490A744E}"/>
                    </a:ext>
                  </a:extLst>
                </p:cNvPr>
                <p:cNvSpPr txBox="1"/>
                <p:nvPr/>
              </p:nvSpPr>
              <p:spPr>
                <a:xfrm>
                  <a:off x="9622421" y="2734484"/>
                  <a:ext cx="389823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386" name="TextBox 385">
                  <a:extLst>
                    <a:ext uri="{FF2B5EF4-FFF2-40B4-BE49-F238E27FC236}">
                      <a16:creationId xmlns:a16="http://schemas.microsoft.com/office/drawing/2014/main" id="{1C960DA9-A53B-DCB1-1F86-30D3490A7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421" y="2734484"/>
                  <a:ext cx="389823" cy="286682"/>
                </a:xfrm>
                <a:prstGeom prst="rect">
                  <a:avLst/>
                </a:prstGeom>
                <a:blipFill>
                  <a:blip r:embed="rId12"/>
                  <a:stretch>
                    <a:fillRect t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TextBox 386">
                  <a:extLst>
                    <a:ext uri="{FF2B5EF4-FFF2-40B4-BE49-F238E27FC236}">
                      <a16:creationId xmlns:a16="http://schemas.microsoft.com/office/drawing/2014/main" id="{959FFC0C-AE93-D5AE-7E5D-8129E1750B19}"/>
                    </a:ext>
                  </a:extLst>
                </p:cNvPr>
                <p:cNvSpPr txBox="1"/>
                <p:nvPr/>
              </p:nvSpPr>
              <p:spPr>
                <a:xfrm>
                  <a:off x="11040506" y="2776006"/>
                  <a:ext cx="389823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387" name="TextBox 386">
                  <a:extLst>
                    <a:ext uri="{FF2B5EF4-FFF2-40B4-BE49-F238E27FC236}">
                      <a16:creationId xmlns:a16="http://schemas.microsoft.com/office/drawing/2014/main" id="{959FFC0C-AE93-D5AE-7E5D-8129E1750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0506" y="2776006"/>
                  <a:ext cx="389823" cy="286682"/>
                </a:xfrm>
                <a:prstGeom prst="rect">
                  <a:avLst/>
                </a:prstGeom>
                <a:blipFill>
                  <a:blip r:embed="rId13"/>
                  <a:stretch>
                    <a:fillRect t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22AD4AC7-A1B2-A5AB-D14E-C97A000C6B4D}"/>
                </a:ext>
              </a:extLst>
            </p:cNvPr>
            <p:cNvCxnSpPr>
              <a:cxnSpLocks/>
            </p:cNvCxnSpPr>
            <p:nvPr/>
          </p:nvCxnSpPr>
          <p:spPr>
            <a:xfrm>
              <a:off x="9736478" y="2576003"/>
              <a:ext cx="435031" cy="42852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F1DB0EB4-0BEE-7C6F-DA6B-C28004AEAD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093" y="2563638"/>
              <a:ext cx="430168" cy="4352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E376A4B9-3199-EB7C-D77F-010B52BEB0F9}"/>
                </a:ext>
              </a:extLst>
            </p:cNvPr>
            <p:cNvSpPr/>
            <p:nvPr/>
          </p:nvSpPr>
          <p:spPr>
            <a:xfrm>
              <a:off x="10373626" y="2004937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3FECB5F9-7945-31BE-5393-65854B521440}"/>
                    </a:ext>
                  </a:extLst>
                </p:cNvPr>
                <p:cNvSpPr txBox="1"/>
                <p:nvPr/>
              </p:nvSpPr>
              <p:spPr>
                <a:xfrm>
                  <a:off x="10321047" y="2001065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3FECB5F9-7945-31BE-5393-65854B521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047" y="2001065"/>
                  <a:ext cx="188809" cy="2616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3E44C98B-561D-943F-20DA-D13AF909774C}"/>
                </a:ext>
              </a:extLst>
            </p:cNvPr>
            <p:cNvSpPr/>
            <p:nvPr/>
          </p:nvSpPr>
          <p:spPr>
            <a:xfrm>
              <a:off x="10087082" y="1568496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TextBox 392">
                  <a:extLst>
                    <a:ext uri="{FF2B5EF4-FFF2-40B4-BE49-F238E27FC236}">
                      <a16:creationId xmlns:a16="http://schemas.microsoft.com/office/drawing/2014/main" id="{F81CD17C-D328-689D-39BD-0AC15B5DF470}"/>
                    </a:ext>
                  </a:extLst>
                </p:cNvPr>
                <p:cNvSpPr txBox="1"/>
                <p:nvPr/>
              </p:nvSpPr>
              <p:spPr>
                <a:xfrm>
                  <a:off x="10041679" y="1558767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93" name="TextBox 392">
                  <a:extLst>
                    <a:ext uri="{FF2B5EF4-FFF2-40B4-BE49-F238E27FC236}">
                      <a16:creationId xmlns:a16="http://schemas.microsoft.com/office/drawing/2014/main" id="{F81CD17C-D328-689D-39BD-0AC15B5DF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1679" y="1558767"/>
                  <a:ext cx="188809" cy="2616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9605ADE7-BAEF-A0B4-E03A-0F75DCEAACB5}"/>
                </a:ext>
              </a:extLst>
            </p:cNvPr>
            <p:cNvSpPr/>
            <p:nvPr/>
          </p:nvSpPr>
          <p:spPr>
            <a:xfrm>
              <a:off x="10698241" y="1647726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TextBox 394">
                  <a:extLst>
                    <a:ext uri="{FF2B5EF4-FFF2-40B4-BE49-F238E27FC236}">
                      <a16:creationId xmlns:a16="http://schemas.microsoft.com/office/drawing/2014/main" id="{EBEFCFD3-9654-872A-F504-58973DD53CFC}"/>
                    </a:ext>
                  </a:extLst>
                </p:cNvPr>
                <p:cNvSpPr txBox="1"/>
                <p:nvPr/>
              </p:nvSpPr>
              <p:spPr>
                <a:xfrm>
                  <a:off x="10645116" y="1643870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95" name="TextBox 394">
                  <a:extLst>
                    <a:ext uri="{FF2B5EF4-FFF2-40B4-BE49-F238E27FC236}">
                      <a16:creationId xmlns:a16="http://schemas.microsoft.com/office/drawing/2014/main" id="{EBEFCFD3-9654-872A-F504-58973DD53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5116" y="1643870"/>
                  <a:ext cx="188809" cy="2616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6" name="TextBox 425">
            <a:extLst>
              <a:ext uri="{FF2B5EF4-FFF2-40B4-BE49-F238E27FC236}">
                <a16:creationId xmlns:a16="http://schemas.microsoft.com/office/drawing/2014/main" id="{55595671-CB80-D4E6-2DE1-2BD71C9615A9}"/>
              </a:ext>
            </a:extLst>
          </p:cNvPr>
          <p:cNvSpPr txBox="1"/>
          <p:nvPr/>
        </p:nvSpPr>
        <p:spPr>
          <a:xfrm>
            <a:off x="8410426" y="6466873"/>
            <a:ext cx="2673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Closure phase scheme 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1EC7BF18-9998-8477-7736-C28884622CAF}"/>
              </a:ext>
            </a:extLst>
          </p:cNvPr>
          <p:cNvSpPr txBox="1"/>
          <p:nvPr/>
        </p:nvSpPr>
        <p:spPr>
          <a:xfrm>
            <a:off x="8521275" y="3038353"/>
            <a:ext cx="2673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Standard scheme 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C4E25DB2-6C42-2151-9F65-E35104D16BA7}"/>
              </a:ext>
            </a:extLst>
          </p:cNvPr>
          <p:cNvSpPr txBox="1"/>
          <p:nvPr/>
        </p:nvSpPr>
        <p:spPr>
          <a:xfrm>
            <a:off x="1121469" y="5106948"/>
            <a:ext cx="6117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See more in David’s presentation later. 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2CDBBBB6-E2A1-7162-90AF-0D7191C8ED75}"/>
              </a:ext>
            </a:extLst>
          </p:cNvPr>
          <p:cNvSpPr/>
          <p:nvPr/>
        </p:nvSpPr>
        <p:spPr>
          <a:xfrm>
            <a:off x="849616" y="5026842"/>
            <a:ext cx="6275126" cy="738324"/>
          </a:xfrm>
          <a:prstGeom prst="rect">
            <a:avLst/>
          </a:prstGeom>
          <a:noFill/>
          <a:ln w="28575">
            <a:solidFill>
              <a:srgbClr val="EE5C1A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2" name="Picture 1" descr="A picture containing text, diagram, electronic engineering, circuit&#10;&#10;Description automatically generated">
            <a:extLst>
              <a:ext uri="{FF2B5EF4-FFF2-40B4-BE49-F238E27FC236}">
                <a16:creationId xmlns:a16="http://schemas.microsoft.com/office/drawing/2014/main" id="{D1ED68DA-47EE-5AE5-E20D-827BDE2E0F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60" y="964021"/>
            <a:ext cx="6475930" cy="364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0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6135982F-71B5-C7E7-15ED-0CA1F4D14600}"/>
              </a:ext>
            </a:extLst>
          </p:cNvPr>
          <p:cNvSpPr/>
          <p:nvPr/>
        </p:nvSpPr>
        <p:spPr>
          <a:xfrm>
            <a:off x="7951747" y="2767869"/>
            <a:ext cx="955749" cy="577990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Quantum-enhanced interferometric imaging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BC777-8D11-8F50-AE0F-441B27A589F2}"/>
              </a:ext>
            </a:extLst>
          </p:cNvPr>
          <p:cNvGrpSpPr/>
          <p:nvPr/>
        </p:nvGrpSpPr>
        <p:grpSpPr>
          <a:xfrm>
            <a:off x="7642260" y="4264070"/>
            <a:ext cx="1396961" cy="968382"/>
            <a:chOff x="7840919" y="3114083"/>
            <a:chExt cx="2066925" cy="143489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D7128D-81A6-B51F-E370-F3B3E5B442E6}"/>
                </a:ext>
              </a:extLst>
            </p:cNvPr>
            <p:cNvCxnSpPr/>
            <p:nvPr/>
          </p:nvCxnSpPr>
          <p:spPr>
            <a:xfrm>
              <a:off x="7840919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B59EF1-A4DF-9550-E8AD-5D4E751EAD78}"/>
                </a:ext>
              </a:extLst>
            </p:cNvPr>
            <p:cNvCxnSpPr/>
            <p:nvPr/>
          </p:nvCxnSpPr>
          <p:spPr>
            <a:xfrm>
              <a:off x="9907844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D4B22-CA14-7419-2BA5-BC71CA8AF987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19" y="3371258"/>
              <a:ext cx="1472741" cy="877862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1A4DD7C-6FC9-05E9-E91B-E09102B24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19" y="3371258"/>
              <a:ext cx="1419225" cy="877862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AF0CD8D-CDC2-2321-39D2-E3F340CE49EA}"/>
                </a:ext>
              </a:extLst>
            </p:cNvPr>
            <p:cNvSpPr/>
            <p:nvPr/>
          </p:nvSpPr>
          <p:spPr>
            <a:xfrm>
              <a:off x="9371292" y="3452938"/>
              <a:ext cx="270920" cy="34163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1B8D29B-C2B0-993F-3C7E-EAF05A5A8084}"/>
                    </a:ext>
                  </a:extLst>
                </p:cNvPr>
                <p:cNvSpPr txBox="1"/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1B8D29B-C2B0-993F-3C7E-EAF05A5A8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C99BED-83AD-7850-06C6-54CE3EDC01FF}"/>
                </a:ext>
              </a:extLst>
            </p:cNvPr>
            <p:cNvSpPr/>
            <p:nvPr/>
          </p:nvSpPr>
          <p:spPr>
            <a:xfrm>
              <a:off x="8868954" y="3863031"/>
              <a:ext cx="45719" cy="285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Delay 28">
              <a:extLst>
                <a:ext uri="{FF2B5EF4-FFF2-40B4-BE49-F238E27FC236}">
                  <a16:creationId xmlns:a16="http://schemas.microsoft.com/office/drawing/2014/main" id="{F28DAF33-C728-800F-4E2B-2FDF26F88947}"/>
                </a:ext>
              </a:extLst>
            </p:cNvPr>
            <p:cNvSpPr/>
            <p:nvPr/>
          </p:nvSpPr>
          <p:spPr>
            <a:xfrm rot="1729933">
              <a:off x="9325650" y="4149119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Delay 29">
              <a:extLst>
                <a:ext uri="{FF2B5EF4-FFF2-40B4-BE49-F238E27FC236}">
                  <a16:creationId xmlns:a16="http://schemas.microsoft.com/office/drawing/2014/main" id="{F6B19D73-D856-4398-4192-AD3124BE6F58}"/>
                </a:ext>
              </a:extLst>
            </p:cNvPr>
            <p:cNvSpPr/>
            <p:nvPr/>
          </p:nvSpPr>
          <p:spPr>
            <a:xfrm rot="8951118">
              <a:off x="8286951" y="414605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BB42DC4-EFF5-0F63-3196-197DA07F98BD}"/>
                </a:ext>
              </a:extLst>
            </p:cNvPr>
            <p:cNvSpPr/>
            <p:nvPr/>
          </p:nvSpPr>
          <p:spPr>
            <a:xfrm>
              <a:off x="9517319" y="4339425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3DB8807-0D59-111E-D549-EFA9F05E3CE6}"/>
                </a:ext>
              </a:extLst>
            </p:cNvPr>
            <p:cNvSpPr/>
            <p:nvPr/>
          </p:nvSpPr>
          <p:spPr>
            <a:xfrm>
              <a:off x="7917119" y="4326594"/>
              <a:ext cx="361950" cy="167347"/>
            </a:xfrm>
            <a:custGeom>
              <a:avLst/>
              <a:gdLst>
                <a:gd name="connsiteX0" fmla="*/ 361950 w 361950"/>
                <a:gd name="connsiteY0" fmla="*/ 12831 h 167347"/>
                <a:gd name="connsiteX1" fmla="*/ 219075 w 361950"/>
                <a:gd name="connsiteY1" fmla="*/ 12831 h 167347"/>
                <a:gd name="connsiteX2" fmla="*/ 228600 w 361950"/>
                <a:gd name="connsiteY2" fmla="*/ 146181 h 167347"/>
                <a:gd name="connsiteX3" fmla="*/ 0 w 361950"/>
                <a:gd name="connsiteY3" fmla="*/ 165231 h 16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167347">
                  <a:moveTo>
                    <a:pt x="361950" y="12831"/>
                  </a:moveTo>
                  <a:cubicBezTo>
                    <a:pt x="301625" y="1718"/>
                    <a:pt x="241300" y="-9394"/>
                    <a:pt x="219075" y="12831"/>
                  </a:cubicBezTo>
                  <a:cubicBezTo>
                    <a:pt x="196850" y="35056"/>
                    <a:pt x="265112" y="120781"/>
                    <a:pt x="228600" y="146181"/>
                  </a:cubicBezTo>
                  <a:cubicBezTo>
                    <a:pt x="192088" y="171581"/>
                    <a:pt x="96044" y="168406"/>
                    <a:pt x="0" y="165231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Graphic 32" descr="Star with solid fill">
            <a:extLst>
              <a:ext uri="{FF2B5EF4-FFF2-40B4-BE49-F238E27FC236}">
                <a16:creationId xmlns:a16="http://schemas.microsoft.com/office/drawing/2014/main" id="{CA86EA6F-B77F-7BB9-B708-73785FB5E13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4780" y="2910280"/>
            <a:ext cx="261437" cy="261437"/>
          </a:xfrm>
          <a:prstGeom prst="rect">
            <a:avLst/>
          </a:prstGeom>
        </p:spPr>
      </p:pic>
      <p:pic>
        <p:nvPicPr>
          <p:cNvPr id="34" name="Graphic 33" descr="Star with solid fill">
            <a:extLst>
              <a:ext uri="{FF2B5EF4-FFF2-40B4-BE49-F238E27FC236}">
                <a16:creationId xmlns:a16="http://schemas.microsoft.com/office/drawing/2014/main" id="{0FD0CCAC-21EB-B8F5-DC04-E03D27F8D49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7519" y="2919013"/>
            <a:ext cx="261437" cy="261437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08F2A8-60AA-2A4E-4FD3-E0AAE8D6F3BF}"/>
              </a:ext>
            </a:extLst>
          </p:cNvPr>
          <p:cNvCxnSpPr>
            <a:cxnSpLocks/>
          </p:cNvCxnSpPr>
          <p:nvPr/>
        </p:nvCxnSpPr>
        <p:spPr>
          <a:xfrm>
            <a:off x="8265814" y="3059924"/>
            <a:ext cx="322974" cy="803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037425-F3B4-9FF9-746E-69194370BFAA}"/>
                  </a:ext>
                </a:extLst>
              </p:cNvPr>
              <p:cNvSpPr txBox="1"/>
              <p:nvPr/>
            </p:nvSpPr>
            <p:spPr>
              <a:xfrm>
                <a:off x="8209089" y="3033461"/>
                <a:ext cx="419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037425-F3B4-9FF9-746E-69194370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089" y="3033461"/>
                <a:ext cx="4191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654EF30-B05C-F03E-93DD-B61754476D0B}"/>
              </a:ext>
            </a:extLst>
          </p:cNvPr>
          <p:cNvSpPr txBox="1"/>
          <p:nvPr/>
        </p:nvSpPr>
        <p:spPr>
          <a:xfrm>
            <a:off x="6219984" y="5686437"/>
            <a:ext cx="4715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Super-resolution of two-point strong thermal source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549411-AEF5-10C9-6A19-00540185695C}"/>
              </a:ext>
            </a:extLst>
          </p:cNvPr>
          <p:cNvGrpSpPr/>
          <p:nvPr/>
        </p:nvGrpSpPr>
        <p:grpSpPr>
          <a:xfrm>
            <a:off x="2947311" y="3914481"/>
            <a:ext cx="2488156" cy="1617085"/>
            <a:chOff x="7851736" y="3218902"/>
            <a:chExt cx="3748644" cy="228487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26CB53F-C970-1E48-4585-F70793D2B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3271692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2CEFAE4-B29B-B5F0-80FF-C6C85730CF7F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73" name="Flowchart: Delay 72">
                <a:extLst>
                  <a:ext uri="{FF2B5EF4-FFF2-40B4-BE49-F238E27FC236}">
                    <a16:creationId xmlns:a16="http://schemas.microsoft.com/office/drawing/2014/main" id="{F4C9AF45-F8FA-3FC9-5C29-6B5252D88F0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3D63F49-8515-1C1D-CF16-62DCD5D7E4B6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DBE2FFA-6679-C18B-7898-F77DB1F96E9A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71" name="Flowchart: Delay 70">
                <a:extLst>
                  <a:ext uri="{FF2B5EF4-FFF2-40B4-BE49-F238E27FC236}">
                    <a16:creationId xmlns:a16="http://schemas.microsoft.com/office/drawing/2014/main" id="{A73A3F6C-53A9-9EF2-9050-20F46FAD228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A3B3D42-2409-7EB1-6946-6EF5FC447FF8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77399C-4A52-ECC7-3E12-AF90F994C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2D7A78-E6D2-4140-29A1-4D38CF0CE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99E37F-388F-1F2B-9AE5-76848E088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371" y="3312244"/>
              <a:ext cx="13561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DD55024-8F47-D677-3E49-4A3F668B4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0BD1CE2-EC3D-848C-EBB7-7FFD19E38F4B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4077359"/>
              <a:ext cx="0" cy="103212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281301E-E63C-4091-5831-986D5A9F5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8C41A2-20E8-3CE1-9E9F-4CD12D5B4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1394" y="4061623"/>
              <a:ext cx="1311" cy="104786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C364893-3AC1-5EA3-EB76-8E664B397478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69" name="Flowchart: Delay 68">
                <a:extLst>
                  <a:ext uri="{FF2B5EF4-FFF2-40B4-BE49-F238E27FC236}">
                    <a16:creationId xmlns:a16="http://schemas.microsoft.com/office/drawing/2014/main" id="{5F59AE7D-A04E-CF8D-7131-5DE18D85A41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6273874-48B8-4316-44AF-753328A88CA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9251FA2-8DD2-0CA8-394F-3AB7050CBEFF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67" name="Flowchart: Delay 66">
                <a:extLst>
                  <a:ext uri="{FF2B5EF4-FFF2-40B4-BE49-F238E27FC236}">
                    <a16:creationId xmlns:a16="http://schemas.microsoft.com/office/drawing/2014/main" id="{6E35890A-F5EB-583A-9A29-2328E94D568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54FE819-8819-AFC8-3DD4-A14DC602948A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FAC9AD-CF56-B149-E20A-83FA034515DA}"/>
                </a:ext>
              </a:extLst>
            </p:cNvPr>
            <p:cNvSpPr/>
            <p:nvPr/>
          </p:nvSpPr>
          <p:spPr>
            <a:xfrm>
              <a:off x="8465817" y="5109485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/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𝑀𝑆𝑉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BAFC38-5013-C10B-22C8-6AEAE0224D0D}"/>
              </a:ext>
            </a:extLst>
          </p:cNvPr>
          <p:cNvCxnSpPr>
            <a:cxnSpLocks/>
          </p:cNvCxnSpPr>
          <p:nvPr/>
        </p:nvCxnSpPr>
        <p:spPr>
          <a:xfrm>
            <a:off x="2439428" y="4074594"/>
            <a:ext cx="283195" cy="6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58BA99B-B694-B9B4-6BE5-2603A51BD9C5}"/>
              </a:ext>
            </a:extLst>
          </p:cNvPr>
          <p:cNvSpPr txBox="1"/>
          <p:nvPr/>
        </p:nvSpPr>
        <p:spPr>
          <a:xfrm>
            <a:off x="1656527" y="3914298"/>
            <a:ext cx="932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Homodyne measurement </a:t>
            </a:r>
            <a:endParaRPr lang="en-US" sz="10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DFC9882-B10F-E955-3F4E-A31FF9A755BC}"/>
              </a:ext>
            </a:extLst>
          </p:cNvPr>
          <p:cNvCxnSpPr/>
          <p:nvPr/>
        </p:nvCxnSpPr>
        <p:spPr>
          <a:xfrm>
            <a:off x="2877956" y="4099253"/>
            <a:ext cx="0" cy="5772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EFAFC2-C8B8-A7DC-B7EF-7112B10C1735}"/>
              </a:ext>
            </a:extLst>
          </p:cNvPr>
          <p:cNvCxnSpPr>
            <a:cxnSpLocks/>
          </p:cNvCxnSpPr>
          <p:nvPr/>
        </p:nvCxnSpPr>
        <p:spPr>
          <a:xfrm>
            <a:off x="2713098" y="4443981"/>
            <a:ext cx="26592" cy="43513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FB5B8E5-9B03-AF3C-6FEA-D76CA1BB4AFE}"/>
              </a:ext>
            </a:extLst>
          </p:cNvPr>
          <p:cNvCxnSpPr>
            <a:cxnSpLocks/>
          </p:cNvCxnSpPr>
          <p:nvPr/>
        </p:nvCxnSpPr>
        <p:spPr>
          <a:xfrm flipH="1">
            <a:off x="2722623" y="4901555"/>
            <a:ext cx="200657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76A081-8C9A-E6BC-FBA3-84D3F051FB44}"/>
              </a:ext>
            </a:extLst>
          </p:cNvPr>
          <p:cNvCxnSpPr>
            <a:cxnSpLocks/>
          </p:cNvCxnSpPr>
          <p:nvPr/>
        </p:nvCxnSpPr>
        <p:spPr>
          <a:xfrm flipH="1">
            <a:off x="2743435" y="4427221"/>
            <a:ext cx="140986" cy="15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BC4D786-6998-DCAB-FD82-529934C48244}"/>
              </a:ext>
            </a:extLst>
          </p:cNvPr>
          <p:cNvSpPr/>
          <p:nvPr/>
        </p:nvSpPr>
        <p:spPr>
          <a:xfrm>
            <a:off x="4751076" y="4620222"/>
            <a:ext cx="285029" cy="5449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/>
              <p:nvPr/>
            </p:nvSpPr>
            <p:spPr>
              <a:xfrm>
                <a:off x="2038075" y="4567953"/>
                <a:ext cx="6938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075" y="4567953"/>
                <a:ext cx="69388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/>
              <p:nvPr/>
            </p:nvSpPr>
            <p:spPr>
              <a:xfrm rot="16200000">
                <a:off x="4645307" y="4850927"/>
                <a:ext cx="475833" cy="302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45307" y="4850927"/>
                <a:ext cx="475833" cy="302199"/>
              </a:xfrm>
              <a:prstGeom prst="rect">
                <a:avLst/>
              </a:prstGeom>
              <a:blipFill>
                <a:blip r:embed="rId9"/>
                <a:stretch>
                  <a:fillRect t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8A33DAD3-ED50-1EE7-771F-46DD98544A17}"/>
              </a:ext>
            </a:extLst>
          </p:cNvPr>
          <p:cNvSpPr txBox="1"/>
          <p:nvPr/>
        </p:nvSpPr>
        <p:spPr>
          <a:xfrm>
            <a:off x="3039107" y="5694496"/>
            <a:ext cx="289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CV quantum telescope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966D9A-5D32-4339-A7EA-AC784756F32B}"/>
              </a:ext>
            </a:extLst>
          </p:cNvPr>
          <p:cNvSpPr txBox="1"/>
          <p:nvPr/>
        </p:nvSpPr>
        <p:spPr>
          <a:xfrm>
            <a:off x="0" y="783596"/>
            <a:ext cx="107210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Protocols for enhanced interferometric imaging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 Quantum telescope using continuous-variable quantum teleportation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 Super-resolution of two incoherent strong thermal source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A8969EE-61A7-FC66-1729-858075389904}"/>
              </a:ext>
            </a:extLst>
          </p:cNvPr>
          <p:cNvGrpSpPr/>
          <p:nvPr/>
        </p:nvGrpSpPr>
        <p:grpSpPr>
          <a:xfrm>
            <a:off x="3202966" y="2547960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15C6B394-F5D9-1A9D-1CF3-EB5A9C4EDACE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2E64EBB8-E91B-A43D-582C-EFC8E2A0E2DF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22" name="Flowchart: Delay 321">
                  <a:extLst>
                    <a:ext uri="{FF2B5EF4-FFF2-40B4-BE49-F238E27FC236}">
                      <a16:creationId xmlns:a16="http://schemas.microsoft.com/office/drawing/2014/main" id="{B5C95EAD-D939-C973-BCAD-0693DBEB8FC1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3" name="Rectangle 322">
                  <a:extLst>
                    <a:ext uri="{FF2B5EF4-FFF2-40B4-BE49-F238E27FC236}">
                      <a16:creationId xmlns:a16="http://schemas.microsoft.com/office/drawing/2014/main" id="{F297B3DA-3DE8-8FD8-255C-E9A9C1037F8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B652DEA7-105B-D640-6E61-AFC76A5785B9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5" name="Arc 324">
                  <a:extLst>
                    <a:ext uri="{FF2B5EF4-FFF2-40B4-BE49-F238E27FC236}">
                      <a16:creationId xmlns:a16="http://schemas.microsoft.com/office/drawing/2014/main" id="{B6D814D0-39C6-E619-C4DC-E4DAEE29AD5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73B89228-B2FD-D2B6-00AF-DD0EA4ECEC1D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Rectangle 326">
                  <a:extLst>
                    <a:ext uri="{FF2B5EF4-FFF2-40B4-BE49-F238E27FC236}">
                      <a16:creationId xmlns:a16="http://schemas.microsoft.com/office/drawing/2014/main" id="{0F0DCF54-0715-3C28-CAE2-DCC39403B737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8" name="Rectangle 327">
                  <a:extLst>
                    <a:ext uri="{FF2B5EF4-FFF2-40B4-BE49-F238E27FC236}">
                      <a16:creationId xmlns:a16="http://schemas.microsoft.com/office/drawing/2014/main" id="{828E7B21-80C2-09FF-8281-FAD2133AB486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0" name="Rectangle 349">
                  <a:extLst>
                    <a:ext uri="{FF2B5EF4-FFF2-40B4-BE49-F238E27FC236}">
                      <a16:creationId xmlns:a16="http://schemas.microsoft.com/office/drawing/2014/main" id="{486E510B-E7C1-1337-FEAF-80B799F9921D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E7AE9B1E-59C3-6D6F-23E5-9E23CE30918D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8" name="Graphic 177" descr="Solar system with solid fill">
              <a:extLst>
                <a:ext uri="{FF2B5EF4-FFF2-40B4-BE49-F238E27FC236}">
                  <a16:creationId xmlns:a16="http://schemas.microsoft.com/office/drawing/2014/main" id="{D9BDCE8F-13CC-EFC4-6605-F7BCA5272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CE92594C-58AB-683E-F0CC-681106748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9D16EC40-6B4E-84C9-65B9-96DAA8786B50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9F52FB24-197E-0CC2-102F-3606172F953C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8A0859FF-E327-A4B6-2C60-7BD28BF52038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84" name="Flowchart: Delay 183">
                  <a:extLst>
                    <a:ext uri="{FF2B5EF4-FFF2-40B4-BE49-F238E27FC236}">
                      <a16:creationId xmlns:a16="http://schemas.microsoft.com/office/drawing/2014/main" id="{55162BBE-2640-2200-AAF7-1863D059947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6105D0E7-D471-F5A0-A58E-6EB117FB5480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DBD99AB3-7B40-C393-EF53-A22028928237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Arc 186">
                  <a:extLst>
                    <a:ext uri="{FF2B5EF4-FFF2-40B4-BE49-F238E27FC236}">
                      <a16:creationId xmlns:a16="http://schemas.microsoft.com/office/drawing/2014/main" id="{27136272-A0D6-5E36-B7C9-65485C4211A9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192A62E4-FF6B-26B2-6EC2-78C983C779C3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DC22E7BB-20D8-AC4B-4D1D-8A76F68D5ABF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A98951A7-E11F-0BA3-4C7A-C9B774C64BAE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396B3A19-20DB-784B-0433-45190F200307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1AC4EC6-5BC6-C372-D757-DF6F62923B14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0F875EB2-6CAB-AB70-D518-1331AD99DF01}"/>
              </a:ext>
            </a:extLst>
          </p:cNvPr>
          <p:cNvGrpSpPr/>
          <p:nvPr/>
        </p:nvGrpSpPr>
        <p:grpSpPr>
          <a:xfrm>
            <a:off x="7393583" y="3367750"/>
            <a:ext cx="1926511" cy="860170"/>
            <a:chOff x="5160089" y="2787089"/>
            <a:chExt cx="2868735" cy="124175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9933E2DA-AC83-6551-FE34-1E7878FA2A1B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A8E7BCEB-4259-2C0B-EA3B-B4DFAF89AF5B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71" name="Flowchart: Delay 370">
                  <a:extLst>
                    <a:ext uri="{FF2B5EF4-FFF2-40B4-BE49-F238E27FC236}">
                      <a16:creationId xmlns:a16="http://schemas.microsoft.com/office/drawing/2014/main" id="{5DDD1F99-2684-9E5A-E544-18BC4E908502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2" name="Rectangle 371">
                  <a:extLst>
                    <a:ext uri="{FF2B5EF4-FFF2-40B4-BE49-F238E27FC236}">
                      <a16:creationId xmlns:a16="http://schemas.microsoft.com/office/drawing/2014/main" id="{70DB3146-C89B-B80D-22B3-5663F7DF473D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73160D38-4795-4E00-1478-6633AC3DF7C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4" name="Arc 373">
                  <a:extLst>
                    <a:ext uri="{FF2B5EF4-FFF2-40B4-BE49-F238E27FC236}">
                      <a16:creationId xmlns:a16="http://schemas.microsoft.com/office/drawing/2014/main" id="{0F362EE0-04A7-6CCF-84FD-2010769B4C08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99E02527-95CF-2189-5292-E6B89EE38C3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id="{10C97C41-42F1-9E52-9AFB-3199E959A627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41636D4-BFB1-3411-14D4-A3A8BEA62411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Rectangle 377">
                  <a:extLst>
                    <a:ext uri="{FF2B5EF4-FFF2-40B4-BE49-F238E27FC236}">
                      <a16:creationId xmlns:a16="http://schemas.microsoft.com/office/drawing/2014/main" id="{5DBA44B0-3F27-7B0A-89F5-69BF8D7F0A4A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DD1F6BBC-7861-627B-45C0-C0659D2AA144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04DA8341-482C-353E-092E-1CC3352F80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D8A039E8-8380-6569-F109-7F46B98AAFA9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49D377DD-C071-362A-92AB-609D7FC79A95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FAAB57A0-7740-AF7B-A389-DEB1DE2DE682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59" name="Flowchart: Delay 358">
                  <a:extLst>
                    <a:ext uri="{FF2B5EF4-FFF2-40B4-BE49-F238E27FC236}">
                      <a16:creationId xmlns:a16="http://schemas.microsoft.com/office/drawing/2014/main" id="{52FC449B-96EA-3EBB-2878-5317CA2F9055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34474059-8151-570D-2349-8460BB63B512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3C5C3A15-89B1-BFCC-EF8E-708D2EE6F7FF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2" name="Arc 361">
                  <a:extLst>
                    <a:ext uri="{FF2B5EF4-FFF2-40B4-BE49-F238E27FC236}">
                      <a16:creationId xmlns:a16="http://schemas.microsoft.com/office/drawing/2014/main" id="{AD77D192-41F3-0745-A925-99607A0B064D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4F7BE0D5-B322-056B-71C3-EBCC978C4B09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9A5854DA-BEBB-3418-E031-7B07DD2A131F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6CC8E684-001E-A7E2-5D08-86BBAE5DF584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C1E9442-43EA-8299-36F2-E0513A865FDD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C3586171-7C65-CD6D-BF91-593CDE2222A6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220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87">
            <a:extLst>
              <a:ext uri="{FF2B5EF4-FFF2-40B4-BE49-F238E27FC236}">
                <a16:creationId xmlns:a16="http://schemas.microsoft.com/office/drawing/2014/main" id="{267B692A-5010-1F4E-94E9-8AD0A86CB21B}"/>
              </a:ext>
            </a:extLst>
          </p:cNvPr>
          <p:cNvSpPr/>
          <p:nvPr/>
        </p:nvSpPr>
        <p:spPr>
          <a:xfrm>
            <a:off x="3418612" y="4868578"/>
            <a:ext cx="8692822" cy="969901"/>
          </a:xfrm>
          <a:prstGeom prst="rect">
            <a:avLst/>
          </a:prstGeom>
          <a:solidFill>
            <a:schemeClr val="lt1">
              <a:alpha val="0"/>
            </a:schemeClr>
          </a:solidFill>
          <a:ln w="50800">
            <a:solidFill>
              <a:srgbClr val="EE5C1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/>
              <p:nvPr/>
            </p:nvSpPr>
            <p:spPr>
              <a:xfrm>
                <a:off x="3336967" y="1235542"/>
                <a:ext cx="8662156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Quantum telescope: Discrete variable (DV) quantum teleportation</a:t>
                </a:r>
              </a:p>
              <a:p>
                <a:endParaRPr lang="en-US" sz="17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The original quantum telescope can be viewed as path entanglement quantum teleportation</a:t>
                </a:r>
                <a:r>
                  <a:rPr lang="en-US" sz="1700" baseline="30000" dirty="0"/>
                  <a:t>1</a:t>
                </a:r>
                <a:r>
                  <a:rPr lang="en-US" sz="1700" dirty="0"/>
                  <a:t>        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en-US" sz="1600" dirty="0"/>
                  <a:t>The measurement on the </a:t>
                </a:r>
                <a:r>
                  <a:rPr lang="en-US" sz="1600" i="1" dirty="0"/>
                  <a:t>left telescope</a:t>
                </a:r>
                <a:r>
                  <a:rPr lang="en-US" sz="1600" dirty="0"/>
                  <a:t> projects the joint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to different state with detection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b="0" dirty="0"/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600" dirty="0"/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600" dirty="0"/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600" dirty="0"/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600" dirty="0"/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600" dirty="0"/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en-US" sz="1600" dirty="0"/>
                  <a:t>Quantum teleportation doesn’t </a:t>
                </a:r>
                <a:r>
                  <a:rPr lang="en-US" sz="1600" i="1" dirty="0"/>
                  <a:t>have to be done explicitly</a:t>
                </a:r>
                <a:r>
                  <a:rPr lang="en-US" sz="1600" dirty="0"/>
                  <a:t>. By projecting the state on the </a:t>
                </a:r>
                <a:r>
                  <a:rPr lang="en-US" sz="1600" i="1" dirty="0"/>
                  <a:t>right telescope</a:t>
                </a:r>
                <a:r>
                  <a:rPr lang="en-US" sz="1600" dirty="0"/>
                  <a:t>, complexity visibility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g</a:t>
                </a:r>
                <a:r>
                  <a:rPr lang="en-US" sz="1600" dirty="0"/>
                  <a:t> can be inferred from the correlation/anti-correlation.</a:t>
                </a:r>
              </a:p>
              <a:p>
                <a:pPr marL="685800" lvl="1" indent="-228600">
                  <a:buFont typeface="+mj-lt"/>
                  <a:buAutoNum type="arabicPeriod"/>
                </a:pPr>
                <a:endParaRPr lang="en-US" sz="1300" dirty="0"/>
              </a:p>
              <a:p>
                <a:pPr lvl="1"/>
                <a:endParaRPr lang="en-US" sz="1300" dirty="0"/>
              </a:p>
              <a:p>
                <a:pPr lvl="1"/>
                <a:r>
                  <a:rPr lang="en-US" sz="1300" dirty="0">
                    <a:solidFill>
                      <a:srgbClr val="EE5C1A"/>
                    </a:solidFill>
                  </a:rPr>
                  <a:t>  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700" dirty="0">
                    <a:solidFill>
                      <a:srgbClr val="EE5C1A"/>
                    </a:solidFill>
                  </a:rPr>
                  <a:t>    Non-unit success rate</a:t>
                </a:r>
                <a:r>
                  <a:rPr lang="en-US" sz="1700" baseline="30000" dirty="0">
                    <a:solidFill>
                      <a:srgbClr val="EE5C1A"/>
                    </a:solidFill>
                  </a:rPr>
                  <a:t>2</a:t>
                </a:r>
                <a:endParaRPr lang="en-US" sz="1700" dirty="0">
                  <a:solidFill>
                    <a:srgbClr val="EE5C1A"/>
                  </a:solidFill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700" dirty="0">
                  <a:solidFill>
                    <a:srgbClr val="EE5C1A"/>
                  </a:solidFill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700" dirty="0">
                    <a:solidFill>
                      <a:srgbClr val="EE5C1A"/>
                    </a:solidFill>
                  </a:rPr>
                  <a:t>    Only has quantum advantage in the weak thermal limit  </a:t>
                </a:r>
              </a:p>
              <a:p>
                <a:r>
                  <a:rPr lang="en-US" sz="1200" dirty="0">
                    <a:solidFill>
                      <a:srgbClr val="EE5C1A"/>
                    </a:solidFill>
                  </a:rPr>
                  <a:t>                        </a:t>
                </a:r>
                <a:endParaRPr lang="en-US" sz="1200" dirty="0">
                  <a:solidFill>
                    <a:srgbClr val="FF0000"/>
                  </a:solidFill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67" y="1235542"/>
                <a:ext cx="8662156" cy="4893647"/>
              </a:xfrm>
              <a:prstGeom prst="rect">
                <a:avLst/>
              </a:prstGeom>
              <a:blipFill>
                <a:blip r:embed="rId3"/>
                <a:stretch>
                  <a:fillRect l="-732" t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telescope with CV quantum teleportation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FC908C1-B2FE-99EA-9782-F28F8A1886EE}"/>
              </a:ext>
            </a:extLst>
          </p:cNvPr>
          <p:cNvGrpSpPr/>
          <p:nvPr/>
        </p:nvGrpSpPr>
        <p:grpSpPr>
          <a:xfrm>
            <a:off x="793174" y="3311401"/>
            <a:ext cx="2488156" cy="1311020"/>
            <a:chOff x="7851736" y="3218902"/>
            <a:chExt cx="3748644" cy="1852417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CCB7B90-19F7-A3F8-D646-8A03AB9A911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3271692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D281055D-D310-7262-13FC-99A40DE45B66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128" name="Flowchart: Delay 127">
                <a:extLst>
                  <a:ext uri="{FF2B5EF4-FFF2-40B4-BE49-F238E27FC236}">
                    <a16:creationId xmlns:a16="http://schemas.microsoft.com/office/drawing/2014/main" id="{F66F54F1-B57F-2ABE-8855-71DBF8759A4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E14A976C-B152-19B7-FEF6-3A90088FB9D5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03BDE7F-E7B8-0565-1EA8-AD4ADB973596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126" name="Flowchart: Delay 125">
                <a:extLst>
                  <a:ext uri="{FF2B5EF4-FFF2-40B4-BE49-F238E27FC236}">
                    <a16:creationId xmlns:a16="http://schemas.microsoft.com/office/drawing/2014/main" id="{9C9CBDAE-4CBF-B8DE-37F5-04C6DB97D36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F242CC6-AF20-199F-F615-EF65795BD98A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5E3C4BE-8A86-E236-5820-3523EA214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FECFD43-1D8E-8A5A-0372-EC5422B1B4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D63CA3B-8664-2D75-D16A-83D21206E9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371" y="3312244"/>
              <a:ext cx="13561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716B05A-5C6D-7663-2CF2-F6131D02B5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905A472-41EA-3E7E-8018-40324A38DC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4077359"/>
              <a:ext cx="0" cy="61380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04A1796-D372-32AC-9487-1A6EA6D933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56A8023-6DF2-168F-2C66-1B1DA846BC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3984" y="4061623"/>
              <a:ext cx="8720" cy="588658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0C6F487-EF8B-C7E6-6822-FA7797A4D989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124" name="Flowchart: Delay 123">
                <a:extLst>
                  <a:ext uri="{FF2B5EF4-FFF2-40B4-BE49-F238E27FC236}">
                    <a16:creationId xmlns:a16="http://schemas.microsoft.com/office/drawing/2014/main" id="{7A902656-3FFE-6649-88C5-A970A9CE71BB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2EBC002E-1ADF-B44E-23B4-F82991D9E898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CE3E253-20BD-949D-003A-65BB5E65A5AE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122" name="Flowchart: Delay 121">
                <a:extLst>
                  <a:ext uri="{FF2B5EF4-FFF2-40B4-BE49-F238E27FC236}">
                    <a16:creationId xmlns:a16="http://schemas.microsoft.com/office/drawing/2014/main" id="{F395F056-B264-62D3-CA89-264231AA1DAE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BEEBE257-7F5C-E8AD-1DB3-5F2416ABC8D2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34CD2FA-35A2-E52F-C16B-B3AF1784A64C}"/>
                </a:ext>
              </a:extLst>
            </p:cNvPr>
            <p:cNvSpPr/>
            <p:nvPr/>
          </p:nvSpPr>
          <p:spPr>
            <a:xfrm>
              <a:off x="8484155" y="4662044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6BFD6A4-D214-3C26-7446-95892B10DD3F}"/>
                    </a:ext>
                  </a:extLst>
                </p:cNvPr>
                <p:cNvSpPr txBox="1"/>
                <p:nvPr/>
              </p:nvSpPr>
              <p:spPr>
                <a:xfrm>
                  <a:off x="8378271" y="4691165"/>
                  <a:ext cx="2656420" cy="3801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6BFD6A4-D214-3C26-7446-95892B10D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8271" y="4691165"/>
                  <a:ext cx="2656420" cy="3801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08930CFA-4D16-5D16-CD6D-D1B4FCDCC0E5}"/>
              </a:ext>
            </a:extLst>
          </p:cNvPr>
          <p:cNvSpPr txBox="1"/>
          <p:nvPr/>
        </p:nvSpPr>
        <p:spPr>
          <a:xfrm>
            <a:off x="857238" y="4745975"/>
            <a:ext cx="2673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Quantum telescope (DV)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4822DB9-9B29-0AC5-67F7-29F8BAE0C109}"/>
                  </a:ext>
                </a:extLst>
              </p:cNvPr>
              <p:cNvSpPr txBox="1"/>
              <p:nvPr/>
            </p:nvSpPr>
            <p:spPr>
              <a:xfrm>
                <a:off x="836402" y="1700561"/>
                <a:ext cx="2673686" cy="305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4822DB9-9B29-0AC5-67F7-29F8BAE0C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02" y="1700561"/>
                <a:ext cx="2673686" cy="3052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861A6DC-0C35-CD5C-08C4-3C188B7FE28F}"/>
                  </a:ext>
                </a:extLst>
              </p:cNvPr>
              <p:cNvSpPr txBox="1"/>
              <p:nvPr/>
            </p:nvSpPr>
            <p:spPr>
              <a:xfrm>
                <a:off x="294222" y="3101315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861A6DC-0C35-CD5C-08C4-3C188B7FE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22" y="3101315"/>
                <a:ext cx="70690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ABA7176-FAD9-DD07-A458-C9EB6CF73232}"/>
                  </a:ext>
                </a:extLst>
              </p:cNvPr>
              <p:cNvSpPr txBox="1"/>
              <p:nvPr/>
            </p:nvSpPr>
            <p:spPr>
              <a:xfrm>
                <a:off x="275556" y="4157392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ABA7176-FAD9-DD07-A458-C9EB6CF73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6" y="4157392"/>
                <a:ext cx="70690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A780BBD-58A7-CC22-653B-B797C6BE4A24}"/>
                  </a:ext>
                </a:extLst>
              </p:cNvPr>
              <p:cNvSpPr txBox="1"/>
              <p:nvPr/>
            </p:nvSpPr>
            <p:spPr>
              <a:xfrm>
                <a:off x="4118908" y="2758694"/>
                <a:ext cx="7621025" cy="756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⟩=(⟨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 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6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+(−1)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endParaRPr lang="en-US" sz="1600" dirty="0"/>
              </a:p>
              <a:p>
                <a:r>
                  <a:rPr lang="en-US" sz="1600" dirty="0"/>
                  <a:t>Where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⟩=1/</m:t>
                    </m:r>
                    <m:rad>
                      <m:radPr>
                        <m:degHide m:val="on"/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+(−1)</m:t>
                        </m:r>
                      </m:e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A780BBD-58A7-CC22-653B-B797C6BE4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908" y="2758694"/>
                <a:ext cx="7621025" cy="756489"/>
              </a:xfrm>
              <a:prstGeom prst="rect">
                <a:avLst/>
              </a:prstGeom>
              <a:blipFill>
                <a:blip r:embed="rId9"/>
                <a:stretch>
                  <a:fillRect l="-480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Rectangle 144">
            <a:extLst>
              <a:ext uri="{FF2B5EF4-FFF2-40B4-BE49-F238E27FC236}">
                <a16:creationId xmlns:a16="http://schemas.microsoft.com/office/drawing/2014/main" id="{B0C567D6-3992-5598-3FE2-19077F7B2E2A}"/>
              </a:ext>
            </a:extLst>
          </p:cNvPr>
          <p:cNvSpPr/>
          <p:nvPr/>
        </p:nvSpPr>
        <p:spPr>
          <a:xfrm>
            <a:off x="2649508" y="3989995"/>
            <a:ext cx="183105" cy="230564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55C4F36-6860-3A2C-6531-72897FB02BDC}"/>
                  </a:ext>
                </a:extLst>
              </p:cNvPr>
              <p:cNvSpPr txBox="1"/>
              <p:nvPr/>
            </p:nvSpPr>
            <p:spPr>
              <a:xfrm>
                <a:off x="2606087" y="3991829"/>
                <a:ext cx="188809" cy="256574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55C4F36-6860-3A2C-6531-72897FB02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87" y="3991829"/>
                <a:ext cx="188809" cy="2565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AA93473-4022-70C4-FB91-AC07709E2643}"/>
              </a:ext>
            </a:extLst>
          </p:cNvPr>
          <p:cNvGrpSpPr/>
          <p:nvPr/>
        </p:nvGrpSpPr>
        <p:grpSpPr>
          <a:xfrm>
            <a:off x="1072780" y="1975617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252FF0E3-8EC2-4E70-8C9A-DDBA9145157F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227B4BCA-780E-0A7A-0E0E-79E0D2757426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80" name="Flowchart: Delay 179">
                  <a:extLst>
                    <a:ext uri="{FF2B5EF4-FFF2-40B4-BE49-F238E27FC236}">
                      <a16:creationId xmlns:a16="http://schemas.microsoft.com/office/drawing/2014/main" id="{38284B24-0C63-022D-F0DE-2B90918F2E8A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96ED31EC-DE6E-6F4A-9C1A-126286D7F62E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B7AFB723-22D2-2853-8260-2A485AAC1CFA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Arc 182">
                  <a:extLst>
                    <a:ext uri="{FF2B5EF4-FFF2-40B4-BE49-F238E27FC236}">
                      <a16:creationId xmlns:a16="http://schemas.microsoft.com/office/drawing/2014/main" id="{6626C0C0-7740-168B-1C10-34165EB8689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258E807B-C994-A071-BB6C-C6C26F6831A6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220F1E30-FC70-610E-B73B-7CD12A15E547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ABF82E8A-545C-8924-6DAC-EF4C02ED8DCC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DF986E1B-E7CF-CD2C-7239-FA48C6025CB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E68C7F5-E414-722A-B4FB-A290ABE946D4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50" name="Graphic 149" descr="Solar system with solid fill">
              <a:extLst>
                <a:ext uri="{FF2B5EF4-FFF2-40B4-BE49-F238E27FC236}">
                  <a16:creationId xmlns:a16="http://schemas.microsoft.com/office/drawing/2014/main" id="{8A901363-6EE6-8980-6992-45AAC3FF0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8DFF8373-90C0-47DA-EC30-3C2F042B4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91F47E32-DBBE-6160-D10F-7D7CBAE75AAE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921707D-06AE-4D02-E578-C4263B8D0CCB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FEC1EAC7-7486-1940-C142-B3AFFAFBEF9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60" name="Flowchart: Delay 159">
                  <a:extLst>
                    <a:ext uri="{FF2B5EF4-FFF2-40B4-BE49-F238E27FC236}">
                      <a16:creationId xmlns:a16="http://schemas.microsoft.com/office/drawing/2014/main" id="{0DF8F18F-E3DF-8250-A6F0-E4801ABFE385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65507AF8-2B44-7CD1-1D2F-76C3B267DA7E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1C47286C-3D8D-343B-7E99-312F2637FC5D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Arc 162">
                  <a:extLst>
                    <a:ext uri="{FF2B5EF4-FFF2-40B4-BE49-F238E27FC236}">
                      <a16:creationId xmlns:a16="http://schemas.microsoft.com/office/drawing/2014/main" id="{D7202E7B-0054-DDC0-1C7E-0658A977625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5974C60C-6D0D-7D61-90BA-27C8126D1EF6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B43A3CE8-ECFA-A4D6-89CC-4AD85B0F6D1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78D57A26-42D9-83EA-8FCB-3F5079409B6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0702C4C3-05F6-7044-BE1E-66AB503F9E36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C0A5022-C3CB-B16E-7D40-E3E77D479580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3C6B4F5-9793-80BE-C695-D9E4ABF2CDC5}"/>
                  </a:ext>
                </a:extLst>
              </p:cNvPr>
              <p:cNvSpPr txBox="1"/>
              <p:nvPr/>
            </p:nvSpPr>
            <p:spPr>
              <a:xfrm>
                <a:off x="1452301" y="3576795"/>
                <a:ext cx="12411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⊗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3C6B4F5-9793-80BE-C695-D9E4ABF2C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01" y="3576795"/>
                <a:ext cx="1241112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9D7E182A-1B1E-A6C5-63CF-83D08E898806}"/>
                  </a:ext>
                </a:extLst>
              </p:cNvPr>
              <p:cNvSpPr txBox="1"/>
              <p:nvPr/>
            </p:nvSpPr>
            <p:spPr>
              <a:xfrm>
                <a:off x="311082" y="3581714"/>
                <a:ext cx="623348" cy="313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9D7E182A-1B1E-A6C5-63CF-83D08E898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82" y="3581714"/>
                <a:ext cx="623348" cy="3136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B9159FC6-D360-44A3-53E1-01FADE2566F7}"/>
                  </a:ext>
                </a:extLst>
              </p:cNvPr>
              <p:cNvSpPr txBox="1"/>
              <p:nvPr/>
            </p:nvSpPr>
            <p:spPr>
              <a:xfrm>
                <a:off x="3164634" y="3559216"/>
                <a:ext cx="690909" cy="313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sSub>
                          <m:sSubPr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1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B9159FC6-D360-44A3-53E1-01FADE256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634" y="3559216"/>
                <a:ext cx="690909" cy="313676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C4D36FE-8ECB-992F-BE1A-060142B67E4E}"/>
              </a:ext>
            </a:extLst>
          </p:cNvPr>
          <p:cNvSpPr txBox="1"/>
          <p:nvPr/>
        </p:nvSpPr>
        <p:spPr>
          <a:xfrm>
            <a:off x="6702376" y="6441329"/>
            <a:ext cx="5607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D. </a:t>
            </a:r>
            <a:r>
              <a:rPr lang="en-US" sz="1000" dirty="0" err="1"/>
              <a:t>Fattal</a:t>
            </a:r>
            <a:r>
              <a:rPr lang="en-US" sz="1000" dirty="0"/>
              <a:t>, E. Diamanti, K. Inoue, and Y. Yamamoto Phys. Rev. Lett. 92, 037904</a:t>
            </a:r>
          </a:p>
          <a:p>
            <a:pPr marL="228600" indent="-228600">
              <a:buAutoNum type="arabicPeriod"/>
            </a:pPr>
            <a:r>
              <a:rPr lang="en-US" sz="1000" dirty="0"/>
              <a:t>Robert </a:t>
            </a:r>
            <a:r>
              <a:rPr lang="en-US" sz="1000" dirty="0" err="1"/>
              <a:t>Czupryniak</a:t>
            </a:r>
            <a:r>
              <a:rPr lang="en-US" sz="1000" dirty="0"/>
              <a:t>, Eric </a:t>
            </a:r>
            <a:r>
              <a:rPr lang="en-US" sz="1000" dirty="0" err="1"/>
              <a:t>Chitambar</a:t>
            </a:r>
            <a:r>
              <a:rPr lang="en-US" sz="1000" dirty="0"/>
              <a:t>, John Steinmetz, and Andrew N. Jordan Phys. Rev. A </a:t>
            </a:r>
            <a:r>
              <a:rPr lang="en-US" sz="1000" b="1" dirty="0"/>
              <a:t>106</a:t>
            </a:r>
            <a:r>
              <a:rPr lang="en-US" sz="1000" dirty="0"/>
              <a:t>, 032424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2FE865-AAF0-B5B3-6165-7EC74A231FBC}"/>
              </a:ext>
            </a:extLst>
          </p:cNvPr>
          <p:cNvCxnSpPr>
            <a:cxnSpLocks/>
          </p:cNvCxnSpPr>
          <p:nvPr/>
        </p:nvCxnSpPr>
        <p:spPr>
          <a:xfrm>
            <a:off x="6819900" y="6433131"/>
            <a:ext cx="5372100" cy="0"/>
          </a:xfrm>
          <a:prstGeom prst="line">
            <a:avLst/>
          </a:prstGeom>
          <a:ln w="22225">
            <a:solidFill>
              <a:srgbClr val="EE5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30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telescope with CV quantum teleportation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549411-AEF5-10C9-6A19-00540185695C}"/>
              </a:ext>
            </a:extLst>
          </p:cNvPr>
          <p:cNvGrpSpPr/>
          <p:nvPr/>
        </p:nvGrpSpPr>
        <p:grpSpPr>
          <a:xfrm>
            <a:off x="1024769" y="2566281"/>
            <a:ext cx="2488156" cy="1617085"/>
            <a:chOff x="7851736" y="3218902"/>
            <a:chExt cx="3748644" cy="228487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26CB53F-C970-1E48-4585-F70793D2B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3271692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2CEFAE4-B29B-B5F0-80FF-C6C85730CF7F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73" name="Flowchart: Delay 72">
                <a:extLst>
                  <a:ext uri="{FF2B5EF4-FFF2-40B4-BE49-F238E27FC236}">
                    <a16:creationId xmlns:a16="http://schemas.microsoft.com/office/drawing/2014/main" id="{F4C9AF45-F8FA-3FC9-5C29-6B5252D88F0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3D63F49-8515-1C1D-CF16-62DCD5D7E4B6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DBE2FFA-6679-C18B-7898-F77DB1F96E9A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71" name="Flowchart: Delay 70">
                <a:extLst>
                  <a:ext uri="{FF2B5EF4-FFF2-40B4-BE49-F238E27FC236}">
                    <a16:creationId xmlns:a16="http://schemas.microsoft.com/office/drawing/2014/main" id="{A73A3F6C-53A9-9EF2-9050-20F46FAD228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A3B3D42-2409-7EB1-6946-6EF5FC447FF8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77399C-4A52-ECC7-3E12-AF90F994C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2D7A78-E6D2-4140-29A1-4D38CF0CE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99E37F-388F-1F2B-9AE5-76848E088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371" y="3312244"/>
              <a:ext cx="13561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DD55024-8F47-D677-3E49-4A3F668B4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0BD1CE2-EC3D-848C-EBB7-7FFD19E38F4B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4077359"/>
              <a:ext cx="0" cy="103212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281301E-E63C-4091-5831-986D5A9F5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8C41A2-20E8-3CE1-9E9F-4CD12D5B4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1394" y="4061623"/>
              <a:ext cx="1311" cy="104786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C364893-3AC1-5EA3-EB76-8E664B397478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69" name="Flowchart: Delay 68">
                <a:extLst>
                  <a:ext uri="{FF2B5EF4-FFF2-40B4-BE49-F238E27FC236}">
                    <a16:creationId xmlns:a16="http://schemas.microsoft.com/office/drawing/2014/main" id="{5F59AE7D-A04E-CF8D-7131-5DE18D85A41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6273874-48B8-4316-44AF-753328A88CA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9251FA2-8DD2-0CA8-394F-3AB7050CBEFF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67" name="Flowchart: Delay 66">
                <a:extLst>
                  <a:ext uri="{FF2B5EF4-FFF2-40B4-BE49-F238E27FC236}">
                    <a16:creationId xmlns:a16="http://schemas.microsoft.com/office/drawing/2014/main" id="{6E35890A-F5EB-583A-9A29-2328E94D568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54FE819-8819-AFC8-3DD4-A14DC602948A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FAC9AD-CF56-B149-E20A-83FA034515DA}"/>
                </a:ext>
              </a:extLst>
            </p:cNvPr>
            <p:cNvSpPr/>
            <p:nvPr/>
          </p:nvSpPr>
          <p:spPr>
            <a:xfrm>
              <a:off x="8465817" y="5109485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/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𝑀𝑆𝑉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BAFC38-5013-C10B-22C8-6AEAE0224D0D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684635" y="2413194"/>
            <a:ext cx="261138" cy="303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58BA99B-B694-B9B4-6BE5-2603A51BD9C5}"/>
              </a:ext>
            </a:extLst>
          </p:cNvPr>
          <p:cNvSpPr txBox="1"/>
          <p:nvPr/>
        </p:nvSpPr>
        <p:spPr>
          <a:xfrm>
            <a:off x="0" y="1841845"/>
            <a:ext cx="15088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/>
              <a:t>Homodyne measurement </a:t>
            </a:r>
            <a:endParaRPr lang="en-US" sz="13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DFC9882-B10F-E955-3F4E-A31FF9A755BC}"/>
              </a:ext>
            </a:extLst>
          </p:cNvPr>
          <p:cNvCxnSpPr/>
          <p:nvPr/>
        </p:nvCxnSpPr>
        <p:spPr>
          <a:xfrm>
            <a:off x="955414" y="2751053"/>
            <a:ext cx="0" cy="5772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EFAFC2-C8B8-A7DC-B7EF-7112B10C1735}"/>
              </a:ext>
            </a:extLst>
          </p:cNvPr>
          <p:cNvCxnSpPr>
            <a:cxnSpLocks/>
          </p:cNvCxnSpPr>
          <p:nvPr/>
        </p:nvCxnSpPr>
        <p:spPr>
          <a:xfrm flipH="1">
            <a:off x="766420" y="3095781"/>
            <a:ext cx="24136" cy="47063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FB5B8E5-9B03-AF3C-6FEA-D76CA1BB4AFE}"/>
              </a:ext>
            </a:extLst>
          </p:cNvPr>
          <p:cNvCxnSpPr>
            <a:cxnSpLocks/>
          </p:cNvCxnSpPr>
          <p:nvPr/>
        </p:nvCxnSpPr>
        <p:spPr>
          <a:xfrm flipH="1">
            <a:off x="800081" y="3553355"/>
            <a:ext cx="200657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76A081-8C9A-E6BC-FBA3-84D3F051FB44}"/>
              </a:ext>
            </a:extLst>
          </p:cNvPr>
          <p:cNvCxnSpPr>
            <a:cxnSpLocks/>
          </p:cNvCxnSpPr>
          <p:nvPr/>
        </p:nvCxnSpPr>
        <p:spPr>
          <a:xfrm flipH="1">
            <a:off x="820893" y="3079021"/>
            <a:ext cx="140986" cy="15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BC4D786-6998-DCAB-FD82-529934C48244}"/>
              </a:ext>
            </a:extLst>
          </p:cNvPr>
          <p:cNvSpPr/>
          <p:nvPr/>
        </p:nvSpPr>
        <p:spPr>
          <a:xfrm>
            <a:off x="2828534" y="3272022"/>
            <a:ext cx="285029" cy="5449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/>
              <p:nvPr/>
            </p:nvSpPr>
            <p:spPr>
              <a:xfrm>
                <a:off x="107154" y="3029217"/>
                <a:ext cx="6938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4" y="3029217"/>
                <a:ext cx="693881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/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blipFill>
                <a:blip r:embed="rId5"/>
                <a:stretch>
                  <a:fillRect t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8A33DAD3-ED50-1EE7-771F-46DD98544A17}"/>
              </a:ext>
            </a:extLst>
          </p:cNvPr>
          <p:cNvSpPr txBox="1"/>
          <p:nvPr/>
        </p:nvSpPr>
        <p:spPr>
          <a:xfrm>
            <a:off x="1156087" y="4214377"/>
            <a:ext cx="289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Quantum telescope (CV)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/>
              <p:nvPr/>
            </p:nvSpPr>
            <p:spPr>
              <a:xfrm>
                <a:off x="4008803" y="1136377"/>
                <a:ext cx="8183197" cy="2716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Quantum telescope: CV quantum teleportation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Instead of using the shared path-entangled state, two-mode squeeze vacuum states (TMSV) are shared between two telescopes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eqArr>
                            <m:eqArr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eqAr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sup>
                      </m:sSup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</a:t>
                </a:r>
                <a:r>
                  <a:rPr lang="en-US" sz="1400" dirty="0"/>
                  <a:t>Where r is the squeezing level</a:t>
                </a:r>
              </a:p>
              <a:p>
                <a:endParaRPr lang="en-US" sz="1700" dirty="0"/>
              </a:p>
              <a:p>
                <a:endParaRPr lang="en-US" sz="1700" dirty="0"/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803" y="1136377"/>
                <a:ext cx="8183197" cy="2716128"/>
              </a:xfrm>
              <a:prstGeom prst="rect">
                <a:avLst/>
              </a:prstGeom>
              <a:blipFill>
                <a:blip r:embed="rId6"/>
                <a:stretch>
                  <a:fillRect l="-774"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7096EB-B6F0-A41C-0A8B-EB5D6F0A82DE}"/>
                  </a:ext>
                </a:extLst>
              </p:cNvPr>
              <p:cNvSpPr txBox="1"/>
              <p:nvPr/>
            </p:nvSpPr>
            <p:spPr>
              <a:xfrm>
                <a:off x="684635" y="2274575"/>
                <a:ext cx="70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7096EB-B6F0-A41C-0A8B-EB5D6F0A8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5" y="2274575"/>
                <a:ext cx="70690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7E958-F4CB-219B-A479-8FBC4BD7A999}"/>
                  </a:ext>
                </a:extLst>
              </p:cNvPr>
              <p:cNvSpPr txBox="1"/>
              <p:nvPr/>
            </p:nvSpPr>
            <p:spPr>
              <a:xfrm>
                <a:off x="684635" y="3343725"/>
                <a:ext cx="70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7E958-F4CB-219B-A479-8FBC4BD7A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5" y="3343725"/>
                <a:ext cx="70690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18F3584-5E6B-DB22-EBF3-C2D43F8735FF}"/>
              </a:ext>
            </a:extLst>
          </p:cNvPr>
          <p:cNvSpPr/>
          <p:nvPr/>
        </p:nvSpPr>
        <p:spPr>
          <a:xfrm>
            <a:off x="115533" y="4637721"/>
            <a:ext cx="4397090" cy="2122135"/>
          </a:xfrm>
          <a:prstGeom prst="rect">
            <a:avLst/>
          </a:prstGeom>
          <a:solidFill>
            <a:schemeClr val="bg1"/>
          </a:solidFill>
          <a:ln w="50800"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55748E-5DEE-43CB-05D5-B28F7BBFBC8E}"/>
                  </a:ext>
                </a:extLst>
              </p:cNvPr>
              <p:cNvSpPr txBox="1"/>
              <p:nvPr/>
            </p:nvSpPr>
            <p:spPr>
              <a:xfrm>
                <a:off x="82467" y="4718996"/>
                <a:ext cx="443015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Mix TMSV with source light at telescope L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Perform quadrature measurement (homodyne) at the two output ports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Correct the teleported state by displacement operation with local communication.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Make direct interference measurement at telescope R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55748E-5DEE-43CB-05D5-B28F7BBF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7" y="4718996"/>
                <a:ext cx="4430156" cy="2031325"/>
              </a:xfrm>
              <a:prstGeom prst="rect">
                <a:avLst/>
              </a:prstGeom>
              <a:blipFill>
                <a:blip r:embed="rId9"/>
                <a:stretch>
                  <a:fillRect l="-571" t="-621" r="-857" b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0C5168A-CEC3-40CD-01CA-2386EEF44C63}"/>
              </a:ext>
            </a:extLst>
          </p:cNvPr>
          <p:cNvGrpSpPr/>
          <p:nvPr/>
        </p:nvGrpSpPr>
        <p:grpSpPr>
          <a:xfrm>
            <a:off x="1296142" y="1188872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04D3C5F-7040-1E37-115D-D8D576B29B74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2B3AEA0-AE1B-3F67-35BA-8D39D43A3C6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7" name="Flowchart: Delay 26">
                  <a:extLst>
                    <a:ext uri="{FF2B5EF4-FFF2-40B4-BE49-F238E27FC236}">
                      <a16:creationId xmlns:a16="http://schemas.microsoft.com/office/drawing/2014/main" id="{99E04982-D674-3FB6-E121-B52A7ED2A7F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58111E8-930F-AAEE-1CD2-1BFEE9412FA9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61C1875-5C67-94F6-D1A3-98490757D0D9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471BA69E-3733-0419-E98B-5D5DF5E5DBBC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C2AC147-9396-A970-7181-B101BC3CBF8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A046968-2C2B-1EF8-78D0-3D43777390B1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C9F5BF7-402B-E96C-C710-24432E7F8ED9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910F6C4-5DC9-E853-6568-2C4ACBF05BB0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3497731-B14E-F7B2-4A4F-657B0BF4479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" name="Graphic 7" descr="Solar system with solid fill">
              <a:extLst>
                <a:ext uri="{FF2B5EF4-FFF2-40B4-BE49-F238E27FC236}">
                  <a16:creationId xmlns:a16="http://schemas.microsoft.com/office/drawing/2014/main" id="{4BE6BD50-7D94-F1A9-3EFE-0CE3C343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75B4C1F-9CCB-CC49-170C-87D7F8B33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19A2BA8-5FAF-F61E-3AAB-203C4F458689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48A2CC-7D24-0A1D-A7F7-20217B90CB25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8A05217-64D5-783E-A4EA-DE5A1E5178F3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7" name="Flowchart: Delay 16">
                  <a:extLst>
                    <a:ext uri="{FF2B5EF4-FFF2-40B4-BE49-F238E27FC236}">
                      <a16:creationId xmlns:a16="http://schemas.microsoft.com/office/drawing/2014/main" id="{ACA00E97-2429-1910-B61F-630498984069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7B04CA9-F00A-C9ED-D7E2-6AF0934E1BF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15102E5-AE43-9D38-6F75-809508BF6BD2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98C0F28C-4A32-59F8-8142-F4DE4786FEE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FE741D1-8BAE-6A68-4787-5E37BFBAE040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E30148-48A8-D7AA-1B20-A8E8AF356005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C032CB3-0288-B3C9-4F8B-D33EAA179920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1C20F78-D131-8A99-2BB0-65120AD4664B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CC8C78C-752D-9F71-015A-6CEB3412793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8F12919-5E10-123E-DB54-8107001AEE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3801465"/>
            <a:ext cx="4425017" cy="2722511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D9821D-D647-9C21-ACDA-F9DAA56F035B}"/>
              </a:ext>
            </a:extLst>
          </p:cNvPr>
          <p:cNvCxnSpPr>
            <a:cxnSpLocks/>
          </p:cNvCxnSpPr>
          <p:nvPr/>
        </p:nvCxnSpPr>
        <p:spPr>
          <a:xfrm flipV="1">
            <a:off x="5751954" y="4883601"/>
            <a:ext cx="340469" cy="27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C9C5405-5CB9-BCCC-FF00-6CD76A2A869F}"/>
              </a:ext>
            </a:extLst>
          </p:cNvPr>
          <p:cNvSpPr txBox="1"/>
          <p:nvPr/>
        </p:nvSpPr>
        <p:spPr>
          <a:xfrm>
            <a:off x="4761014" y="4883601"/>
            <a:ext cx="141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Fisher information 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AA9334-F7BC-CC1B-CBD0-A480310B9934}"/>
              </a:ext>
            </a:extLst>
          </p:cNvPr>
          <p:cNvSpPr txBox="1"/>
          <p:nvPr/>
        </p:nvSpPr>
        <p:spPr>
          <a:xfrm>
            <a:off x="6330540" y="6569511"/>
            <a:ext cx="454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Fisher information given different source intensity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4EBA45-8760-CF18-F298-0657D1646A0F}"/>
              </a:ext>
            </a:extLst>
          </p:cNvPr>
          <p:cNvSpPr txBox="1"/>
          <p:nvPr/>
        </p:nvSpPr>
        <p:spPr>
          <a:xfrm>
            <a:off x="5308281" y="3304802"/>
            <a:ext cx="2510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CV scheme is comparable to DV scheme in the weak limit</a:t>
            </a:r>
            <a:endParaRPr lang="en-US" sz="20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D33B68-7D0D-73C4-9513-3C383BFBB694}"/>
              </a:ext>
            </a:extLst>
          </p:cNvPr>
          <p:cNvCxnSpPr>
            <a:cxnSpLocks/>
          </p:cNvCxnSpPr>
          <p:nvPr/>
        </p:nvCxnSpPr>
        <p:spPr>
          <a:xfrm>
            <a:off x="7177743" y="3790980"/>
            <a:ext cx="752475" cy="65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CF6295-C22B-FE70-256F-547FC044EF18}"/>
              </a:ext>
            </a:extLst>
          </p:cNvPr>
          <p:cNvCxnSpPr>
            <a:cxnSpLocks/>
          </p:cNvCxnSpPr>
          <p:nvPr/>
        </p:nvCxnSpPr>
        <p:spPr>
          <a:xfrm flipH="1">
            <a:off x="10054293" y="3711278"/>
            <a:ext cx="466724" cy="461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6950A3-BC59-2F2E-C76E-8A6E6796C0F5}"/>
              </a:ext>
            </a:extLst>
          </p:cNvPr>
          <p:cNvSpPr txBox="1"/>
          <p:nvPr/>
        </p:nvSpPr>
        <p:spPr>
          <a:xfrm>
            <a:off x="9061653" y="3228287"/>
            <a:ext cx="318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CV scheme is comparable to Heterodyne scheme in the weak limit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280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/>
              <p:nvPr/>
            </p:nvSpPr>
            <p:spPr>
              <a:xfrm>
                <a:off x="4181836" y="896450"/>
                <a:ext cx="8008740" cy="5863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Quantum telescope: CV quantum teleportation</a:t>
                </a:r>
              </a:p>
              <a:p>
                <a:endParaRPr lang="en-US" sz="17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In the non-ideal case, the estimating of visibility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/>
                  <a:t> and the corresponding optimal measurement can be computed via </a:t>
                </a:r>
                <a:r>
                  <a:rPr lang="en-US" sz="1600" i="1" u="sng" dirty="0" err="1"/>
                  <a:t>Guassian</a:t>
                </a:r>
                <a:r>
                  <a:rPr lang="en-US" sz="1600" i="1" u="sng" dirty="0"/>
                  <a:t> state quantum metrology</a:t>
                </a: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To achieve nearly optimal QFI, the squeezing parameter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need to be made comparable to the source intensity.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baseline="-25000" dirty="0"/>
              </a:p>
              <a:p>
                <a:r>
                  <a:rPr lang="en-US" sz="1200" dirty="0"/>
                  <a:t>                    </a:t>
                </a:r>
              </a:p>
              <a:p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r>
                  <a:rPr lang="en-US" sz="1200" dirty="0"/>
                  <a:t>     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36" y="896450"/>
                <a:ext cx="8008740" cy="5863144"/>
              </a:xfrm>
              <a:prstGeom prst="rect">
                <a:avLst/>
              </a:prstGeom>
              <a:blipFill>
                <a:blip r:embed="rId3"/>
                <a:stretch>
                  <a:fillRect l="-837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telescope with CV quantum teleportation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1564414-02D0-2843-7E9B-775EF91D0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149" y="2207456"/>
            <a:ext cx="3244929" cy="21165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2141EB-AA64-FC36-A2CA-5687668898E1}"/>
                  </a:ext>
                </a:extLst>
              </p:cNvPr>
              <p:cNvSpPr txBox="1"/>
              <p:nvPr/>
            </p:nvSpPr>
            <p:spPr>
              <a:xfrm>
                <a:off x="5327014" y="1975080"/>
                <a:ext cx="1655742" cy="31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2141EB-AA64-FC36-A2CA-568766889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014" y="1975080"/>
                <a:ext cx="1655742" cy="3101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377965-2F9C-F9B5-7550-F3A1EC4A19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10" y="4856477"/>
            <a:ext cx="4165094" cy="1844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686CBD-A01C-A41D-2AB0-E3F3AEFDDB5F}"/>
                  </a:ext>
                </a:extLst>
              </p:cNvPr>
              <p:cNvSpPr txBox="1"/>
              <p:nvPr/>
            </p:nvSpPr>
            <p:spPr>
              <a:xfrm>
                <a:off x="8711604" y="5218788"/>
                <a:ext cx="3279533" cy="1300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Note: For CV-quantum teleportation, loss is more will also degrade the quality of two-mode squeeze state, and thus we define: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/>
                  <a:t> </a:t>
                </a:r>
              </a:p>
              <a:p>
                <a:r>
                  <a:rPr lang="en-US" sz="1100" dirty="0"/>
                  <a:t>Where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100" dirty="0"/>
                  <a:t> is the original squeezing level,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100" dirty="0"/>
                  <a:t> is the overall transmission coefficient. Which can be mitigated by using CV quantum repeaters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686CBD-A01C-A41D-2AB0-E3F3AEFDD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604" y="5218788"/>
                <a:ext cx="3279533" cy="1300292"/>
              </a:xfrm>
              <a:prstGeom prst="rect">
                <a:avLst/>
              </a:prstGeom>
              <a:blipFill>
                <a:blip r:embed="rId14"/>
                <a:stretch>
                  <a:fillRect t="-469" b="-2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248C17F-55CE-7D61-E553-D75F9CBA18D4}"/>
                  </a:ext>
                </a:extLst>
              </p:cNvPr>
              <p:cNvSpPr txBox="1"/>
              <p:nvPr/>
            </p:nvSpPr>
            <p:spPr>
              <a:xfrm>
                <a:off x="7499201" y="2278928"/>
                <a:ext cx="44199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Fig: Quantum Fisher information given different squeezing parameter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1200" dirty="0"/>
                  <a:t>, which can be saturated direct interference  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248C17F-55CE-7D61-E553-D75F9CBA1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201" y="2278928"/>
                <a:ext cx="4419928" cy="461665"/>
              </a:xfrm>
              <a:prstGeom prst="rect">
                <a:avLst/>
              </a:prstGeom>
              <a:blipFill>
                <a:blip r:embed="rId15"/>
                <a:stretch>
                  <a:fillRect t="-131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19D034-C09E-6AC6-E320-786230299EDA}"/>
                  </a:ext>
                </a:extLst>
              </p:cNvPr>
              <p:cNvSpPr txBox="1"/>
              <p:nvPr/>
            </p:nvSpPr>
            <p:spPr>
              <a:xfrm>
                <a:off x="6212903" y="2420706"/>
                <a:ext cx="4624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𝜃𝜃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19D034-C09E-6AC6-E320-786230299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903" y="2420706"/>
                <a:ext cx="462409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47C09C0-68C5-92EE-6F84-1A4E91838BAA}"/>
                  </a:ext>
                </a:extLst>
              </p:cNvPr>
              <p:cNvSpPr txBox="1"/>
              <p:nvPr/>
            </p:nvSpPr>
            <p:spPr>
              <a:xfrm>
                <a:off x="6212903" y="2989287"/>
                <a:ext cx="462409" cy="292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47C09C0-68C5-92EE-6F84-1A4E91838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903" y="2989287"/>
                <a:ext cx="462409" cy="29206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0" name="Picture 89">
            <a:extLst>
              <a:ext uri="{FF2B5EF4-FFF2-40B4-BE49-F238E27FC236}">
                <a16:creationId xmlns:a16="http://schemas.microsoft.com/office/drawing/2014/main" id="{BEC75730-9385-F867-C7EF-595BDA10458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83771" y="3018929"/>
            <a:ext cx="1934370" cy="88538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B3835AC-0563-8158-9AC4-EEFC6F596B7D}"/>
              </a:ext>
            </a:extLst>
          </p:cNvPr>
          <p:cNvGrpSpPr/>
          <p:nvPr/>
        </p:nvGrpSpPr>
        <p:grpSpPr>
          <a:xfrm>
            <a:off x="1024769" y="2566281"/>
            <a:ext cx="2488156" cy="1617085"/>
            <a:chOff x="7851736" y="3218902"/>
            <a:chExt cx="3748644" cy="2284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2A00F-6151-C0F9-6A74-4796FAC292FB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3271692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E6B9140-76FD-AC6C-3951-2BD7475ABA7F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98" name="Flowchart: Delay 97">
                <a:extLst>
                  <a:ext uri="{FF2B5EF4-FFF2-40B4-BE49-F238E27FC236}">
                    <a16:creationId xmlns:a16="http://schemas.microsoft.com/office/drawing/2014/main" id="{E84D8013-54DB-E19E-EB38-8256393F266E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C6BD45CC-6A97-12A1-3587-22218CBBACF0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A750B3-9A0F-4CFA-2F36-16D61A75E584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94" name="Flowchart: Delay 93">
                <a:extLst>
                  <a:ext uri="{FF2B5EF4-FFF2-40B4-BE49-F238E27FC236}">
                    <a16:creationId xmlns:a16="http://schemas.microsoft.com/office/drawing/2014/main" id="{9E36A278-2E31-16D9-C5D8-8EBB07B73968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CDFB0EA-1D3B-EED3-CAE8-4BFC38D8DCD2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89B41F-A3FF-B551-3F2A-898C6A2B2E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3947F5-91D8-2C75-0487-97A46A4578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8BF8E0D-DB3A-064A-A105-B8D2CC1B5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371" y="3312244"/>
              <a:ext cx="13561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1207D9D-1C76-3691-D2A3-5E52A80EE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F79EF7-31DB-05EF-D3A4-CCFBEB8E40C0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4077359"/>
              <a:ext cx="0" cy="103212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56CF04A-D41C-608D-7D77-0763EADC73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6886C13-6F4A-F462-1A2B-B7CE4F699B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1394" y="4061623"/>
              <a:ext cx="1311" cy="104786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3ED9571-557D-D2C0-90A6-7C9A233B3151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91" name="Flowchart: Delay 90">
                <a:extLst>
                  <a:ext uri="{FF2B5EF4-FFF2-40B4-BE49-F238E27FC236}">
                    <a16:creationId xmlns:a16="http://schemas.microsoft.com/office/drawing/2014/main" id="{720E5521-16D4-954F-E8B1-FF4EFFD2484C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22319AA-372C-5E1A-9F92-2B20D60489A6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51AC10F-6F67-0B4E-9F9B-DED4F226C14D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85" name="Flowchart: Delay 84">
                <a:extLst>
                  <a:ext uri="{FF2B5EF4-FFF2-40B4-BE49-F238E27FC236}">
                    <a16:creationId xmlns:a16="http://schemas.microsoft.com/office/drawing/2014/main" id="{E6D04A03-D212-9A16-5176-25BB52EFB3AA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6BB839B-D918-18E8-F608-37793CD00287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017BB6A-E00F-63A4-6E46-7758B7E3BECE}"/>
                </a:ext>
              </a:extLst>
            </p:cNvPr>
            <p:cNvSpPr/>
            <p:nvPr/>
          </p:nvSpPr>
          <p:spPr>
            <a:xfrm>
              <a:off x="8465817" y="5109485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DEEAC035-417D-F16E-B873-F38EB2675602}"/>
                    </a:ext>
                  </a:extLst>
                </p:cNvPr>
                <p:cNvSpPr txBox="1"/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𝑀𝑆𝑉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48E71A5-00CD-1333-FF2C-8CD2B44F0C2C}"/>
              </a:ext>
            </a:extLst>
          </p:cNvPr>
          <p:cNvCxnSpPr>
            <a:cxnSpLocks/>
            <a:stCxn id="111" idx="1"/>
          </p:cNvCxnSpPr>
          <p:nvPr/>
        </p:nvCxnSpPr>
        <p:spPr>
          <a:xfrm>
            <a:off x="684635" y="2413194"/>
            <a:ext cx="261138" cy="303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E28FAFD-2838-3086-6BCD-90BC5A82FA5E}"/>
              </a:ext>
            </a:extLst>
          </p:cNvPr>
          <p:cNvSpPr txBox="1"/>
          <p:nvPr/>
        </p:nvSpPr>
        <p:spPr>
          <a:xfrm>
            <a:off x="0" y="1841845"/>
            <a:ext cx="15088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/>
              <a:t>Homodyne measurement </a:t>
            </a:r>
            <a:endParaRPr lang="en-US" sz="1300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86ED04A-8344-CC17-D92B-B3AD346D01A3}"/>
              </a:ext>
            </a:extLst>
          </p:cNvPr>
          <p:cNvCxnSpPr/>
          <p:nvPr/>
        </p:nvCxnSpPr>
        <p:spPr>
          <a:xfrm>
            <a:off x="955414" y="2751053"/>
            <a:ext cx="0" cy="5772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25AA0AD-19C2-1464-B94F-BC0634BE823A}"/>
              </a:ext>
            </a:extLst>
          </p:cNvPr>
          <p:cNvCxnSpPr>
            <a:cxnSpLocks/>
          </p:cNvCxnSpPr>
          <p:nvPr/>
        </p:nvCxnSpPr>
        <p:spPr>
          <a:xfrm flipH="1">
            <a:off x="766420" y="3095781"/>
            <a:ext cx="24136" cy="47063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868A26F-2745-58CB-FABC-EA59D5EA620F}"/>
              </a:ext>
            </a:extLst>
          </p:cNvPr>
          <p:cNvCxnSpPr>
            <a:cxnSpLocks/>
          </p:cNvCxnSpPr>
          <p:nvPr/>
        </p:nvCxnSpPr>
        <p:spPr>
          <a:xfrm flipH="1">
            <a:off x="800081" y="3553355"/>
            <a:ext cx="200657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06618AF-25B2-E12E-B256-7CE0368AF153}"/>
              </a:ext>
            </a:extLst>
          </p:cNvPr>
          <p:cNvCxnSpPr>
            <a:cxnSpLocks/>
          </p:cNvCxnSpPr>
          <p:nvPr/>
        </p:nvCxnSpPr>
        <p:spPr>
          <a:xfrm flipH="1">
            <a:off x="820893" y="3079021"/>
            <a:ext cx="140986" cy="15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186BDA4-C5B8-B724-B87B-B5F3CCE5EF44}"/>
              </a:ext>
            </a:extLst>
          </p:cNvPr>
          <p:cNvSpPr/>
          <p:nvPr/>
        </p:nvSpPr>
        <p:spPr>
          <a:xfrm>
            <a:off x="2828534" y="3272022"/>
            <a:ext cx="285029" cy="5449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9B383B9-1AFF-DC22-5BF5-DA61777B4F5E}"/>
                  </a:ext>
                </a:extLst>
              </p:cNvPr>
              <p:cNvSpPr txBox="1"/>
              <p:nvPr/>
            </p:nvSpPr>
            <p:spPr>
              <a:xfrm>
                <a:off x="107154" y="3029217"/>
                <a:ext cx="6938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9B383B9-1AFF-DC22-5BF5-DA61777B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4" y="3029217"/>
                <a:ext cx="693881" cy="307777"/>
              </a:xfrm>
              <a:prstGeom prst="rect">
                <a:avLst/>
              </a:prstGeom>
              <a:blipFill>
                <a:blip r:embed="rId2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CF90B69-1C53-6C7C-7E6B-4246D33BFAA3}"/>
                  </a:ext>
                </a:extLst>
              </p:cNvPr>
              <p:cNvSpPr txBox="1"/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CF90B69-1C53-6C7C-7E6B-4246D33BF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blipFill>
                <a:blip r:embed="rId24"/>
                <a:stretch>
                  <a:fillRect t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1FA77DDD-6542-BB6B-4F66-09A090C5C351}"/>
              </a:ext>
            </a:extLst>
          </p:cNvPr>
          <p:cNvSpPr txBox="1"/>
          <p:nvPr/>
        </p:nvSpPr>
        <p:spPr>
          <a:xfrm>
            <a:off x="1156087" y="4214377"/>
            <a:ext cx="289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Quantum telescope (CV)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D6DAA6D-66A9-18C9-A8B1-05E7C0FD1DEA}"/>
                  </a:ext>
                </a:extLst>
              </p:cNvPr>
              <p:cNvSpPr txBox="1"/>
              <p:nvPr/>
            </p:nvSpPr>
            <p:spPr>
              <a:xfrm>
                <a:off x="684635" y="2274575"/>
                <a:ext cx="70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D6DAA6D-66A9-18C9-A8B1-05E7C0FD1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5" y="2274575"/>
                <a:ext cx="706903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638A8CA-7FAA-3906-7CF4-25EC2DD2337E}"/>
                  </a:ext>
                </a:extLst>
              </p:cNvPr>
              <p:cNvSpPr txBox="1"/>
              <p:nvPr/>
            </p:nvSpPr>
            <p:spPr>
              <a:xfrm>
                <a:off x="684635" y="3343725"/>
                <a:ext cx="70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638A8CA-7FAA-3906-7CF4-25EC2DD2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5" y="3343725"/>
                <a:ext cx="706903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066350D-551A-B3BC-7F5A-CB68B59B533E}"/>
              </a:ext>
            </a:extLst>
          </p:cNvPr>
          <p:cNvGrpSpPr/>
          <p:nvPr/>
        </p:nvGrpSpPr>
        <p:grpSpPr>
          <a:xfrm>
            <a:off x="1296142" y="1188872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EC36312-36B0-71DE-D01C-44E323508027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5D59753D-2289-A9E9-A7A0-646EE07FEF1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31" name="Flowchart: Delay 130">
                  <a:extLst>
                    <a:ext uri="{FF2B5EF4-FFF2-40B4-BE49-F238E27FC236}">
                      <a16:creationId xmlns:a16="http://schemas.microsoft.com/office/drawing/2014/main" id="{31D61BF9-DF57-AF7C-3388-F238D41D329A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EA2F99F0-BFC5-E545-B5A8-A51EF36BA107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343AC5C-D997-B35D-106A-C0F1750A919A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Arc 133">
                  <a:extLst>
                    <a:ext uri="{FF2B5EF4-FFF2-40B4-BE49-F238E27FC236}">
                      <a16:creationId xmlns:a16="http://schemas.microsoft.com/office/drawing/2014/main" id="{3B89FB2F-ED8A-AAED-C0E6-8F949B21BEE4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20E3A0E2-C681-528D-181D-57672563FB63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06A8FFCF-F616-6F53-3AB9-F894878897D3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6C56EC31-9CC0-B193-81C3-D0D2F31EC2F5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61E4764D-2267-51D3-5805-5BB9188E8C2D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D9939BA-80F0-AC87-D9D1-1D647F9DBE1C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15" name="Graphic 114" descr="Solar system with solid fill">
              <a:extLst>
                <a:ext uri="{FF2B5EF4-FFF2-40B4-BE49-F238E27FC236}">
                  <a16:creationId xmlns:a16="http://schemas.microsoft.com/office/drawing/2014/main" id="{7B1B04D2-037A-38C1-12BB-5513B1E48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D564604-B25A-A927-4E92-B32D5DEAF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6CBBCA3-8568-E039-E957-B1CB3DD14DE3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E21559CF-3B47-5456-16A3-3D701F2D954E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07FBC297-528D-19BF-6E34-51DCF0729CCE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21" name="Flowchart: Delay 120">
                  <a:extLst>
                    <a:ext uri="{FF2B5EF4-FFF2-40B4-BE49-F238E27FC236}">
                      <a16:creationId xmlns:a16="http://schemas.microsoft.com/office/drawing/2014/main" id="{B7436942-E9A4-3EBD-47F3-D9C9DEA1D3D1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0D4B827-FB00-1624-77B6-BE50A4690313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EB20E931-8DB9-B4C5-A3FB-093EE4309C70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Arc 123">
                  <a:extLst>
                    <a:ext uri="{FF2B5EF4-FFF2-40B4-BE49-F238E27FC236}">
                      <a16:creationId xmlns:a16="http://schemas.microsoft.com/office/drawing/2014/main" id="{7E307AE7-E18E-E915-341A-2F6E0615C5F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658A7220-E0E3-6B9F-D11B-E0CEB0DAC4CD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E7D85CD0-9EA1-9761-00CA-494255F3CFE2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926AEA0A-EFBA-5996-72E3-EB48EE5179A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51FCE54-E466-2409-29CE-D99C6359DA05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056200A-B012-C946-9995-8E0BCBE80A3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075A34C-2704-B4CE-4DBA-D3C38553CDF4}"/>
              </a:ext>
            </a:extLst>
          </p:cNvPr>
          <p:cNvSpPr/>
          <p:nvPr/>
        </p:nvSpPr>
        <p:spPr>
          <a:xfrm>
            <a:off x="115533" y="4637721"/>
            <a:ext cx="4397090" cy="2122135"/>
          </a:xfrm>
          <a:prstGeom prst="rect">
            <a:avLst/>
          </a:prstGeom>
          <a:solidFill>
            <a:schemeClr val="bg1"/>
          </a:solidFill>
          <a:ln w="50800"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3585F2-805D-9CDE-8E6F-A7F8D2865D56}"/>
                  </a:ext>
                </a:extLst>
              </p:cNvPr>
              <p:cNvSpPr txBox="1"/>
              <p:nvPr/>
            </p:nvSpPr>
            <p:spPr>
              <a:xfrm>
                <a:off x="82467" y="4718996"/>
                <a:ext cx="443015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Mix TMSV with source light at telescope L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Perform quadrature measurement (homodyne) at the two output ports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Correct the teleported state by displacement operation with local communication.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Make direct interference measurement at telescope R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3585F2-805D-9CDE-8E6F-A7F8D2865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7" y="4718996"/>
                <a:ext cx="4430156" cy="2031325"/>
              </a:xfrm>
              <a:prstGeom prst="rect">
                <a:avLst/>
              </a:prstGeom>
              <a:blipFill>
                <a:blip r:embed="rId29"/>
                <a:stretch>
                  <a:fillRect l="-571" t="-621" r="-857" b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06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5" grpId="0"/>
      <p:bldP spid="76" grpId="0"/>
      <p:bldP spid="87" grpId="0"/>
      <p:bldP spid="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47315E2B-D1CD-EF0B-CE8A-0C445566FDE5}"/>
              </a:ext>
            </a:extLst>
          </p:cNvPr>
          <p:cNvGrpSpPr/>
          <p:nvPr/>
        </p:nvGrpSpPr>
        <p:grpSpPr>
          <a:xfrm>
            <a:off x="9678977" y="1435312"/>
            <a:ext cx="2443731" cy="1674996"/>
            <a:chOff x="8110492" y="1232086"/>
            <a:chExt cx="3506854" cy="2276221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AA77BC2-62D5-4C69-B842-98AC20E16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3223"/>
            <a:stretch/>
          </p:blipFill>
          <p:spPr>
            <a:xfrm>
              <a:off x="8110492" y="1464897"/>
              <a:ext cx="3506854" cy="2043410"/>
            </a:xfrm>
            <a:prstGeom prst="rect">
              <a:avLst/>
            </a:prstGeom>
          </p:spPr>
        </p:pic>
        <p:sp>
          <p:nvSpPr>
            <p:cNvPr id="85" name="Star: 4 Points 84">
              <a:extLst>
                <a:ext uri="{FF2B5EF4-FFF2-40B4-BE49-F238E27FC236}">
                  <a16:creationId xmlns:a16="http://schemas.microsoft.com/office/drawing/2014/main" id="{E06C71BC-31F7-480D-BE16-158AC304F8A8}"/>
                </a:ext>
              </a:extLst>
            </p:cNvPr>
            <p:cNvSpPr/>
            <p:nvPr/>
          </p:nvSpPr>
          <p:spPr>
            <a:xfrm rot="5400000">
              <a:off x="9974205" y="1148743"/>
              <a:ext cx="323850" cy="490536"/>
            </a:xfrm>
            <a:prstGeom prst="star4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Star: 4 Points 86">
              <a:extLst>
                <a:ext uri="{FF2B5EF4-FFF2-40B4-BE49-F238E27FC236}">
                  <a16:creationId xmlns:a16="http://schemas.microsoft.com/office/drawing/2014/main" id="{06833F17-F35B-45AA-B2D7-50D4EC874892}"/>
                </a:ext>
              </a:extLst>
            </p:cNvPr>
            <p:cNvSpPr/>
            <p:nvPr/>
          </p:nvSpPr>
          <p:spPr>
            <a:xfrm rot="5400000">
              <a:off x="9366196" y="1148743"/>
              <a:ext cx="323850" cy="490536"/>
            </a:xfrm>
            <a:prstGeom prst="star4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C6655EA-7F8D-51D4-03EE-07AC72B2E04A}"/>
                </a:ext>
              </a:extLst>
            </p:cNvPr>
            <p:cNvSpPr/>
            <p:nvPr/>
          </p:nvSpPr>
          <p:spPr bwMode="auto">
            <a:xfrm>
              <a:off x="8173768" y="1451909"/>
              <a:ext cx="340017" cy="340017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8405B3-F014-2BBD-DF73-80C15D3DF16D}"/>
              </a:ext>
            </a:extLst>
          </p:cNvPr>
          <p:cNvSpPr txBox="1"/>
          <p:nvPr/>
        </p:nvSpPr>
        <p:spPr>
          <a:xfrm>
            <a:off x="2751816" y="1179854"/>
            <a:ext cx="6821015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Quantum-enhanced imaging: Super-resolution</a:t>
            </a:r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0" dirty="0"/>
              <a:t>Rayleigh’s curse has played a central role in limiting the performance of astronomical imaging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Super-resolution with </a:t>
            </a:r>
            <a:r>
              <a:rPr lang="en-US" sz="1600" i="1" u="sng" dirty="0"/>
              <a:t>direct imaging</a:t>
            </a:r>
            <a:r>
              <a:rPr lang="en-US" sz="1600" i="1" u="sng" baseline="30000" dirty="0"/>
              <a:t>1</a:t>
            </a:r>
            <a:r>
              <a:rPr lang="en-US" sz="1600" i="1" dirty="0"/>
              <a:t> </a:t>
            </a:r>
            <a:r>
              <a:rPr lang="en-US" sz="1600" dirty="0"/>
              <a:t>has been discussed in various different cases</a:t>
            </a:r>
          </a:p>
          <a:p>
            <a:endParaRPr lang="en-US" sz="1600" dirty="0"/>
          </a:p>
          <a:p>
            <a:endParaRPr lang="en-US" sz="1600" dirty="0"/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/>
              <a:t>   Similar discussion can be applied to </a:t>
            </a:r>
            <a:r>
              <a:rPr lang="en-US" sz="1600" u="sng" dirty="0"/>
              <a:t>interferometric imaging</a:t>
            </a:r>
            <a:r>
              <a:rPr lang="en-US" sz="1600" u="sng" baseline="30000" dirty="0"/>
              <a:t>2</a:t>
            </a:r>
            <a:r>
              <a:rPr lang="en-US" sz="1600" u="sng" dirty="0"/>
              <a:t> </a:t>
            </a:r>
            <a:r>
              <a:rPr lang="en-US" sz="1600" dirty="0"/>
              <a:t>and has been discussed in the weak thermal limit. </a:t>
            </a:r>
          </a:p>
          <a:p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   Here we show a complementary super-resolution results in</a:t>
            </a:r>
            <a:r>
              <a:rPr lang="en-US" sz="1600" i="1" dirty="0"/>
              <a:t> </a:t>
            </a:r>
            <a:r>
              <a:rPr lang="en-US" sz="1600" i="1" u="sng" dirty="0"/>
              <a:t>strong-thermal source</a:t>
            </a:r>
            <a:r>
              <a:rPr lang="en-US" sz="1600" i="1" dirty="0"/>
              <a:t> </a:t>
            </a:r>
            <a:r>
              <a:rPr lang="en-US" sz="1600" dirty="0"/>
              <a:t>using Gaussian state quantum metrology.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Quantum-enhanced imaging: Super-resolution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3C008A-F441-0CEA-B8BF-4E6B2A500B0A}"/>
              </a:ext>
            </a:extLst>
          </p:cNvPr>
          <p:cNvSpPr txBox="1"/>
          <p:nvPr/>
        </p:nvSpPr>
        <p:spPr>
          <a:xfrm>
            <a:off x="97325" y="4404963"/>
            <a:ext cx="2774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Super-resolution of two-point strong thermal source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C19609D-1505-9754-2122-1A9BCB1CCFDF}"/>
              </a:ext>
            </a:extLst>
          </p:cNvPr>
          <p:cNvGrpSpPr/>
          <p:nvPr/>
        </p:nvGrpSpPr>
        <p:grpSpPr>
          <a:xfrm>
            <a:off x="9337692" y="3510648"/>
            <a:ext cx="2606671" cy="2352912"/>
            <a:chOff x="8084303" y="1609113"/>
            <a:chExt cx="3940370" cy="3748586"/>
          </a:xfrm>
        </p:grpSpPr>
        <p:pic>
          <p:nvPicPr>
            <p:cNvPr id="40" name="Graphic 39" descr="Satellite dish outline">
              <a:extLst>
                <a:ext uri="{FF2B5EF4-FFF2-40B4-BE49-F238E27FC236}">
                  <a16:creationId xmlns:a16="http://schemas.microsoft.com/office/drawing/2014/main" id="{E20CD67D-C119-61D7-41E1-2E7709ED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8084303" y="1609113"/>
              <a:ext cx="3486150" cy="3323320"/>
            </a:xfrm>
            <a:prstGeom prst="rect">
              <a:avLst/>
            </a:prstGeom>
          </p:spPr>
        </p:pic>
        <p:pic>
          <p:nvPicPr>
            <p:cNvPr id="38" name="Graphic 37" descr="Satellite dish with solid fill">
              <a:extLst>
                <a:ext uri="{FF2B5EF4-FFF2-40B4-BE49-F238E27FC236}">
                  <a16:creationId xmlns:a16="http://schemas.microsoft.com/office/drawing/2014/main" id="{5BA0FF16-7E9C-3311-FB15-017DC3713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9468964" y="4641913"/>
              <a:ext cx="716828" cy="7157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9B680B4-D5F8-0856-2B07-A8801D0F0B82}"/>
                </a:ext>
              </a:extLst>
            </p:cNvPr>
            <p:cNvCxnSpPr/>
            <p:nvPr/>
          </p:nvCxnSpPr>
          <p:spPr>
            <a:xfrm>
              <a:off x="8772525" y="3857625"/>
              <a:ext cx="714375" cy="73342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3" name="Graphic 42" descr="Satellite dish with solid fill">
              <a:extLst>
                <a:ext uri="{FF2B5EF4-FFF2-40B4-BE49-F238E27FC236}">
                  <a16:creationId xmlns:a16="http://schemas.microsoft.com/office/drawing/2014/main" id="{9E2364F7-0EA1-7EFC-BF31-ED306E6E7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11307845" y="3141839"/>
              <a:ext cx="716828" cy="7157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04B8177-93F1-CE99-D9E5-8BB5672FF22D}"/>
                </a:ext>
              </a:extLst>
            </p:cNvPr>
            <p:cNvCxnSpPr/>
            <p:nvPr/>
          </p:nvCxnSpPr>
          <p:spPr>
            <a:xfrm>
              <a:off x="10763249" y="2331012"/>
              <a:ext cx="714375" cy="73342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5" name="Graphic 44" descr="Satellite dish with solid fill">
              <a:extLst>
                <a:ext uri="{FF2B5EF4-FFF2-40B4-BE49-F238E27FC236}">
                  <a16:creationId xmlns:a16="http://schemas.microsoft.com/office/drawing/2014/main" id="{0FE05478-7CF4-1B78-AB45-4FE6FB3A7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11080735" y="4284020"/>
              <a:ext cx="716828" cy="7157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0437737-9070-D3D7-D862-55F204D5F486}"/>
                </a:ext>
              </a:extLst>
            </p:cNvPr>
            <p:cNvCxnSpPr>
              <a:cxnSpLocks/>
            </p:cNvCxnSpPr>
            <p:nvPr/>
          </p:nvCxnSpPr>
          <p:spPr>
            <a:xfrm>
              <a:off x="10048874" y="3194839"/>
              <a:ext cx="1071562" cy="105493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48A4574D-37DD-2245-885C-D7985B140D81}"/>
              </a:ext>
            </a:extLst>
          </p:cNvPr>
          <p:cNvSpPr txBox="1"/>
          <p:nvPr/>
        </p:nvSpPr>
        <p:spPr>
          <a:xfrm>
            <a:off x="8285060" y="6011867"/>
            <a:ext cx="408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Measuring with one telescope (Direct imaging) with an arrays of telescopes ( interferometric imaging)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759BE7-2413-D5F8-A083-EBA4C91852E9}"/>
              </a:ext>
            </a:extLst>
          </p:cNvPr>
          <p:cNvSpPr txBox="1"/>
          <p:nvPr/>
        </p:nvSpPr>
        <p:spPr>
          <a:xfrm>
            <a:off x="0" y="6373661"/>
            <a:ext cx="471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1. </a:t>
            </a:r>
            <a:r>
              <a:rPr lang="en-US" sz="1200" dirty="0" err="1"/>
              <a:t>Mankei</a:t>
            </a:r>
            <a:r>
              <a:rPr lang="en-US" sz="1200" dirty="0"/>
              <a:t> Tsang, Ranjith Nair, and Xiao-Ming Lu Phys. Rev. X 6, 031033 </a:t>
            </a:r>
          </a:p>
          <a:p>
            <a:pPr algn="l"/>
            <a:r>
              <a:rPr lang="en-US" sz="1200" dirty="0"/>
              <a:t>2. Cosmo </a:t>
            </a:r>
            <a:r>
              <a:rPr lang="en-US" sz="1200" dirty="0" err="1"/>
              <a:t>Lupo</a:t>
            </a:r>
            <a:r>
              <a:rPr lang="en-US" sz="1200" dirty="0"/>
              <a:t>, Zixin Huang, and Pieter Kok  Phys. Rev. Lett. 124, 080503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230FEE-89A1-6516-AAF5-337E6B7E2B7F}"/>
              </a:ext>
            </a:extLst>
          </p:cNvPr>
          <p:cNvCxnSpPr/>
          <p:nvPr/>
        </p:nvCxnSpPr>
        <p:spPr>
          <a:xfrm>
            <a:off x="0" y="6373661"/>
            <a:ext cx="4495800" cy="0"/>
          </a:xfrm>
          <a:prstGeom prst="line">
            <a:avLst/>
          </a:prstGeom>
          <a:ln w="22225">
            <a:solidFill>
              <a:srgbClr val="EE5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4BFF075F-9D97-A839-F110-59B5A08D7E83}"/>
              </a:ext>
            </a:extLst>
          </p:cNvPr>
          <p:cNvSpPr/>
          <p:nvPr/>
        </p:nvSpPr>
        <p:spPr>
          <a:xfrm>
            <a:off x="1099260" y="1788732"/>
            <a:ext cx="955749" cy="577990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63F5F9C-F7BC-60EB-8CBA-EE150D46D85A}"/>
              </a:ext>
            </a:extLst>
          </p:cNvPr>
          <p:cNvGrpSpPr/>
          <p:nvPr/>
        </p:nvGrpSpPr>
        <p:grpSpPr>
          <a:xfrm>
            <a:off x="789773" y="3284933"/>
            <a:ext cx="1396961" cy="968382"/>
            <a:chOff x="7840919" y="3114083"/>
            <a:chExt cx="2066925" cy="143489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86A555B-A797-D27C-D55D-174481F60548}"/>
                </a:ext>
              </a:extLst>
            </p:cNvPr>
            <p:cNvCxnSpPr/>
            <p:nvPr/>
          </p:nvCxnSpPr>
          <p:spPr>
            <a:xfrm>
              <a:off x="7840919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2803093-D747-B064-C37B-3CC71ABD0A24}"/>
                </a:ext>
              </a:extLst>
            </p:cNvPr>
            <p:cNvCxnSpPr/>
            <p:nvPr/>
          </p:nvCxnSpPr>
          <p:spPr>
            <a:xfrm>
              <a:off x="9907844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26D84D4-AA8E-20F0-C7DA-CB3ED2286087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19" y="3371258"/>
              <a:ext cx="1472741" cy="877862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048398E-F1CD-C212-9B77-6F8626239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19" y="3371258"/>
              <a:ext cx="1419225" cy="877862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553AD37-811C-6D06-4DD2-A36F1207744C}"/>
                </a:ext>
              </a:extLst>
            </p:cNvPr>
            <p:cNvSpPr/>
            <p:nvPr/>
          </p:nvSpPr>
          <p:spPr>
            <a:xfrm>
              <a:off x="9371292" y="3452938"/>
              <a:ext cx="270920" cy="34163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07D4F844-E878-5365-2FF1-4C44D3A1F9DB}"/>
                    </a:ext>
                  </a:extLst>
                </p:cNvPr>
                <p:cNvSpPr txBox="1"/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07D4F844-E878-5365-2FF1-4C44D3A1F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70627ED-2FB8-A95D-DC93-CF9F776B9B3A}"/>
                </a:ext>
              </a:extLst>
            </p:cNvPr>
            <p:cNvSpPr/>
            <p:nvPr/>
          </p:nvSpPr>
          <p:spPr>
            <a:xfrm>
              <a:off x="8868954" y="3863031"/>
              <a:ext cx="45719" cy="285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lowchart: Delay 107">
              <a:extLst>
                <a:ext uri="{FF2B5EF4-FFF2-40B4-BE49-F238E27FC236}">
                  <a16:creationId xmlns:a16="http://schemas.microsoft.com/office/drawing/2014/main" id="{78D6C9DC-2A2F-184F-2B11-03CF833F5397}"/>
                </a:ext>
              </a:extLst>
            </p:cNvPr>
            <p:cNvSpPr/>
            <p:nvPr/>
          </p:nvSpPr>
          <p:spPr>
            <a:xfrm rot="1729933">
              <a:off x="9325650" y="4149119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lowchart: Delay 108">
              <a:extLst>
                <a:ext uri="{FF2B5EF4-FFF2-40B4-BE49-F238E27FC236}">
                  <a16:creationId xmlns:a16="http://schemas.microsoft.com/office/drawing/2014/main" id="{6EDAB644-8075-1882-7FE5-1E567DEE16B4}"/>
                </a:ext>
              </a:extLst>
            </p:cNvPr>
            <p:cNvSpPr/>
            <p:nvPr/>
          </p:nvSpPr>
          <p:spPr>
            <a:xfrm rot="8951118">
              <a:off x="8286951" y="414605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8D801FF-6632-FC89-6882-60249C1845E4}"/>
                </a:ext>
              </a:extLst>
            </p:cNvPr>
            <p:cNvSpPr/>
            <p:nvPr/>
          </p:nvSpPr>
          <p:spPr>
            <a:xfrm>
              <a:off x="9517319" y="4339425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7D6E8DB-B720-55E5-AC91-053A2B74F625}"/>
                </a:ext>
              </a:extLst>
            </p:cNvPr>
            <p:cNvSpPr/>
            <p:nvPr/>
          </p:nvSpPr>
          <p:spPr>
            <a:xfrm>
              <a:off x="7917119" y="4326594"/>
              <a:ext cx="361950" cy="167347"/>
            </a:xfrm>
            <a:custGeom>
              <a:avLst/>
              <a:gdLst>
                <a:gd name="connsiteX0" fmla="*/ 361950 w 361950"/>
                <a:gd name="connsiteY0" fmla="*/ 12831 h 167347"/>
                <a:gd name="connsiteX1" fmla="*/ 219075 w 361950"/>
                <a:gd name="connsiteY1" fmla="*/ 12831 h 167347"/>
                <a:gd name="connsiteX2" fmla="*/ 228600 w 361950"/>
                <a:gd name="connsiteY2" fmla="*/ 146181 h 167347"/>
                <a:gd name="connsiteX3" fmla="*/ 0 w 361950"/>
                <a:gd name="connsiteY3" fmla="*/ 165231 h 16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167347">
                  <a:moveTo>
                    <a:pt x="361950" y="12831"/>
                  </a:moveTo>
                  <a:cubicBezTo>
                    <a:pt x="301625" y="1718"/>
                    <a:pt x="241300" y="-9394"/>
                    <a:pt x="219075" y="12831"/>
                  </a:cubicBezTo>
                  <a:cubicBezTo>
                    <a:pt x="196850" y="35056"/>
                    <a:pt x="265112" y="120781"/>
                    <a:pt x="228600" y="146181"/>
                  </a:cubicBezTo>
                  <a:cubicBezTo>
                    <a:pt x="192088" y="171581"/>
                    <a:pt x="96044" y="168406"/>
                    <a:pt x="0" y="165231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2" name="Graphic 111" descr="Star with solid fill">
            <a:extLst>
              <a:ext uri="{FF2B5EF4-FFF2-40B4-BE49-F238E27FC236}">
                <a16:creationId xmlns:a16="http://schemas.microsoft.com/office/drawing/2014/main" id="{1073039A-7D1E-A8A9-E3F8-784BF4840DB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2293" y="1931143"/>
            <a:ext cx="261437" cy="261437"/>
          </a:xfrm>
          <a:prstGeom prst="rect">
            <a:avLst/>
          </a:prstGeom>
        </p:spPr>
      </p:pic>
      <p:pic>
        <p:nvPicPr>
          <p:cNvPr id="113" name="Graphic 112" descr="Star with solid fill">
            <a:extLst>
              <a:ext uri="{FF2B5EF4-FFF2-40B4-BE49-F238E27FC236}">
                <a16:creationId xmlns:a16="http://schemas.microsoft.com/office/drawing/2014/main" id="{87D4390D-5E87-9A1B-9207-F3E12CA0164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25032" y="1939876"/>
            <a:ext cx="261437" cy="261437"/>
          </a:xfrm>
          <a:prstGeom prst="rect">
            <a:avLst/>
          </a:prstGeom>
        </p:spPr>
      </p:pic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2D75260-51D3-66AA-201F-013C193F9CF0}"/>
              </a:ext>
            </a:extLst>
          </p:cNvPr>
          <p:cNvCxnSpPr>
            <a:cxnSpLocks/>
          </p:cNvCxnSpPr>
          <p:nvPr/>
        </p:nvCxnSpPr>
        <p:spPr>
          <a:xfrm>
            <a:off x="1413327" y="2080787"/>
            <a:ext cx="322974" cy="803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0A9DBBF-7042-CA04-9C38-7D8E6A953776}"/>
                  </a:ext>
                </a:extLst>
              </p:cNvPr>
              <p:cNvSpPr txBox="1"/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0A9DBBF-7042-CA04-9C38-7D8E6A95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882E54B-BA99-AF21-6189-12445E9EA645}"/>
              </a:ext>
            </a:extLst>
          </p:cNvPr>
          <p:cNvGrpSpPr/>
          <p:nvPr/>
        </p:nvGrpSpPr>
        <p:grpSpPr>
          <a:xfrm>
            <a:off x="541096" y="2388613"/>
            <a:ext cx="1926511" cy="860170"/>
            <a:chOff x="5160089" y="2787089"/>
            <a:chExt cx="2868735" cy="124175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17A490B-1680-66C2-554C-098BBB674178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EECE6637-023F-542C-338F-0503FC3863D4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33" name="Flowchart: Delay 132">
                  <a:extLst>
                    <a:ext uri="{FF2B5EF4-FFF2-40B4-BE49-F238E27FC236}">
                      <a16:creationId xmlns:a16="http://schemas.microsoft.com/office/drawing/2014/main" id="{6C315BEF-4066-6053-4F85-C369BB55ECF8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B5A24C3-F625-4264-0C7C-194F279EBED5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3C279915-DA66-B238-7BEE-DA4924EC404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Arc 135">
                  <a:extLst>
                    <a:ext uri="{FF2B5EF4-FFF2-40B4-BE49-F238E27FC236}">
                      <a16:creationId xmlns:a16="http://schemas.microsoft.com/office/drawing/2014/main" id="{FBEA2AE2-A269-4C87-86FF-39031D89EC5B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83F340D4-CDF7-B760-8AC6-3C2C25D7E54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FA5C1AFB-589B-330E-8C1C-593DDC7FD99F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F9807D4-2E1E-534B-A73E-50FDDC202F0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4020F9DA-81C9-ACD9-2596-8A05A3C7CF21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7FCBAFE-2337-9DDD-99D2-6D4197C69B2D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24B70CDA-480A-1A35-A16A-C481ADBBF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F1FB7FC5-2699-0CC4-A3BB-0F93A12164ED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140C16F-D85D-2BFD-8925-CB5BA26E8D57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010CF8E-36F8-4ACE-061F-894BEE44A47F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23" name="Flowchart: Delay 122">
                  <a:extLst>
                    <a:ext uri="{FF2B5EF4-FFF2-40B4-BE49-F238E27FC236}">
                      <a16:creationId xmlns:a16="http://schemas.microsoft.com/office/drawing/2014/main" id="{16EB7A94-EB4C-0E4A-0314-FEE9C88A6D0F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9DA1EE5B-30A6-38DB-9713-81526B5EA4A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685E6411-B2C1-3A63-ECB0-15E6B1CB4B2A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C2005705-4DDE-E0A2-5345-2DBA497AA80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1CBC10A5-6A9A-65A6-F8C1-1B699F54287F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33DF28AC-1F8C-4118-AC5B-9890B6836B83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260E2F07-5C86-9A4B-64AE-DFA3F852FC4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B167C7A3-C410-5DA4-9174-1658413D791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FE1186A-4D38-1F25-4EB4-9134DA5B141C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35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8405B3-F014-2BBD-DF73-80C15D3DF16D}"/>
              </a:ext>
            </a:extLst>
          </p:cNvPr>
          <p:cNvSpPr txBox="1"/>
          <p:nvPr/>
        </p:nvSpPr>
        <p:spPr>
          <a:xfrm>
            <a:off x="3341658" y="803053"/>
            <a:ext cx="79714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Quantum-enhanced imaging: Super-resolution of strong thermal source </a:t>
            </a:r>
          </a:p>
          <a:p>
            <a:endParaRPr lang="en-US" sz="20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The Balanced, two-point, incoherent, strong-thermal source is a two-mode gaussian state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 The information carries about the separation can be computed by the quantum fisher information</a:t>
            </a:r>
            <a:r>
              <a:rPr lang="en-US" sz="1600" baseline="30000" dirty="0"/>
              <a:t>1</a:t>
            </a:r>
            <a:r>
              <a:rPr lang="en-US" sz="1600" dirty="0"/>
              <a:t>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/>
          </a:p>
          <a:p>
            <a:r>
              <a:rPr lang="en-US" sz="1200" dirty="0"/>
              <a:t>  </a:t>
            </a: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Quantum-enhanced imaging: Super-resolution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759BE7-2413-D5F8-A083-EBA4C91852E9}"/>
              </a:ext>
            </a:extLst>
          </p:cNvPr>
          <p:cNvSpPr txBox="1"/>
          <p:nvPr/>
        </p:nvSpPr>
        <p:spPr>
          <a:xfrm>
            <a:off x="0" y="6550612"/>
            <a:ext cx="50958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1. </a:t>
            </a:r>
            <a:r>
              <a:rPr lang="en-US" sz="1200" dirty="0" err="1"/>
              <a:t>Yunkai</a:t>
            </a:r>
            <a:r>
              <a:rPr lang="en-US" sz="1200" dirty="0"/>
              <a:t> Wang, Yujie Zhang, and Virginia O. Lorenz Phys. Rev. A 104, 022613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230FEE-89A1-6516-AAF5-337E6B7E2B7F}"/>
              </a:ext>
            </a:extLst>
          </p:cNvPr>
          <p:cNvCxnSpPr/>
          <p:nvPr/>
        </p:nvCxnSpPr>
        <p:spPr>
          <a:xfrm>
            <a:off x="18885" y="6525045"/>
            <a:ext cx="4495800" cy="0"/>
          </a:xfrm>
          <a:prstGeom prst="line">
            <a:avLst/>
          </a:prstGeom>
          <a:ln w="22225">
            <a:solidFill>
              <a:srgbClr val="EE5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92ACE01-8726-C1D3-953A-D083307EB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70" y="3691797"/>
            <a:ext cx="4146594" cy="112303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50A71C06-D05C-6B22-5787-9BB5DFE3CE7E}"/>
              </a:ext>
            </a:extLst>
          </p:cNvPr>
          <p:cNvSpPr txBox="1"/>
          <p:nvPr/>
        </p:nvSpPr>
        <p:spPr>
          <a:xfrm>
            <a:off x="199257" y="4357531"/>
            <a:ext cx="262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Super-resolution of two-point strong thermal source 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71AC2A9-BC5C-349A-E51F-0CF8F2166577}"/>
              </a:ext>
            </a:extLst>
          </p:cNvPr>
          <p:cNvSpPr/>
          <p:nvPr/>
        </p:nvSpPr>
        <p:spPr>
          <a:xfrm>
            <a:off x="1099260" y="1788732"/>
            <a:ext cx="955749" cy="577990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69C7C2-2922-D291-ACE9-A0B4E0FB7FF9}"/>
              </a:ext>
            </a:extLst>
          </p:cNvPr>
          <p:cNvGrpSpPr/>
          <p:nvPr/>
        </p:nvGrpSpPr>
        <p:grpSpPr>
          <a:xfrm>
            <a:off x="789773" y="3284933"/>
            <a:ext cx="1396961" cy="968382"/>
            <a:chOff x="7840919" y="3114083"/>
            <a:chExt cx="2066925" cy="1434892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B1710FA-B7FA-9BC4-F994-B6768D151233}"/>
                </a:ext>
              </a:extLst>
            </p:cNvPr>
            <p:cNvCxnSpPr/>
            <p:nvPr/>
          </p:nvCxnSpPr>
          <p:spPr>
            <a:xfrm>
              <a:off x="7840919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EE66288-AC56-EAAF-B9E5-5A0449738732}"/>
                </a:ext>
              </a:extLst>
            </p:cNvPr>
            <p:cNvCxnSpPr/>
            <p:nvPr/>
          </p:nvCxnSpPr>
          <p:spPr>
            <a:xfrm>
              <a:off x="9907844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DDDEE3C-F387-31B6-9893-39E8DB4FEF44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19" y="3371258"/>
              <a:ext cx="1472741" cy="877862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F381196-4594-9314-42AF-56D345FE5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19" y="3371258"/>
              <a:ext cx="1419225" cy="877862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26719FB-A081-0221-A893-4BA1BE32F053}"/>
                </a:ext>
              </a:extLst>
            </p:cNvPr>
            <p:cNvSpPr/>
            <p:nvPr/>
          </p:nvSpPr>
          <p:spPr>
            <a:xfrm>
              <a:off x="9371292" y="3452938"/>
              <a:ext cx="270920" cy="34163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52F2F2E-6734-F59D-427D-547056458DD1}"/>
                    </a:ext>
                  </a:extLst>
                </p:cNvPr>
                <p:cNvSpPr txBox="1"/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52F2F2E-6734-F59D-427D-547056458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80211D0-E602-6132-B69F-C0E571652D96}"/>
                </a:ext>
              </a:extLst>
            </p:cNvPr>
            <p:cNvSpPr/>
            <p:nvPr/>
          </p:nvSpPr>
          <p:spPr>
            <a:xfrm>
              <a:off x="8868954" y="3863031"/>
              <a:ext cx="45719" cy="285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lowchart: Delay 101">
              <a:extLst>
                <a:ext uri="{FF2B5EF4-FFF2-40B4-BE49-F238E27FC236}">
                  <a16:creationId xmlns:a16="http://schemas.microsoft.com/office/drawing/2014/main" id="{24F84003-EB84-F07F-DAD5-9FF341633CC3}"/>
                </a:ext>
              </a:extLst>
            </p:cNvPr>
            <p:cNvSpPr/>
            <p:nvPr/>
          </p:nvSpPr>
          <p:spPr>
            <a:xfrm rot="1729933">
              <a:off x="9325650" y="4149119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Delay 102">
              <a:extLst>
                <a:ext uri="{FF2B5EF4-FFF2-40B4-BE49-F238E27FC236}">
                  <a16:creationId xmlns:a16="http://schemas.microsoft.com/office/drawing/2014/main" id="{4F56BBC9-8C1D-4377-E5ED-25FB553457D8}"/>
                </a:ext>
              </a:extLst>
            </p:cNvPr>
            <p:cNvSpPr/>
            <p:nvPr/>
          </p:nvSpPr>
          <p:spPr>
            <a:xfrm rot="8951118">
              <a:off x="8286951" y="414605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E46F19D-E375-85B8-190B-E8B437971199}"/>
                </a:ext>
              </a:extLst>
            </p:cNvPr>
            <p:cNvSpPr/>
            <p:nvPr/>
          </p:nvSpPr>
          <p:spPr>
            <a:xfrm>
              <a:off x="9517319" y="4339425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F8EAC91-E6EC-8DBC-2712-1998EA14ED7A}"/>
                </a:ext>
              </a:extLst>
            </p:cNvPr>
            <p:cNvSpPr/>
            <p:nvPr/>
          </p:nvSpPr>
          <p:spPr>
            <a:xfrm>
              <a:off x="7917119" y="4326594"/>
              <a:ext cx="361950" cy="167347"/>
            </a:xfrm>
            <a:custGeom>
              <a:avLst/>
              <a:gdLst>
                <a:gd name="connsiteX0" fmla="*/ 361950 w 361950"/>
                <a:gd name="connsiteY0" fmla="*/ 12831 h 167347"/>
                <a:gd name="connsiteX1" fmla="*/ 219075 w 361950"/>
                <a:gd name="connsiteY1" fmla="*/ 12831 h 167347"/>
                <a:gd name="connsiteX2" fmla="*/ 228600 w 361950"/>
                <a:gd name="connsiteY2" fmla="*/ 146181 h 167347"/>
                <a:gd name="connsiteX3" fmla="*/ 0 w 361950"/>
                <a:gd name="connsiteY3" fmla="*/ 165231 h 16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167347">
                  <a:moveTo>
                    <a:pt x="361950" y="12831"/>
                  </a:moveTo>
                  <a:cubicBezTo>
                    <a:pt x="301625" y="1718"/>
                    <a:pt x="241300" y="-9394"/>
                    <a:pt x="219075" y="12831"/>
                  </a:cubicBezTo>
                  <a:cubicBezTo>
                    <a:pt x="196850" y="35056"/>
                    <a:pt x="265112" y="120781"/>
                    <a:pt x="228600" y="146181"/>
                  </a:cubicBezTo>
                  <a:cubicBezTo>
                    <a:pt x="192088" y="171581"/>
                    <a:pt x="96044" y="168406"/>
                    <a:pt x="0" y="165231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6" name="Graphic 105" descr="Star with solid fill">
            <a:extLst>
              <a:ext uri="{FF2B5EF4-FFF2-40B4-BE49-F238E27FC236}">
                <a16:creationId xmlns:a16="http://schemas.microsoft.com/office/drawing/2014/main" id="{1AFEB387-F875-7D03-982B-3E539B9144B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2293" y="1931143"/>
            <a:ext cx="261437" cy="261437"/>
          </a:xfrm>
          <a:prstGeom prst="rect">
            <a:avLst/>
          </a:prstGeom>
        </p:spPr>
      </p:pic>
      <p:pic>
        <p:nvPicPr>
          <p:cNvPr id="107" name="Graphic 106" descr="Star with solid fill">
            <a:extLst>
              <a:ext uri="{FF2B5EF4-FFF2-40B4-BE49-F238E27FC236}">
                <a16:creationId xmlns:a16="http://schemas.microsoft.com/office/drawing/2014/main" id="{C7CB8178-ED4F-9410-A74A-84FA22B2947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5032" y="1939876"/>
            <a:ext cx="261437" cy="261437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EA4CB3A-55D2-EBF6-5562-A6D60B60255B}"/>
              </a:ext>
            </a:extLst>
          </p:cNvPr>
          <p:cNvCxnSpPr>
            <a:cxnSpLocks/>
          </p:cNvCxnSpPr>
          <p:nvPr/>
        </p:nvCxnSpPr>
        <p:spPr>
          <a:xfrm>
            <a:off x="1413327" y="2080787"/>
            <a:ext cx="322974" cy="803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E51944-0DA0-76C8-E433-11430BBD5EF3}"/>
                  </a:ext>
                </a:extLst>
              </p:cNvPr>
              <p:cNvSpPr txBox="1"/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E51944-0DA0-76C8-E433-11430BBD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50511E-968C-EABA-67D8-2332836093FC}"/>
              </a:ext>
            </a:extLst>
          </p:cNvPr>
          <p:cNvGrpSpPr/>
          <p:nvPr/>
        </p:nvGrpSpPr>
        <p:grpSpPr>
          <a:xfrm>
            <a:off x="541096" y="2388613"/>
            <a:ext cx="1926511" cy="860170"/>
            <a:chOff x="5160089" y="2787089"/>
            <a:chExt cx="2868735" cy="124175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B3D476E-3D4B-9FC8-D601-2A53F620320B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A28CD3C2-933D-771A-E618-D17182EADD72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27" name="Flowchart: Delay 126">
                  <a:extLst>
                    <a:ext uri="{FF2B5EF4-FFF2-40B4-BE49-F238E27FC236}">
                      <a16:creationId xmlns:a16="http://schemas.microsoft.com/office/drawing/2014/main" id="{B5E9FEE3-BF59-BEE1-9A1D-795C6C918EA3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1AF6EA57-B506-3010-7DFF-0F3ED70F75E7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13720AF3-F01D-E8E4-2D1C-22263CECF66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Arc 129">
                  <a:extLst>
                    <a:ext uri="{FF2B5EF4-FFF2-40B4-BE49-F238E27FC236}">
                      <a16:creationId xmlns:a16="http://schemas.microsoft.com/office/drawing/2014/main" id="{5FAAA25B-865E-925C-480F-F4E7D0529C5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32A2087-CAAF-9E65-C7BD-7BB618DB14ED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D9207ABF-1577-5B1D-38E0-E3383BAB4209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4DE9F75-DFAA-A83E-9EDC-AEB02F56E668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014EFAE7-2048-860C-02D3-40E0CD87F91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9AB811-5DA7-48B1-43F8-80504443FB66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9722D4D-F32A-D9CC-EBAF-E938013E4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29AA0C7-142F-D75D-5BBE-25C1E3C1E9B0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6795D37-EE8F-FB87-0E3B-DA3356439B48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A1B1CE8D-FF21-F4F9-433E-203F36A80118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17" name="Flowchart: Delay 116">
                  <a:extLst>
                    <a:ext uri="{FF2B5EF4-FFF2-40B4-BE49-F238E27FC236}">
                      <a16:creationId xmlns:a16="http://schemas.microsoft.com/office/drawing/2014/main" id="{7D7E9AD3-D3C6-0607-0898-E96323ECA7B5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568C64B-5D7E-B5D9-47E9-D12BECA322AD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E03E93AF-0A24-5BE3-BE84-6347F599CE9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Arc 119">
                  <a:extLst>
                    <a:ext uri="{FF2B5EF4-FFF2-40B4-BE49-F238E27FC236}">
                      <a16:creationId xmlns:a16="http://schemas.microsoft.com/office/drawing/2014/main" id="{6B64D831-CBFC-BE0A-5F37-75594B0E3898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2E94ECF2-4881-777E-2244-20A01ABBFA6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4269E95-30D9-5C88-E21F-87BB8D8CABF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A55582C4-AD00-8440-86C6-8D5D508DA17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0D7DCB7-C466-38A6-0676-76AA5E700521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60F7347-BBCD-9442-B13C-1CA5882377F2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68CE897-62E0-7673-AE76-3A016216E9A5}"/>
              </a:ext>
            </a:extLst>
          </p:cNvPr>
          <p:cNvGrpSpPr/>
          <p:nvPr/>
        </p:nvGrpSpPr>
        <p:grpSpPr>
          <a:xfrm>
            <a:off x="7891589" y="3267953"/>
            <a:ext cx="3503174" cy="2228543"/>
            <a:chOff x="8080279" y="3284933"/>
            <a:chExt cx="3503174" cy="222854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F77BE12-32EA-3759-BDB5-C8FBC096D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80279" y="3284933"/>
              <a:ext cx="3503174" cy="2173617"/>
            </a:xfrm>
            <a:prstGeom prst="rect">
              <a:avLst/>
            </a:prstGeom>
          </p:spPr>
        </p:pic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0C74206-BF48-AE2C-6102-0DD29BD4F006}"/>
                </a:ext>
              </a:extLst>
            </p:cNvPr>
            <p:cNvSpPr/>
            <p:nvPr/>
          </p:nvSpPr>
          <p:spPr>
            <a:xfrm>
              <a:off x="9278597" y="5233598"/>
              <a:ext cx="1475295" cy="2249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08680CC2-E2B2-73B7-4B56-BE7F4FA62D1F}"/>
                    </a:ext>
                  </a:extLst>
                </p:cNvPr>
                <p:cNvSpPr txBox="1"/>
                <p:nvPr/>
              </p:nvSpPr>
              <p:spPr>
                <a:xfrm>
                  <a:off x="9409252" y="5205699"/>
                  <a:ext cx="12558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𝑘𝐵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08680CC2-E2B2-73B7-4B56-BE7F4FA62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9252" y="5205699"/>
                  <a:ext cx="1255899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6ED9483-DE24-93E2-F295-9928943E7351}"/>
                </a:ext>
              </a:extLst>
            </p:cNvPr>
            <p:cNvSpPr/>
            <p:nvPr/>
          </p:nvSpPr>
          <p:spPr>
            <a:xfrm rot="5400000">
              <a:off x="7584349" y="4142701"/>
              <a:ext cx="1442295" cy="2300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67E4E249-324C-F6F1-C5FC-9C5B23B40FAA}"/>
                    </a:ext>
                  </a:extLst>
                </p:cNvPr>
                <p:cNvSpPr txBox="1"/>
                <p:nvPr/>
              </p:nvSpPr>
              <p:spPr>
                <a:xfrm rot="16200000">
                  <a:off x="7729018" y="4049891"/>
                  <a:ext cx="1025246" cy="2871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67E4E249-324C-F6F1-C5FC-9C5B23B40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729018" y="4049891"/>
                  <a:ext cx="1025246" cy="2871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390FD966-51AF-FCC3-4271-66F79F063F91}"/>
              </a:ext>
            </a:extLst>
          </p:cNvPr>
          <p:cNvSpPr txBox="1"/>
          <p:nvPr/>
        </p:nvSpPr>
        <p:spPr>
          <a:xfrm>
            <a:off x="7562850" y="5479386"/>
            <a:ext cx="4545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Quantum fisher information of estimating the separation of a balanced two-point source given different source intensity </a:t>
            </a:r>
          </a:p>
        </p:txBody>
      </p:sp>
    </p:spTree>
    <p:extLst>
      <p:ext uri="{BB962C8B-B14F-4D97-AF65-F5344CB8AC3E}">
        <p14:creationId xmlns:p14="http://schemas.microsoft.com/office/powerpoint/2010/main" val="123145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/>
              <p:nvPr/>
            </p:nvSpPr>
            <p:spPr>
              <a:xfrm>
                <a:off x="3456011" y="935575"/>
                <a:ext cx="7971463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Quantum-enhanced imaging: Super-resolution of strong thermal source </a:t>
                </a:r>
              </a:p>
              <a:p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To saturate the fisher information, the optimal measurement is an ultimate photon-number resolving detector with phase delay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600" dirty="0"/>
                  <a:t> carefully chosen based on the centroid information: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Comparison to the conventional scheme (where the phase delay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300" dirty="0"/>
                  <a:t> is set randomly)  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:r>
                  <a:rPr lang="en-US" sz="1200" dirty="0"/>
                  <a:t>  </a:t>
                </a:r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011" y="935575"/>
                <a:ext cx="7971463" cy="4478149"/>
              </a:xfrm>
              <a:prstGeom prst="rect">
                <a:avLst/>
              </a:prstGeom>
              <a:blipFill>
                <a:blip r:embed="rId2"/>
                <a:stretch>
                  <a:fillRect l="-688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Quantum-enhanced imaging: Super-resolution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759BE7-2413-D5F8-A083-EBA4C91852E9}"/>
              </a:ext>
            </a:extLst>
          </p:cNvPr>
          <p:cNvSpPr txBox="1"/>
          <p:nvPr/>
        </p:nvSpPr>
        <p:spPr>
          <a:xfrm>
            <a:off x="0" y="6550612"/>
            <a:ext cx="50958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/>
              <a:t>1. </a:t>
            </a:r>
            <a:r>
              <a:rPr lang="en-US" sz="1200" dirty="0" err="1"/>
              <a:t>Yunkai</a:t>
            </a:r>
            <a:r>
              <a:rPr lang="en-US" sz="1200" dirty="0"/>
              <a:t> Wang, Yujie Zhang, and Virginia O. Lorenz Phys. Rev. A 104, 022613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230FEE-89A1-6516-AAF5-337E6B7E2B7F}"/>
              </a:ext>
            </a:extLst>
          </p:cNvPr>
          <p:cNvCxnSpPr/>
          <p:nvPr/>
        </p:nvCxnSpPr>
        <p:spPr>
          <a:xfrm>
            <a:off x="18885" y="6525045"/>
            <a:ext cx="4495800" cy="0"/>
          </a:xfrm>
          <a:prstGeom prst="line">
            <a:avLst/>
          </a:prstGeom>
          <a:ln w="22225">
            <a:solidFill>
              <a:srgbClr val="EE5C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71AC2A9-BC5C-349A-E51F-0CF8F2166577}"/>
              </a:ext>
            </a:extLst>
          </p:cNvPr>
          <p:cNvSpPr/>
          <p:nvPr/>
        </p:nvSpPr>
        <p:spPr>
          <a:xfrm>
            <a:off x="1099260" y="1788732"/>
            <a:ext cx="955749" cy="577990"/>
          </a:xfrm>
          <a:prstGeom prst="ellipse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69C7C2-2922-D291-ACE9-A0B4E0FB7FF9}"/>
              </a:ext>
            </a:extLst>
          </p:cNvPr>
          <p:cNvGrpSpPr/>
          <p:nvPr/>
        </p:nvGrpSpPr>
        <p:grpSpPr>
          <a:xfrm>
            <a:off x="789773" y="3284933"/>
            <a:ext cx="1396961" cy="968382"/>
            <a:chOff x="7840919" y="3114083"/>
            <a:chExt cx="2066925" cy="1434892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B1710FA-B7FA-9BC4-F994-B6768D151233}"/>
                </a:ext>
              </a:extLst>
            </p:cNvPr>
            <p:cNvCxnSpPr/>
            <p:nvPr/>
          </p:nvCxnSpPr>
          <p:spPr>
            <a:xfrm>
              <a:off x="7840919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EE66288-AC56-EAAF-B9E5-5A0449738732}"/>
                </a:ext>
              </a:extLst>
            </p:cNvPr>
            <p:cNvCxnSpPr/>
            <p:nvPr/>
          </p:nvCxnSpPr>
          <p:spPr>
            <a:xfrm>
              <a:off x="9907844" y="3114083"/>
              <a:ext cx="0" cy="25717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DDDEE3C-F387-31B6-9893-39E8DB4FEF44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19" y="3371258"/>
              <a:ext cx="1472741" cy="877862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F381196-4594-9314-42AF-56D345FE5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19" y="3371258"/>
              <a:ext cx="1419225" cy="877862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26719FB-A081-0221-A893-4BA1BE32F053}"/>
                </a:ext>
              </a:extLst>
            </p:cNvPr>
            <p:cNvSpPr/>
            <p:nvPr/>
          </p:nvSpPr>
          <p:spPr>
            <a:xfrm>
              <a:off x="9371292" y="3452938"/>
              <a:ext cx="270920" cy="34163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52F2F2E-6734-F59D-427D-547056458DD1}"/>
                    </a:ext>
                  </a:extLst>
                </p:cNvPr>
                <p:cNvSpPr txBox="1"/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52F2F2E-6734-F59D-427D-547056458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179" y="3440467"/>
                  <a:ext cx="279359" cy="3801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80211D0-E602-6132-B69F-C0E571652D96}"/>
                </a:ext>
              </a:extLst>
            </p:cNvPr>
            <p:cNvSpPr/>
            <p:nvPr/>
          </p:nvSpPr>
          <p:spPr>
            <a:xfrm>
              <a:off x="8868954" y="3863031"/>
              <a:ext cx="45719" cy="2857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lowchart: Delay 101">
              <a:extLst>
                <a:ext uri="{FF2B5EF4-FFF2-40B4-BE49-F238E27FC236}">
                  <a16:creationId xmlns:a16="http://schemas.microsoft.com/office/drawing/2014/main" id="{24F84003-EB84-F07F-DAD5-9FF341633CC3}"/>
                </a:ext>
              </a:extLst>
            </p:cNvPr>
            <p:cNvSpPr/>
            <p:nvPr/>
          </p:nvSpPr>
          <p:spPr>
            <a:xfrm rot="1729933">
              <a:off x="9325650" y="4149119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Delay 102">
              <a:extLst>
                <a:ext uri="{FF2B5EF4-FFF2-40B4-BE49-F238E27FC236}">
                  <a16:creationId xmlns:a16="http://schemas.microsoft.com/office/drawing/2014/main" id="{4F56BBC9-8C1D-4377-E5ED-25FB553457D8}"/>
                </a:ext>
              </a:extLst>
            </p:cNvPr>
            <p:cNvSpPr/>
            <p:nvPr/>
          </p:nvSpPr>
          <p:spPr>
            <a:xfrm rot="8951118">
              <a:off x="8286951" y="4146052"/>
              <a:ext cx="184961" cy="320248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E46F19D-E375-85B8-190B-E8B437971199}"/>
                </a:ext>
              </a:extLst>
            </p:cNvPr>
            <p:cNvSpPr/>
            <p:nvPr/>
          </p:nvSpPr>
          <p:spPr>
            <a:xfrm>
              <a:off x="9517319" y="4339425"/>
              <a:ext cx="266700" cy="209550"/>
            </a:xfrm>
            <a:custGeom>
              <a:avLst/>
              <a:gdLst>
                <a:gd name="connsiteX0" fmla="*/ 0 w 266700"/>
                <a:gd name="connsiteY0" fmla="*/ 0 h 209550"/>
                <a:gd name="connsiteX1" fmla="*/ 57150 w 266700"/>
                <a:gd name="connsiteY1" fmla="*/ 114300 h 209550"/>
                <a:gd name="connsiteX2" fmla="*/ 200025 w 266700"/>
                <a:gd name="connsiteY2" fmla="*/ 57150 h 209550"/>
                <a:gd name="connsiteX3" fmla="*/ 266700 w 266700"/>
                <a:gd name="connsiteY3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cubicBezTo>
                    <a:pt x="11906" y="52387"/>
                    <a:pt x="23813" y="104775"/>
                    <a:pt x="57150" y="114300"/>
                  </a:cubicBezTo>
                  <a:cubicBezTo>
                    <a:pt x="90488" y="123825"/>
                    <a:pt x="165100" y="41275"/>
                    <a:pt x="200025" y="57150"/>
                  </a:cubicBezTo>
                  <a:cubicBezTo>
                    <a:pt x="234950" y="73025"/>
                    <a:pt x="250825" y="141287"/>
                    <a:pt x="266700" y="209550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F8EAC91-E6EC-8DBC-2712-1998EA14ED7A}"/>
                </a:ext>
              </a:extLst>
            </p:cNvPr>
            <p:cNvSpPr/>
            <p:nvPr/>
          </p:nvSpPr>
          <p:spPr>
            <a:xfrm>
              <a:off x="7917119" y="4326594"/>
              <a:ext cx="361950" cy="167347"/>
            </a:xfrm>
            <a:custGeom>
              <a:avLst/>
              <a:gdLst>
                <a:gd name="connsiteX0" fmla="*/ 361950 w 361950"/>
                <a:gd name="connsiteY0" fmla="*/ 12831 h 167347"/>
                <a:gd name="connsiteX1" fmla="*/ 219075 w 361950"/>
                <a:gd name="connsiteY1" fmla="*/ 12831 h 167347"/>
                <a:gd name="connsiteX2" fmla="*/ 228600 w 361950"/>
                <a:gd name="connsiteY2" fmla="*/ 146181 h 167347"/>
                <a:gd name="connsiteX3" fmla="*/ 0 w 361950"/>
                <a:gd name="connsiteY3" fmla="*/ 165231 h 16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167347">
                  <a:moveTo>
                    <a:pt x="361950" y="12831"/>
                  </a:moveTo>
                  <a:cubicBezTo>
                    <a:pt x="301625" y="1718"/>
                    <a:pt x="241300" y="-9394"/>
                    <a:pt x="219075" y="12831"/>
                  </a:cubicBezTo>
                  <a:cubicBezTo>
                    <a:pt x="196850" y="35056"/>
                    <a:pt x="265112" y="120781"/>
                    <a:pt x="228600" y="146181"/>
                  </a:cubicBezTo>
                  <a:cubicBezTo>
                    <a:pt x="192088" y="171581"/>
                    <a:pt x="96044" y="168406"/>
                    <a:pt x="0" y="165231"/>
                  </a:cubicBezTo>
                </a:path>
              </a:pathLst>
            </a:cu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6" name="Graphic 105" descr="Star with solid fill">
            <a:extLst>
              <a:ext uri="{FF2B5EF4-FFF2-40B4-BE49-F238E27FC236}">
                <a16:creationId xmlns:a16="http://schemas.microsoft.com/office/drawing/2014/main" id="{1AFEB387-F875-7D03-982B-3E539B9144B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2293" y="1931143"/>
            <a:ext cx="261437" cy="261437"/>
          </a:xfrm>
          <a:prstGeom prst="rect">
            <a:avLst/>
          </a:prstGeom>
        </p:spPr>
      </p:pic>
      <p:pic>
        <p:nvPicPr>
          <p:cNvPr id="107" name="Graphic 106" descr="Star with solid fill">
            <a:extLst>
              <a:ext uri="{FF2B5EF4-FFF2-40B4-BE49-F238E27FC236}">
                <a16:creationId xmlns:a16="http://schemas.microsoft.com/office/drawing/2014/main" id="{C7CB8178-ED4F-9410-A74A-84FA22B2947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5032" y="1939876"/>
            <a:ext cx="261437" cy="261437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EA4CB3A-55D2-EBF6-5562-A6D60B60255B}"/>
              </a:ext>
            </a:extLst>
          </p:cNvPr>
          <p:cNvCxnSpPr>
            <a:cxnSpLocks/>
          </p:cNvCxnSpPr>
          <p:nvPr/>
        </p:nvCxnSpPr>
        <p:spPr>
          <a:xfrm>
            <a:off x="1413327" y="2080787"/>
            <a:ext cx="322974" cy="803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E51944-0DA0-76C8-E433-11430BBD5EF3}"/>
                  </a:ext>
                </a:extLst>
              </p:cNvPr>
              <p:cNvSpPr txBox="1"/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E51944-0DA0-76C8-E433-11430BBD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602" y="2054324"/>
                <a:ext cx="4191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50511E-968C-EABA-67D8-2332836093FC}"/>
              </a:ext>
            </a:extLst>
          </p:cNvPr>
          <p:cNvGrpSpPr/>
          <p:nvPr/>
        </p:nvGrpSpPr>
        <p:grpSpPr>
          <a:xfrm>
            <a:off x="541096" y="2388613"/>
            <a:ext cx="1926511" cy="860170"/>
            <a:chOff x="5160089" y="2787089"/>
            <a:chExt cx="2868735" cy="124175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B3D476E-3D4B-9FC8-D601-2A53F620320B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A28CD3C2-933D-771A-E618-D17182EADD72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27" name="Flowchart: Delay 126">
                  <a:extLst>
                    <a:ext uri="{FF2B5EF4-FFF2-40B4-BE49-F238E27FC236}">
                      <a16:creationId xmlns:a16="http://schemas.microsoft.com/office/drawing/2014/main" id="{B5E9FEE3-BF59-BEE1-9A1D-795C6C918EA3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1AF6EA57-B506-3010-7DFF-0F3ED70F75E7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13720AF3-F01D-E8E4-2D1C-22263CECF66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Arc 129">
                  <a:extLst>
                    <a:ext uri="{FF2B5EF4-FFF2-40B4-BE49-F238E27FC236}">
                      <a16:creationId xmlns:a16="http://schemas.microsoft.com/office/drawing/2014/main" id="{5FAAA25B-865E-925C-480F-F4E7D0529C5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32A2087-CAAF-9E65-C7BD-7BB618DB14ED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D9207ABF-1577-5B1D-38E0-E3383BAB4209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4DE9F75-DFAA-A83E-9EDC-AEB02F56E668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014EFAE7-2048-860C-02D3-40E0CD87F913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9AB811-5DA7-48B1-43F8-80504443FB66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9722D4D-F32A-D9CC-EBAF-E938013E4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29AA0C7-142F-D75D-5BBE-25C1E3C1E9B0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6795D37-EE8F-FB87-0E3B-DA3356439B48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A1B1CE8D-FF21-F4F9-433E-203F36A80118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17" name="Flowchart: Delay 116">
                  <a:extLst>
                    <a:ext uri="{FF2B5EF4-FFF2-40B4-BE49-F238E27FC236}">
                      <a16:creationId xmlns:a16="http://schemas.microsoft.com/office/drawing/2014/main" id="{7D7E9AD3-D3C6-0607-0898-E96323ECA7B5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568C64B-5D7E-B5D9-47E9-D12BECA322AD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E03E93AF-0A24-5BE3-BE84-6347F599CE94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Arc 119">
                  <a:extLst>
                    <a:ext uri="{FF2B5EF4-FFF2-40B4-BE49-F238E27FC236}">
                      <a16:creationId xmlns:a16="http://schemas.microsoft.com/office/drawing/2014/main" id="{6B64D831-CBFC-BE0A-5F37-75594B0E3898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2E94ECF2-4881-777E-2244-20A01ABBFA68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4269E95-30D9-5C88-E21F-87BB8D8CABFB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A55582C4-AD00-8440-86C6-8D5D508DA172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0D7DCB7-C466-38A6-0676-76AA5E700521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60F7347-BBCD-9442-B13C-1CA5882377F2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CF735A-2BB6-011C-FBB2-7E0D0A4BBDB3}"/>
              </a:ext>
            </a:extLst>
          </p:cNvPr>
          <p:cNvGrpSpPr/>
          <p:nvPr/>
        </p:nvGrpSpPr>
        <p:grpSpPr>
          <a:xfrm>
            <a:off x="4693385" y="2122869"/>
            <a:ext cx="3376698" cy="2250115"/>
            <a:chOff x="5353050" y="1788408"/>
            <a:chExt cx="3581400" cy="23951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EE8E74-5657-9569-1624-768011115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3050" y="1788408"/>
              <a:ext cx="3581400" cy="226558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67C92D-E479-04B7-DA05-BDCA4B63F905}"/>
                </a:ext>
              </a:extLst>
            </p:cNvPr>
            <p:cNvSpPr/>
            <p:nvPr/>
          </p:nvSpPr>
          <p:spPr>
            <a:xfrm rot="5400000">
              <a:off x="4864872" y="2774671"/>
              <a:ext cx="1442295" cy="2300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5A4A6DD-CF0F-7F9B-2BF2-D39FC9F3F43B}"/>
                    </a:ext>
                  </a:extLst>
                </p:cNvPr>
                <p:cNvSpPr txBox="1"/>
                <p:nvPr/>
              </p:nvSpPr>
              <p:spPr>
                <a:xfrm rot="16200000">
                  <a:off x="5008067" y="2671175"/>
                  <a:ext cx="1025246" cy="2871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5A4A6DD-CF0F-7F9B-2BF2-D39FC9F3F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08067" y="2671175"/>
                  <a:ext cx="1025246" cy="287172"/>
                </a:xfrm>
                <a:prstGeom prst="rect">
                  <a:avLst/>
                </a:prstGeom>
                <a:blipFill>
                  <a:blip r:embed="rId9"/>
                  <a:stretch>
                    <a:fillRect r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C034AB-538F-5A30-7C79-9727BC81E757}"/>
                </a:ext>
              </a:extLst>
            </p:cNvPr>
            <p:cNvSpPr/>
            <p:nvPr/>
          </p:nvSpPr>
          <p:spPr>
            <a:xfrm>
              <a:off x="6589345" y="3816800"/>
              <a:ext cx="1475295" cy="2249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5C3DF7-D8B2-D6F1-D230-445C21FAE2B2}"/>
                </a:ext>
              </a:extLst>
            </p:cNvPr>
            <p:cNvSpPr txBox="1"/>
            <p:nvPr/>
          </p:nvSpPr>
          <p:spPr>
            <a:xfrm>
              <a:off x="6802641" y="3790384"/>
              <a:ext cx="1048703" cy="393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F4D6E-5E96-EC38-BD73-08991FF8608A}"/>
                  </a:ext>
                </a:extLst>
              </p:cNvPr>
              <p:cNvSpPr txBox="1"/>
              <p:nvPr/>
            </p:nvSpPr>
            <p:spPr>
              <a:xfrm>
                <a:off x="7811345" y="2813092"/>
                <a:ext cx="35813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Fisher information for photon number detection that only distinguishes the </a:t>
                </a:r>
                <a:r>
                  <a:rPr lang="en-US" sz="1200" dirty="0" err="1"/>
                  <a:t>Fock</a:t>
                </a:r>
                <a:r>
                  <a:rPr lang="en-US" sz="1200" dirty="0"/>
                  <a:t> state up to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𝑁𝑀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F4D6E-5E96-EC38-BD73-08991FF86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345" y="2813092"/>
                <a:ext cx="3581399" cy="461665"/>
              </a:xfrm>
              <a:prstGeom prst="rect">
                <a:avLst/>
              </a:prstGeom>
              <a:blipFill>
                <a:blip r:embed="rId1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322309C-9C19-2DA3-C56A-B9E68E0D92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8521" y="4755775"/>
            <a:ext cx="2774254" cy="18250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B6CFDB-5655-E324-61F4-984175763C52}"/>
              </a:ext>
            </a:extLst>
          </p:cNvPr>
          <p:cNvSpPr txBox="1"/>
          <p:nvPr/>
        </p:nvSpPr>
        <p:spPr>
          <a:xfrm>
            <a:off x="7965351" y="5548283"/>
            <a:ext cx="3869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Comparison between Quantum-enhanced interferometric imaging and conventional imaging.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C54408-9790-8C8A-96A3-9DBE5F699951}"/>
                  </a:ext>
                </a:extLst>
              </p:cNvPr>
              <p:cNvSpPr txBox="1"/>
              <p:nvPr/>
            </p:nvSpPr>
            <p:spPr>
              <a:xfrm>
                <a:off x="5909735" y="1970280"/>
                <a:ext cx="11918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C54408-9790-8C8A-96A3-9DBE5F699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735" y="1970280"/>
                <a:ext cx="1191827" cy="276999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5DD623-F124-9B1E-F44C-5001896C58F1}"/>
                  </a:ext>
                </a:extLst>
              </p:cNvPr>
              <p:cNvSpPr txBox="1"/>
              <p:nvPr/>
            </p:nvSpPr>
            <p:spPr>
              <a:xfrm>
                <a:off x="5876782" y="4559175"/>
                <a:ext cx="11918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5DD623-F124-9B1E-F44C-5001896C5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782" y="4559175"/>
                <a:ext cx="1191827" cy="276999"/>
              </a:xfrm>
              <a:prstGeom prst="rect">
                <a:avLst/>
              </a:prstGeom>
              <a:blipFill>
                <a:blip r:embed="rId1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E848D1-DD17-E5A5-F4C1-E51B65E0059D}"/>
                  </a:ext>
                </a:extLst>
              </p:cNvPr>
              <p:cNvSpPr txBox="1"/>
              <p:nvPr/>
            </p:nvSpPr>
            <p:spPr>
              <a:xfrm rot="16200000">
                <a:off x="4428546" y="5467733"/>
                <a:ext cx="963181" cy="270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E848D1-DD17-E5A5-F4C1-E51B65E00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28546" y="5467733"/>
                <a:ext cx="963181" cy="270758"/>
              </a:xfrm>
              <a:prstGeom prst="rect">
                <a:avLst/>
              </a:prstGeom>
              <a:blipFill>
                <a:blip r:embed="rId1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5182B7-519B-3102-E90E-BDF7BD96D4F1}"/>
                  </a:ext>
                </a:extLst>
              </p:cNvPr>
              <p:cNvSpPr txBox="1"/>
              <p:nvPr/>
            </p:nvSpPr>
            <p:spPr>
              <a:xfrm>
                <a:off x="5907562" y="3949345"/>
                <a:ext cx="12558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5182B7-519B-3102-E90E-BDF7BD96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562" y="3949345"/>
                <a:ext cx="1255899" cy="307777"/>
              </a:xfrm>
              <a:prstGeom prst="rect">
                <a:avLst/>
              </a:prstGeom>
              <a:blipFill>
                <a:blip r:embed="rId1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A5FCE3-1DFE-8515-C30D-3070B0A65710}"/>
                  </a:ext>
                </a:extLst>
              </p:cNvPr>
              <p:cNvSpPr txBox="1"/>
              <p:nvPr/>
            </p:nvSpPr>
            <p:spPr>
              <a:xfrm>
                <a:off x="5948625" y="6545463"/>
                <a:ext cx="12558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A5FCE3-1DFE-8515-C30D-3070B0A65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625" y="6545463"/>
                <a:ext cx="1255899" cy="307777"/>
              </a:xfrm>
              <a:prstGeom prst="rect">
                <a:avLst/>
              </a:prstGeom>
              <a:blipFill>
                <a:blip r:embed="rId1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9C42A30-1AD5-5B83-3EC4-466E5A99923E}"/>
              </a:ext>
            </a:extLst>
          </p:cNvPr>
          <p:cNvSpPr txBox="1"/>
          <p:nvPr/>
        </p:nvSpPr>
        <p:spPr>
          <a:xfrm>
            <a:off x="199257" y="4357531"/>
            <a:ext cx="262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Super-resolution of two-point strong thermal source </a:t>
            </a:r>
          </a:p>
        </p:txBody>
      </p:sp>
    </p:spTree>
    <p:extLst>
      <p:ext uri="{BB962C8B-B14F-4D97-AF65-F5344CB8AC3E}">
        <p14:creationId xmlns:p14="http://schemas.microsoft.com/office/powerpoint/2010/main" val="33133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/>
      <p:bldP spid="21" grpId="0"/>
      <p:bldP spid="23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7789912A-0D85-3AC5-F4AE-994A84FE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44D37D4-CD19-3EC7-6914-00CBF22A05CE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Conclusion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FF2CDC-82CF-AB33-C8D2-1C82B99D163B}"/>
              </a:ext>
            </a:extLst>
          </p:cNvPr>
          <p:cNvSpPr txBox="1"/>
          <p:nvPr/>
        </p:nvSpPr>
        <p:spPr>
          <a:xfrm>
            <a:off x="0" y="1028346"/>
            <a:ext cx="12053170" cy="5539978"/>
          </a:xfrm>
          <a:prstGeom prst="rect">
            <a:avLst/>
          </a:prstGeom>
          <a:noFill/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Table-top demonstration of quantum-enhanced telescope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Comparison between classical Local oscillator and ‘quantum’ Local oscillator (More data will be collected lately)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Source simulation and closure phase reconstruction (David will present this part of experimental result)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Protocols for enhanced interferometric imaging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Quantum telescope using continuous-variable quantum teleportation (To be submitted)</a:t>
            </a:r>
          </a:p>
          <a:p>
            <a:pPr lvl="1"/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Super-resolution of two incoherent strong thermal source  (</a:t>
            </a:r>
            <a:r>
              <a:rPr lang="en-US" sz="1800" dirty="0"/>
              <a:t>Phys. Rev. A 104, 022613</a:t>
            </a:r>
            <a:r>
              <a:rPr lang="en-US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Quantum telescope based on generalized intensity interferometer (</a:t>
            </a:r>
            <a:r>
              <a:rPr lang="en-US" sz="1800" dirty="0"/>
              <a:t>To be resubmitted</a:t>
            </a:r>
            <a:r>
              <a:rPr lang="en-US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Enhanced interferometric imaging with bandwidth extrapolation (</a:t>
            </a:r>
            <a:r>
              <a:rPr lang="en-US" sz="1800" dirty="0"/>
              <a:t>Accepted in PRA 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649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7789912A-0D85-3AC5-F4AE-994A84FE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44D37D4-CD19-3EC7-6914-00CBF22A05CE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Thanks </a:t>
            </a:r>
          </a:p>
        </p:txBody>
      </p:sp>
      <p:pic>
        <p:nvPicPr>
          <p:cNvPr id="20482" name="Picture 2" descr="Lorenz Group Photo">
            <a:extLst>
              <a:ext uri="{FF2B5EF4-FFF2-40B4-BE49-F238E27FC236}">
                <a16:creationId xmlns:a16="http://schemas.microsoft.com/office/drawing/2014/main" id="{392B812D-5C78-4F99-D14F-0CCB64E46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" y="1581092"/>
            <a:ext cx="6781800" cy="452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06BCE13-5FDC-72F0-83D3-9DB6211A22AE}"/>
              </a:ext>
            </a:extLst>
          </p:cNvPr>
          <p:cNvSpPr/>
          <p:nvPr/>
        </p:nvSpPr>
        <p:spPr>
          <a:xfrm>
            <a:off x="3593306" y="2502541"/>
            <a:ext cx="738188" cy="762000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D7AD54-2796-26D0-B02C-ACA5E4A7283F}"/>
              </a:ext>
            </a:extLst>
          </p:cNvPr>
          <p:cNvSpPr/>
          <p:nvPr/>
        </p:nvSpPr>
        <p:spPr>
          <a:xfrm>
            <a:off x="5422106" y="2340616"/>
            <a:ext cx="883444" cy="857250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F0DF71-622F-DC72-AB95-5C1D66F719B9}"/>
              </a:ext>
            </a:extLst>
          </p:cNvPr>
          <p:cNvSpPr/>
          <p:nvPr/>
        </p:nvSpPr>
        <p:spPr>
          <a:xfrm>
            <a:off x="2864644" y="2578741"/>
            <a:ext cx="883444" cy="857250"/>
          </a:xfrm>
          <a:prstGeom prst="ellipse">
            <a:avLst/>
          </a:prstGeom>
          <a:solidFill>
            <a:schemeClr val="lt1">
              <a:alpha val="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1D7E18F9-FBF1-E36F-AF31-A1C5114EB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616" y="890387"/>
            <a:ext cx="1391242" cy="1397705"/>
          </a:xfrm>
          <a:prstGeom prst="rect">
            <a:avLst/>
          </a:prstGeom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59218D48-60AE-189E-1024-D3AB2D179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2" y="2740595"/>
            <a:ext cx="1854950" cy="185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Paul Kwiat | Falling Walls">
            <a:extLst>
              <a:ext uri="{FF2B5EF4-FFF2-40B4-BE49-F238E27FC236}">
                <a16:creationId xmlns:a16="http://schemas.microsoft.com/office/drawing/2014/main" id="{AC51331A-2EE1-F5EB-AF65-5D316DE49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764" y="2740595"/>
            <a:ext cx="1854950" cy="185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7807B-08EC-20B0-A538-52714B072402}"/>
              </a:ext>
            </a:extLst>
          </p:cNvPr>
          <p:cNvSpPr txBox="1"/>
          <p:nvPr/>
        </p:nvSpPr>
        <p:spPr>
          <a:xfrm>
            <a:off x="3313510" y="1135531"/>
            <a:ext cx="146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Yunkai</a:t>
            </a:r>
            <a:r>
              <a:rPr lang="en-US" dirty="0"/>
              <a:t> wang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E343D-F926-3C28-9081-B4636E591FC0}"/>
              </a:ext>
            </a:extLst>
          </p:cNvPr>
          <p:cNvSpPr txBox="1"/>
          <p:nvPr/>
        </p:nvSpPr>
        <p:spPr>
          <a:xfrm>
            <a:off x="5067597" y="1159236"/>
            <a:ext cx="205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Prof. Virginia Lorenz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1FCED-5DB3-1ECE-FF7B-9D0C27DA6E6D}"/>
              </a:ext>
            </a:extLst>
          </p:cNvPr>
          <p:cNvSpPr txBox="1"/>
          <p:nvPr/>
        </p:nvSpPr>
        <p:spPr>
          <a:xfrm>
            <a:off x="9597764" y="4821677"/>
            <a:ext cx="205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Prof. Paul </a:t>
            </a:r>
            <a:r>
              <a:rPr lang="en-US" dirty="0" err="1"/>
              <a:t>Kwiat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31D66-A6DE-6AFF-5DA6-CC6B2E572F08}"/>
              </a:ext>
            </a:extLst>
          </p:cNvPr>
          <p:cNvSpPr txBox="1"/>
          <p:nvPr/>
        </p:nvSpPr>
        <p:spPr>
          <a:xfrm>
            <a:off x="7674309" y="4821677"/>
            <a:ext cx="205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David Diaz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394BDC-ED60-4D7B-6B43-44AF1A3DDCC5}"/>
              </a:ext>
            </a:extLst>
          </p:cNvPr>
          <p:cNvCxnSpPr>
            <a:endCxn id="6" idx="2"/>
          </p:cNvCxnSpPr>
          <p:nvPr/>
        </p:nvCxnSpPr>
        <p:spPr>
          <a:xfrm flipV="1">
            <a:off x="3971925" y="1504863"/>
            <a:ext cx="74415" cy="835753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16BA21-52C7-AC8F-153A-F65546424B7E}"/>
              </a:ext>
            </a:extLst>
          </p:cNvPr>
          <p:cNvCxnSpPr/>
          <p:nvPr/>
        </p:nvCxnSpPr>
        <p:spPr>
          <a:xfrm flipV="1">
            <a:off x="5949322" y="1452339"/>
            <a:ext cx="74415" cy="83575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86A2C0-D789-7FB6-AED8-6A63DD5807E6}"/>
              </a:ext>
            </a:extLst>
          </p:cNvPr>
          <p:cNvCxnSpPr>
            <a:cxnSpLocks/>
          </p:cNvCxnSpPr>
          <p:nvPr/>
        </p:nvCxnSpPr>
        <p:spPr>
          <a:xfrm flipH="1" flipV="1">
            <a:off x="2052532" y="1528568"/>
            <a:ext cx="1054651" cy="1050173"/>
          </a:xfrm>
          <a:prstGeom prst="straightConnector1">
            <a:avLst/>
          </a:prstGeom>
          <a:ln w="34925"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5EEFC3-0B86-498D-F3A9-43A68BC8C5C2}"/>
              </a:ext>
            </a:extLst>
          </p:cNvPr>
          <p:cNvSpPr txBox="1"/>
          <p:nvPr/>
        </p:nvSpPr>
        <p:spPr>
          <a:xfrm>
            <a:off x="1114198" y="1159236"/>
            <a:ext cx="146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en-US" altLang="zh-CN" dirty="0"/>
              <a:t>ujie Zhang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E27392-890A-099E-F6C0-C1BD29E7710E}"/>
              </a:ext>
            </a:extLst>
          </p:cNvPr>
          <p:cNvSpPr txBox="1"/>
          <p:nvPr/>
        </p:nvSpPr>
        <p:spPr>
          <a:xfrm>
            <a:off x="1" y="6264915"/>
            <a:ext cx="1194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Oregon: Matthew Brown, Prof. Brian Smith, Prof Michael Raymer;   Michigan: Prof. John Monnier; UIUC:  Prof. Eric Chitamber  </a:t>
            </a:r>
          </a:p>
        </p:txBody>
      </p:sp>
    </p:spTree>
    <p:extLst>
      <p:ext uri="{BB962C8B-B14F-4D97-AF65-F5344CB8AC3E}">
        <p14:creationId xmlns:p14="http://schemas.microsoft.com/office/powerpoint/2010/main" val="14134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6" descr="A picture containing text, diagram, map, plan&#10;&#10;Description automatically generated">
            <a:extLst>
              <a:ext uri="{FF2B5EF4-FFF2-40B4-BE49-F238E27FC236}">
                <a16:creationId xmlns:a16="http://schemas.microsoft.com/office/drawing/2014/main" id="{0A131C95-4CCE-0B2D-0917-248EF33B57E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279" y="4217248"/>
            <a:ext cx="4368959" cy="2568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Source simulation and closure phase reconstruction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995E35-D2E9-53C9-5E9A-5445736F2CDB}"/>
                  </a:ext>
                </a:extLst>
              </p:cNvPr>
              <p:cNvSpPr txBox="1"/>
              <p:nvPr/>
            </p:nvSpPr>
            <p:spPr>
              <a:xfrm>
                <a:off x="124924" y="835241"/>
                <a:ext cx="9683896" cy="3026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Limitation of current demonstration 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The ‘source’ photon and ‘lab’ photon are strongly temporally correlated, which will conceptually mimic a point source  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⟹ 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300" dirty="0"/>
              </a:p>
              <a:p>
                <a:pPr lvl="1"/>
                <a:endParaRPr lang="en-US" sz="13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The number of telescopes is limited, and the incoming light is not a real astronomical light  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3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Const</m:t>
                    </m:r>
                  </m:oMath>
                </a14:m>
                <a:endParaRPr lang="en-US" sz="1300" dirty="0"/>
              </a:p>
              <a:p>
                <a:pPr lvl="1"/>
                <a:endParaRPr lang="en-US" sz="13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Simulation of Extended source 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Given a fixed baseline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300" dirty="0"/>
                  <a:t>, and a </a:t>
                </a:r>
                <a:r>
                  <a:rPr lang="en-US" sz="1300" i="1" dirty="0"/>
                  <a:t>discretized</a:t>
                </a:r>
                <a:r>
                  <a:rPr lang="en-US" sz="1300" dirty="0"/>
                  <a:t> source intensity distribution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1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3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3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3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sz="1200" dirty="0"/>
                          <m:t> </m:t>
                        </m:r>
                      </m:e>
                    </m:nary>
                  </m:oMath>
                </a14:m>
                <a:endParaRPr lang="en-US" sz="1300" dirty="0"/>
              </a:p>
              <a:p>
                <a:pPr lvl="1"/>
                <a:endParaRPr lang="en-US" sz="13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Consider a </a:t>
                </a:r>
                <a:r>
                  <a:rPr lang="en-US" sz="1300" i="1" dirty="0"/>
                  <a:t>discretized</a:t>
                </a:r>
                <a:r>
                  <a:rPr lang="en-US" sz="1300" dirty="0"/>
                  <a:t> set of baseline </a:t>
                </a:r>
                <a14:m>
                  <m:oMath xmlns:m="http://schemas.openxmlformats.org/officeDocument/2006/math">
                    <m:r>
                      <a:rPr lang="en-US" sz="13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300" dirty="0"/>
                  <a:t>, visibility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00" dirty="0"/>
                  <a:t> can be simulated by applying phase on liquid crystal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400" b="0" dirty="0">
                  <a:solidFill>
                    <a:srgbClr val="0070C0"/>
                  </a:solidFill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US" sz="1300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300" dirty="0"/>
                  <a:t>Take </a:t>
                </a:r>
                <a:r>
                  <a:rPr lang="en-US" sz="1300" i="1" dirty="0">
                    <a:solidFill>
                      <a:srgbClr val="00B050"/>
                    </a:solidFill>
                  </a:rPr>
                  <a:t>turbulence</a:t>
                </a:r>
                <a:r>
                  <a:rPr lang="en-US" sz="1300" dirty="0"/>
                  <a:t> into consideration, the resulting expected visibility </a:t>
                </a:r>
                <a14:m>
                  <m:oMath xmlns:m="http://schemas.openxmlformats.org/officeDocument/2006/math">
                    <m:r>
                      <a:rPr lang="en-US" sz="13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3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3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3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3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3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3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30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3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1300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sz="1300" dirty="0"/>
                          <m:t> </m:t>
                        </m:r>
                      </m:e>
                    </m:nary>
                  </m:oMath>
                </a14:m>
                <a:endParaRPr lang="en-US" sz="1300" dirty="0"/>
              </a:p>
              <a:p>
                <a:pPr lvl="1"/>
                <a:endParaRPr lang="en-US" sz="13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With turbulence, source can still be reconstructed by measuring closure phase with three telescope. </a:t>
                </a:r>
                <a:r>
                  <a:rPr lang="en-US" sz="1300" dirty="0"/>
                  <a:t>                                                                         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995E35-D2E9-53C9-5E9A-5445736F2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24" y="835241"/>
                <a:ext cx="9683896" cy="3026470"/>
              </a:xfrm>
              <a:prstGeom prst="rect">
                <a:avLst/>
              </a:prstGeom>
              <a:blipFill>
                <a:blip r:embed="rId4"/>
                <a:stretch>
                  <a:fillRect l="-252" t="-605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A562DD-886B-65CD-2E43-88708321802E}"/>
              </a:ext>
            </a:extLst>
          </p:cNvPr>
          <p:cNvSpPr/>
          <p:nvPr/>
        </p:nvSpPr>
        <p:spPr>
          <a:xfrm>
            <a:off x="546954" y="4314499"/>
            <a:ext cx="6437320" cy="2027268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374484-05F0-786D-E711-431275DCF2FF}"/>
                  </a:ext>
                </a:extLst>
              </p:cNvPr>
              <p:cNvSpPr txBox="1"/>
              <p:nvPr/>
            </p:nvSpPr>
            <p:spPr>
              <a:xfrm>
                <a:off x="546954" y="4314499"/>
                <a:ext cx="6437320" cy="2059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b="1" i="1" u="sng" dirty="0">
                    <a:solidFill>
                      <a:schemeClr val="bg1"/>
                    </a:solidFill>
                  </a:rPr>
                  <a:t>Closure phase </a:t>
                </a:r>
                <a:r>
                  <a:rPr lang="en-US" sz="1300" dirty="0"/>
                  <a:t>: The visibility measured between three telescopes are affected by atmospheres turbulence </a:t>
                </a:r>
              </a:p>
              <a:p>
                <a:r>
                  <a:rPr lang="en-US" sz="1300" b="0" dirty="0">
                    <a:solidFill>
                      <a:srgbClr val="0070C0"/>
                    </a:solidFill>
                  </a:rPr>
                  <a:t>                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300" dirty="0"/>
              </a:p>
              <a:p>
                <a:r>
                  <a:rPr lang="en-US" sz="1300" b="0" dirty="0">
                    <a:solidFill>
                      <a:srgbClr val="0070C0"/>
                    </a:solidFill>
                  </a:rPr>
                  <a:t>                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e>
                    </m:d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300" b="0" dirty="0">
                  <a:solidFill>
                    <a:srgbClr val="0070C0"/>
                  </a:solidFill>
                </a:endParaRPr>
              </a:p>
              <a:p>
                <a:r>
                  <a:rPr lang="en-US" sz="1300" dirty="0"/>
                  <a:t>                                                      </a:t>
                </a:r>
                <a:r>
                  <a:rPr lang="en-US" sz="1300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e>
                    </m:d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300" dirty="0"/>
              </a:p>
              <a:p>
                <a:r>
                  <a:rPr lang="en-US" sz="1300" dirty="0"/>
                  <a:t>The closure phase is an observable quantity forms the basis of the self-calibration approach to interferometric imaging</a:t>
                </a:r>
              </a:p>
              <a:p>
                <a:r>
                  <a:rPr lang="en-US" sz="1300" dirty="0"/>
                  <a:t>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sz="13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sz="13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e>
                    </m:d>
                    <m:r>
                      <a:rPr lang="en-US" sz="13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00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1300" b="0" dirty="0">
                        <a:solidFill>
                          <a:srgbClr val="0070C0"/>
                        </a:solidFill>
                      </a:rPr>
                      <m:t> </m:t>
                    </m:r>
                    <m:r>
                      <a:rPr lang="en-US" sz="13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3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sz="13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</m:oMath>
                </a14:m>
                <a:endParaRPr lang="en-US" sz="13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374484-05F0-786D-E711-431275DCF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54" y="4314499"/>
                <a:ext cx="6437320" cy="2059795"/>
              </a:xfrm>
              <a:prstGeom prst="rect">
                <a:avLst/>
              </a:prstGeom>
              <a:blipFill>
                <a:blip r:embed="rId5"/>
                <a:stretch>
                  <a:fillRect l="-189" t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DA3D1F2-467A-58A3-983E-F9FD931E8ECF}"/>
              </a:ext>
            </a:extLst>
          </p:cNvPr>
          <p:cNvGrpSpPr/>
          <p:nvPr/>
        </p:nvGrpSpPr>
        <p:grpSpPr>
          <a:xfrm>
            <a:off x="9270021" y="835241"/>
            <a:ext cx="2353410" cy="2637473"/>
            <a:chOff x="9481036" y="1064089"/>
            <a:chExt cx="2012332" cy="226375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50B9B5-2FF5-D775-8FEA-2782F93A153D}"/>
                </a:ext>
              </a:extLst>
            </p:cNvPr>
            <p:cNvGrpSpPr/>
            <p:nvPr/>
          </p:nvGrpSpPr>
          <p:grpSpPr>
            <a:xfrm flipH="1">
              <a:off x="10965742" y="1921297"/>
              <a:ext cx="527626" cy="478310"/>
              <a:chOff x="2098274" y="1374606"/>
              <a:chExt cx="1690182" cy="1652414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827DD5C-65C4-AAD6-45CB-228C359CEABE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33" name="Flowchart: Delay 32">
                  <a:extLst>
                    <a:ext uri="{FF2B5EF4-FFF2-40B4-BE49-F238E27FC236}">
                      <a16:creationId xmlns:a16="http://schemas.microsoft.com/office/drawing/2014/main" id="{60859E2B-E70B-8224-6ED2-0D06FA95D44E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D3DD8C-C438-AA3B-1C6A-D49903DDF7A5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686169A-9A63-8161-FCA3-C3A31A09C542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Arc 35">
                  <a:extLst>
                    <a:ext uri="{FF2B5EF4-FFF2-40B4-BE49-F238E27FC236}">
                      <a16:creationId xmlns:a16="http://schemas.microsoft.com/office/drawing/2014/main" id="{D3B86F46-A5F4-720B-5B87-279BBDB4EB0E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1EAADB6-D6EA-BE09-0FA6-8B08B310B797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567A4C5E-4D4E-EBF2-0315-BFA57876F167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EC7E589-4CF9-B38D-89C2-009C2585D703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A15FAAD-64BB-242B-4940-7955AC9DFEB8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53A13ED-78AD-3147-08D6-5984087F0E5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" name="Graphic 9" descr="Solar system with solid fill">
              <a:extLst>
                <a:ext uri="{FF2B5EF4-FFF2-40B4-BE49-F238E27FC236}">
                  <a16:creationId xmlns:a16="http://schemas.microsoft.com/office/drawing/2014/main" id="{796A03A2-28B4-147B-2D09-CD5A49EFE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49361">
              <a:off x="10199783" y="1064089"/>
              <a:ext cx="616367" cy="63577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8DF56B-FA19-C0DC-1B86-12ACFA30D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438" y="1555133"/>
              <a:ext cx="348143" cy="338577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8A4D1BC-90EA-BBC1-2AEF-62778B780296}"/>
                </a:ext>
              </a:extLst>
            </p:cNvPr>
            <p:cNvCxnSpPr>
              <a:cxnSpLocks/>
            </p:cNvCxnSpPr>
            <p:nvPr/>
          </p:nvCxnSpPr>
          <p:spPr>
            <a:xfrm>
              <a:off x="10615456" y="1577743"/>
              <a:ext cx="296349" cy="337196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DB582EB-EA37-B2B4-A171-F7C35A3B5E10}"/>
                </a:ext>
              </a:extLst>
            </p:cNvPr>
            <p:cNvGrpSpPr/>
            <p:nvPr/>
          </p:nvGrpSpPr>
          <p:grpSpPr>
            <a:xfrm>
              <a:off x="9481036" y="1922153"/>
              <a:ext cx="518298" cy="478310"/>
              <a:chOff x="2098274" y="1374606"/>
              <a:chExt cx="1690182" cy="1652414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F28C661-A17E-0676-2D27-7B4800774B2E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3" name="Flowchart: Delay 22">
                  <a:extLst>
                    <a:ext uri="{FF2B5EF4-FFF2-40B4-BE49-F238E27FC236}">
                      <a16:creationId xmlns:a16="http://schemas.microsoft.com/office/drawing/2014/main" id="{1FC3A82F-E7AA-6B0B-EB57-8186C81A3E6D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B9046AA-9763-F11C-F3E8-C1CA6786B42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CD9DA48-59FE-B9E7-2624-6CBFCE876BBE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19D9FD3A-F307-0EB7-C8E8-2ACBB56C8F31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E81951B3-AEA7-0AA9-8448-283220989221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5D4A0FC-D321-BC07-F6D0-F9E127D3C850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2C3A0D-CADB-A6E0-1D1C-4854437C0505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1798324-D3DC-7670-CBE5-B763A51E1C2D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5C735A-D0F4-BFFA-BB83-49B03DD907A1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D02D864-BB2C-6DB6-7230-C2EE4C21C141}"/>
                </a:ext>
              </a:extLst>
            </p:cNvPr>
            <p:cNvGrpSpPr/>
            <p:nvPr/>
          </p:nvGrpSpPr>
          <p:grpSpPr>
            <a:xfrm>
              <a:off x="10286016" y="2849533"/>
              <a:ext cx="518298" cy="478310"/>
              <a:chOff x="2098274" y="1374606"/>
              <a:chExt cx="1690182" cy="165241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5CA8CC9-EFB2-B0CB-B21C-BFD0284F483C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45" name="Flowchart: Delay 44">
                  <a:extLst>
                    <a:ext uri="{FF2B5EF4-FFF2-40B4-BE49-F238E27FC236}">
                      <a16:creationId xmlns:a16="http://schemas.microsoft.com/office/drawing/2014/main" id="{AA0BE878-49EF-C1B7-C0C5-C3DEEA15D966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9E7B0CE-D852-ADFE-6980-F356F4616D23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C058A3D-6B35-F483-79E3-A7EB2059ADDC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5D93770F-9AD0-E4B4-1748-EA3905A88C7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989050C0-0079-F1A4-791E-785359328601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39BDE396-E584-DF1A-B03C-3FEEE7F434D2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0C642951-3ED5-CA9B-CAB7-1CD69EE785C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F5171356-D5CA-509D-6CBD-D8DE01335FFC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F7C038D-C34A-63E1-5FF8-13CF08896DC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60A0EE2-73A8-C592-BC37-A48CEA69D3B9}"/>
                </a:ext>
              </a:extLst>
            </p:cNvPr>
            <p:cNvCxnSpPr>
              <a:cxnSpLocks/>
            </p:cNvCxnSpPr>
            <p:nvPr/>
          </p:nvCxnSpPr>
          <p:spPr>
            <a:xfrm>
              <a:off x="10467281" y="1686300"/>
              <a:ext cx="15181" cy="957737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5F9116B0-051C-9243-C2F8-349EEF37AB36}"/>
                </a:ext>
              </a:extLst>
            </p:cNvPr>
            <p:cNvCxnSpPr>
              <a:cxnSpLocks/>
            </p:cNvCxnSpPr>
            <p:nvPr/>
          </p:nvCxnSpPr>
          <p:spPr>
            <a:xfrm>
              <a:off x="9874496" y="2318336"/>
              <a:ext cx="1182116" cy="1064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293B521-4814-06CF-636D-FC77720B3509}"/>
                    </a:ext>
                  </a:extLst>
                </p:cNvPr>
                <p:cNvSpPr txBox="1"/>
                <p:nvPr/>
              </p:nvSpPr>
              <p:spPr>
                <a:xfrm>
                  <a:off x="10041679" y="2301754"/>
                  <a:ext cx="1136905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100" b="0" dirty="0">
                      <a:solidFill>
                        <a:srgbClr val="0070C0"/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293B521-4814-06CF-636D-FC77720B3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1679" y="2301754"/>
                  <a:ext cx="1136905" cy="286682"/>
                </a:xfrm>
                <a:prstGeom prst="rect">
                  <a:avLst/>
                </a:prstGeom>
                <a:blipFill>
                  <a:blip r:embed="rId8"/>
                  <a:stretch>
                    <a:fillRect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1490534-38BA-A6F1-B417-EA9EEAB6012B}"/>
                    </a:ext>
                  </a:extLst>
                </p:cNvPr>
                <p:cNvSpPr txBox="1"/>
                <p:nvPr/>
              </p:nvSpPr>
              <p:spPr>
                <a:xfrm>
                  <a:off x="9622421" y="2734484"/>
                  <a:ext cx="389823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1490534-38BA-A6F1-B417-EA9EEAB60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421" y="2734484"/>
                  <a:ext cx="389823" cy="286682"/>
                </a:xfrm>
                <a:prstGeom prst="rect">
                  <a:avLst/>
                </a:prstGeom>
                <a:blipFill>
                  <a:blip r:embed="rId9"/>
                  <a:stretch>
                    <a:fillRect t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20527FE-B728-9F6A-6978-4E36ECED4ACD}"/>
                    </a:ext>
                  </a:extLst>
                </p:cNvPr>
                <p:cNvSpPr txBox="1"/>
                <p:nvPr/>
              </p:nvSpPr>
              <p:spPr>
                <a:xfrm>
                  <a:off x="11040506" y="2776006"/>
                  <a:ext cx="389823" cy="2866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100" dirty="0">
                      <a:solidFill>
                        <a:srgbClr val="0070C0"/>
                      </a:solidFill>
                    </a:rPr>
                    <a:t> </a:t>
                  </a:r>
                  <a:endParaRPr lang="en-US" sz="11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20527FE-B728-9F6A-6978-4E36ECED4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0506" y="2776006"/>
                  <a:ext cx="389823" cy="286682"/>
                </a:xfrm>
                <a:prstGeom prst="rect">
                  <a:avLst/>
                </a:prstGeom>
                <a:blipFill>
                  <a:blip r:embed="rId10"/>
                  <a:stretch>
                    <a:fillRect t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D1D8F6A-7371-3D24-232A-095636BD1B28}"/>
                </a:ext>
              </a:extLst>
            </p:cNvPr>
            <p:cNvCxnSpPr>
              <a:cxnSpLocks/>
            </p:cNvCxnSpPr>
            <p:nvPr/>
          </p:nvCxnSpPr>
          <p:spPr>
            <a:xfrm>
              <a:off x="9736478" y="2576003"/>
              <a:ext cx="435031" cy="42852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FBA7092-A35D-748C-51B4-0B859FF91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093" y="2563638"/>
              <a:ext cx="430168" cy="4352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4E31AF4-F89B-E53A-005C-09C650D8AA4B}"/>
                </a:ext>
              </a:extLst>
            </p:cNvPr>
            <p:cNvSpPr/>
            <p:nvPr/>
          </p:nvSpPr>
          <p:spPr>
            <a:xfrm>
              <a:off x="10373626" y="2004937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4EDBEFC0-15D9-19E7-F56C-D344D0DA4834}"/>
                    </a:ext>
                  </a:extLst>
                </p:cNvPr>
                <p:cNvSpPr txBox="1"/>
                <p:nvPr/>
              </p:nvSpPr>
              <p:spPr>
                <a:xfrm>
                  <a:off x="10321047" y="2001065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4EDBEFC0-15D9-19E7-F56C-D344D0DA4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047" y="2001065"/>
                  <a:ext cx="188809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FA4A574-6326-A586-F6BA-5327856A6A61}"/>
                </a:ext>
              </a:extLst>
            </p:cNvPr>
            <p:cNvSpPr/>
            <p:nvPr/>
          </p:nvSpPr>
          <p:spPr>
            <a:xfrm>
              <a:off x="10087082" y="1568496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BEC0E42-9717-C1A5-560B-44FEE81FCBB5}"/>
                    </a:ext>
                  </a:extLst>
                </p:cNvPr>
                <p:cNvSpPr txBox="1"/>
                <p:nvPr/>
              </p:nvSpPr>
              <p:spPr>
                <a:xfrm>
                  <a:off x="10041679" y="1558767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BEC0E42-9717-C1A5-560B-44FEE81FC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1679" y="1558767"/>
                  <a:ext cx="188809" cy="2616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501FDE5-FA98-DC67-A991-F9B87D88AD54}"/>
                </a:ext>
              </a:extLst>
            </p:cNvPr>
            <p:cNvSpPr/>
            <p:nvPr/>
          </p:nvSpPr>
          <p:spPr>
            <a:xfrm>
              <a:off x="10698241" y="1647726"/>
              <a:ext cx="183105" cy="23056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8581D37-BE8B-B279-263E-F0DD60DAFF24}"/>
                    </a:ext>
                  </a:extLst>
                </p:cNvPr>
                <p:cNvSpPr txBox="1"/>
                <p:nvPr/>
              </p:nvSpPr>
              <p:spPr>
                <a:xfrm>
                  <a:off x="10645116" y="1643870"/>
                  <a:ext cx="188809" cy="26161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8581D37-BE8B-B279-263E-F0DD60DAF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5116" y="1643870"/>
                  <a:ext cx="188809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F69AEC2C-057E-4EF8-4F49-BE75A91C7E02}"/>
              </a:ext>
            </a:extLst>
          </p:cNvPr>
          <p:cNvSpPr txBox="1"/>
          <p:nvPr/>
        </p:nvSpPr>
        <p:spPr>
          <a:xfrm>
            <a:off x="9253648" y="3523844"/>
            <a:ext cx="2673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Interferometric imaging with three telescope and closure phase </a:t>
            </a:r>
          </a:p>
        </p:txBody>
      </p:sp>
    </p:spTree>
    <p:extLst>
      <p:ext uri="{BB962C8B-B14F-4D97-AF65-F5344CB8AC3E}">
        <p14:creationId xmlns:p14="http://schemas.microsoft.com/office/powerpoint/2010/main" val="1207406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5651-9DF8-CC21-97E3-15DFA1BC4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5" y="-2"/>
            <a:ext cx="714376" cy="723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73F1F7-9E2F-EF93-9E49-6DB6D28DB0A8}"/>
              </a:ext>
            </a:extLst>
          </p:cNvPr>
          <p:cNvSpPr/>
          <p:nvPr/>
        </p:nvSpPr>
        <p:spPr>
          <a:xfrm>
            <a:off x="0" y="4760"/>
            <a:ext cx="11477624" cy="714375"/>
          </a:xfrm>
          <a:prstGeom prst="rect">
            <a:avLst/>
          </a:prstGeom>
          <a:solidFill>
            <a:srgbClr val="EE5C1A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Quantum telescope with CV quantum teleportation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549411-AEF5-10C9-6A19-00540185695C}"/>
              </a:ext>
            </a:extLst>
          </p:cNvPr>
          <p:cNvGrpSpPr/>
          <p:nvPr/>
        </p:nvGrpSpPr>
        <p:grpSpPr>
          <a:xfrm>
            <a:off x="1024769" y="2566281"/>
            <a:ext cx="2488156" cy="1617085"/>
            <a:chOff x="7851736" y="3218902"/>
            <a:chExt cx="3748644" cy="228487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26CB53F-C970-1E48-4585-F70793D2B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3" y="3271692"/>
              <a:ext cx="0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2CEFAE4-B29B-B5F0-80FF-C6C85730CF7F}"/>
                </a:ext>
              </a:extLst>
            </p:cNvPr>
            <p:cNvGrpSpPr/>
            <p:nvPr/>
          </p:nvGrpSpPr>
          <p:grpSpPr>
            <a:xfrm rot="798871">
              <a:off x="11142011" y="3869853"/>
              <a:ext cx="458369" cy="399856"/>
              <a:chOff x="3690596" y="5264272"/>
              <a:chExt cx="458369" cy="399856"/>
            </a:xfrm>
          </p:grpSpPr>
          <p:sp>
            <p:nvSpPr>
              <p:cNvPr id="73" name="Flowchart: Delay 72">
                <a:extLst>
                  <a:ext uri="{FF2B5EF4-FFF2-40B4-BE49-F238E27FC236}">
                    <a16:creationId xmlns:a16="http://schemas.microsoft.com/office/drawing/2014/main" id="{F4C9AF45-F8FA-3FC9-5C29-6B5252D88F0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3D63F49-8515-1C1D-CF16-62DCD5D7E4B6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DBE2FFA-6679-C18B-7898-F77DB1F96E9A}"/>
                </a:ext>
              </a:extLst>
            </p:cNvPr>
            <p:cNvGrpSpPr/>
            <p:nvPr/>
          </p:nvGrpSpPr>
          <p:grpSpPr>
            <a:xfrm rot="6401841">
              <a:off x="7884281" y="3966902"/>
              <a:ext cx="458369" cy="399856"/>
              <a:chOff x="3690596" y="5264272"/>
              <a:chExt cx="458369" cy="399856"/>
            </a:xfrm>
          </p:grpSpPr>
          <p:sp>
            <p:nvSpPr>
              <p:cNvPr id="71" name="Flowchart: Delay 70">
                <a:extLst>
                  <a:ext uri="{FF2B5EF4-FFF2-40B4-BE49-F238E27FC236}">
                    <a16:creationId xmlns:a16="http://schemas.microsoft.com/office/drawing/2014/main" id="{A73A3F6C-53A9-9EF2-9050-20F46FAD2285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A3B3D42-2409-7EB1-6946-6EF5FC447FF8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777399C-4A52-ECC7-3E12-AF90F994C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3993" y="3640486"/>
              <a:ext cx="391469" cy="44106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2D7A78-E6D2-4140-29A1-4D38CF0CE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9029" y="3555409"/>
              <a:ext cx="386433" cy="37782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99E37F-388F-1F2B-9AE5-76848E088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371" y="3312244"/>
              <a:ext cx="13561" cy="283717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DD55024-8F47-D677-3E49-4A3F668B4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85" y="3583988"/>
              <a:ext cx="351645" cy="387345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0BD1CE2-EC3D-848C-EBB7-7FFD19E38F4B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4" y="4077359"/>
              <a:ext cx="0" cy="103212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281301E-E63C-4091-5831-986D5A9F5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534" y="3705663"/>
              <a:ext cx="358312" cy="364119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8C41A2-20E8-3CE1-9E9F-4CD12D5B4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1394" y="4061623"/>
              <a:ext cx="1311" cy="1047862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C364893-3AC1-5EA3-EB76-8E664B397478}"/>
                </a:ext>
              </a:extLst>
            </p:cNvPr>
            <p:cNvGrpSpPr/>
            <p:nvPr/>
          </p:nvGrpSpPr>
          <p:grpSpPr>
            <a:xfrm rot="11651344">
              <a:off x="7851736" y="3348790"/>
              <a:ext cx="458369" cy="399856"/>
              <a:chOff x="3690596" y="5264272"/>
              <a:chExt cx="458369" cy="399856"/>
            </a:xfrm>
          </p:grpSpPr>
          <p:sp>
            <p:nvSpPr>
              <p:cNvPr id="69" name="Flowchart: Delay 68">
                <a:extLst>
                  <a:ext uri="{FF2B5EF4-FFF2-40B4-BE49-F238E27FC236}">
                    <a16:creationId xmlns:a16="http://schemas.microsoft.com/office/drawing/2014/main" id="{5F59AE7D-A04E-CF8D-7131-5DE18D85A41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6273874-48B8-4316-44AF-753328A88CAF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9251FA2-8DD2-0CA8-394F-3AB7050CBEFF}"/>
                </a:ext>
              </a:extLst>
            </p:cNvPr>
            <p:cNvGrpSpPr/>
            <p:nvPr/>
          </p:nvGrpSpPr>
          <p:grpSpPr>
            <a:xfrm rot="17167068">
              <a:off x="11076317" y="3248159"/>
              <a:ext cx="458369" cy="399856"/>
              <a:chOff x="3690596" y="5264272"/>
              <a:chExt cx="458369" cy="399856"/>
            </a:xfrm>
          </p:grpSpPr>
          <p:sp>
            <p:nvSpPr>
              <p:cNvPr id="67" name="Flowchart: Delay 66">
                <a:extLst>
                  <a:ext uri="{FF2B5EF4-FFF2-40B4-BE49-F238E27FC236}">
                    <a16:creationId xmlns:a16="http://schemas.microsoft.com/office/drawing/2014/main" id="{6E35890A-F5EB-583A-9A29-2328E94D568D}"/>
                  </a:ext>
                </a:extLst>
              </p:cNvPr>
              <p:cNvSpPr/>
              <p:nvPr/>
            </p:nvSpPr>
            <p:spPr>
              <a:xfrm rot="1535992">
                <a:off x="3690596" y="5264272"/>
                <a:ext cx="184961" cy="320248"/>
              </a:xfrm>
              <a:prstGeom prst="flowChartDelay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54FE819-8819-AFC8-3DD4-A14DC602948A}"/>
                  </a:ext>
                </a:extLst>
              </p:cNvPr>
              <p:cNvSpPr/>
              <p:nvPr/>
            </p:nvSpPr>
            <p:spPr>
              <a:xfrm rot="21406059">
                <a:off x="3882265" y="5454578"/>
                <a:ext cx="266700" cy="209550"/>
              </a:xfrm>
              <a:custGeom>
                <a:avLst/>
                <a:gdLst>
                  <a:gd name="connsiteX0" fmla="*/ 0 w 266700"/>
                  <a:gd name="connsiteY0" fmla="*/ 0 h 209550"/>
                  <a:gd name="connsiteX1" fmla="*/ 57150 w 266700"/>
                  <a:gd name="connsiteY1" fmla="*/ 114300 h 209550"/>
                  <a:gd name="connsiteX2" fmla="*/ 200025 w 266700"/>
                  <a:gd name="connsiteY2" fmla="*/ 57150 h 209550"/>
                  <a:gd name="connsiteX3" fmla="*/ 266700 w 266700"/>
                  <a:gd name="connsiteY3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209550">
                    <a:moveTo>
                      <a:pt x="0" y="0"/>
                    </a:moveTo>
                    <a:cubicBezTo>
                      <a:pt x="11906" y="52387"/>
                      <a:pt x="23813" y="104775"/>
                      <a:pt x="57150" y="114300"/>
                    </a:cubicBezTo>
                    <a:cubicBezTo>
                      <a:pt x="90488" y="123825"/>
                      <a:pt x="165100" y="41275"/>
                      <a:pt x="200025" y="57150"/>
                    </a:cubicBezTo>
                    <a:cubicBezTo>
                      <a:pt x="234950" y="73025"/>
                      <a:pt x="250825" y="141287"/>
                      <a:pt x="266700" y="209550"/>
                    </a:cubicBezTo>
                  </a:path>
                </a:pathLst>
              </a:cu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FAC9AD-CF56-B149-E20A-83FA034515DA}"/>
                </a:ext>
              </a:extLst>
            </p:cNvPr>
            <p:cNvSpPr/>
            <p:nvPr/>
          </p:nvSpPr>
          <p:spPr>
            <a:xfrm>
              <a:off x="8465817" y="5109485"/>
              <a:ext cx="2444651" cy="3754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/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𝑀𝑆𝑉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A303913-F601-B2DB-B84B-74C4126D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0977" y="5145004"/>
                  <a:ext cx="2194329" cy="3587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BAFC38-5013-C10B-22C8-6AEAE0224D0D}"/>
              </a:ext>
            </a:extLst>
          </p:cNvPr>
          <p:cNvCxnSpPr>
            <a:cxnSpLocks/>
          </p:cNvCxnSpPr>
          <p:nvPr/>
        </p:nvCxnSpPr>
        <p:spPr>
          <a:xfrm>
            <a:off x="717602" y="2555221"/>
            <a:ext cx="161465" cy="172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58BA99B-B694-B9B4-6BE5-2603A51BD9C5}"/>
              </a:ext>
            </a:extLst>
          </p:cNvPr>
          <p:cNvSpPr txBox="1"/>
          <p:nvPr/>
        </p:nvSpPr>
        <p:spPr>
          <a:xfrm>
            <a:off x="0" y="2164738"/>
            <a:ext cx="932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Homodyne measurement </a:t>
            </a:r>
            <a:endParaRPr lang="en-US" sz="10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DFC9882-B10F-E955-3F4E-A31FF9A755BC}"/>
              </a:ext>
            </a:extLst>
          </p:cNvPr>
          <p:cNvCxnSpPr/>
          <p:nvPr/>
        </p:nvCxnSpPr>
        <p:spPr>
          <a:xfrm>
            <a:off x="955414" y="2751053"/>
            <a:ext cx="0" cy="5772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EFAFC2-C8B8-A7DC-B7EF-7112B10C1735}"/>
              </a:ext>
            </a:extLst>
          </p:cNvPr>
          <p:cNvCxnSpPr>
            <a:cxnSpLocks/>
          </p:cNvCxnSpPr>
          <p:nvPr/>
        </p:nvCxnSpPr>
        <p:spPr>
          <a:xfrm flipH="1">
            <a:off x="766420" y="3095781"/>
            <a:ext cx="24136" cy="47063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FB5B8E5-9B03-AF3C-6FEA-D76CA1BB4AFE}"/>
              </a:ext>
            </a:extLst>
          </p:cNvPr>
          <p:cNvCxnSpPr>
            <a:cxnSpLocks/>
          </p:cNvCxnSpPr>
          <p:nvPr/>
        </p:nvCxnSpPr>
        <p:spPr>
          <a:xfrm flipH="1">
            <a:off x="800081" y="3553355"/>
            <a:ext cx="200657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76A081-8C9A-E6BC-FBA3-84D3F051FB44}"/>
              </a:ext>
            </a:extLst>
          </p:cNvPr>
          <p:cNvCxnSpPr>
            <a:cxnSpLocks/>
          </p:cNvCxnSpPr>
          <p:nvPr/>
        </p:nvCxnSpPr>
        <p:spPr>
          <a:xfrm flipH="1">
            <a:off x="820893" y="3079021"/>
            <a:ext cx="140986" cy="15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BC4D786-6998-DCAB-FD82-529934C48244}"/>
              </a:ext>
            </a:extLst>
          </p:cNvPr>
          <p:cNvSpPr/>
          <p:nvPr/>
        </p:nvSpPr>
        <p:spPr>
          <a:xfrm>
            <a:off x="2828534" y="3272022"/>
            <a:ext cx="285029" cy="5449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/>
              <p:nvPr/>
            </p:nvSpPr>
            <p:spPr>
              <a:xfrm>
                <a:off x="115533" y="3219753"/>
                <a:ext cx="6938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BAD4B9-3A10-C7EF-8A29-F11EE62E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33" y="3219753"/>
                <a:ext cx="693881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/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533EEB-B8A1-5670-E68E-445364686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22765" y="3502727"/>
                <a:ext cx="475833" cy="302199"/>
              </a:xfrm>
              <a:prstGeom prst="rect">
                <a:avLst/>
              </a:prstGeom>
              <a:blipFill>
                <a:blip r:embed="rId5"/>
                <a:stretch>
                  <a:fillRect t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8A33DAD3-ED50-1EE7-771F-46DD98544A17}"/>
              </a:ext>
            </a:extLst>
          </p:cNvPr>
          <p:cNvSpPr txBox="1"/>
          <p:nvPr/>
        </p:nvSpPr>
        <p:spPr>
          <a:xfrm>
            <a:off x="955414" y="4348912"/>
            <a:ext cx="289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 5. Quantum telescope using continuous-variable quantum teleportation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/>
              <p:nvPr/>
            </p:nvSpPr>
            <p:spPr>
              <a:xfrm>
                <a:off x="4055028" y="971401"/>
                <a:ext cx="7766516" cy="5656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Quantum telescope: CV quantum teleportation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Instead of using the shared path entangled state, two-mode squeeze vacuum states are shared between two telescopes </a:t>
                </a:r>
                <a:endParaRPr lang="en-US" sz="9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US" sz="11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100" b="0" i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sup>
                    </m:sSup>
                    <m:r>
                      <a:rPr lang="en-US" sz="11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US" sz="11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1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1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100" dirty="0"/>
                  <a:t>  </a:t>
                </a:r>
                <a:r>
                  <a:rPr lang="en-US" sz="1200" dirty="0"/>
                  <a:t>     Where r is the squeezing level, or the Covariant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as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                                                               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osh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osh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osh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osh</m:t>
                              </m:r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   On the other hand, without working in the weak thermal limit, the source state can be written as a two mode Gaussian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with Covariant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sz="12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  <a:p>
                <a:pPr lvl="1"/>
                <a:endParaRPr lang="en-US" sz="1200" dirty="0">
                  <a:solidFill>
                    <a:srgbClr val="FF0000"/>
                  </a:solidFill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  The teleported state on the right telescope will still be a Gaussian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, with Covariant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1200" dirty="0"/>
                  <a:t> given as:</a:t>
                </a:r>
              </a:p>
              <a:p>
                <a:r>
                  <a:rPr lang="en-US" sz="1200" dirty="0"/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2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sup>
                    </m:sSup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405B3-F014-2BBD-DF73-80C15D3D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028" y="971401"/>
                <a:ext cx="7766516" cy="5656357"/>
              </a:xfrm>
              <a:prstGeom prst="rect">
                <a:avLst/>
              </a:prstGeom>
              <a:blipFill>
                <a:blip r:embed="rId6"/>
                <a:stretch>
                  <a:fillRect l="-628" t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7096EB-B6F0-A41C-0A8B-EB5D6F0A82DE}"/>
                  </a:ext>
                </a:extLst>
              </p:cNvPr>
              <p:cNvSpPr txBox="1"/>
              <p:nvPr/>
            </p:nvSpPr>
            <p:spPr>
              <a:xfrm>
                <a:off x="617929" y="2285230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7096EB-B6F0-A41C-0A8B-EB5D6F0A8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29" y="2285230"/>
                <a:ext cx="70690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7E958-F4CB-219B-A479-8FBC4BD7A999}"/>
                  </a:ext>
                </a:extLst>
              </p:cNvPr>
              <p:cNvSpPr txBox="1"/>
              <p:nvPr/>
            </p:nvSpPr>
            <p:spPr>
              <a:xfrm>
                <a:off x="667353" y="3341324"/>
                <a:ext cx="70690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7E958-F4CB-219B-A479-8FBC4BD7A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3" y="3341324"/>
                <a:ext cx="70690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18F3584-5E6B-DB22-EBF3-C2D43F8735FF}"/>
              </a:ext>
            </a:extLst>
          </p:cNvPr>
          <p:cNvSpPr/>
          <p:nvPr/>
        </p:nvSpPr>
        <p:spPr>
          <a:xfrm>
            <a:off x="222566" y="4965034"/>
            <a:ext cx="3889102" cy="1794821"/>
          </a:xfrm>
          <a:prstGeom prst="rect">
            <a:avLst/>
          </a:prstGeom>
          <a:solidFill>
            <a:schemeClr val="bg1"/>
          </a:solidFill>
          <a:ln>
            <a:solidFill>
              <a:srgbClr val="EE5C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55748E-5DEE-43CB-05D5-B28F7BBFBC8E}"/>
                  </a:ext>
                </a:extLst>
              </p:cNvPr>
              <p:cNvSpPr txBox="1"/>
              <p:nvPr/>
            </p:nvSpPr>
            <p:spPr>
              <a:xfrm>
                <a:off x="222566" y="4965034"/>
                <a:ext cx="3826427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1" u="sng" dirty="0">
                    <a:solidFill>
                      <a:schemeClr val="bg1"/>
                    </a:solidFill>
                  </a:rPr>
                  <a:t>CV quantum teleportation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200" dirty="0"/>
                  <a:t>Mixing TWSV with source light at telescope L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8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200" dirty="0"/>
                  <a:t>Performing quadrature measurement (homodyne) at the two output ports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8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200" dirty="0"/>
                  <a:t>Correcting the teleported state by  displacement operation with local communication.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8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200" dirty="0"/>
                  <a:t>Direct inference measurement at telescope R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55748E-5DEE-43CB-05D5-B28F7BBF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6" y="4965034"/>
                <a:ext cx="3826427" cy="1815882"/>
              </a:xfrm>
              <a:prstGeom prst="rect">
                <a:avLst/>
              </a:prstGeom>
              <a:blipFill>
                <a:blip r:embed="rId9"/>
                <a:stretch>
                  <a:fillRect l="-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0C5168A-CEC3-40CD-01CA-2386EEF44C63}"/>
              </a:ext>
            </a:extLst>
          </p:cNvPr>
          <p:cNvGrpSpPr/>
          <p:nvPr/>
        </p:nvGrpSpPr>
        <p:grpSpPr>
          <a:xfrm>
            <a:off x="1296142" y="1188872"/>
            <a:ext cx="1926511" cy="1352168"/>
            <a:chOff x="5160089" y="2076832"/>
            <a:chExt cx="2868735" cy="19520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04D3C5F-7040-1E37-115D-D8D576B29B74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2B3AEA0-AE1B-3F67-35BA-8D39D43A3C61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7" name="Flowchart: Delay 26">
                  <a:extLst>
                    <a:ext uri="{FF2B5EF4-FFF2-40B4-BE49-F238E27FC236}">
                      <a16:creationId xmlns:a16="http://schemas.microsoft.com/office/drawing/2014/main" id="{99E04982-D674-3FB6-E121-B52A7ED2A7F0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58111E8-930F-AAEE-1CD2-1BFEE9412FA9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61C1875-5C67-94F6-D1A3-98490757D0D9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471BA69E-3733-0419-E98B-5D5DF5E5DBBC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C2AC147-9396-A970-7181-B101BC3CBF8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A046968-2C2B-1EF8-78D0-3D43777390B1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C9F5BF7-402B-E96C-C710-24432E7F8ED9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910F6C4-5DC9-E853-6568-2C4ACBF05BB0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3497731-B14E-F7B2-4A4F-657B0BF4479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" name="Graphic 7" descr="Solar system with solid fill">
              <a:extLst>
                <a:ext uri="{FF2B5EF4-FFF2-40B4-BE49-F238E27FC236}">
                  <a16:creationId xmlns:a16="http://schemas.microsoft.com/office/drawing/2014/main" id="{4BE6BD50-7D94-F1A9-3EFE-0CE3C343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75B4C1F-9CCB-CC49-170C-87D7F8B33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19A2BA8-5FAF-F61E-3AAB-203C4F458689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48A2CC-7D24-0A1D-A7F7-20217B90CB25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8A05217-64D5-783E-A4EA-DE5A1E5178F3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17" name="Flowchart: Delay 16">
                  <a:extLst>
                    <a:ext uri="{FF2B5EF4-FFF2-40B4-BE49-F238E27FC236}">
                      <a16:creationId xmlns:a16="http://schemas.microsoft.com/office/drawing/2014/main" id="{ACA00E97-2429-1910-B61F-630498984069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7B04CA9-F00A-C9ED-D7E2-6AF0934E1BF4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15102E5-AE43-9D38-6F75-809508BF6BD2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98C0F28C-4A32-59F8-8142-F4DE4786FEE0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FE741D1-8BAE-6A68-4787-5E37BFBAE040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E30148-48A8-D7AA-1B20-A8E8AF356005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C032CB3-0288-B3C9-4F8B-D33EAA179920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1C20F78-D131-8A99-2BB0-65120AD4664B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CC8C78C-752D-9F71-015A-6CEB3412793E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680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3F1B869-EC39-F324-A45D-9CE838D9F683}"/>
              </a:ext>
            </a:extLst>
          </p:cNvPr>
          <p:cNvSpPr/>
          <p:nvPr/>
        </p:nvSpPr>
        <p:spPr>
          <a:xfrm flipV="1">
            <a:off x="3066070" y="4483342"/>
            <a:ext cx="57830" cy="45719"/>
          </a:xfrm>
          <a:prstGeom prst="rect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3DB0B4-9AF7-B01E-17EA-CDF910871727}"/>
              </a:ext>
            </a:extLst>
          </p:cNvPr>
          <p:cNvGrpSpPr/>
          <p:nvPr/>
        </p:nvGrpSpPr>
        <p:grpSpPr>
          <a:xfrm>
            <a:off x="2098274" y="1374607"/>
            <a:ext cx="1225953" cy="1163218"/>
            <a:chOff x="2098274" y="1374606"/>
            <a:chExt cx="1690182" cy="16524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D1AA43-C5DF-4FF4-4265-1B28EE421D1B}"/>
                </a:ext>
              </a:extLst>
            </p:cNvPr>
            <p:cNvGrpSpPr/>
            <p:nvPr/>
          </p:nvGrpSpPr>
          <p:grpSpPr>
            <a:xfrm>
              <a:off x="2098274" y="1374606"/>
              <a:ext cx="1690182" cy="1652414"/>
              <a:chOff x="2098274" y="1374605"/>
              <a:chExt cx="2309028" cy="2250056"/>
            </a:xfrm>
          </p:grpSpPr>
          <p:sp>
            <p:nvSpPr>
              <p:cNvPr id="9" name="Flowchart: Delay 8">
                <a:extLst>
                  <a:ext uri="{FF2B5EF4-FFF2-40B4-BE49-F238E27FC236}">
                    <a16:creationId xmlns:a16="http://schemas.microsoft.com/office/drawing/2014/main" id="{AA31B1B8-227F-D421-02A9-BA8907867FE3}"/>
                  </a:ext>
                </a:extLst>
              </p:cNvPr>
              <p:cNvSpPr/>
              <p:nvPr/>
            </p:nvSpPr>
            <p:spPr>
              <a:xfrm rot="16200000">
                <a:off x="2647824" y="1386889"/>
                <a:ext cx="957943" cy="1590219"/>
              </a:xfrm>
              <a:prstGeom prst="flowChartDelay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161A4A5-E577-121A-5958-D213A18F40D4}"/>
                  </a:ext>
                </a:extLst>
              </p:cNvPr>
              <p:cNvSpPr/>
              <p:nvPr/>
            </p:nvSpPr>
            <p:spPr>
              <a:xfrm rot="2686521">
                <a:off x="3783188" y="1374605"/>
                <a:ext cx="624114" cy="253888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64172AF-9409-7184-CB0C-38B0A600B28E}"/>
                  </a:ext>
                </a:extLst>
              </p:cNvPr>
              <p:cNvSpPr/>
              <p:nvPr/>
            </p:nvSpPr>
            <p:spPr>
              <a:xfrm rot="8017899">
                <a:off x="3465985" y="1683306"/>
                <a:ext cx="624114" cy="281508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9865DB90-695D-2892-A92B-C06D1D0CC208}"/>
                  </a:ext>
                </a:extLst>
              </p:cNvPr>
              <p:cNvSpPr/>
              <p:nvPr/>
            </p:nvSpPr>
            <p:spPr>
              <a:xfrm>
                <a:off x="2706794" y="1892121"/>
                <a:ext cx="972457" cy="994951"/>
              </a:xfrm>
              <a:prstGeom prst="arc">
                <a:avLst/>
              </a:prstGeom>
              <a:ln w="635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D1BBE32-3508-CED9-1523-3BA1A8178F24}"/>
                  </a:ext>
                </a:extLst>
              </p:cNvPr>
              <p:cNvSpPr/>
              <p:nvPr/>
            </p:nvSpPr>
            <p:spPr>
              <a:xfrm>
                <a:off x="2098274" y="2700268"/>
                <a:ext cx="2085220" cy="255194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9DDDBC-1276-083A-3576-F490096A3880}"/>
                  </a:ext>
                </a:extLst>
              </p:cNvPr>
              <p:cNvSpPr/>
              <p:nvPr/>
            </p:nvSpPr>
            <p:spPr>
              <a:xfrm>
                <a:off x="2331687" y="2985725"/>
                <a:ext cx="1590221" cy="638936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1FB8700-D8BE-C8A5-67AE-318665701A9E}"/>
                  </a:ext>
                </a:extLst>
              </p:cNvPr>
              <p:cNvSpPr/>
              <p:nvPr/>
            </p:nvSpPr>
            <p:spPr>
              <a:xfrm flipV="1">
                <a:off x="2627780" y="3265694"/>
                <a:ext cx="79015" cy="62255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DED4D53-90AE-8DD9-1825-6E33F996CE26}"/>
                  </a:ext>
                </a:extLst>
              </p:cNvPr>
              <p:cNvSpPr/>
              <p:nvPr/>
            </p:nvSpPr>
            <p:spPr>
              <a:xfrm rot="5400000">
                <a:off x="3286347" y="3227729"/>
                <a:ext cx="354940" cy="430868"/>
              </a:xfrm>
              <a:prstGeom prst="rect">
                <a:avLst/>
              </a:prstGeom>
              <a:ln w="762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9A850B-345B-6A6E-9C8D-233409054DC5}"/>
                </a:ext>
              </a:extLst>
            </p:cNvPr>
            <p:cNvSpPr/>
            <p:nvPr/>
          </p:nvSpPr>
          <p:spPr>
            <a:xfrm flipV="1">
              <a:off x="2683752" y="2763399"/>
              <a:ext cx="57830" cy="45719"/>
            </a:xfrm>
            <a:prstGeom prst="rect">
              <a:avLst/>
            </a:prstGeom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61C81AF-4764-DEDC-D29F-C6253CE450FA}"/>
              </a:ext>
            </a:extLst>
          </p:cNvPr>
          <p:cNvGrpSpPr/>
          <p:nvPr/>
        </p:nvGrpSpPr>
        <p:grpSpPr>
          <a:xfrm>
            <a:off x="5160089" y="2076832"/>
            <a:ext cx="1926511" cy="1352168"/>
            <a:chOff x="5160089" y="2076832"/>
            <a:chExt cx="2868735" cy="19520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DDFBBC-ECAE-1BE7-079A-42700DE6F337}"/>
                </a:ext>
              </a:extLst>
            </p:cNvPr>
            <p:cNvGrpSpPr/>
            <p:nvPr/>
          </p:nvGrpSpPr>
          <p:grpSpPr>
            <a:xfrm flipH="1">
              <a:off x="7243145" y="3338349"/>
              <a:ext cx="785679" cy="690497"/>
              <a:chOff x="2098274" y="1374606"/>
              <a:chExt cx="1690182" cy="165241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061E9EA-6CC6-23F5-457A-4D023759B8D9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26" name="Flowchart: Delay 25">
                  <a:extLst>
                    <a:ext uri="{FF2B5EF4-FFF2-40B4-BE49-F238E27FC236}">
                      <a16:creationId xmlns:a16="http://schemas.microsoft.com/office/drawing/2014/main" id="{704A5E56-BFF1-2798-2753-F7F7F609D96D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B7B7BEE-4E9F-3CFC-357F-1DDAB8E4EF53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4F13013-6B36-3DFF-BEBB-1F230B5A86E2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AAE52725-F1DE-7ACD-2FCB-555B355B87FA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5055088-B465-9000-E220-010B5939974A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2FBB327-6AC8-961D-2A1C-14B7B9895DBA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23FC7696-2F09-37DA-7535-9BCAF61E033D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F7B1D75-3B38-065C-C0E0-41940C89B5F0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3E7BEC6-06C5-C7B4-9FB9-C49ABF9CE4D2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4" name="Graphic 33" descr="Solar system with solid fill">
              <a:extLst>
                <a:ext uri="{FF2B5EF4-FFF2-40B4-BE49-F238E27FC236}">
                  <a16:creationId xmlns:a16="http://schemas.microsoft.com/office/drawing/2014/main" id="{2FCC6638-422A-0180-9F8E-EA2A20479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49361">
              <a:off x="6270677" y="2076832"/>
              <a:ext cx="917821" cy="91782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929C0DA-14C3-A075-2C57-3FE3E40CE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055" y="2787089"/>
              <a:ext cx="518414" cy="488776"/>
            </a:xfrm>
            <a:prstGeom prst="straightConnector1">
              <a:avLst/>
            </a:prstGeom>
            <a:ln w="19050">
              <a:solidFill>
                <a:schemeClr val="dk1"/>
              </a:solidFill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D797CF8-877F-9111-6B9B-84FE9685A9E3}"/>
                </a:ext>
              </a:extLst>
            </p:cNvPr>
            <p:cNvCxnSpPr>
              <a:cxnSpLocks/>
            </p:cNvCxnSpPr>
            <p:nvPr/>
          </p:nvCxnSpPr>
          <p:spPr>
            <a:xfrm>
              <a:off x="6849335" y="2819729"/>
              <a:ext cx="441289" cy="486782"/>
            </a:xfrm>
            <a:prstGeom prst="straightConnector1">
              <a:avLst/>
            </a:prstGeom>
            <a:ln w="19050">
              <a:prstDash val="sysDash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2701E6C-3CD7-0415-15AE-9618F1F2356C}"/>
                </a:ext>
              </a:extLst>
            </p:cNvPr>
            <p:cNvGrpSpPr/>
            <p:nvPr/>
          </p:nvGrpSpPr>
          <p:grpSpPr>
            <a:xfrm>
              <a:off x="5160089" y="3316926"/>
              <a:ext cx="771789" cy="690497"/>
              <a:chOff x="2098274" y="1374606"/>
              <a:chExt cx="1690182" cy="1652414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FE65D08-9482-02DF-FE05-28A81519BD87}"/>
                  </a:ext>
                </a:extLst>
              </p:cNvPr>
              <p:cNvGrpSpPr/>
              <p:nvPr/>
            </p:nvGrpSpPr>
            <p:grpSpPr>
              <a:xfrm>
                <a:off x="2098274" y="1374606"/>
                <a:ext cx="1690182" cy="1652414"/>
                <a:chOff x="2098274" y="1374605"/>
                <a:chExt cx="2309028" cy="2250056"/>
              </a:xfrm>
            </p:grpSpPr>
            <p:sp>
              <p:nvSpPr>
                <p:cNvPr id="40" name="Flowchart: Delay 39">
                  <a:extLst>
                    <a:ext uri="{FF2B5EF4-FFF2-40B4-BE49-F238E27FC236}">
                      <a16:creationId xmlns:a16="http://schemas.microsoft.com/office/drawing/2014/main" id="{823F4374-BDB9-C89C-C793-E5B43A67F328}"/>
                    </a:ext>
                  </a:extLst>
                </p:cNvPr>
                <p:cNvSpPr/>
                <p:nvPr/>
              </p:nvSpPr>
              <p:spPr>
                <a:xfrm rot="16200000">
                  <a:off x="2647824" y="1386889"/>
                  <a:ext cx="957943" cy="1590219"/>
                </a:xfrm>
                <a:prstGeom prst="flowChartDelay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6EACD72-B234-CF3C-C0CA-E8DE13DEAF97}"/>
                    </a:ext>
                  </a:extLst>
                </p:cNvPr>
                <p:cNvSpPr/>
                <p:nvPr/>
              </p:nvSpPr>
              <p:spPr>
                <a:xfrm rot="2686521">
                  <a:off x="3783188" y="1374605"/>
                  <a:ext cx="624114" cy="25388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03D2CF-4402-332D-D94A-5C7C17C82743}"/>
                    </a:ext>
                  </a:extLst>
                </p:cNvPr>
                <p:cNvSpPr/>
                <p:nvPr/>
              </p:nvSpPr>
              <p:spPr>
                <a:xfrm rot="8017899">
                  <a:off x="3465985" y="1683306"/>
                  <a:ext cx="624114" cy="28150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Arc 42">
                  <a:extLst>
                    <a:ext uri="{FF2B5EF4-FFF2-40B4-BE49-F238E27FC236}">
                      <a16:creationId xmlns:a16="http://schemas.microsoft.com/office/drawing/2014/main" id="{C715FCD3-D97C-E9DF-261C-3011EF3B4DC3}"/>
                    </a:ext>
                  </a:extLst>
                </p:cNvPr>
                <p:cNvSpPr/>
                <p:nvPr/>
              </p:nvSpPr>
              <p:spPr>
                <a:xfrm>
                  <a:off x="2706794" y="1892121"/>
                  <a:ext cx="972457" cy="994951"/>
                </a:xfrm>
                <a:prstGeom prst="arc">
                  <a:avLst/>
                </a:prstGeom>
                <a:ln w="3175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0539C6D-9748-D259-6134-8B36B9304235}"/>
                    </a:ext>
                  </a:extLst>
                </p:cNvPr>
                <p:cNvSpPr/>
                <p:nvPr/>
              </p:nvSpPr>
              <p:spPr>
                <a:xfrm>
                  <a:off x="2098274" y="2700268"/>
                  <a:ext cx="2085220" cy="255194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3A942CA-77F9-6E8B-ED39-C7E4D43B6F94}"/>
                    </a:ext>
                  </a:extLst>
                </p:cNvPr>
                <p:cNvSpPr/>
                <p:nvPr/>
              </p:nvSpPr>
              <p:spPr>
                <a:xfrm>
                  <a:off x="2331687" y="2985725"/>
                  <a:ext cx="1590221" cy="638936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5D7B1A3-75AD-EF6C-61AD-86DD460B7824}"/>
                    </a:ext>
                  </a:extLst>
                </p:cNvPr>
                <p:cNvSpPr/>
                <p:nvPr/>
              </p:nvSpPr>
              <p:spPr>
                <a:xfrm flipV="1">
                  <a:off x="2627780" y="3265694"/>
                  <a:ext cx="79015" cy="62255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737F440-6FBE-9C19-E957-E09522705905}"/>
                    </a:ext>
                  </a:extLst>
                </p:cNvPr>
                <p:cNvSpPr/>
                <p:nvPr/>
              </p:nvSpPr>
              <p:spPr>
                <a:xfrm rot="5400000">
                  <a:off x="3286347" y="3227729"/>
                  <a:ext cx="354940" cy="430868"/>
                </a:xfrm>
                <a:prstGeom prst="rect">
                  <a:avLst/>
                </a:prstGeom>
                <a:ln w="317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B3AFEAA-10EF-B245-4F26-48C00CF3F25B}"/>
                  </a:ext>
                </a:extLst>
              </p:cNvPr>
              <p:cNvSpPr/>
              <p:nvPr/>
            </p:nvSpPr>
            <p:spPr>
              <a:xfrm flipV="1">
                <a:off x="2683752" y="2763399"/>
                <a:ext cx="57830" cy="45719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5308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7220</TotalTime>
  <Words>2665</Words>
  <Application>Microsoft Macintosh PowerPoint</Application>
  <PresentationFormat>Widescreen</PresentationFormat>
  <Paragraphs>603</Paragraphs>
  <Slides>23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Proxima Nova</vt:lpstr>
      <vt:lpstr>Söhne</vt:lpstr>
      <vt:lpstr>Wingdings</vt:lpstr>
      <vt:lpstr>Office Theme</vt:lpstr>
      <vt:lpstr>Quantum interferometric imaging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interferometric imaging</dc:title>
  <dc:creator>Zhang, Yujie</dc:creator>
  <cp:lastModifiedBy>Lorenz, Virginia</cp:lastModifiedBy>
  <cp:revision>11</cp:revision>
  <dcterms:created xsi:type="dcterms:W3CDTF">2023-06-10T21:58:27Z</dcterms:created>
  <dcterms:modified xsi:type="dcterms:W3CDTF">2023-06-17T23:12:39Z</dcterms:modified>
</cp:coreProperties>
</file>